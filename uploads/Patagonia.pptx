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Open Sans 1" panose="020B0604020202020204" charset="0"/>
      <p:regular r:id="rId22"/>
    </p:embeddedFont>
    <p:embeddedFont>
      <p:font typeface="Open Sans 1 Bold" panose="020B0604020202020204" charset="0"/>
      <p:regular r:id="rId23"/>
    </p:embeddedFont>
    <p:embeddedFont>
      <p:font typeface="Open Sans 1 Italics" panose="020B0604020202020204" charset="0"/>
      <p:regular r:id="rId24"/>
    </p:embeddedFont>
    <p:embeddedFont>
      <p:font typeface="Open Sans 2" panose="020B0604020202020204" charset="0"/>
      <p:regular r:id="rId25"/>
    </p:embeddedFont>
    <p:embeddedFont>
      <p:font typeface="Open Sans 2 Bold" panose="020B0604020202020204" charset="0"/>
      <p:regular r:id="rId26"/>
    </p:embeddedFont>
    <p:embeddedFont>
      <p:font typeface="Poppins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Outdoor_recreation"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s://en.wikipedia.org/wiki/Ventura,_California" TargetMode="External"/><Relationship Id="rId4" Type="http://schemas.openxmlformats.org/officeDocument/2006/relationships/hyperlink" Target="https://en.wikipedia.org/wiki/Yvon_Chouinard"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2192000" y="9486900"/>
            <a:ext cx="7635578" cy="574196"/>
          </a:xfrm>
          <a:prstGeom prst="rect">
            <a:avLst/>
          </a:prstGeom>
        </p:spPr>
        <p:txBody>
          <a:bodyPr lIns="0" tIns="0" rIns="0" bIns="0" rtlCol="0" anchor="t">
            <a:spAutoFit/>
          </a:bodyPr>
          <a:lstStyle/>
          <a:p>
            <a:pPr algn="ctr">
              <a:lnSpc>
                <a:spcPts val="4759"/>
              </a:lnSpc>
            </a:pPr>
            <a:r>
              <a:rPr lang="en-US" sz="3399" dirty="0">
                <a:solidFill>
                  <a:srgbClr val="FFFFFF"/>
                </a:solidFill>
                <a:latin typeface="Open Sans 1"/>
                <a:ea typeface="Open Sans 1"/>
                <a:cs typeface="Open Sans 1"/>
                <a:sym typeface="Open Sans 1"/>
              </a:rPr>
              <a:t>By Vinayak Singh</a:t>
            </a:r>
          </a:p>
        </p:txBody>
      </p:sp>
      <p:sp>
        <p:nvSpPr>
          <p:cNvPr id="4" name="TextBox 4"/>
          <p:cNvSpPr txBox="1"/>
          <p:nvPr/>
        </p:nvSpPr>
        <p:spPr>
          <a:xfrm>
            <a:off x="1255296" y="5349567"/>
            <a:ext cx="3901529" cy="580390"/>
          </a:xfrm>
          <a:prstGeom prst="rect">
            <a:avLst/>
          </a:prstGeom>
        </p:spPr>
        <p:txBody>
          <a:bodyPr lIns="0" tIns="0" rIns="0" bIns="0" rtlCol="0" anchor="t">
            <a:spAutoFit/>
          </a:bodyPr>
          <a:lstStyle/>
          <a:p>
            <a:pPr algn="ctr">
              <a:lnSpc>
                <a:spcPts val="4759"/>
              </a:lnSpc>
              <a:spcBef>
                <a:spcPct val="0"/>
              </a:spcBef>
            </a:pPr>
            <a:r>
              <a:rPr lang="en-US" sz="3399">
                <a:solidFill>
                  <a:srgbClr val="FFFFFF"/>
                </a:solidFill>
                <a:latin typeface="Open Sans 1"/>
                <a:ea typeface="Open Sans 1"/>
                <a:cs typeface="Open Sans 1"/>
                <a:sym typeface="Open Sans 1"/>
              </a:rPr>
              <a:t>The supply chain of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0691" y="1729702"/>
            <a:ext cx="7672698" cy="6827597"/>
            <a:chOff x="0" y="0"/>
            <a:chExt cx="10230264" cy="9103462"/>
          </a:xfrm>
        </p:grpSpPr>
        <p:pic>
          <p:nvPicPr>
            <p:cNvPr id="3" name="Picture 3"/>
            <p:cNvPicPr>
              <a:picLocks noChangeAspect="1"/>
            </p:cNvPicPr>
            <p:nvPr/>
          </p:nvPicPr>
          <p:blipFill>
            <a:blip r:embed="rId2"/>
            <a:srcRect l="18393" r="18393"/>
            <a:stretch>
              <a:fillRect/>
            </a:stretch>
          </p:blipFill>
          <p:spPr>
            <a:xfrm>
              <a:off x="0" y="0"/>
              <a:ext cx="10230264" cy="9103462"/>
            </a:xfrm>
            <a:prstGeom prst="rect">
              <a:avLst/>
            </a:prstGeom>
          </p:spPr>
        </p:pic>
      </p:grpSp>
      <p:sp>
        <p:nvSpPr>
          <p:cNvPr id="4" name="TextBox 4"/>
          <p:cNvSpPr txBox="1"/>
          <p:nvPr/>
        </p:nvSpPr>
        <p:spPr>
          <a:xfrm>
            <a:off x="10182462" y="462487"/>
            <a:ext cx="6526712" cy="745871"/>
          </a:xfrm>
          <a:prstGeom prst="rect">
            <a:avLst/>
          </a:prstGeom>
        </p:spPr>
        <p:txBody>
          <a:bodyPr lIns="0" tIns="0" rIns="0" bIns="0" rtlCol="0" anchor="t">
            <a:spAutoFit/>
          </a:bodyPr>
          <a:lstStyle/>
          <a:p>
            <a:pPr algn="l">
              <a:lnSpc>
                <a:spcPts val="5632"/>
              </a:lnSpc>
            </a:pPr>
            <a:r>
              <a:rPr lang="en-US" sz="4400" b="1">
                <a:solidFill>
                  <a:srgbClr val="1E4541"/>
                </a:solidFill>
                <a:latin typeface="Poppins Bold"/>
                <a:ea typeface="Poppins Bold"/>
                <a:cs typeface="Poppins Bold"/>
                <a:sym typeface="Poppins Bold"/>
              </a:rPr>
              <a:t>What is Patagonia?</a:t>
            </a:r>
          </a:p>
        </p:txBody>
      </p:sp>
      <p:sp>
        <p:nvSpPr>
          <p:cNvPr id="5" name="TextBox 5"/>
          <p:cNvSpPr txBox="1"/>
          <p:nvPr/>
        </p:nvSpPr>
        <p:spPr>
          <a:xfrm>
            <a:off x="8843000" y="1377771"/>
            <a:ext cx="8811552" cy="2816225"/>
          </a:xfrm>
          <a:prstGeom prst="rect">
            <a:avLst/>
          </a:prstGeom>
        </p:spPr>
        <p:txBody>
          <a:bodyPr lIns="0" tIns="0" rIns="0" bIns="0" rtlCol="0" anchor="t">
            <a:spAutoFit/>
          </a:bodyPr>
          <a:lstStyle/>
          <a:p>
            <a:pPr algn="just">
              <a:lnSpc>
                <a:spcPts val="2800"/>
              </a:lnSpc>
            </a:pPr>
            <a:r>
              <a:rPr lang="en-US" sz="2000">
                <a:solidFill>
                  <a:srgbClr val="1F2020"/>
                </a:solidFill>
                <a:latin typeface="Open Sans 2"/>
                <a:ea typeface="Open Sans 2"/>
                <a:cs typeface="Open Sans 2"/>
                <a:sym typeface="Open Sans 2"/>
              </a:rPr>
              <a:t>Patagonia is an American retailer of </a:t>
            </a:r>
            <a:r>
              <a:rPr lang="en-US" sz="2000" u="sng">
                <a:solidFill>
                  <a:srgbClr val="1F2020"/>
                </a:solidFill>
                <a:latin typeface="Open Sans 2"/>
                <a:ea typeface="Open Sans 2"/>
                <a:cs typeface="Open Sans 2"/>
                <a:sym typeface="Open Sans 2"/>
                <a:hlinkClick r:id="rId3" tooltip="https://en.wikipedia.org/wiki/Outdoor_recreation"/>
              </a:rPr>
              <a:t>outdoor recreation</a:t>
            </a:r>
            <a:r>
              <a:rPr lang="en-US" sz="2000">
                <a:solidFill>
                  <a:srgbClr val="1F2020"/>
                </a:solidFill>
                <a:latin typeface="Open Sans 2"/>
                <a:ea typeface="Open Sans 2"/>
                <a:cs typeface="Open Sans 2"/>
                <a:sym typeface="Open Sans 2"/>
              </a:rPr>
              <a:t> clothing. It was founded by </a:t>
            </a:r>
            <a:r>
              <a:rPr lang="en-US" sz="2000" u="sng">
                <a:solidFill>
                  <a:srgbClr val="1F2020"/>
                </a:solidFill>
                <a:latin typeface="Open Sans 2"/>
                <a:ea typeface="Open Sans 2"/>
                <a:cs typeface="Open Sans 2"/>
                <a:sym typeface="Open Sans 2"/>
                <a:hlinkClick r:id="rId4" tooltip="https://en.wikipedia.org/wiki/Yvon_Chouinard"/>
              </a:rPr>
              <a:t>Yvon Chouinard</a:t>
            </a:r>
            <a:r>
              <a:rPr lang="en-US" sz="2000">
                <a:solidFill>
                  <a:srgbClr val="1F2020"/>
                </a:solidFill>
                <a:latin typeface="Open Sans 2"/>
                <a:ea typeface="Open Sans 2"/>
                <a:cs typeface="Open Sans 2"/>
                <a:sym typeface="Open Sans 2"/>
              </a:rPr>
              <a:t> in 1973 and is based in </a:t>
            </a:r>
            <a:r>
              <a:rPr lang="en-US" sz="2000" u="sng">
                <a:solidFill>
                  <a:srgbClr val="1F2020"/>
                </a:solidFill>
                <a:latin typeface="Open Sans 2"/>
                <a:ea typeface="Open Sans 2"/>
                <a:cs typeface="Open Sans 2"/>
                <a:sym typeface="Open Sans 2"/>
                <a:hlinkClick r:id="rId5" tooltip="https://en.wikipedia.org/wiki/Ventura,_California"/>
              </a:rPr>
              <a:t>Ventura, California</a:t>
            </a:r>
            <a:r>
              <a:rPr lang="en-US" sz="2000">
                <a:solidFill>
                  <a:srgbClr val="1F2020"/>
                </a:solidFill>
                <a:latin typeface="Open Sans 2"/>
                <a:ea typeface="Open Sans 2"/>
                <a:cs typeface="Open Sans 2"/>
                <a:sym typeface="Open Sans 2"/>
              </a:rPr>
              <a:t>. Patagonia operates stores in more than 10 countries globally, as well as factories in 16 countries.</a:t>
            </a:r>
          </a:p>
          <a:p>
            <a:pPr algn="just">
              <a:lnSpc>
                <a:spcPts val="2800"/>
              </a:lnSpc>
            </a:pPr>
            <a:r>
              <a:rPr lang="en-US" sz="2000">
                <a:solidFill>
                  <a:srgbClr val="1F2020"/>
                </a:solidFill>
                <a:latin typeface="Open Sans 2"/>
                <a:ea typeface="Open Sans 2"/>
                <a:cs typeface="Open Sans 2"/>
                <a:sym typeface="Open Sans 2"/>
              </a:rPr>
              <a:t>In 2023, Patagonia generated revenue of 1.5 billion euros. </a:t>
            </a:r>
          </a:p>
          <a:p>
            <a:pPr algn="just">
              <a:lnSpc>
                <a:spcPts val="2800"/>
              </a:lnSpc>
            </a:pPr>
            <a:r>
              <a:rPr lang="en-US" sz="2000">
                <a:solidFill>
                  <a:srgbClr val="1F2020"/>
                </a:solidFill>
                <a:latin typeface="Open Sans 2"/>
                <a:ea typeface="Open Sans 2"/>
                <a:cs typeface="Open Sans 2"/>
                <a:sym typeface="Open Sans 2"/>
              </a:rPr>
              <a:t>Patagonia has been committed for 50 years to donating 1% of its sales to environmental organizations.</a:t>
            </a:r>
          </a:p>
          <a:p>
            <a:pPr algn="just">
              <a:lnSpc>
                <a:spcPts val="2800"/>
              </a:lnSpc>
              <a:spcBef>
                <a:spcPct val="0"/>
              </a:spcBef>
            </a:pPr>
            <a:endParaRPr lang="en-US" sz="2000">
              <a:solidFill>
                <a:srgbClr val="1F2020"/>
              </a:solidFill>
              <a:latin typeface="Open Sans 2"/>
              <a:ea typeface="Open Sans 2"/>
              <a:cs typeface="Open Sans 2"/>
              <a:sym typeface="Open Sans 2"/>
            </a:endParaRPr>
          </a:p>
        </p:txBody>
      </p:sp>
      <p:sp>
        <p:nvSpPr>
          <p:cNvPr id="6" name="TextBox 6"/>
          <p:cNvSpPr txBox="1"/>
          <p:nvPr/>
        </p:nvSpPr>
        <p:spPr>
          <a:xfrm>
            <a:off x="8843000" y="4494205"/>
            <a:ext cx="8811552" cy="1406525"/>
          </a:xfrm>
          <a:prstGeom prst="rect">
            <a:avLst/>
          </a:prstGeom>
        </p:spPr>
        <p:txBody>
          <a:bodyPr lIns="0" tIns="0" rIns="0" bIns="0" rtlCol="0" anchor="t">
            <a:spAutoFit/>
          </a:bodyPr>
          <a:lstStyle/>
          <a:p>
            <a:pPr algn="just">
              <a:lnSpc>
                <a:spcPts val="2800"/>
              </a:lnSpc>
              <a:spcBef>
                <a:spcPct val="0"/>
              </a:spcBef>
            </a:pPr>
            <a:r>
              <a:rPr lang="en-US" sz="2000">
                <a:solidFill>
                  <a:srgbClr val="1F2020"/>
                </a:solidFill>
                <a:latin typeface="Open Sans 2"/>
                <a:ea typeface="Open Sans 2"/>
                <a:cs typeface="Open Sans 2"/>
                <a:sym typeface="Open Sans 2"/>
              </a:rPr>
              <a:t>Patagonia is often the subject of case studies regarding sustainable and innovative business models. It notably promotes transparency in its operations, which is why we have chosen this company to analyze its supply chain.</a:t>
            </a:r>
          </a:p>
        </p:txBody>
      </p:sp>
      <p:sp>
        <p:nvSpPr>
          <p:cNvPr id="7" name="Freeform 7"/>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6"/>
            <a:stretch>
              <a:fillRect/>
            </a:stretch>
          </a:blipFill>
        </p:spPr>
        <p:txBody>
          <a:bodyPr/>
          <a:lstStyle/>
          <a:p>
            <a:endParaRPr lang="en-US"/>
          </a:p>
        </p:txBody>
      </p:sp>
      <p:sp>
        <p:nvSpPr>
          <p:cNvPr id="8" name="TextBox 8"/>
          <p:cNvSpPr txBox="1"/>
          <p:nvPr/>
        </p:nvSpPr>
        <p:spPr>
          <a:xfrm>
            <a:off x="8843000" y="6205530"/>
            <a:ext cx="8811552" cy="1406525"/>
          </a:xfrm>
          <a:prstGeom prst="rect">
            <a:avLst/>
          </a:prstGeom>
        </p:spPr>
        <p:txBody>
          <a:bodyPr lIns="0" tIns="0" rIns="0" bIns="0" rtlCol="0" anchor="t">
            <a:spAutoFit/>
          </a:bodyPr>
          <a:lstStyle/>
          <a:p>
            <a:pPr algn="just">
              <a:lnSpc>
                <a:spcPts val="2800"/>
              </a:lnSpc>
              <a:spcBef>
                <a:spcPct val="0"/>
              </a:spcBef>
            </a:pPr>
            <a:r>
              <a:rPr lang="en-US" sz="2000">
                <a:solidFill>
                  <a:srgbClr val="1F2020"/>
                </a:solidFill>
                <a:latin typeface="Open Sans 2"/>
                <a:ea typeface="Open Sans 2"/>
                <a:cs typeface="Open Sans 2"/>
                <a:sym typeface="Open Sans 2"/>
              </a:rPr>
              <a:t>Patagonia’s value chain stands out for its integration of sustainability and ethical practices at every step, from product design to delivery to the end consumer. This approach not only minimizes environmental impact but also reinforces the company’s commitment to social responsibility</a:t>
            </a:r>
          </a:p>
        </p:txBody>
      </p:sp>
      <p:sp>
        <p:nvSpPr>
          <p:cNvPr id="9" name="TextBox 9"/>
          <p:cNvSpPr txBox="1"/>
          <p:nvPr/>
        </p:nvSpPr>
        <p:spPr>
          <a:xfrm>
            <a:off x="8843000" y="7916855"/>
            <a:ext cx="8811552" cy="1758950"/>
          </a:xfrm>
          <a:prstGeom prst="rect">
            <a:avLst/>
          </a:prstGeom>
        </p:spPr>
        <p:txBody>
          <a:bodyPr lIns="0" tIns="0" rIns="0" bIns="0" rtlCol="0" anchor="t">
            <a:spAutoFit/>
          </a:bodyPr>
          <a:lstStyle/>
          <a:p>
            <a:pPr algn="l">
              <a:lnSpc>
                <a:spcPts val="2800"/>
              </a:lnSpc>
              <a:spcBef>
                <a:spcPct val="0"/>
              </a:spcBef>
            </a:pPr>
            <a:r>
              <a:rPr lang="en-US" sz="2000">
                <a:solidFill>
                  <a:srgbClr val="1F2020"/>
                </a:solidFill>
                <a:latin typeface="Open Sans 2"/>
                <a:ea typeface="Open Sans 2"/>
                <a:cs typeface="Open Sans 2"/>
                <a:sym typeface="Open Sans 2"/>
              </a:rPr>
              <a:t>The company places a high priority on sourcing materials in ways that are environmentally friendly and socially responsible. This includes using organic cotton, recycled polyester, and ensuring that all animal-derived products (like wool and down) are sourced from operations that are humane and sustainable.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21429" y="115658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011276" y="1238072"/>
            <a:ext cx="5807364" cy="1460246"/>
          </a:xfrm>
          <a:prstGeom prst="rect">
            <a:avLst/>
          </a:prstGeom>
        </p:spPr>
        <p:txBody>
          <a:bodyPr lIns="0" tIns="0" rIns="0" bIns="0" rtlCol="0" anchor="t">
            <a:spAutoFit/>
          </a:bodyPr>
          <a:lstStyle/>
          <a:p>
            <a:pPr algn="l">
              <a:lnSpc>
                <a:spcPts val="5632"/>
              </a:lnSpc>
            </a:pPr>
            <a:r>
              <a:rPr lang="en-US" sz="4400" b="1">
                <a:solidFill>
                  <a:srgbClr val="1E4541"/>
                </a:solidFill>
                <a:latin typeface="Poppins Bold"/>
                <a:ea typeface="Poppins Bold"/>
                <a:cs typeface="Poppins Bold"/>
                <a:sym typeface="Poppins Bold"/>
              </a:rPr>
              <a:t>The Manufacturing process(1/3)</a:t>
            </a:r>
          </a:p>
        </p:txBody>
      </p:sp>
      <p:grpSp>
        <p:nvGrpSpPr>
          <p:cNvPr id="6" name="Group 6"/>
          <p:cNvGrpSpPr/>
          <p:nvPr/>
        </p:nvGrpSpPr>
        <p:grpSpPr>
          <a:xfrm>
            <a:off x="410691" y="3080127"/>
            <a:ext cx="677751" cy="677751"/>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8" name="TextBox 8"/>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9" name="TextBox 9"/>
          <p:cNvSpPr txBox="1"/>
          <p:nvPr/>
        </p:nvSpPr>
        <p:spPr>
          <a:xfrm>
            <a:off x="1407812" y="3487113"/>
            <a:ext cx="7150427" cy="2111375"/>
          </a:xfrm>
          <a:prstGeom prst="rect">
            <a:avLst/>
          </a:prstGeom>
        </p:spPr>
        <p:txBody>
          <a:bodyPr lIns="0" tIns="0" rIns="0" bIns="0" rtlCol="0" anchor="t">
            <a:spAutoFit/>
          </a:bodyPr>
          <a:lstStyle/>
          <a:p>
            <a:pPr algn="l">
              <a:lnSpc>
                <a:spcPts val="2800"/>
              </a:lnSpc>
              <a:spcBef>
                <a:spcPct val="0"/>
              </a:spcBef>
            </a:pPr>
            <a:r>
              <a:rPr lang="en-US" sz="2000">
                <a:solidFill>
                  <a:srgbClr val="1F2020"/>
                </a:solidFill>
                <a:latin typeface="Open Sans 2"/>
                <a:ea typeface="Open Sans 2"/>
                <a:cs typeface="Open Sans 2"/>
                <a:sym typeface="Open Sans 2"/>
              </a:rPr>
              <a:t>According to Patagonia, “90% of a product's environmental impact is determined at the design stage”. The design step is therefore one of the most time consuming steps of the manufacturing process. Designers create the down sweater's blueprint, considering factors like warmth, weight, and weatherproofing</a:t>
            </a:r>
          </a:p>
        </p:txBody>
      </p:sp>
      <p:sp>
        <p:nvSpPr>
          <p:cNvPr id="10" name="TextBox 10"/>
          <p:cNvSpPr txBox="1"/>
          <p:nvPr/>
        </p:nvSpPr>
        <p:spPr>
          <a:xfrm>
            <a:off x="501511" y="3197725"/>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2 Bold"/>
                <a:ea typeface="Open Sans 2 Bold"/>
                <a:cs typeface="Open Sans 2 Bold"/>
                <a:sym typeface="Open Sans 2 Bold"/>
              </a:rPr>
              <a:t>01</a:t>
            </a:r>
          </a:p>
        </p:txBody>
      </p:sp>
      <p:sp>
        <p:nvSpPr>
          <p:cNvPr id="11" name="TextBox 11"/>
          <p:cNvSpPr txBox="1"/>
          <p:nvPr/>
        </p:nvSpPr>
        <p:spPr>
          <a:xfrm>
            <a:off x="1407812" y="3046257"/>
            <a:ext cx="6806567" cy="372745"/>
          </a:xfrm>
          <a:prstGeom prst="rect">
            <a:avLst/>
          </a:prstGeom>
        </p:spPr>
        <p:txBody>
          <a:bodyPr lIns="0" tIns="0" rIns="0" bIns="0" rtlCol="0" anchor="t">
            <a:spAutoFit/>
          </a:bodyPr>
          <a:lstStyle/>
          <a:p>
            <a:pPr algn="l">
              <a:lnSpc>
                <a:spcPts val="3079"/>
              </a:lnSpc>
              <a:spcBef>
                <a:spcPct val="0"/>
              </a:spcBef>
            </a:pPr>
            <a:r>
              <a:rPr lang="en-US" sz="2199" b="1">
                <a:solidFill>
                  <a:srgbClr val="1E4541"/>
                </a:solidFill>
                <a:latin typeface="Open Sans 2 Bold"/>
                <a:ea typeface="Open Sans 2 Bold"/>
                <a:cs typeface="Open Sans 2 Bold"/>
                <a:sym typeface="Open Sans 2 Bold"/>
              </a:rPr>
              <a:t>The design and pattern making (1-2 months)**</a:t>
            </a:r>
          </a:p>
        </p:txBody>
      </p:sp>
      <p:grpSp>
        <p:nvGrpSpPr>
          <p:cNvPr id="12" name="Group 12"/>
          <p:cNvGrpSpPr/>
          <p:nvPr/>
        </p:nvGrpSpPr>
        <p:grpSpPr>
          <a:xfrm>
            <a:off x="410691" y="6003689"/>
            <a:ext cx="677751" cy="677751"/>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14" name="TextBox 14"/>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15" name="TextBox 15"/>
          <p:cNvSpPr txBox="1"/>
          <p:nvPr/>
        </p:nvSpPr>
        <p:spPr>
          <a:xfrm>
            <a:off x="1407812" y="6236831"/>
            <a:ext cx="7150427" cy="2111375"/>
          </a:xfrm>
          <a:prstGeom prst="rect">
            <a:avLst/>
          </a:prstGeom>
        </p:spPr>
        <p:txBody>
          <a:bodyPr lIns="0" tIns="0" rIns="0" bIns="0" rtlCol="0" anchor="t">
            <a:spAutoFit/>
          </a:bodyPr>
          <a:lstStyle/>
          <a:p>
            <a:pPr algn="l">
              <a:lnSpc>
                <a:spcPts val="2800"/>
              </a:lnSpc>
              <a:spcBef>
                <a:spcPct val="0"/>
              </a:spcBef>
            </a:pPr>
            <a:r>
              <a:rPr lang="en-US" sz="2000">
                <a:solidFill>
                  <a:srgbClr val="1F2020"/>
                </a:solidFill>
                <a:latin typeface="Open Sans 2"/>
                <a:ea typeface="Open Sans 2"/>
                <a:cs typeface="Open Sans 2"/>
                <a:sym typeface="Open Sans 2"/>
              </a:rPr>
              <a:t>Patagonia selects carefully the raw materials used for its products. For this jacket, 2 main materials are used : recycled nylon and responsible down. In order to produce this jacket, the raw material need to be purchased and sent to the facilities. The duration of this step depends on the supplier’s location.</a:t>
            </a:r>
          </a:p>
        </p:txBody>
      </p:sp>
      <p:sp>
        <p:nvSpPr>
          <p:cNvPr id="16" name="TextBox 16"/>
          <p:cNvSpPr txBox="1"/>
          <p:nvPr/>
        </p:nvSpPr>
        <p:spPr>
          <a:xfrm>
            <a:off x="501511" y="6179687"/>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2 Bold"/>
                <a:ea typeface="Open Sans 2 Bold"/>
                <a:cs typeface="Open Sans 2 Bold"/>
                <a:sym typeface="Open Sans 2 Bold"/>
              </a:rPr>
              <a:t>02</a:t>
            </a:r>
          </a:p>
        </p:txBody>
      </p:sp>
      <p:sp>
        <p:nvSpPr>
          <p:cNvPr id="17" name="TextBox 17"/>
          <p:cNvSpPr txBox="1"/>
          <p:nvPr/>
        </p:nvSpPr>
        <p:spPr>
          <a:xfrm>
            <a:off x="1407812" y="5736049"/>
            <a:ext cx="6410829" cy="372745"/>
          </a:xfrm>
          <a:prstGeom prst="rect">
            <a:avLst/>
          </a:prstGeom>
        </p:spPr>
        <p:txBody>
          <a:bodyPr lIns="0" tIns="0" rIns="0" bIns="0" rtlCol="0" anchor="t">
            <a:spAutoFit/>
          </a:bodyPr>
          <a:lstStyle/>
          <a:p>
            <a:pPr algn="l">
              <a:lnSpc>
                <a:spcPts val="3079"/>
              </a:lnSpc>
              <a:spcBef>
                <a:spcPct val="0"/>
              </a:spcBef>
            </a:pPr>
            <a:r>
              <a:rPr lang="en-US" sz="2199" b="1">
                <a:solidFill>
                  <a:srgbClr val="1E4541"/>
                </a:solidFill>
                <a:latin typeface="Open Sans 2 Bold"/>
                <a:ea typeface="Open Sans 2 Bold"/>
                <a:cs typeface="Open Sans 2 Bold"/>
                <a:sym typeface="Open Sans 2 Bold"/>
              </a:rPr>
              <a:t>Raw materials acquisition (2 weeks)</a:t>
            </a:r>
          </a:p>
        </p:txBody>
      </p:sp>
      <p:sp>
        <p:nvSpPr>
          <p:cNvPr id="18" name="Freeform 18"/>
          <p:cNvSpPr/>
          <p:nvPr/>
        </p:nvSpPr>
        <p:spPr>
          <a:xfrm>
            <a:off x="9144000" y="2185280"/>
            <a:ext cx="8177429" cy="5919780"/>
          </a:xfrm>
          <a:custGeom>
            <a:avLst/>
            <a:gdLst/>
            <a:ahLst/>
            <a:cxnLst/>
            <a:rect l="l" t="t" r="r" b="b"/>
            <a:pathLst>
              <a:path w="8177429" h="5919780">
                <a:moveTo>
                  <a:pt x="0" y="0"/>
                </a:moveTo>
                <a:lnTo>
                  <a:pt x="8177429" y="0"/>
                </a:lnTo>
                <a:lnTo>
                  <a:pt x="8177429" y="5919781"/>
                </a:lnTo>
                <a:lnTo>
                  <a:pt x="0" y="5919781"/>
                </a:lnTo>
                <a:lnTo>
                  <a:pt x="0" y="0"/>
                </a:lnTo>
                <a:close/>
              </a:path>
            </a:pathLst>
          </a:custGeom>
          <a:blipFill>
            <a:blip r:embed="rId2"/>
            <a:stretch>
              <a:fillRect l="-37618" r="-7165"/>
            </a:stretch>
          </a:blipFill>
        </p:spPr>
        <p:txBody>
          <a:bodyPr/>
          <a:lstStyle/>
          <a:p>
            <a:endParaRPr lang="en-US"/>
          </a:p>
        </p:txBody>
      </p:sp>
      <p:sp>
        <p:nvSpPr>
          <p:cNvPr id="19" name="Freeform 19"/>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3"/>
            <a:stretch>
              <a:fillRect/>
            </a:stretch>
          </a:blipFill>
        </p:spPr>
        <p:txBody>
          <a:bodyPr/>
          <a:lstStyle/>
          <a:p>
            <a:endParaRPr lang="en-US"/>
          </a:p>
        </p:txBody>
      </p:sp>
      <p:sp>
        <p:nvSpPr>
          <p:cNvPr id="20" name="TextBox 20"/>
          <p:cNvSpPr txBox="1"/>
          <p:nvPr/>
        </p:nvSpPr>
        <p:spPr>
          <a:xfrm>
            <a:off x="2011276" y="9610011"/>
            <a:ext cx="15762374" cy="611505"/>
          </a:xfrm>
          <a:prstGeom prst="rect">
            <a:avLst/>
          </a:prstGeom>
        </p:spPr>
        <p:txBody>
          <a:bodyPr lIns="0" tIns="0" rIns="0" bIns="0" rtlCol="0" anchor="t">
            <a:spAutoFit/>
          </a:bodyPr>
          <a:lstStyle/>
          <a:p>
            <a:pPr algn="just">
              <a:lnSpc>
                <a:spcPts val="2520"/>
              </a:lnSpc>
            </a:pPr>
            <a:r>
              <a:rPr lang="en-US" sz="1800">
                <a:solidFill>
                  <a:srgbClr val="0E0B0C"/>
                </a:solidFill>
                <a:latin typeface="Open Sans 2"/>
                <a:ea typeface="Open Sans 2"/>
                <a:cs typeface="Open Sans 2"/>
                <a:sym typeface="Open Sans 2"/>
              </a:rPr>
              <a:t>**Patagonia sells many different kind of products, like sweateer, shoes and even bags. </a:t>
            </a:r>
          </a:p>
          <a:p>
            <a:pPr algn="just">
              <a:lnSpc>
                <a:spcPts val="2520"/>
              </a:lnSpc>
            </a:pPr>
            <a:r>
              <a:rPr lang="en-US" sz="1800">
                <a:solidFill>
                  <a:srgbClr val="0E0B0C"/>
                </a:solidFill>
                <a:latin typeface="Open Sans 2"/>
                <a:ea typeface="Open Sans 2"/>
                <a:cs typeface="Open Sans 2"/>
                <a:sym typeface="Open Sans 2"/>
              </a:rPr>
              <a:t>In order to analyse the manufacturing process, we will focus on one of Patagonia’s best seller : </a:t>
            </a:r>
            <a:r>
              <a:rPr lang="en-US" sz="1800" b="1">
                <a:solidFill>
                  <a:srgbClr val="0E0B0C"/>
                </a:solidFill>
                <a:latin typeface="Open Sans 2 Bold"/>
                <a:ea typeface="Open Sans 2 Bold"/>
                <a:cs typeface="Open Sans 2 Bold"/>
                <a:sym typeface="Open Sans 2 Bold"/>
              </a:rPr>
              <a:t>The Down Sweater jacket.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148052" y="1669618"/>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011276" y="1238072"/>
            <a:ext cx="5807364" cy="1460246"/>
          </a:xfrm>
          <a:prstGeom prst="rect">
            <a:avLst/>
          </a:prstGeom>
        </p:spPr>
        <p:txBody>
          <a:bodyPr lIns="0" tIns="0" rIns="0" bIns="0" rtlCol="0" anchor="t">
            <a:spAutoFit/>
          </a:bodyPr>
          <a:lstStyle/>
          <a:p>
            <a:pPr algn="l">
              <a:lnSpc>
                <a:spcPts val="5632"/>
              </a:lnSpc>
            </a:pPr>
            <a:r>
              <a:rPr lang="en-US" sz="4400" b="1">
                <a:solidFill>
                  <a:srgbClr val="1E4541"/>
                </a:solidFill>
                <a:latin typeface="Poppins Bold"/>
                <a:ea typeface="Poppins Bold"/>
                <a:cs typeface="Poppins Bold"/>
                <a:sym typeface="Poppins Bold"/>
              </a:rPr>
              <a:t>The Manufacturing process(2/3)</a:t>
            </a:r>
          </a:p>
        </p:txBody>
      </p:sp>
      <p:grpSp>
        <p:nvGrpSpPr>
          <p:cNvPr id="6" name="Group 6"/>
          <p:cNvGrpSpPr/>
          <p:nvPr/>
        </p:nvGrpSpPr>
        <p:grpSpPr>
          <a:xfrm>
            <a:off x="410691" y="3080127"/>
            <a:ext cx="677751" cy="677751"/>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8" name="TextBox 8"/>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9" name="TextBox 9"/>
          <p:cNvSpPr txBox="1"/>
          <p:nvPr/>
        </p:nvSpPr>
        <p:spPr>
          <a:xfrm>
            <a:off x="1407812" y="3447281"/>
            <a:ext cx="7150427" cy="1406525"/>
          </a:xfrm>
          <a:prstGeom prst="rect">
            <a:avLst/>
          </a:prstGeom>
        </p:spPr>
        <p:txBody>
          <a:bodyPr lIns="0" tIns="0" rIns="0" bIns="0" rtlCol="0" anchor="t">
            <a:spAutoFit/>
          </a:bodyPr>
          <a:lstStyle/>
          <a:p>
            <a:pPr algn="l">
              <a:lnSpc>
                <a:spcPts val="2800"/>
              </a:lnSpc>
              <a:spcBef>
                <a:spcPct val="0"/>
              </a:spcBef>
            </a:pPr>
            <a:r>
              <a:rPr lang="en-US" sz="2000">
                <a:solidFill>
                  <a:srgbClr val="1F2020"/>
                </a:solidFill>
                <a:latin typeface="Open Sans 2"/>
                <a:ea typeface="Open Sans 2"/>
                <a:cs typeface="Open Sans 2"/>
                <a:sym typeface="Open Sans 2"/>
              </a:rPr>
              <a:t>Raw materials undergo various preparation and processing steps to make them suitable for manufacturing. For this jacket, the nylon has to be coated with a water repellent finish for example.</a:t>
            </a:r>
          </a:p>
        </p:txBody>
      </p:sp>
      <p:sp>
        <p:nvSpPr>
          <p:cNvPr id="10" name="TextBox 10"/>
          <p:cNvSpPr txBox="1"/>
          <p:nvPr/>
        </p:nvSpPr>
        <p:spPr>
          <a:xfrm>
            <a:off x="501511" y="3197725"/>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2 Bold"/>
                <a:ea typeface="Open Sans 2 Bold"/>
                <a:cs typeface="Open Sans 2 Bold"/>
                <a:sym typeface="Open Sans 2 Bold"/>
              </a:rPr>
              <a:t>03</a:t>
            </a:r>
          </a:p>
        </p:txBody>
      </p:sp>
      <p:sp>
        <p:nvSpPr>
          <p:cNvPr id="11" name="TextBox 11"/>
          <p:cNvSpPr txBox="1"/>
          <p:nvPr/>
        </p:nvSpPr>
        <p:spPr>
          <a:xfrm>
            <a:off x="1407812" y="2987858"/>
            <a:ext cx="6806567" cy="372745"/>
          </a:xfrm>
          <a:prstGeom prst="rect">
            <a:avLst/>
          </a:prstGeom>
        </p:spPr>
        <p:txBody>
          <a:bodyPr lIns="0" tIns="0" rIns="0" bIns="0" rtlCol="0" anchor="t">
            <a:spAutoFit/>
          </a:bodyPr>
          <a:lstStyle/>
          <a:p>
            <a:pPr algn="l">
              <a:lnSpc>
                <a:spcPts val="3079"/>
              </a:lnSpc>
              <a:spcBef>
                <a:spcPct val="0"/>
              </a:spcBef>
            </a:pPr>
            <a:r>
              <a:rPr lang="en-US" sz="2199" b="1">
                <a:solidFill>
                  <a:srgbClr val="1E4541"/>
                </a:solidFill>
                <a:latin typeface="Open Sans 2 Bold"/>
                <a:ea typeface="Open Sans 2 Bold"/>
                <a:cs typeface="Open Sans 2 Bold"/>
                <a:sym typeface="Open Sans 2 Bold"/>
              </a:rPr>
              <a:t>Material preparation (1-2 weeks)</a:t>
            </a:r>
          </a:p>
        </p:txBody>
      </p:sp>
      <p:grpSp>
        <p:nvGrpSpPr>
          <p:cNvPr id="12" name="Group 12"/>
          <p:cNvGrpSpPr/>
          <p:nvPr/>
        </p:nvGrpSpPr>
        <p:grpSpPr>
          <a:xfrm>
            <a:off x="410691" y="5249508"/>
            <a:ext cx="677751" cy="677751"/>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14" name="TextBox 14"/>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15" name="TextBox 15"/>
          <p:cNvSpPr txBox="1"/>
          <p:nvPr/>
        </p:nvSpPr>
        <p:spPr>
          <a:xfrm>
            <a:off x="1407812" y="5486148"/>
            <a:ext cx="7150427" cy="1054100"/>
          </a:xfrm>
          <a:prstGeom prst="rect">
            <a:avLst/>
          </a:prstGeom>
        </p:spPr>
        <p:txBody>
          <a:bodyPr lIns="0" tIns="0" rIns="0" bIns="0" rtlCol="0" anchor="t">
            <a:spAutoFit/>
          </a:bodyPr>
          <a:lstStyle/>
          <a:p>
            <a:pPr algn="l">
              <a:lnSpc>
                <a:spcPts val="2800"/>
              </a:lnSpc>
              <a:spcBef>
                <a:spcPct val="0"/>
              </a:spcBef>
            </a:pPr>
            <a:r>
              <a:rPr lang="en-US" sz="2000">
                <a:solidFill>
                  <a:srgbClr val="1F2020"/>
                </a:solidFill>
                <a:latin typeface="Open Sans 2"/>
                <a:ea typeface="Open Sans 2"/>
                <a:cs typeface="Open Sans 2"/>
                <a:sym typeface="Open Sans 2"/>
              </a:rPr>
              <a:t>Once the final design is approved, fabric for the shell, liner, and any additional features (pockets, hood) are precisely cut using large cutting machines or lasers.</a:t>
            </a:r>
          </a:p>
        </p:txBody>
      </p:sp>
      <p:sp>
        <p:nvSpPr>
          <p:cNvPr id="16" name="TextBox 16"/>
          <p:cNvSpPr txBox="1"/>
          <p:nvPr/>
        </p:nvSpPr>
        <p:spPr>
          <a:xfrm>
            <a:off x="501511" y="5425505"/>
            <a:ext cx="496110" cy="611505"/>
          </a:xfrm>
          <a:prstGeom prst="rect">
            <a:avLst/>
          </a:prstGeom>
        </p:spPr>
        <p:txBody>
          <a:bodyPr lIns="0" tIns="0" rIns="0" bIns="0" rtlCol="0" anchor="t">
            <a:spAutoFit/>
          </a:bodyPr>
          <a:lstStyle/>
          <a:p>
            <a:pPr algn="ctr">
              <a:lnSpc>
                <a:spcPts val="2519"/>
              </a:lnSpc>
            </a:pPr>
            <a:r>
              <a:rPr lang="en-US" sz="1799" b="1">
                <a:solidFill>
                  <a:srgbClr val="FFFFFF"/>
                </a:solidFill>
                <a:latin typeface="Open Sans 2 Bold"/>
                <a:ea typeface="Open Sans 2 Bold"/>
                <a:cs typeface="Open Sans 2 Bold"/>
                <a:sym typeface="Open Sans 2 Bold"/>
              </a:rPr>
              <a:t>04</a:t>
            </a:r>
          </a:p>
          <a:p>
            <a:pPr algn="ctr">
              <a:lnSpc>
                <a:spcPts val="2519"/>
              </a:lnSpc>
              <a:spcBef>
                <a:spcPct val="0"/>
              </a:spcBef>
            </a:pPr>
            <a:endParaRPr lang="en-US" sz="1799" b="1">
              <a:solidFill>
                <a:srgbClr val="FFFFFF"/>
              </a:solidFill>
              <a:latin typeface="Open Sans 2 Bold"/>
              <a:ea typeface="Open Sans 2 Bold"/>
              <a:cs typeface="Open Sans 2 Bold"/>
              <a:sym typeface="Open Sans 2 Bold"/>
            </a:endParaRPr>
          </a:p>
        </p:txBody>
      </p:sp>
      <p:sp>
        <p:nvSpPr>
          <p:cNvPr id="17" name="TextBox 17"/>
          <p:cNvSpPr txBox="1"/>
          <p:nvPr/>
        </p:nvSpPr>
        <p:spPr>
          <a:xfrm>
            <a:off x="1407812" y="5105400"/>
            <a:ext cx="6410829" cy="372745"/>
          </a:xfrm>
          <a:prstGeom prst="rect">
            <a:avLst/>
          </a:prstGeom>
        </p:spPr>
        <p:txBody>
          <a:bodyPr lIns="0" tIns="0" rIns="0" bIns="0" rtlCol="0" anchor="t">
            <a:spAutoFit/>
          </a:bodyPr>
          <a:lstStyle/>
          <a:p>
            <a:pPr algn="l">
              <a:lnSpc>
                <a:spcPts val="3079"/>
              </a:lnSpc>
              <a:spcBef>
                <a:spcPct val="0"/>
              </a:spcBef>
            </a:pPr>
            <a:r>
              <a:rPr lang="en-US" sz="2199" b="1">
                <a:solidFill>
                  <a:srgbClr val="1E4541"/>
                </a:solidFill>
                <a:latin typeface="Open Sans 2 Bold"/>
                <a:ea typeface="Open Sans 2 Bold"/>
                <a:cs typeface="Open Sans 2 Bold"/>
                <a:sym typeface="Open Sans 2 Bold"/>
              </a:rPr>
              <a:t>Fabric Cutting (1 week)</a:t>
            </a:r>
          </a:p>
        </p:txBody>
      </p:sp>
      <p:sp>
        <p:nvSpPr>
          <p:cNvPr id="18" name="Freeform 18"/>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2"/>
            <a:stretch>
              <a:fillRect/>
            </a:stretch>
          </a:blipFill>
        </p:spPr>
        <p:txBody>
          <a:bodyPr/>
          <a:lstStyle/>
          <a:p>
            <a:endParaRPr lang="en-US"/>
          </a:p>
        </p:txBody>
      </p:sp>
      <p:sp>
        <p:nvSpPr>
          <p:cNvPr id="19" name="TextBox 19"/>
          <p:cNvSpPr txBox="1"/>
          <p:nvPr/>
        </p:nvSpPr>
        <p:spPr>
          <a:xfrm>
            <a:off x="2011276" y="9610011"/>
            <a:ext cx="15762374" cy="611505"/>
          </a:xfrm>
          <a:prstGeom prst="rect">
            <a:avLst/>
          </a:prstGeom>
        </p:spPr>
        <p:txBody>
          <a:bodyPr lIns="0" tIns="0" rIns="0" bIns="0" rtlCol="0" anchor="t">
            <a:spAutoFit/>
          </a:bodyPr>
          <a:lstStyle/>
          <a:p>
            <a:pPr algn="just">
              <a:lnSpc>
                <a:spcPts val="2520"/>
              </a:lnSpc>
            </a:pPr>
            <a:r>
              <a:rPr lang="en-US" sz="1800">
                <a:solidFill>
                  <a:srgbClr val="0E0B0C"/>
                </a:solidFill>
                <a:latin typeface="Open Sans 2"/>
                <a:ea typeface="Open Sans 2"/>
                <a:cs typeface="Open Sans 2"/>
                <a:sym typeface="Open Sans 2"/>
              </a:rPr>
              <a:t>**Patagonia sells many different kind of products, like sweateer, shoes and even bags. </a:t>
            </a:r>
          </a:p>
          <a:p>
            <a:pPr algn="just">
              <a:lnSpc>
                <a:spcPts val="2520"/>
              </a:lnSpc>
            </a:pPr>
            <a:r>
              <a:rPr lang="en-US" sz="1800">
                <a:solidFill>
                  <a:srgbClr val="0E0B0C"/>
                </a:solidFill>
                <a:latin typeface="Open Sans 2"/>
                <a:ea typeface="Open Sans 2"/>
                <a:cs typeface="Open Sans 2"/>
                <a:sym typeface="Open Sans 2"/>
              </a:rPr>
              <a:t>In order to analyse the manufacturing process, we will focus on one of Patagonia’s best seller : </a:t>
            </a:r>
            <a:r>
              <a:rPr lang="en-US" sz="1800" b="1">
                <a:solidFill>
                  <a:srgbClr val="0E0B0C"/>
                </a:solidFill>
                <a:latin typeface="Open Sans 2 Bold"/>
                <a:ea typeface="Open Sans 2 Bold"/>
                <a:cs typeface="Open Sans 2 Bold"/>
                <a:sym typeface="Open Sans 2 Bold"/>
              </a:rPr>
              <a:t>The Down Sweater jacket. </a:t>
            </a:r>
          </a:p>
        </p:txBody>
      </p:sp>
      <p:grpSp>
        <p:nvGrpSpPr>
          <p:cNvPr id="20" name="Group 20"/>
          <p:cNvGrpSpPr/>
          <p:nvPr/>
        </p:nvGrpSpPr>
        <p:grpSpPr>
          <a:xfrm>
            <a:off x="10992460" y="2720176"/>
            <a:ext cx="6155592" cy="5628030"/>
            <a:chOff x="0" y="0"/>
            <a:chExt cx="8207456" cy="7504040"/>
          </a:xfrm>
        </p:grpSpPr>
        <p:pic>
          <p:nvPicPr>
            <p:cNvPr id="21" name="Picture 21"/>
            <p:cNvPicPr>
              <a:picLocks noChangeAspect="1"/>
            </p:cNvPicPr>
            <p:nvPr/>
          </p:nvPicPr>
          <p:blipFill>
            <a:blip r:embed="rId3"/>
            <a:srcRect t="24145" r="6323" b="19112"/>
            <a:stretch>
              <a:fillRect/>
            </a:stretch>
          </p:blipFill>
          <p:spPr>
            <a:xfrm>
              <a:off x="0" y="0"/>
              <a:ext cx="8207456" cy="7504040"/>
            </a:xfrm>
            <a:prstGeom prst="rect">
              <a:avLst/>
            </a:prstGeom>
          </p:spPr>
        </p:pic>
      </p:grpSp>
      <p:sp>
        <p:nvSpPr>
          <p:cNvPr id="22" name="Freeform 22"/>
          <p:cNvSpPr/>
          <p:nvPr/>
        </p:nvSpPr>
        <p:spPr>
          <a:xfrm>
            <a:off x="8456695" y="-757050"/>
            <a:ext cx="2535765" cy="3571500"/>
          </a:xfrm>
          <a:custGeom>
            <a:avLst/>
            <a:gdLst/>
            <a:ahLst/>
            <a:cxnLst/>
            <a:rect l="l" t="t" r="r" b="b"/>
            <a:pathLst>
              <a:path w="2535765" h="3571500">
                <a:moveTo>
                  <a:pt x="0" y="0"/>
                </a:moveTo>
                <a:lnTo>
                  <a:pt x="2535765" y="0"/>
                </a:lnTo>
                <a:lnTo>
                  <a:pt x="2535765" y="3571500"/>
                </a:lnTo>
                <a:lnTo>
                  <a:pt x="0" y="3571500"/>
                </a:lnTo>
                <a:lnTo>
                  <a:pt x="0" y="0"/>
                </a:lnTo>
                <a:close/>
              </a:path>
            </a:pathLst>
          </a:custGeom>
          <a:blipFill>
            <a:blip r:embed="rId4"/>
            <a:stretch>
              <a:fillRect/>
            </a:stretch>
          </a:blipFill>
        </p:spPr>
        <p:txBody>
          <a:bodyPr/>
          <a:lstStyle/>
          <a:p>
            <a:endParaRPr lang="en-US"/>
          </a:p>
        </p:txBody>
      </p:sp>
      <p:grpSp>
        <p:nvGrpSpPr>
          <p:cNvPr id="23" name="Group 23"/>
          <p:cNvGrpSpPr/>
          <p:nvPr/>
        </p:nvGrpSpPr>
        <p:grpSpPr>
          <a:xfrm>
            <a:off x="410691" y="6816584"/>
            <a:ext cx="677751" cy="677751"/>
            <a:chOff x="0" y="0"/>
            <a:chExt cx="812800" cy="812800"/>
          </a:xfrm>
        </p:grpSpPr>
        <p:sp>
          <p:nvSpPr>
            <p:cNvPr id="24" name="Freeform 2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25" name="TextBox 25"/>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26" name="TextBox 26"/>
          <p:cNvSpPr txBox="1"/>
          <p:nvPr/>
        </p:nvSpPr>
        <p:spPr>
          <a:xfrm>
            <a:off x="1407812" y="7049726"/>
            <a:ext cx="7150427" cy="1758950"/>
          </a:xfrm>
          <a:prstGeom prst="rect">
            <a:avLst/>
          </a:prstGeom>
        </p:spPr>
        <p:txBody>
          <a:bodyPr lIns="0" tIns="0" rIns="0" bIns="0" rtlCol="0" anchor="t">
            <a:spAutoFit/>
          </a:bodyPr>
          <a:lstStyle/>
          <a:p>
            <a:pPr algn="l">
              <a:lnSpc>
                <a:spcPts val="2800"/>
              </a:lnSpc>
              <a:spcBef>
                <a:spcPct val="0"/>
              </a:spcBef>
            </a:pPr>
            <a:r>
              <a:rPr lang="en-US" sz="2000">
                <a:solidFill>
                  <a:srgbClr val="1F2020"/>
                </a:solidFill>
                <a:latin typeface="Open Sans 2"/>
                <a:ea typeface="Open Sans 2"/>
                <a:cs typeface="Open Sans 2"/>
                <a:sym typeface="Open Sans 2"/>
              </a:rPr>
              <a:t>Skilled workers sew together the various pieces of fabric, incorporating zippers, buttons, and any special features. The down is carefully measured and loaded into the shell. Specialized machines may distribute the down evenly to create consistent warmth.</a:t>
            </a:r>
          </a:p>
        </p:txBody>
      </p:sp>
      <p:sp>
        <p:nvSpPr>
          <p:cNvPr id="27" name="TextBox 27"/>
          <p:cNvSpPr txBox="1"/>
          <p:nvPr/>
        </p:nvSpPr>
        <p:spPr>
          <a:xfrm>
            <a:off x="501511" y="6992582"/>
            <a:ext cx="496110" cy="611505"/>
          </a:xfrm>
          <a:prstGeom prst="rect">
            <a:avLst/>
          </a:prstGeom>
        </p:spPr>
        <p:txBody>
          <a:bodyPr lIns="0" tIns="0" rIns="0" bIns="0" rtlCol="0" anchor="t">
            <a:spAutoFit/>
          </a:bodyPr>
          <a:lstStyle/>
          <a:p>
            <a:pPr algn="ctr">
              <a:lnSpc>
                <a:spcPts val="2519"/>
              </a:lnSpc>
            </a:pPr>
            <a:r>
              <a:rPr lang="en-US" sz="1799" b="1">
                <a:solidFill>
                  <a:srgbClr val="FFFFFF"/>
                </a:solidFill>
                <a:latin typeface="Open Sans 2 Bold"/>
                <a:ea typeface="Open Sans 2 Bold"/>
                <a:cs typeface="Open Sans 2 Bold"/>
                <a:sym typeface="Open Sans 2 Bold"/>
              </a:rPr>
              <a:t>05</a:t>
            </a:r>
          </a:p>
          <a:p>
            <a:pPr algn="ctr">
              <a:lnSpc>
                <a:spcPts val="2519"/>
              </a:lnSpc>
              <a:spcBef>
                <a:spcPct val="0"/>
              </a:spcBef>
            </a:pPr>
            <a:endParaRPr lang="en-US" sz="1799" b="1">
              <a:solidFill>
                <a:srgbClr val="FFFFFF"/>
              </a:solidFill>
              <a:latin typeface="Open Sans 2 Bold"/>
              <a:ea typeface="Open Sans 2 Bold"/>
              <a:cs typeface="Open Sans 2 Bold"/>
              <a:sym typeface="Open Sans 2 Bold"/>
            </a:endParaRPr>
          </a:p>
        </p:txBody>
      </p:sp>
      <p:sp>
        <p:nvSpPr>
          <p:cNvPr id="28" name="TextBox 28"/>
          <p:cNvSpPr txBox="1"/>
          <p:nvPr/>
        </p:nvSpPr>
        <p:spPr>
          <a:xfrm>
            <a:off x="1407812" y="6672476"/>
            <a:ext cx="6410829" cy="372745"/>
          </a:xfrm>
          <a:prstGeom prst="rect">
            <a:avLst/>
          </a:prstGeom>
        </p:spPr>
        <p:txBody>
          <a:bodyPr lIns="0" tIns="0" rIns="0" bIns="0" rtlCol="0" anchor="t">
            <a:spAutoFit/>
          </a:bodyPr>
          <a:lstStyle/>
          <a:p>
            <a:pPr algn="l">
              <a:lnSpc>
                <a:spcPts val="3079"/>
              </a:lnSpc>
              <a:spcBef>
                <a:spcPct val="0"/>
              </a:spcBef>
            </a:pPr>
            <a:r>
              <a:rPr lang="en-US" sz="2199" b="1">
                <a:solidFill>
                  <a:srgbClr val="1E4541"/>
                </a:solidFill>
                <a:latin typeface="Open Sans 2 Bold"/>
                <a:ea typeface="Open Sans 2 Bold"/>
                <a:cs typeface="Open Sans 2 Bold"/>
                <a:sym typeface="Open Sans 2 Bold"/>
              </a:rPr>
              <a:t>Assembly (2-4 weeks)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148052" y="1669618"/>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011276" y="1238072"/>
            <a:ext cx="5807364" cy="1460246"/>
          </a:xfrm>
          <a:prstGeom prst="rect">
            <a:avLst/>
          </a:prstGeom>
        </p:spPr>
        <p:txBody>
          <a:bodyPr lIns="0" tIns="0" rIns="0" bIns="0" rtlCol="0" anchor="t">
            <a:spAutoFit/>
          </a:bodyPr>
          <a:lstStyle/>
          <a:p>
            <a:pPr algn="l">
              <a:lnSpc>
                <a:spcPts val="5632"/>
              </a:lnSpc>
            </a:pPr>
            <a:r>
              <a:rPr lang="en-US" sz="4400" b="1">
                <a:solidFill>
                  <a:srgbClr val="1E4541"/>
                </a:solidFill>
                <a:latin typeface="Poppins Bold"/>
                <a:ea typeface="Poppins Bold"/>
                <a:cs typeface="Poppins Bold"/>
                <a:sym typeface="Poppins Bold"/>
              </a:rPr>
              <a:t>The Manufacturing process(3/3)</a:t>
            </a:r>
          </a:p>
        </p:txBody>
      </p:sp>
      <p:grpSp>
        <p:nvGrpSpPr>
          <p:cNvPr id="6" name="Group 6"/>
          <p:cNvGrpSpPr/>
          <p:nvPr/>
        </p:nvGrpSpPr>
        <p:grpSpPr>
          <a:xfrm>
            <a:off x="410691" y="3080127"/>
            <a:ext cx="677751" cy="677751"/>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8" name="TextBox 8"/>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9" name="Group 9"/>
          <p:cNvGrpSpPr/>
          <p:nvPr/>
        </p:nvGrpSpPr>
        <p:grpSpPr>
          <a:xfrm>
            <a:off x="410691" y="5249508"/>
            <a:ext cx="677751" cy="677751"/>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11" name="TextBox 11"/>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12" name="Freeform 12"/>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2"/>
            <a:stretch>
              <a:fillRect/>
            </a:stretch>
          </a:blipFill>
        </p:spPr>
        <p:txBody>
          <a:bodyPr/>
          <a:lstStyle/>
          <a:p>
            <a:endParaRPr lang="en-US"/>
          </a:p>
        </p:txBody>
      </p:sp>
      <p:grpSp>
        <p:nvGrpSpPr>
          <p:cNvPr id="13" name="Group 13"/>
          <p:cNvGrpSpPr/>
          <p:nvPr/>
        </p:nvGrpSpPr>
        <p:grpSpPr>
          <a:xfrm>
            <a:off x="10992460" y="2720176"/>
            <a:ext cx="6155592" cy="5628030"/>
            <a:chOff x="0" y="0"/>
            <a:chExt cx="8207456" cy="7504040"/>
          </a:xfrm>
        </p:grpSpPr>
        <p:pic>
          <p:nvPicPr>
            <p:cNvPr id="14" name="Picture 14"/>
            <p:cNvPicPr>
              <a:picLocks noChangeAspect="1"/>
            </p:cNvPicPr>
            <p:nvPr/>
          </p:nvPicPr>
          <p:blipFill>
            <a:blip r:embed="rId3"/>
            <a:srcRect l="13542" r="13542"/>
            <a:stretch>
              <a:fillRect/>
            </a:stretch>
          </p:blipFill>
          <p:spPr>
            <a:xfrm>
              <a:off x="0" y="0"/>
              <a:ext cx="8207456" cy="7504040"/>
            </a:xfrm>
            <a:prstGeom prst="rect">
              <a:avLst/>
            </a:prstGeom>
          </p:spPr>
        </p:pic>
      </p:grpSp>
      <p:grpSp>
        <p:nvGrpSpPr>
          <p:cNvPr id="15" name="Group 15"/>
          <p:cNvGrpSpPr/>
          <p:nvPr/>
        </p:nvGrpSpPr>
        <p:grpSpPr>
          <a:xfrm>
            <a:off x="410691" y="7317910"/>
            <a:ext cx="677751" cy="677751"/>
            <a:chOff x="0" y="0"/>
            <a:chExt cx="812800" cy="812800"/>
          </a:xfrm>
        </p:grpSpPr>
        <p:sp>
          <p:nvSpPr>
            <p:cNvPr id="16" name="Freeform 1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17" name="TextBox 17"/>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18" name="TextBox 18"/>
          <p:cNvSpPr txBox="1"/>
          <p:nvPr/>
        </p:nvSpPr>
        <p:spPr>
          <a:xfrm>
            <a:off x="1407812" y="3447281"/>
            <a:ext cx="7150427" cy="1406525"/>
          </a:xfrm>
          <a:prstGeom prst="rect">
            <a:avLst/>
          </a:prstGeom>
        </p:spPr>
        <p:txBody>
          <a:bodyPr lIns="0" tIns="0" rIns="0" bIns="0" rtlCol="0" anchor="t">
            <a:spAutoFit/>
          </a:bodyPr>
          <a:lstStyle/>
          <a:p>
            <a:pPr algn="l">
              <a:lnSpc>
                <a:spcPts val="2800"/>
              </a:lnSpc>
              <a:spcBef>
                <a:spcPct val="0"/>
              </a:spcBef>
            </a:pPr>
            <a:r>
              <a:rPr lang="en-US" sz="2000">
                <a:solidFill>
                  <a:srgbClr val="1F2020"/>
                </a:solidFill>
                <a:latin typeface="Open Sans 2"/>
                <a:ea typeface="Open Sans 2"/>
                <a:cs typeface="Open Sans 2"/>
                <a:sym typeface="Open Sans 2"/>
              </a:rPr>
              <a:t>Raw materials undergo various preparation and processing steps to make them suitable for manufacturing. For this jacket, the nylon has to be coated with a water repellent finish for example.</a:t>
            </a:r>
          </a:p>
        </p:txBody>
      </p:sp>
      <p:sp>
        <p:nvSpPr>
          <p:cNvPr id="19" name="TextBox 19"/>
          <p:cNvSpPr txBox="1"/>
          <p:nvPr/>
        </p:nvSpPr>
        <p:spPr>
          <a:xfrm>
            <a:off x="501511" y="3197725"/>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2 Bold"/>
                <a:ea typeface="Open Sans 2 Bold"/>
                <a:cs typeface="Open Sans 2 Bold"/>
                <a:sym typeface="Open Sans 2 Bold"/>
              </a:rPr>
              <a:t>06</a:t>
            </a:r>
          </a:p>
        </p:txBody>
      </p:sp>
      <p:sp>
        <p:nvSpPr>
          <p:cNvPr id="20" name="TextBox 20"/>
          <p:cNvSpPr txBox="1"/>
          <p:nvPr/>
        </p:nvSpPr>
        <p:spPr>
          <a:xfrm>
            <a:off x="1407812" y="2987858"/>
            <a:ext cx="6806567" cy="372745"/>
          </a:xfrm>
          <a:prstGeom prst="rect">
            <a:avLst/>
          </a:prstGeom>
        </p:spPr>
        <p:txBody>
          <a:bodyPr lIns="0" tIns="0" rIns="0" bIns="0" rtlCol="0" anchor="t">
            <a:spAutoFit/>
          </a:bodyPr>
          <a:lstStyle/>
          <a:p>
            <a:pPr algn="l">
              <a:lnSpc>
                <a:spcPts val="3079"/>
              </a:lnSpc>
              <a:spcBef>
                <a:spcPct val="0"/>
              </a:spcBef>
            </a:pPr>
            <a:r>
              <a:rPr lang="en-US" sz="2199" b="1">
                <a:solidFill>
                  <a:srgbClr val="1E4541"/>
                </a:solidFill>
                <a:latin typeface="Open Sans 2 Bold"/>
                <a:ea typeface="Open Sans 2 Bold"/>
                <a:cs typeface="Open Sans 2 Bold"/>
                <a:sym typeface="Open Sans 2 Bold"/>
              </a:rPr>
              <a:t>Quality Control (1-2 weeks)</a:t>
            </a:r>
          </a:p>
        </p:txBody>
      </p:sp>
      <p:sp>
        <p:nvSpPr>
          <p:cNvPr id="21" name="TextBox 21"/>
          <p:cNvSpPr txBox="1"/>
          <p:nvPr/>
        </p:nvSpPr>
        <p:spPr>
          <a:xfrm>
            <a:off x="1407812" y="5482650"/>
            <a:ext cx="7150427" cy="1406525"/>
          </a:xfrm>
          <a:prstGeom prst="rect">
            <a:avLst/>
          </a:prstGeom>
        </p:spPr>
        <p:txBody>
          <a:bodyPr lIns="0" tIns="0" rIns="0" bIns="0" rtlCol="0" anchor="t">
            <a:spAutoFit/>
          </a:bodyPr>
          <a:lstStyle/>
          <a:p>
            <a:pPr algn="l">
              <a:lnSpc>
                <a:spcPts val="2800"/>
              </a:lnSpc>
              <a:spcBef>
                <a:spcPct val="0"/>
              </a:spcBef>
            </a:pPr>
            <a:r>
              <a:rPr lang="en-US" sz="2000">
                <a:solidFill>
                  <a:srgbClr val="1F2020"/>
                </a:solidFill>
                <a:latin typeface="Open Sans 2"/>
                <a:ea typeface="Open Sans 2"/>
                <a:cs typeface="Open Sans 2"/>
                <a:sym typeface="Open Sans 2"/>
              </a:rPr>
              <a:t>Testing the product in real conditions is an important part of the manufacturing process of Patagonia. They want to make sure that the product will be resistant. The duration is dependent on the supplier’s location. </a:t>
            </a:r>
          </a:p>
        </p:txBody>
      </p:sp>
      <p:sp>
        <p:nvSpPr>
          <p:cNvPr id="22" name="TextBox 22"/>
          <p:cNvSpPr txBox="1"/>
          <p:nvPr/>
        </p:nvSpPr>
        <p:spPr>
          <a:xfrm>
            <a:off x="501511" y="5425505"/>
            <a:ext cx="496110" cy="611505"/>
          </a:xfrm>
          <a:prstGeom prst="rect">
            <a:avLst/>
          </a:prstGeom>
        </p:spPr>
        <p:txBody>
          <a:bodyPr lIns="0" tIns="0" rIns="0" bIns="0" rtlCol="0" anchor="t">
            <a:spAutoFit/>
          </a:bodyPr>
          <a:lstStyle/>
          <a:p>
            <a:pPr algn="ctr">
              <a:lnSpc>
                <a:spcPts val="2519"/>
              </a:lnSpc>
            </a:pPr>
            <a:r>
              <a:rPr lang="en-US" sz="1799" b="1">
                <a:solidFill>
                  <a:srgbClr val="FFFFFF"/>
                </a:solidFill>
                <a:latin typeface="Open Sans 2 Bold"/>
                <a:ea typeface="Open Sans 2 Bold"/>
                <a:cs typeface="Open Sans 2 Bold"/>
                <a:sym typeface="Open Sans 2 Bold"/>
              </a:rPr>
              <a:t>07</a:t>
            </a:r>
          </a:p>
          <a:p>
            <a:pPr algn="ctr">
              <a:lnSpc>
                <a:spcPts val="2519"/>
              </a:lnSpc>
              <a:spcBef>
                <a:spcPct val="0"/>
              </a:spcBef>
            </a:pPr>
            <a:endParaRPr lang="en-US" sz="1799" b="1">
              <a:solidFill>
                <a:srgbClr val="FFFFFF"/>
              </a:solidFill>
              <a:latin typeface="Open Sans 2 Bold"/>
              <a:ea typeface="Open Sans 2 Bold"/>
              <a:cs typeface="Open Sans 2 Bold"/>
              <a:sym typeface="Open Sans 2 Bold"/>
            </a:endParaRPr>
          </a:p>
        </p:txBody>
      </p:sp>
      <p:sp>
        <p:nvSpPr>
          <p:cNvPr id="23" name="TextBox 23"/>
          <p:cNvSpPr txBox="1"/>
          <p:nvPr/>
        </p:nvSpPr>
        <p:spPr>
          <a:xfrm>
            <a:off x="1407812" y="5105400"/>
            <a:ext cx="6410829" cy="372745"/>
          </a:xfrm>
          <a:prstGeom prst="rect">
            <a:avLst/>
          </a:prstGeom>
        </p:spPr>
        <p:txBody>
          <a:bodyPr lIns="0" tIns="0" rIns="0" bIns="0" rtlCol="0" anchor="t">
            <a:spAutoFit/>
          </a:bodyPr>
          <a:lstStyle/>
          <a:p>
            <a:pPr algn="l">
              <a:lnSpc>
                <a:spcPts val="3079"/>
              </a:lnSpc>
              <a:spcBef>
                <a:spcPct val="0"/>
              </a:spcBef>
            </a:pPr>
            <a:r>
              <a:rPr lang="en-US" sz="2199" b="1">
                <a:solidFill>
                  <a:srgbClr val="1E4541"/>
                </a:solidFill>
                <a:latin typeface="Open Sans 2 Bold"/>
                <a:ea typeface="Open Sans 2 Bold"/>
                <a:cs typeface="Open Sans 2 Bold"/>
                <a:sym typeface="Open Sans 2 Bold"/>
              </a:rPr>
              <a:t>Product testing (2 weeks) </a:t>
            </a:r>
          </a:p>
        </p:txBody>
      </p:sp>
      <p:sp>
        <p:nvSpPr>
          <p:cNvPr id="24" name="TextBox 24"/>
          <p:cNvSpPr txBox="1"/>
          <p:nvPr/>
        </p:nvSpPr>
        <p:spPr>
          <a:xfrm>
            <a:off x="2011276" y="9610011"/>
            <a:ext cx="15762374" cy="611505"/>
          </a:xfrm>
          <a:prstGeom prst="rect">
            <a:avLst/>
          </a:prstGeom>
        </p:spPr>
        <p:txBody>
          <a:bodyPr lIns="0" tIns="0" rIns="0" bIns="0" rtlCol="0" anchor="t">
            <a:spAutoFit/>
          </a:bodyPr>
          <a:lstStyle/>
          <a:p>
            <a:pPr algn="just">
              <a:lnSpc>
                <a:spcPts val="2520"/>
              </a:lnSpc>
            </a:pPr>
            <a:r>
              <a:rPr lang="en-US" sz="1800">
                <a:solidFill>
                  <a:srgbClr val="0E0B0C"/>
                </a:solidFill>
                <a:latin typeface="Open Sans 2"/>
                <a:ea typeface="Open Sans 2"/>
                <a:cs typeface="Open Sans 2"/>
                <a:sym typeface="Open Sans 2"/>
              </a:rPr>
              <a:t>**Patagonia sells many different kind of products, like sweateer, shoes and even bags. </a:t>
            </a:r>
          </a:p>
          <a:p>
            <a:pPr algn="just">
              <a:lnSpc>
                <a:spcPts val="2520"/>
              </a:lnSpc>
            </a:pPr>
            <a:r>
              <a:rPr lang="en-US" sz="1800">
                <a:solidFill>
                  <a:srgbClr val="0E0B0C"/>
                </a:solidFill>
                <a:latin typeface="Open Sans 2"/>
                <a:ea typeface="Open Sans 2"/>
                <a:cs typeface="Open Sans 2"/>
                <a:sym typeface="Open Sans 2"/>
              </a:rPr>
              <a:t>In order to analyse the manufacturing process, we will focus on one of Patagonia’s best seller : </a:t>
            </a:r>
            <a:r>
              <a:rPr lang="en-US" sz="1800" b="1">
                <a:solidFill>
                  <a:srgbClr val="0E0B0C"/>
                </a:solidFill>
                <a:latin typeface="Open Sans 2 Bold"/>
                <a:ea typeface="Open Sans 2 Bold"/>
                <a:cs typeface="Open Sans 2 Bold"/>
                <a:sym typeface="Open Sans 2 Bold"/>
              </a:rPr>
              <a:t>The Down Sweater jacket. </a:t>
            </a:r>
          </a:p>
        </p:txBody>
      </p:sp>
      <p:sp>
        <p:nvSpPr>
          <p:cNvPr id="25" name="TextBox 25"/>
          <p:cNvSpPr txBox="1"/>
          <p:nvPr/>
        </p:nvSpPr>
        <p:spPr>
          <a:xfrm>
            <a:off x="1407812" y="7514074"/>
            <a:ext cx="7150427" cy="1406525"/>
          </a:xfrm>
          <a:prstGeom prst="rect">
            <a:avLst/>
          </a:prstGeom>
        </p:spPr>
        <p:txBody>
          <a:bodyPr lIns="0" tIns="0" rIns="0" bIns="0" rtlCol="0" anchor="t">
            <a:spAutoFit/>
          </a:bodyPr>
          <a:lstStyle/>
          <a:p>
            <a:pPr algn="l">
              <a:lnSpc>
                <a:spcPts val="2800"/>
              </a:lnSpc>
              <a:spcBef>
                <a:spcPct val="0"/>
              </a:spcBef>
            </a:pPr>
            <a:r>
              <a:rPr lang="en-US" sz="2000">
                <a:solidFill>
                  <a:srgbClr val="1F2020"/>
                </a:solidFill>
                <a:latin typeface="Open Sans 2"/>
                <a:ea typeface="Open Sans 2"/>
                <a:cs typeface="Open Sans 2"/>
                <a:sym typeface="Open Sans 2"/>
              </a:rPr>
              <a:t>Once the down sweater is manufactured and passes quality control checks, it is packaged and shipped to distributors or retail stores. This can take weeks or months depending on location.</a:t>
            </a:r>
          </a:p>
        </p:txBody>
      </p:sp>
      <p:sp>
        <p:nvSpPr>
          <p:cNvPr id="26" name="TextBox 26"/>
          <p:cNvSpPr txBox="1"/>
          <p:nvPr/>
        </p:nvSpPr>
        <p:spPr>
          <a:xfrm>
            <a:off x="501511" y="7493908"/>
            <a:ext cx="496110" cy="611505"/>
          </a:xfrm>
          <a:prstGeom prst="rect">
            <a:avLst/>
          </a:prstGeom>
        </p:spPr>
        <p:txBody>
          <a:bodyPr lIns="0" tIns="0" rIns="0" bIns="0" rtlCol="0" anchor="t">
            <a:spAutoFit/>
          </a:bodyPr>
          <a:lstStyle/>
          <a:p>
            <a:pPr algn="ctr">
              <a:lnSpc>
                <a:spcPts val="2519"/>
              </a:lnSpc>
            </a:pPr>
            <a:r>
              <a:rPr lang="en-US" sz="1799" b="1">
                <a:solidFill>
                  <a:srgbClr val="FFFFFF"/>
                </a:solidFill>
                <a:latin typeface="Open Sans 2 Bold"/>
                <a:ea typeface="Open Sans 2 Bold"/>
                <a:cs typeface="Open Sans 2 Bold"/>
                <a:sym typeface="Open Sans 2 Bold"/>
              </a:rPr>
              <a:t>08</a:t>
            </a:r>
          </a:p>
          <a:p>
            <a:pPr algn="ctr">
              <a:lnSpc>
                <a:spcPts val="2519"/>
              </a:lnSpc>
              <a:spcBef>
                <a:spcPct val="0"/>
              </a:spcBef>
            </a:pPr>
            <a:endParaRPr lang="en-US" sz="1799" b="1">
              <a:solidFill>
                <a:srgbClr val="FFFFFF"/>
              </a:solidFill>
              <a:latin typeface="Open Sans 2 Bold"/>
              <a:ea typeface="Open Sans 2 Bold"/>
              <a:cs typeface="Open Sans 2 Bold"/>
              <a:sym typeface="Open Sans 2 Bold"/>
            </a:endParaRPr>
          </a:p>
        </p:txBody>
      </p:sp>
      <p:sp>
        <p:nvSpPr>
          <p:cNvPr id="27" name="TextBox 27"/>
          <p:cNvSpPr txBox="1"/>
          <p:nvPr/>
        </p:nvSpPr>
        <p:spPr>
          <a:xfrm>
            <a:off x="1407812" y="7136825"/>
            <a:ext cx="6410829" cy="372745"/>
          </a:xfrm>
          <a:prstGeom prst="rect">
            <a:avLst/>
          </a:prstGeom>
        </p:spPr>
        <p:txBody>
          <a:bodyPr lIns="0" tIns="0" rIns="0" bIns="0" rtlCol="0" anchor="t">
            <a:spAutoFit/>
          </a:bodyPr>
          <a:lstStyle/>
          <a:p>
            <a:pPr algn="l">
              <a:lnSpc>
                <a:spcPts val="3079"/>
              </a:lnSpc>
              <a:spcBef>
                <a:spcPct val="0"/>
              </a:spcBef>
            </a:pPr>
            <a:r>
              <a:rPr lang="en-US" sz="2199" b="1">
                <a:solidFill>
                  <a:srgbClr val="1E4541"/>
                </a:solidFill>
                <a:latin typeface="Open Sans 2 Bold"/>
                <a:ea typeface="Open Sans 2 Bold"/>
                <a:cs typeface="Open Sans 2 Bold"/>
                <a:sym typeface="Open Sans 2 Bold"/>
              </a:rPr>
              <a:t>Packaging and Shipping (1-3 weeks)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1028700"/>
            <a:ext cx="16230600" cy="4114800"/>
            <a:chOff x="0" y="0"/>
            <a:chExt cx="21640800" cy="5486400"/>
          </a:xfrm>
        </p:grpSpPr>
        <p:pic>
          <p:nvPicPr>
            <p:cNvPr id="6" name="Picture 6"/>
            <p:cNvPicPr>
              <a:picLocks noChangeAspect="1"/>
            </p:cNvPicPr>
            <p:nvPr/>
          </p:nvPicPr>
          <p:blipFill>
            <a:blip r:embed="rId2"/>
            <a:srcRect t="55266" b="6681"/>
            <a:stretch>
              <a:fillRect/>
            </a:stretch>
          </p:blipFill>
          <p:spPr>
            <a:xfrm>
              <a:off x="0" y="0"/>
              <a:ext cx="21640800" cy="5486400"/>
            </a:xfrm>
            <a:prstGeom prst="rect">
              <a:avLst/>
            </a:prstGeom>
          </p:spPr>
        </p:pic>
      </p:grpSp>
      <p:sp>
        <p:nvSpPr>
          <p:cNvPr id="7" name="Freeform 7"/>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3"/>
            <a:stretch>
              <a:fillRect/>
            </a:stretch>
          </a:blipFill>
        </p:spPr>
        <p:txBody>
          <a:bodyPr/>
          <a:lstStyle/>
          <a:p>
            <a:endParaRPr lang="en-US"/>
          </a:p>
        </p:txBody>
      </p:sp>
      <p:grpSp>
        <p:nvGrpSpPr>
          <p:cNvPr id="8" name="Group 8"/>
          <p:cNvGrpSpPr/>
          <p:nvPr/>
        </p:nvGrpSpPr>
        <p:grpSpPr>
          <a:xfrm>
            <a:off x="410691" y="6211027"/>
            <a:ext cx="3411698" cy="1705849"/>
            <a:chOff x="0" y="0"/>
            <a:chExt cx="812800" cy="406400"/>
          </a:xfrm>
        </p:grpSpPr>
        <p:sp>
          <p:nvSpPr>
            <p:cNvPr id="9" name="Freeform 9"/>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1E4541"/>
            </a:solidFill>
          </p:spPr>
          <p:txBody>
            <a:bodyPr/>
            <a:lstStyle/>
            <a:p>
              <a:endParaRPr lang="en-US"/>
            </a:p>
          </p:txBody>
        </p:sp>
        <p:sp>
          <p:nvSpPr>
            <p:cNvPr id="10" name="TextBox 10"/>
            <p:cNvSpPr txBox="1"/>
            <p:nvPr/>
          </p:nvSpPr>
          <p:spPr>
            <a:xfrm>
              <a:off x="177800" y="-28575"/>
              <a:ext cx="558800" cy="434975"/>
            </a:xfrm>
            <a:prstGeom prst="rect">
              <a:avLst/>
            </a:prstGeom>
          </p:spPr>
          <p:txBody>
            <a:bodyPr lIns="50800" tIns="50800" rIns="50800" bIns="50800" rtlCol="0" anchor="ctr"/>
            <a:lstStyle/>
            <a:p>
              <a:pPr algn="ctr">
                <a:lnSpc>
                  <a:spcPts val="2519"/>
                </a:lnSpc>
              </a:pPr>
              <a:endParaRPr/>
            </a:p>
          </p:txBody>
        </p:sp>
      </p:grpSp>
      <p:sp>
        <p:nvSpPr>
          <p:cNvPr id="11" name="TextBox 11"/>
          <p:cNvSpPr txBox="1"/>
          <p:nvPr/>
        </p:nvSpPr>
        <p:spPr>
          <a:xfrm>
            <a:off x="1028700" y="5245076"/>
            <a:ext cx="4049553" cy="745871"/>
          </a:xfrm>
          <a:prstGeom prst="rect">
            <a:avLst/>
          </a:prstGeom>
        </p:spPr>
        <p:txBody>
          <a:bodyPr lIns="0" tIns="0" rIns="0" bIns="0" rtlCol="0" anchor="t">
            <a:spAutoFit/>
          </a:bodyPr>
          <a:lstStyle/>
          <a:p>
            <a:pPr algn="l">
              <a:lnSpc>
                <a:spcPts val="5632"/>
              </a:lnSpc>
            </a:pPr>
            <a:r>
              <a:rPr lang="en-US" sz="4400" b="1">
                <a:solidFill>
                  <a:srgbClr val="1E4541"/>
                </a:solidFill>
                <a:latin typeface="Poppins Bold"/>
                <a:ea typeface="Poppins Bold"/>
                <a:cs typeface="Poppins Bold"/>
                <a:sym typeface="Poppins Bold"/>
              </a:rPr>
              <a:t>Supply Chain</a:t>
            </a:r>
          </a:p>
        </p:txBody>
      </p:sp>
      <p:sp>
        <p:nvSpPr>
          <p:cNvPr id="12" name="TextBox 12"/>
          <p:cNvSpPr txBox="1"/>
          <p:nvPr/>
        </p:nvSpPr>
        <p:spPr>
          <a:xfrm>
            <a:off x="8581230" y="5993336"/>
            <a:ext cx="3052094" cy="82617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2"/>
                <a:ea typeface="Open Sans 2"/>
                <a:cs typeface="Open Sans 2"/>
                <a:sym typeface="Open Sans 2"/>
              </a:rPr>
              <a:t>Lorem ipsum dolor sit amet, consectetur adipiscing elit, sed do eiusmod tempor incididunt ut labore et dolore magna aliqua. Ut enim ad minim</a:t>
            </a:r>
          </a:p>
        </p:txBody>
      </p:sp>
      <p:sp>
        <p:nvSpPr>
          <p:cNvPr id="13" name="TextBox 13"/>
          <p:cNvSpPr txBox="1"/>
          <p:nvPr/>
        </p:nvSpPr>
        <p:spPr>
          <a:xfrm>
            <a:off x="8581230" y="5627537"/>
            <a:ext cx="2012018" cy="240591"/>
          </a:xfrm>
          <a:prstGeom prst="rect">
            <a:avLst/>
          </a:prstGeom>
        </p:spPr>
        <p:txBody>
          <a:bodyPr lIns="0" tIns="0" rIns="0" bIns="0" rtlCol="0" anchor="t">
            <a:spAutoFit/>
          </a:bodyPr>
          <a:lstStyle/>
          <a:p>
            <a:pPr algn="l">
              <a:lnSpc>
                <a:spcPts val="1960"/>
              </a:lnSpc>
              <a:spcBef>
                <a:spcPct val="0"/>
              </a:spcBef>
            </a:pPr>
            <a:r>
              <a:rPr lang="en-US" sz="1400" b="1">
                <a:solidFill>
                  <a:srgbClr val="FFFFFF"/>
                </a:solidFill>
                <a:latin typeface="Open Sans 2 Bold"/>
                <a:ea typeface="Open Sans 2 Bold"/>
                <a:cs typeface="Open Sans 2 Bold"/>
                <a:sym typeface="Open Sans 2 Bold"/>
              </a:rPr>
              <a:t>Mission 03</a:t>
            </a:r>
          </a:p>
        </p:txBody>
      </p:sp>
      <p:sp>
        <p:nvSpPr>
          <p:cNvPr id="14" name="TextBox 14"/>
          <p:cNvSpPr txBox="1"/>
          <p:nvPr/>
        </p:nvSpPr>
        <p:spPr>
          <a:xfrm>
            <a:off x="12596910" y="5993336"/>
            <a:ext cx="3052094" cy="82617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2"/>
                <a:ea typeface="Open Sans 2"/>
                <a:cs typeface="Open Sans 2"/>
                <a:sym typeface="Open Sans 2"/>
              </a:rPr>
              <a:t>Lorem ipsum dolor sit amet, consectetur adipiscing elit, sed do eiusmod tempor incididunt ut labore et dolore magna aliqua. Ut enim ad minim</a:t>
            </a:r>
          </a:p>
        </p:txBody>
      </p:sp>
      <p:sp>
        <p:nvSpPr>
          <p:cNvPr id="15" name="TextBox 15"/>
          <p:cNvSpPr txBox="1"/>
          <p:nvPr/>
        </p:nvSpPr>
        <p:spPr>
          <a:xfrm>
            <a:off x="12596910" y="5627537"/>
            <a:ext cx="2012018" cy="240591"/>
          </a:xfrm>
          <a:prstGeom prst="rect">
            <a:avLst/>
          </a:prstGeom>
        </p:spPr>
        <p:txBody>
          <a:bodyPr lIns="0" tIns="0" rIns="0" bIns="0" rtlCol="0" anchor="t">
            <a:spAutoFit/>
          </a:bodyPr>
          <a:lstStyle/>
          <a:p>
            <a:pPr algn="l">
              <a:lnSpc>
                <a:spcPts val="1960"/>
              </a:lnSpc>
              <a:spcBef>
                <a:spcPct val="0"/>
              </a:spcBef>
            </a:pPr>
            <a:r>
              <a:rPr lang="en-US" sz="1400" b="1">
                <a:solidFill>
                  <a:srgbClr val="FFFFFF"/>
                </a:solidFill>
                <a:latin typeface="Open Sans 2 Bold"/>
                <a:ea typeface="Open Sans 2 Bold"/>
                <a:cs typeface="Open Sans 2 Bold"/>
                <a:sym typeface="Open Sans 2 Bold"/>
              </a:rPr>
              <a:t>Mission 04</a:t>
            </a:r>
          </a:p>
        </p:txBody>
      </p:sp>
      <p:grpSp>
        <p:nvGrpSpPr>
          <p:cNvPr id="16" name="Group 16"/>
          <p:cNvGrpSpPr/>
          <p:nvPr/>
        </p:nvGrpSpPr>
        <p:grpSpPr>
          <a:xfrm>
            <a:off x="3332303" y="6211027"/>
            <a:ext cx="3411698" cy="1705849"/>
            <a:chOff x="0" y="0"/>
            <a:chExt cx="812800" cy="406400"/>
          </a:xfrm>
        </p:grpSpPr>
        <p:sp>
          <p:nvSpPr>
            <p:cNvPr id="17" name="Freeform 17"/>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6F7030"/>
            </a:solidFill>
          </p:spPr>
          <p:txBody>
            <a:bodyPr/>
            <a:lstStyle/>
            <a:p>
              <a:endParaRPr lang="en-US"/>
            </a:p>
          </p:txBody>
        </p:sp>
        <p:sp>
          <p:nvSpPr>
            <p:cNvPr id="18" name="TextBox 18"/>
            <p:cNvSpPr txBox="1"/>
            <p:nvPr/>
          </p:nvSpPr>
          <p:spPr>
            <a:xfrm>
              <a:off x="177800" y="-28575"/>
              <a:ext cx="558800" cy="434975"/>
            </a:xfrm>
            <a:prstGeom prst="rect">
              <a:avLst/>
            </a:prstGeom>
          </p:spPr>
          <p:txBody>
            <a:bodyPr lIns="50800" tIns="50800" rIns="50800" bIns="50800" rtlCol="0" anchor="ctr"/>
            <a:lstStyle/>
            <a:p>
              <a:pPr algn="ctr">
                <a:lnSpc>
                  <a:spcPts val="2519"/>
                </a:lnSpc>
              </a:pPr>
              <a:endParaRPr/>
            </a:p>
          </p:txBody>
        </p:sp>
      </p:grpSp>
      <p:grpSp>
        <p:nvGrpSpPr>
          <p:cNvPr id="19" name="Group 19"/>
          <p:cNvGrpSpPr/>
          <p:nvPr/>
        </p:nvGrpSpPr>
        <p:grpSpPr>
          <a:xfrm>
            <a:off x="6089376" y="6211027"/>
            <a:ext cx="3411698" cy="1705849"/>
            <a:chOff x="0" y="0"/>
            <a:chExt cx="812800" cy="406400"/>
          </a:xfrm>
        </p:grpSpPr>
        <p:sp>
          <p:nvSpPr>
            <p:cNvPr id="20" name="Freeform 20"/>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B4A540"/>
            </a:solidFill>
          </p:spPr>
          <p:txBody>
            <a:bodyPr/>
            <a:lstStyle/>
            <a:p>
              <a:endParaRPr lang="en-US"/>
            </a:p>
          </p:txBody>
        </p:sp>
        <p:sp>
          <p:nvSpPr>
            <p:cNvPr id="21" name="TextBox 21"/>
            <p:cNvSpPr txBox="1"/>
            <p:nvPr/>
          </p:nvSpPr>
          <p:spPr>
            <a:xfrm>
              <a:off x="177800" y="-28575"/>
              <a:ext cx="558800" cy="434975"/>
            </a:xfrm>
            <a:prstGeom prst="rect">
              <a:avLst/>
            </a:prstGeom>
          </p:spPr>
          <p:txBody>
            <a:bodyPr lIns="50800" tIns="50800" rIns="50800" bIns="50800" rtlCol="0" anchor="ctr"/>
            <a:lstStyle/>
            <a:p>
              <a:pPr algn="ctr">
                <a:lnSpc>
                  <a:spcPts val="2519"/>
                </a:lnSpc>
              </a:pPr>
              <a:endParaRPr/>
            </a:p>
          </p:txBody>
        </p:sp>
      </p:grpSp>
      <p:grpSp>
        <p:nvGrpSpPr>
          <p:cNvPr id="22" name="Group 22"/>
          <p:cNvGrpSpPr/>
          <p:nvPr/>
        </p:nvGrpSpPr>
        <p:grpSpPr>
          <a:xfrm>
            <a:off x="8849560" y="6211027"/>
            <a:ext cx="3411698" cy="1705849"/>
            <a:chOff x="0" y="0"/>
            <a:chExt cx="812800" cy="406400"/>
          </a:xfrm>
        </p:grpSpPr>
        <p:sp>
          <p:nvSpPr>
            <p:cNvPr id="23" name="Freeform 23"/>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3C7F82"/>
            </a:solidFill>
          </p:spPr>
          <p:txBody>
            <a:bodyPr/>
            <a:lstStyle/>
            <a:p>
              <a:endParaRPr lang="en-US"/>
            </a:p>
          </p:txBody>
        </p:sp>
        <p:sp>
          <p:nvSpPr>
            <p:cNvPr id="24" name="TextBox 24"/>
            <p:cNvSpPr txBox="1"/>
            <p:nvPr/>
          </p:nvSpPr>
          <p:spPr>
            <a:xfrm>
              <a:off x="177800" y="-28575"/>
              <a:ext cx="558800" cy="434975"/>
            </a:xfrm>
            <a:prstGeom prst="rect">
              <a:avLst/>
            </a:prstGeom>
          </p:spPr>
          <p:txBody>
            <a:bodyPr lIns="50800" tIns="50800" rIns="50800" bIns="50800" rtlCol="0" anchor="ctr"/>
            <a:lstStyle/>
            <a:p>
              <a:pPr algn="ctr">
                <a:lnSpc>
                  <a:spcPts val="2519"/>
                </a:lnSpc>
              </a:pPr>
              <a:endParaRPr/>
            </a:p>
          </p:txBody>
        </p:sp>
      </p:grpSp>
      <p:grpSp>
        <p:nvGrpSpPr>
          <p:cNvPr id="25" name="Group 25"/>
          <p:cNvGrpSpPr/>
          <p:nvPr/>
        </p:nvGrpSpPr>
        <p:grpSpPr>
          <a:xfrm>
            <a:off x="11667556" y="6211027"/>
            <a:ext cx="3411698" cy="1705849"/>
            <a:chOff x="0" y="0"/>
            <a:chExt cx="812800" cy="406400"/>
          </a:xfrm>
        </p:grpSpPr>
        <p:sp>
          <p:nvSpPr>
            <p:cNvPr id="26" name="Freeform 26"/>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8FC3D6"/>
            </a:solidFill>
          </p:spPr>
          <p:txBody>
            <a:bodyPr/>
            <a:lstStyle/>
            <a:p>
              <a:endParaRPr lang="en-US"/>
            </a:p>
          </p:txBody>
        </p:sp>
        <p:sp>
          <p:nvSpPr>
            <p:cNvPr id="27" name="TextBox 27"/>
            <p:cNvSpPr txBox="1"/>
            <p:nvPr/>
          </p:nvSpPr>
          <p:spPr>
            <a:xfrm>
              <a:off x="177800" y="-28575"/>
              <a:ext cx="558800" cy="434975"/>
            </a:xfrm>
            <a:prstGeom prst="rect">
              <a:avLst/>
            </a:prstGeom>
          </p:spPr>
          <p:txBody>
            <a:bodyPr lIns="50800" tIns="50800" rIns="50800" bIns="50800" rtlCol="0" anchor="ctr"/>
            <a:lstStyle/>
            <a:p>
              <a:pPr algn="ctr">
                <a:lnSpc>
                  <a:spcPts val="2519"/>
                </a:lnSpc>
              </a:pPr>
              <a:endParaRPr/>
            </a:p>
          </p:txBody>
        </p:sp>
      </p:grpSp>
      <p:grpSp>
        <p:nvGrpSpPr>
          <p:cNvPr id="28" name="Group 28"/>
          <p:cNvGrpSpPr/>
          <p:nvPr/>
        </p:nvGrpSpPr>
        <p:grpSpPr>
          <a:xfrm>
            <a:off x="14624256" y="6211027"/>
            <a:ext cx="3411698" cy="1705849"/>
            <a:chOff x="0" y="0"/>
            <a:chExt cx="812800" cy="406400"/>
          </a:xfrm>
        </p:grpSpPr>
        <p:sp>
          <p:nvSpPr>
            <p:cNvPr id="29" name="Freeform 29"/>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6F7030"/>
            </a:solidFill>
          </p:spPr>
          <p:txBody>
            <a:bodyPr/>
            <a:lstStyle/>
            <a:p>
              <a:endParaRPr lang="en-US"/>
            </a:p>
          </p:txBody>
        </p:sp>
        <p:sp>
          <p:nvSpPr>
            <p:cNvPr id="30" name="TextBox 30"/>
            <p:cNvSpPr txBox="1"/>
            <p:nvPr/>
          </p:nvSpPr>
          <p:spPr>
            <a:xfrm>
              <a:off x="177800" y="-28575"/>
              <a:ext cx="558800" cy="434975"/>
            </a:xfrm>
            <a:prstGeom prst="rect">
              <a:avLst/>
            </a:prstGeom>
          </p:spPr>
          <p:txBody>
            <a:bodyPr lIns="50800" tIns="50800" rIns="50800" bIns="50800" rtlCol="0" anchor="ctr"/>
            <a:lstStyle/>
            <a:p>
              <a:pPr algn="ctr">
                <a:lnSpc>
                  <a:spcPts val="2519"/>
                </a:lnSpc>
              </a:pPr>
              <a:endParaRPr/>
            </a:p>
          </p:txBody>
        </p:sp>
      </p:grpSp>
      <p:sp>
        <p:nvSpPr>
          <p:cNvPr id="31" name="TextBox 31"/>
          <p:cNvSpPr txBox="1"/>
          <p:nvPr/>
        </p:nvSpPr>
        <p:spPr>
          <a:xfrm>
            <a:off x="1594387" y="6859128"/>
            <a:ext cx="1044306" cy="371548"/>
          </a:xfrm>
          <a:prstGeom prst="rect">
            <a:avLst/>
          </a:prstGeom>
        </p:spPr>
        <p:txBody>
          <a:bodyPr lIns="0" tIns="0" rIns="0" bIns="0" rtlCol="0" anchor="t">
            <a:spAutoFit/>
          </a:bodyPr>
          <a:lstStyle/>
          <a:p>
            <a:pPr algn="ctr">
              <a:lnSpc>
                <a:spcPts val="3095"/>
              </a:lnSpc>
              <a:spcBef>
                <a:spcPct val="0"/>
              </a:spcBef>
            </a:pPr>
            <a:r>
              <a:rPr lang="en-US" sz="2211" b="1">
                <a:solidFill>
                  <a:srgbClr val="FFFFFF"/>
                </a:solidFill>
                <a:latin typeface="Open Sans 2 Bold"/>
                <a:ea typeface="Open Sans 2 Bold"/>
                <a:cs typeface="Open Sans 2 Bold"/>
                <a:sym typeface="Open Sans 2 Bold"/>
              </a:rPr>
              <a:t>DESIGN</a:t>
            </a:r>
          </a:p>
        </p:txBody>
      </p:sp>
      <p:sp>
        <p:nvSpPr>
          <p:cNvPr id="32" name="TextBox 32"/>
          <p:cNvSpPr txBox="1"/>
          <p:nvPr/>
        </p:nvSpPr>
        <p:spPr>
          <a:xfrm>
            <a:off x="4110030" y="6595879"/>
            <a:ext cx="2132443" cy="761155"/>
          </a:xfrm>
          <a:prstGeom prst="rect">
            <a:avLst/>
          </a:prstGeom>
        </p:spPr>
        <p:txBody>
          <a:bodyPr lIns="0" tIns="0" rIns="0" bIns="0" rtlCol="0" anchor="t">
            <a:spAutoFit/>
          </a:bodyPr>
          <a:lstStyle/>
          <a:p>
            <a:pPr algn="ctr">
              <a:lnSpc>
                <a:spcPts val="3095"/>
              </a:lnSpc>
            </a:pPr>
            <a:r>
              <a:rPr lang="en-US" sz="2211" b="1">
                <a:solidFill>
                  <a:srgbClr val="FFFFFF"/>
                </a:solidFill>
                <a:latin typeface="Open Sans 2 Bold"/>
                <a:ea typeface="Open Sans 2 Bold"/>
                <a:cs typeface="Open Sans 2 Bold"/>
                <a:sym typeface="Open Sans 2 Bold"/>
              </a:rPr>
              <a:t>RAW MATERIAL</a:t>
            </a:r>
          </a:p>
          <a:p>
            <a:pPr algn="ctr">
              <a:lnSpc>
                <a:spcPts val="3095"/>
              </a:lnSpc>
              <a:spcBef>
                <a:spcPct val="0"/>
              </a:spcBef>
            </a:pPr>
            <a:r>
              <a:rPr lang="en-US" sz="2211" b="1">
                <a:solidFill>
                  <a:srgbClr val="FFFFFF"/>
                </a:solidFill>
                <a:latin typeface="Open Sans 2 Bold"/>
                <a:ea typeface="Open Sans 2 Bold"/>
                <a:cs typeface="Open Sans 2 Bold"/>
                <a:sym typeface="Open Sans 2 Bold"/>
              </a:rPr>
              <a:t> SOURCING</a:t>
            </a:r>
          </a:p>
        </p:txBody>
      </p:sp>
      <p:sp>
        <p:nvSpPr>
          <p:cNvPr id="33" name="TextBox 33"/>
          <p:cNvSpPr txBox="1"/>
          <p:nvPr/>
        </p:nvSpPr>
        <p:spPr>
          <a:xfrm>
            <a:off x="6761185" y="6469520"/>
            <a:ext cx="2150212" cy="1150763"/>
          </a:xfrm>
          <a:prstGeom prst="rect">
            <a:avLst/>
          </a:prstGeom>
        </p:spPr>
        <p:txBody>
          <a:bodyPr lIns="0" tIns="0" rIns="0" bIns="0" rtlCol="0" anchor="t">
            <a:spAutoFit/>
          </a:bodyPr>
          <a:lstStyle/>
          <a:p>
            <a:pPr algn="ctr">
              <a:lnSpc>
                <a:spcPts val="3095"/>
              </a:lnSpc>
            </a:pPr>
            <a:r>
              <a:rPr lang="en-US" sz="2211" b="1">
                <a:solidFill>
                  <a:srgbClr val="FFFFFF"/>
                </a:solidFill>
                <a:latin typeface="Open Sans 2 Bold"/>
                <a:ea typeface="Open Sans 2 Bold"/>
                <a:cs typeface="Open Sans 2 Bold"/>
                <a:sym typeface="Open Sans 2 Bold"/>
              </a:rPr>
              <a:t>MATERIAL </a:t>
            </a:r>
          </a:p>
          <a:p>
            <a:pPr algn="ctr">
              <a:lnSpc>
                <a:spcPts val="3095"/>
              </a:lnSpc>
            </a:pPr>
            <a:r>
              <a:rPr lang="en-US" sz="2211" b="1">
                <a:solidFill>
                  <a:srgbClr val="FFFFFF"/>
                </a:solidFill>
                <a:latin typeface="Open Sans 2 Bold"/>
                <a:ea typeface="Open Sans 2 Bold"/>
                <a:cs typeface="Open Sans 2 Bold"/>
                <a:sym typeface="Open Sans 2 Bold"/>
              </a:rPr>
              <a:t>TREATMENT </a:t>
            </a:r>
          </a:p>
          <a:p>
            <a:pPr algn="ctr">
              <a:lnSpc>
                <a:spcPts val="3095"/>
              </a:lnSpc>
              <a:spcBef>
                <a:spcPct val="0"/>
              </a:spcBef>
            </a:pPr>
            <a:r>
              <a:rPr lang="en-US" sz="2211" b="1">
                <a:solidFill>
                  <a:srgbClr val="FFFFFF"/>
                </a:solidFill>
                <a:latin typeface="Open Sans 2 Bold"/>
                <a:ea typeface="Open Sans 2 Bold"/>
                <a:cs typeface="Open Sans 2 Bold"/>
                <a:sym typeface="Open Sans 2 Bold"/>
              </a:rPr>
              <a:t>AND ASSEMBLY</a:t>
            </a:r>
          </a:p>
        </p:txBody>
      </p:sp>
      <p:sp>
        <p:nvSpPr>
          <p:cNvPr id="34" name="TextBox 34"/>
          <p:cNvSpPr txBox="1"/>
          <p:nvPr/>
        </p:nvSpPr>
        <p:spPr>
          <a:xfrm>
            <a:off x="9802270" y="6664324"/>
            <a:ext cx="1564090" cy="761155"/>
          </a:xfrm>
          <a:prstGeom prst="rect">
            <a:avLst/>
          </a:prstGeom>
        </p:spPr>
        <p:txBody>
          <a:bodyPr lIns="0" tIns="0" rIns="0" bIns="0" rtlCol="0" anchor="t">
            <a:spAutoFit/>
          </a:bodyPr>
          <a:lstStyle/>
          <a:p>
            <a:pPr algn="ctr">
              <a:lnSpc>
                <a:spcPts val="3095"/>
              </a:lnSpc>
            </a:pPr>
            <a:r>
              <a:rPr lang="en-US" sz="2211" b="1">
                <a:solidFill>
                  <a:srgbClr val="FFFFFF"/>
                </a:solidFill>
                <a:latin typeface="Open Sans 2 Bold"/>
                <a:ea typeface="Open Sans 2 Bold"/>
                <a:cs typeface="Open Sans 2 Bold"/>
                <a:sym typeface="Open Sans 2 Bold"/>
              </a:rPr>
              <a:t>QUALITY </a:t>
            </a:r>
          </a:p>
          <a:p>
            <a:pPr algn="ctr">
              <a:lnSpc>
                <a:spcPts val="3095"/>
              </a:lnSpc>
              <a:spcBef>
                <a:spcPct val="0"/>
              </a:spcBef>
            </a:pPr>
            <a:r>
              <a:rPr lang="en-US" sz="2211" b="1">
                <a:solidFill>
                  <a:srgbClr val="FFFFFF"/>
                </a:solidFill>
                <a:latin typeface="Open Sans 2 Bold"/>
                <a:ea typeface="Open Sans 2 Bold"/>
                <a:cs typeface="Open Sans 2 Bold"/>
                <a:sym typeface="Open Sans 2 Bold"/>
              </a:rPr>
              <a:t>CONTROLG</a:t>
            </a:r>
          </a:p>
        </p:txBody>
      </p:sp>
      <p:sp>
        <p:nvSpPr>
          <p:cNvPr id="35" name="TextBox 35"/>
          <p:cNvSpPr txBox="1"/>
          <p:nvPr/>
        </p:nvSpPr>
        <p:spPr>
          <a:xfrm>
            <a:off x="12902642" y="6859128"/>
            <a:ext cx="1339671" cy="371548"/>
          </a:xfrm>
          <a:prstGeom prst="rect">
            <a:avLst/>
          </a:prstGeom>
        </p:spPr>
        <p:txBody>
          <a:bodyPr lIns="0" tIns="0" rIns="0" bIns="0" rtlCol="0" anchor="t">
            <a:spAutoFit/>
          </a:bodyPr>
          <a:lstStyle/>
          <a:p>
            <a:pPr algn="ctr">
              <a:lnSpc>
                <a:spcPts val="3095"/>
              </a:lnSpc>
              <a:spcBef>
                <a:spcPct val="0"/>
              </a:spcBef>
            </a:pPr>
            <a:r>
              <a:rPr lang="en-US" sz="2211" b="1">
                <a:solidFill>
                  <a:srgbClr val="FFFFFF"/>
                </a:solidFill>
                <a:latin typeface="Open Sans 2 Bold"/>
                <a:ea typeface="Open Sans 2 Bold"/>
                <a:cs typeface="Open Sans 2 Bold"/>
                <a:sym typeface="Open Sans 2 Bold"/>
              </a:rPr>
              <a:t>SHIPPING</a:t>
            </a:r>
          </a:p>
        </p:txBody>
      </p:sp>
      <p:sp>
        <p:nvSpPr>
          <p:cNvPr id="36" name="TextBox 36"/>
          <p:cNvSpPr txBox="1"/>
          <p:nvPr/>
        </p:nvSpPr>
        <p:spPr>
          <a:xfrm>
            <a:off x="15420676" y="6469520"/>
            <a:ext cx="1987920" cy="1150763"/>
          </a:xfrm>
          <a:prstGeom prst="rect">
            <a:avLst/>
          </a:prstGeom>
        </p:spPr>
        <p:txBody>
          <a:bodyPr lIns="0" tIns="0" rIns="0" bIns="0" rtlCol="0" anchor="t">
            <a:spAutoFit/>
          </a:bodyPr>
          <a:lstStyle/>
          <a:p>
            <a:pPr algn="ctr">
              <a:lnSpc>
                <a:spcPts val="3095"/>
              </a:lnSpc>
            </a:pPr>
            <a:r>
              <a:rPr lang="en-US" sz="2211" b="1">
                <a:solidFill>
                  <a:srgbClr val="FFFFFF"/>
                </a:solidFill>
                <a:latin typeface="Open Sans 2 Bold"/>
                <a:ea typeface="Open Sans 2 Bold"/>
                <a:cs typeface="Open Sans 2 Bold"/>
                <a:sym typeface="Open Sans 2 Bold"/>
              </a:rPr>
              <a:t>RETAIL STORE</a:t>
            </a:r>
          </a:p>
          <a:p>
            <a:pPr algn="ctr">
              <a:lnSpc>
                <a:spcPts val="3095"/>
              </a:lnSpc>
            </a:pPr>
            <a:r>
              <a:rPr lang="en-US" sz="2211" b="1">
                <a:solidFill>
                  <a:srgbClr val="FFFFFF"/>
                </a:solidFill>
                <a:latin typeface="Open Sans 2 Bold"/>
                <a:ea typeface="Open Sans 2 Bold"/>
                <a:cs typeface="Open Sans 2 Bold"/>
                <a:sym typeface="Open Sans 2 Bold"/>
              </a:rPr>
              <a:t>OR DC</a:t>
            </a:r>
          </a:p>
          <a:p>
            <a:pPr algn="ctr">
              <a:lnSpc>
                <a:spcPts val="3095"/>
              </a:lnSpc>
              <a:spcBef>
                <a:spcPct val="0"/>
              </a:spcBef>
            </a:pPr>
            <a:r>
              <a:rPr lang="en-US" sz="2211" b="1">
                <a:solidFill>
                  <a:srgbClr val="FFFFFF"/>
                </a:solidFill>
                <a:latin typeface="Open Sans 2 Bold"/>
                <a:ea typeface="Open Sans 2 Bold"/>
                <a:cs typeface="Open Sans 2 Bold"/>
                <a:sym typeface="Open Sans 2 Bold"/>
              </a:rPr>
              <a:t>( FOR ONLINE)</a:t>
            </a:r>
          </a:p>
        </p:txBody>
      </p:sp>
      <p:sp>
        <p:nvSpPr>
          <p:cNvPr id="37" name="TextBox 37"/>
          <p:cNvSpPr txBox="1"/>
          <p:nvPr/>
        </p:nvSpPr>
        <p:spPr>
          <a:xfrm>
            <a:off x="1028700" y="8393126"/>
            <a:ext cx="16230600" cy="1653540"/>
          </a:xfrm>
          <a:prstGeom prst="rect">
            <a:avLst/>
          </a:prstGeom>
        </p:spPr>
        <p:txBody>
          <a:bodyPr lIns="0" tIns="0" rIns="0" bIns="0" rtlCol="0" anchor="t">
            <a:spAutoFit/>
          </a:bodyPr>
          <a:lstStyle/>
          <a:p>
            <a:pPr algn="l">
              <a:lnSpc>
                <a:spcPts val="3359"/>
              </a:lnSpc>
              <a:spcBef>
                <a:spcPct val="0"/>
              </a:spcBef>
            </a:pPr>
            <a:r>
              <a:rPr lang="en-US" sz="2399">
                <a:solidFill>
                  <a:srgbClr val="1F2020"/>
                </a:solidFill>
                <a:latin typeface="Open Sans 2"/>
                <a:ea typeface="Open Sans 2"/>
                <a:cs typeface="Open Sans 2"/>
                <a:sym typeface="Open Sans 2"/>
              </a:rPr>
              <a:t>Patagonia's supply chain isn't just a thread—it's a tapestry woven with sustainability, ethics, and innovation. From traceable materials to pioneering programs like the Supply Chain Environmental Responsibility and Raw Materials Social Responsibility initiatives, Patagonia stitches together a narrative of responsible business, where every fiber tells a story of conscious consumption and environmental stewardship.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0" y="1028700"/>
            <a:ext cx="4027967" cy="4027967"/>
            <a:chOff x="0" y="0"/>
            <a:chExt cx="5370622" cy="5370622"/>
          </a:xfrm>
        </p:grpSpPr>
        <p:pic>
          <p:nvPicPr>
            <p:cNvPr id="6" name="Picture 6"/>
            <p:cNvPicPr>
              <a:picLocks noChangeAspect="1"/>
            </p:cNvPicPr>
            <p:nvPr/>
          </p:nvPicPr>
          <p:blipFill>
            <a:blip r:embed="rId2"/>
            <a:srcRect l="15312" r="15312"/>
            <a:stretch>
              <a:fillRect/>
            </a:stretch>
          </p:blipFill>
          <p:spPr>
            <a:xfrm>
              <a:off x="0" y="0"/>
              <a:ext cx="5370622" cy="5370622"/>
            </a:xfrm>
            <a:prstGeom prst="rect">
              <a:avLst/>
            </a:prstGeom>
          </p:spPr>
        </p:pic>
      </p:grpSp>
      <p:grpSp>
        <p:nvGrpSpPr>
          <p:cNvPr id="7" name="Group 7"/>
          <p:cNvGrpSpPr/>
          <p:nvPr/>
        </p:nvGrpSpPr>
        <p:grpSpPr>
          <a:xfrm>
            <a:off x="0" y="5230333"/>
            <a:ext cx="4027967" cy="4027967"/>
            <a:chOff x="0" y="0"/>
            <a:chExt cx="5370622" cy="5370622"/>
          </a:xfrm>
        </p:grpSpPr>
        <p:pic>
          <p:nvPicPr>
            <p:cNvPr id="8" name="Picture 8"/>
            <p:cNvPicPr>
              <a:picLocks noChangeAspect="1"/>
            </p:cNvPicPr>
            <p:nvPr/>
          </p:nvPicPr>
          <p:blipFill>
            <a:blip r:embed="rId3"/>
            <a:srcRect l="16666" r="16666"/>
            <a:stretch>
              <a:fillRect/>
            </a:stretch>
          </p:blipFill>
          <p:spPr>
            <a:xfrm>
              <a:off x="0" y="0"/>
              <a:ext cx="5370622" cy="5370622"/>
            </a:xfrm>
            <a:prstGeom prst="rect">
              <a:avLst/>
            </a:prstGeom>
          </p:spPr>
        </p:pic>
      </p:grpSp>
      <p:grpSp>
        <p:nvGrpSpPr>
          <p:cNvPr id="9" name="Group 9"/>
          <p:cNvGrpSpPr/>
          <p:nvPr/>
        </p:nvGrpSpPr>
        <p:grpSpPr>
          <a:xfrm>
            <a:off x="4229391" y="1028700"/>
            <a:ext cx="4027967" cy="4027967"/>
            <a:chOff x="0" y="0"/>
            <a:chExt cx="5370622" cy="5370622"/>
          </a:xfrm>
        </p:grpSpPr>
        <p:pic>
          <p:nvPicPr>
            <p:cNvPr id="10" name="Picture 10"/>
            <p:cNvPicPr>
              <a:picLocks noChangeAspect="1"/>
            </p:cNvPicPr>
            <p:nvPr/>
          </p:nvPicPr>
          <p:blipFill>
            <a:blip r:embed="rId4"/>
            <a:srcRect l="16679" r="16679"/>
            <a:stretch>
              <a:fillRect/>
            </a:stretch>
          </p:blipFill>
          <p:spPr>
            <a:xfrm>
              <a:off x="0" y="0"/>
              <a:ext cx="5370622" cy="5370622"/>
            </a:xfrm>
            <a:prstGeom prst="rect">
              <a:avLst/>
            </a:prstGeom>
          </p:spPr>
        </p:pic>
      </p:grpSp>
      <p:grpSp>
        <p:nvGrpSpPr>
          <p:cNvPr id="11" name="Group 11"/>
          <p:cNvGrpSpPr/>
          <p:nvPr/>
        </p:nvGrpSpPr>
        <p:grpSpPr>
          <a:xfrm>
            <a:off x="4229391" y="5230333"/>
            <a:ext cx="4027967" cy="4027967"/>
            <a:chOff x="0" y="0"/>
            <a:chExt cx="5370622" cy="5370622"/>
          </a:xfrm>
        </p:grpSpPr>
        <p:pic>
          <p:nvPicPr>
            <p:cNvPr id="12" name="Picture 12"/>
            <p:cNvPicPr>
              <a:picLocks noChangeAspect="1"/>
            </p:cNvPicPr>
            <p:nvPr/>
          </p:nvPicPr>
          <p:blipFill>
            <a:blip r:embed="rId5"/>
            <a:srcRect l="21875" r="21875"/>
            <a:stretch>
              <a:fillRect/>
            </a:stretch>
          </p:blipFill>
          <p:spPr>
            <a:xfrm>
              <a:off x="0" y="0"/>
              <a:ext cx="5370622" cy="5370622"/>
            </a:xfrm>
            <a:prstGeom prst="rect">
              <a:avLst/>
            </a:prstGeom>
          </p:spPr>
        </p:pic>
      </p:grpSp>
      <p:grpSp>
        <p:nvGrpSpPr>
          <p:cNvPr id="13" name="Group 13"/>
          <p:cNvGrpSpPr/>
          <p:nvPr/>
        </p:nvGrpSpPr>
        <p:grpSpPr>
          <a:xfrm>
            <a:off x="9053795" y="1401213"/>
            <a:ext cx="677751" cy="677751"/>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15" name="TextBox 15"/>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16" name="Group 16"/>
          <p:cNvGrpSpPr/>
          <p:nvPr/>
        </p:nvGrpSpPr>
        <p:grpSpPr>
          <a:xfrm>
            <a:off x="13279166" y="1353794"/>
            <a:ext cx="677751" cy="677751"/>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18" name="TextBox 18"/>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19" name="Group 19"/>
          <p:cNvGrpSpPr/>
          <p:nvPr/>
        </p:nvGrpSpPr>
        <p:grpSpPr>
          <a:xfrm>
            <a:off x="9053795" y="5447433"/>
            <a:ext cx="677751" cy="677751"/>
            <a:chOff x="0" y="0"/>
            <a:chExt cx="812800" cy="812800"/>
          </a:xfrm>
        </p:grpSpPr>
        <p:sp>
          <p:nvSpPr>
            <p:cNvPr id="20" name="Freeform 2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21" name="TextBox 21"/>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22" name="Group 22"/>
          <p:cNvGrpSpPr/>
          <p:nvPr/>
        </p:nvGrpSpPr>
        <p:grpSpPr>
          <a:xfrm>
            <a:off x="13279166" y="5447433"/>
            <a:ext cx="677751" cy="677751"/>
            <a:chOff x="0" y="0"/>
            <a:chExt cx="812800" cy="812800"/>
          </a:xfrm>
        </p:grpSpPr>
        <p:sp>
          <p:nvSpPr>
            <p:cNvPr id="23" name="Freeform 2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24" name="TextBox 24"/>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25" name="Freeform 25"/>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6"/>
            <a:stretch>
              <a:fillRect/>
            </a:stretch>
          </a:blipFill>
        </p:spPr>
        <p:txBody>
          <a:bodyPr/>
          <a:lstStyle/>
          <a:p>
            <a:endParaRPr lang="en-US"/>
          </a:p>
        </p:txBody>
      </p:sp>
      <p:sp>
        <p:nvSpPr>
          <p:cNvPr id="26" name="TextBox 26"/>
          <p:cNvSpPr txBox="1"/>
          <p:nvPr/>
        </p:nvSpPr>
        <p:spPr>
          <a:xfrm>
            <a:off x="9234820" y="127652"/>
            <a:ext cx="6523881" cy="745871"/>
          </a:xfrm>
          <a:prstGeom prst="rect">
            <a:avLst/>
          </a:prstGeom>
        </p:spPr>
        <p:txBody>
          <a:bodyPr lIns="0" tIns="0" rIns="0" bIns="0" rtlCol="0" anchor="t">
            <a:spAutoFit/>
          </a:bodyPr>
          <a:lstStyle/>
          <a:p>
            <a:pPr algn="l">
              <a:lnSpc>
                <a:spcPts val="5632"/>
              </a:lnSpc>
            </a:pPr>
            <a:r>
              <a:rPr lang="en-US" sz="4400" b="1">
                <a:solidFill>
                  <a:srgbClr val="1E4541"/>
                </a:solidFill>
                <a:latin typeface="Poppins Bold"/>
                <a:ea typeface="Poppins Bold"/>
                <a:cs typeface="Poppins Bold"/>
                <a:sym typeface="Poppins Bold"/>
              </a:rPr>
              <a:t>Key Partners</a:t>
            </a:r>
          </a:p>
        </p:txBody>
      </p:sp>
      <p:sp>
        <p:nvSpPr>
          <p:cNvPr id="27" name="TextBox 27"/>
          <p:cNvSpPr txBox="1"/>
          <p:nvPr/>
        </p:nvSpPr>
        <p:spPr>
          <a:xfrm>
            <a:off x="8753651" y="2092934"/>
            <a:ext cx="4616335" cy="2325370"/>
          </a:xfrm>
          <a:prstGeom prst="rect">
            <a:avLst/>
          </a:prstGeom>
        </p:spPr>
        <p:txBody>
          <a:bodyPr lIns="0" tIns="0" rIns="0" bIns="0" rtlCol="0" anchor="t">
            <a:spAutoFit/>
          </a:bodyPr>
          <a:lstStyle/>
          <a:p>
            <a:pPr marL="474979" lvl="1" indent="-237490" algn="just">
              <a:lnSpc>
                <a:spcPts val="3079"/>
              </a:lnSpc>
              <a:buFont typeface="Arial"/>
              <a:buChar char="•"/>
            </a:pPr>
            <a:r>
              <a:rPr lang="en-US" sz="2199">
                <a:solidFill>
                  <a:srgbClr val="1F2020"/>
                </a:solidFill>
                <a:latin typeface="Open Sans 2"/>
                <a:ea typeface="Open Sans 2"/>
                <a:cs typeface="Open Sans 2"/>
                <a:sym typeface="Open Sans 2"/>
              </a:rPr>
              <a:t>Organic cotton farms</a:t>
            </a:r>
          </a:p>
          <a:p>
            <a:pPr marL="474979" lvl="1" indent="-237490" algn="just">
              <a:lnSpc>
                <a:spcPts val="3079"/>
              </a:lnSpc>
              <a:buFont typeface="Arial"/>
              <a:buChar char="•"/>
            </a:pPr>
            <a:r>
              <a:rPr lang="en-US" sz="2199">
                <a:solidFill>
                  <a:srgbClr val="1F2020"/>
                </a:solidFill>
                <a:latin typeface="Open Sans 2"/>
                <a:ea typeface="Open Sans 2"/>
                <a:cs typeface="Open Sans 2"/>
                <a:sym typeface="Open Sans 2"/>
              </a:rPr>
              <a:t>Recycled material processors*</a:t>
            </a:r>
          </a:p>
          <a:p>
            <a:pPr marL="474979" lvl="1" indent="-237490" algn="just">
              <a:lnSpc>
                <a:spcPts val="3079"/>
              </a:lnSpc>
              <a:buFont typeface="Arial"/>
              <a:buChar char="•"/>
            </a:pPr>
            <a:r>
              <a:rPr lang="en-US" sz="2199">
                <a:solidFill>
                  <a:srgbClr val="1F2020"/>
                </a:solidFill>
                <a:latin typeface="Open Sans 2"/>
                <a:ea typeface="Open Sans 2"/>
                <a:cs typeface="Open Sans 2"/>
                <a:sym typeface="Open Sans 2"/>
              </a:rPr>
              <a:t>Responsible Down Standard </a:t>
            </a:r>
          </a:p>
          <a:p>
            <a:pPr algn="just">
              <a:lnSpc>
                <a:spcPts val="3079"/>
              </a:lnSpc>
            </a:pPr>
            <a:r>
              <a:rPr lang="en-US" sz="2199">
                <a:solidFill>
                  <a:srgbClr val="1F2020"/>
                </a:solidFill>
                <a:latin typeface="Open Sans 2"/>
                <a:ea typeface="Open Sans 2"/>
                <a:cs typeface="Open Sans 2"/>
                <a:sym typeface="Open Sans 2"/>
              </a:rPr>
              <a:t>     (RDS) certified farms**</a:t>
            </a:r>
          </a:p>
          <a:p>
            <a:pPr algn="just">
              <a:lnSpc>
                <a:spcPts val="3079"/>
              </a:lnSpc>
            </a:pPr>
            <a:endParaRPr lang="en-US" sz="2199">
              <a:solidFill>
                <a:srgbClr val="1F2020"/>
              </a:solidFill>
              <a:latin typeface="Open Sans 2"/>
              <a:ea typeface="Open Sans 2"/>
              <a:cs typeface="Open Sans 2"/>
              <a:sym typeface="Open Sans 2"/>
            </a:endParaRPr>
          </a:p>
          <a:p>
            <a:pPr algn="just">
              <a:lnSpc>
                <a:spcPts val="3079"/>
              </a:lnSpc>
              <a:spcBef>
                <a:spcPct val="0"/>
              </a:spcBef>
            </a:pPr>
            <a:endParaRPr lang="en-US" sz="2199">
              <a:solidFill>
                <a:srgbClr val="1F2020"/>
              </a:solidFill>
              <a:latin typeface="Open Sans 2"/>
              <a:ea typeface="Open Sans 2"/>
              <a:cs typeface="Open Sans 2"/>
              <a:sym typeface="Open Sans 2"/>
            </a:endParaRPr>
          </a:p>
        </p:txBody>
      </p:sp>
      <p:sp>
        <p:nvSpPr>
          <p:cNvPr id="28" name="TextBox 28"/>
          <p:cNvSpPr txBox="1"/>
          <p:nvPr/>
        </p:nvSpPr>
        <p:spPr>
          <a:xfrm>
            <a:off x="9144615" y="1577211"/>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2 Bold"/>
                <a:ea typeface="Open Sans 2 Bold"/>
                <a:cs typeface="Open Sans 2 Bold"/>
                <a:sym typeface="Open Sans 2 Bold"/>
              </a:rPr>
              <a:t>01</a:t>
            </a:r>
          </a:p>
        </p:txBody>
      </p:sp>
      <p:sp>
        <p:nvSpPr>
          <p:cNvPr id="29" name="TextBox 29"/>
          <p:cNvSpPr txBox="1"/>
          <p:nvPr/>
        </p:nvSpPr>
        <p:spPr>
          <a:xfrm>
            <a:off x="10141121" y="1363113"/>
            <a:ext cx="3014944" cy="8153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Raw material suppliers:</a:t>
            </a:r>
          </a:p>
        </p:txBody>
      </p:sp>
      <p:sp>
        <p:nvSpPr>
          <p:cNvPr id="30" name="TextBox 30"/>
          <p:cNvSpPr txBox="1"/>
          <p:nvPr/>
        </p:nvSpPr>
        <p:spPr>
          <a:xfrm>
            <a:off x="13279166" y="2040864"/>
            <a:ext cx="4959071" cy="3106420"/>
          </a:xfrm>
          <a:prstGeom prst="rect">
            <a:avLst/>
          </a:prstGeom>
        </p:spPr>
        <p:txBody>
          <a:bodyPr lIns="0" tIns="0" rIns="0" bIns="0" rtlCol="0" anchor="t">
            <a:spAutoFit/>
          </a:bodyPr>
          <a:lstStyle/>
          <a:p>
            <a:pPr algn="l">
              <a:lnSpc>
                <a:spcPts val="3079"/>
              </a:lnSpc>
              <a:spcBef>
                <a:spcPct val="0"/>
              </a:spcBef>
            </a:pPr>
            <a:r>
              <a:rPr lang="en-US" sz="2199">
                <a:solidFill>
                  <a:srgbClr val="1F2020"/>
                </a:solidFill>
                <a:latin typeface="Open Sans 2"/>
                <a:ea typeface="Open Sans 2"/>
                <a:cs typeface="Open Sans 2"/>
                <a:sym typeface="Open Sans 2"/>
              </a:rPr>
              <a:t>These facilities located worldwide have skilled workers who cut fabric pieces, assemble garments, and ensure quality control following Patagonia's specifications. Patagonia currently works with 64 of these partners, the list of which is available on their website. </a:t>
            </a:r>
          </a:p>
        </p:txBody>
      </p:sp>
      <p:sp>
        <p:nvSpPr>
          <p:cNvPr id="31" name="TextBox 31"/>
          <p:cNvSpPr txBox="1"/>
          <p:nvPr/>
        </p:nvSpPr>
        <p:spPr>
          <a:xfrm>
            <a:off x="13369986" y="1529791"/>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2 Bold"/>
                <a:ea typeface="Open Sans 2 Bold"/>
                <a:cs typeface="Open Sans 2 Bold"/>
                <a:sym typeface="Open Sans 2 Bold"/>
              </a:rPr>
              <a:t>02</a:t>
            </a:r>
          </a:p>
        </p:txBody>
      </p:sp>
      <p:sp>
        <p:nvSpPr>
          <p:cNvPr id="32" name="TextBox 32"/>
          <p:cNvSpPr txBox="1"/>
          <p:nvPr/>
        </p:nvSpPr>
        <p:spPr>
          <a:xfrm>
            <a:off x="14276286" y="1315694"/>
            <a:ext cx="3709717" cy="8153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Fabric mills and production factories :  </a:t>
            </a:r>
          </a:p>
        </p:txBody>
      </p:sp>
      <p:sp>
        <p:nvSpPr>
          <p:cNvPr id="33" name="TextBox 33"/>
          <p:cNvSpPr txBox="1"/>
          <p:nvPr/>
        </p:nvSpPr>
        <p:spPr>
          <a:xfrm>
            <a:off x="8976957" y="6257844"/>
            <a:ext cx="3921244" cy="1934845"/>
          </a:xfrm>
          <a:prstGeom prst="rect">
            <a:avLst/>
          </a:prstGeom>
        </p:spPr>
        <p:txBody>
          <a:bodyPr lIns="0" tIns="0" rIns="0" bIns="0" rtlCol="0" anchor="t">
            <a:spAutoFit/>
          </a:bodyPr>
          <a:lstStyle/>
          <a:p>
            <a:pPr algn="just">
              <a:lnSpc>
                <a:spcPts val="3079"/>
              </a:lnSpc>
              <a:spcBef>
                <a:spcPct val="0"/>
              </a:spcBef>
            </a:pPr>
            <a:r>
              <a:rPr lang="en-US" sz="2199">
                <a:solidFill>
                  <a:srgbClr val="1F2020"/>
                </a:solidFill>
                <a:latin typeface="Open Sans 2"/>
                <a:ea typeface="Open Sans 2"/>
                <a:cs typeface="Open Sans 2"/>
                <a:sym typeface="Open Sans 2"/>
              </a:rPr>
              <a:t>Companies that handle the transportation of raw materials, finished goods, and products between different stages of the supply chain.</a:t>
            </a:r>
          </a:p>
        </p:txBody>
      </p:sp>
      <p:sp>
        <p:nvSpPr>
          <p:cNvPr id="34" name="TextBox 34"/>
          <p:cNvSpPr txBox="1"/>
          <p:nvPr/>
        </p:nvSpPr>
        <p:spPr>
          <a:xfrm>
            <a:off x="9144615" y="5623431"/>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2 Bold"/>
                <a:ea typeface="Open Sans 2 Bold"/>
                <a:cs typeface="Open Sans 2 Bold"/>
                <a:sym typeface="Open Sans 2 Bold"/>
              </a:rPr>
              <a:t>03</a:t>
            </a:r>
          </a:p>
        </p:txBody>
      </p:sp>
      <p:sp>
        <p:nvSpPr>
          <p:cNvPr id="35" name="TextBox 35"/>
          <p:cNvSpPr txBox="1"/>
          <p:nvPr/>
        </p:nvSpPr>
        <p:spPr>
          <a:xfrm>
            <a:off x="9931571" y="5358332"/>
            <a:ext cx="2012018" cy="8153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Logistics Providers</a:t>
            </a:r>
          </a:p>
        </p:txBody>
      </p:sp>
      <p:sp>
        <p:nvSpPr>
          <p:cNvPr id="36" name="TextBox 36"/>
          <p:cNvSpPr txBox="1"/>
          <p:nvPr/>
        </p:nvSpPr>
        <p:spPr>
          <a:xfrm>
            <a:off x="13279166" y="6309029"/>
            <a:ext cx="4959071" cy="1153795"/>
          </a:xfrm>
          <a:prstGeom prst="rect">
            <a:avLst/>
          </a:prstGeom>
        </p:spPr>
        <p:txBody>
          <a:bodyPr lIns="0" tIns="0" rIns="0" bIns="0" rtlCol="0" anchor="t">
            <a:spAutoFit/>
          </a:bodyPr>
          <a:lstStyle/>
          <a:p>
            <a:pPr algn="just">
              <a:lnSpc>
                <a:spcPts val="3079"/>
              </a:lnSpc>
              <a:spcBef>
                <a:spcPct val="0"/>
              </a:spcBef>
            </a:pPr>
            <a:r>
              <a:rPr lang="en-US" sz="2199">
                <a:solidFill>
                  <a:srgbClr val="1F2020"/>
                </a:solidFill>
                <a:latin typeface="Open Sans 2"/>
                <a:ea typeface="Open Sans 2"/>
                <a:cs typeface="Open Sans 2"/>
                <a:sym typeface="Open Sans 2"/>
              </a:rPr>
              <a:t>Wholesalers and retail stores that purchase Patagonia products in bulk and sell them to consumers.</a:t>
            </a:r>
          </a:p>
        </p:txBody>
      </p:sp>
      <p:sp>
        <p:nvSpPr>
          <p:cNvPr id="37" name="TextBox 37"/>
          <p:cNvSpPr txBox="1"/>
          <p:nvPr/>
        </p:nvSpPr>
        <p:spPr>
          <a:xfrm>
            <a:off x="13369986" y="5623431"/>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2 Bold"/>
                <a:ea typeface="Open Sans 2 Bold"/>
                <a:cs typeface="Open Sans 2 Bold"/>
                <a:sym typeface="Open Sans 2 Bold"/>
              </a:rPr>
              <a:t>04</a:t>
            </a:r>
          </a:p>
        </p:txBody>
      </p:sp>
      <p:sp>
        <p:nvSpPr>
          <p:cNvPr id="38" name="TextBox 38"/>
          <p:cNvSpPr txBox="1"/>
          <p:nvPr/>
        </p:nvSpPr>
        <p:spPr>
          <a:xfrm>
            <a:off x="14276286" y="5409333"/>
            <a:ext cx="2012018" cy="8153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Distributors and Retailers</a:t>
            </a:r>
          </a:p>
        </p:txBody>
      </p:sp>
      <p:sp>
        <p:nvSpPr>
          <p:cNvPr id="39" name="TextBox 39"/>
          <p:cNvSpPr txBox="1"/>
          <p:nvPr/>
        </p:nvSpPr>
        <p:spPr>
          <a:xfrm>
            <a:off x="0" y="9363075"/>
            <a:ext cx="17986004" cy="871220"/>
          </a:xfrm>
          <a:prstGeom prst="rect">
            <a:avLst/>
          </a:prstGeom>
        </p:spPr>
        <p:txBody>
          <a:bodyPr lIns="0" tIns="0" rIns="0" bIns="0" rtlCol="0" anchor="t">
            <a:spAutoFit/>
          </a:bodyPr>
          <a:lstStyle/>
          <a:p>
            <a:pPr algn="l">
              <a:lnSpc>
                <a:spcPts val="2380"/>
              </a:lnSpc>
            </a:pPr>
            <a:r>
              <a:rPr lang="en-US" sz="1700">
                <a:solidFill>
                  <a:srgbClr val="1F2020"/>
                </a:solidFill>
                <a:latin typeface="Open Sans 2"/>
                <a:ea typeface="Open Sans 2"/>
                <a:cs typeface="Open Sans 2"/>
                <a:sym typeface="Open Sans 2"/>
              </a:rPr>
              <a:t>*Partners who specialize in transforming post-consumer or pre-consumer waste into recycled materials like polyester or nylon used in Patagonia's products.</a:t>
            </a:r>
          </a:p>
          <a:p>
            <a:pPr algn="l">
              <a:lnSpc>
                <a:spcPts val="2380"/>
              </a:lnSpc>
            </a:pPr>
            <a:r>
              <a:rPr lang="en-US" sz="1700">
                <a:solidFill>
                  <a:srgbClr val="1F2020"/>
                </a:solidFill>
                <a:latin typeface="Open Sans 2"/>
                <a:ea typeface="Open Sans 2"/>
                <a:cs typeface="Open Sans 2"/>
                <a:sym typeface="Open Sans 2"/>
              </a:rPr>
              <a:t>**Suppliers who raise geese for food and humanely collect the down feathers for Patagonia's Traceable Down Standard.</a:t>
            </a:r>
          </a:p>
          <a:p>
            <a:pPr algn="l">
              <a:lnSpc>
                <a:spcPts val="2380"/>
              </a:lnSpc>
              <a:spcBef>
                <a:spcPct val="0"/>
              </a:spcBef>
            </a:pPr>
            <a:r>
              <a:rPr lang="en-US" sz="1700">
                <a:solidFill>
                  <a:srgbClr val="1F2020"/>
                </a:solidFill>
                <a:latin typeface="Open Sans 2"/>
                <a:ea typeface="Open Sans 2"/>
                <a:cs typeface="Open Sans 2"/>
                <a:sym typeface="Open Sans 2"/>
              </a:rPr>
              <a:t>On our previous example of the Down Jacket, Patagonia works with ECONYL, which is a partner that is able to treat recylced nylon to give it back its original characteristics.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7663" y="3384058"/>
            <a:ext cx="17332673" cy="2538445"/>
            <a:chOff x="0" y="0"/>
            <a:chExt cx="23110231" cy="3384593"/>
          </a:xfrm>
        </p:grpSpPr>
        <p:grpSp>
          <p:nvGrpSpPr>
            <p:cNvPr id="3" name="Group 3"/>
            <p:cNvGrpSpPr/>
            <p:nvPr/>
          </p:nvGrpSpPr>
          <p:grpSpPr>
            <a:xfrm>
              <a:off x="0" y="0"/>
              <a:ext cx="2943106" cy="3384593"/>
              <a:chOff x="0" y="0"/>
              <a:chExt cx="581354" cy="668562"/>
            </a:xfrm>
          </p:grpSpPr>
          <p:sp>
            <p:nvSpPr>
              <p:cNvPr id="4" name="Freeform 4"/>
              <p:cNvSpPr/>
              <p:nvPr/>
            </p:nvSpPr>
            <p:spPr>
              <a:xfrm>
                <a:off x="0" y="0"/>
                <a:ext cx="581354" cy="668562"/>
              </a:xfrm>
              <a:custGeom>
                <a:avLst/>
                <a:gdLst/>
                <a:ahLst/>
                <a:cxnLst/>
                <a:rect l="l" t="t" r="r" b="b"/>
                <a:pathLst>
                  <a:path w="581354" h="668562">
                    <a:moveTo>
                      <a:pt x="178876" y="0"/>
                    </a:moveTo>
                    <a:lnTo>
                      <a:pt x="402479" y="0"/>
                    </a:lnTo>
                    <a:cubicBezTo>
                      <a:pt x="501269" y="0"/>
                      <a:pt x="581354" y="80085"/>
                      <a:pt x="581354" y="178876"/>
                    </a:cubicBezTo>
                    <a:lnTo>
                      <a:pt x="581354" y="489686"/>
                    </a:lnTo>
                    <a:cubicBezTo>
                      <a:pt x="581354" y="537127"/>
                      <a:pt x="562509" y="582624"/>
                      <a:pt x="528963" y="616170"/>
                    </a:cubicBezTo>
                    <a:cubicBezTo>
                      <a:pt x="495417" y="649716"/>
                      <a:pt x="449919" y="668562"/>
                      <a:pt x="402479" y="668562"/>
                    </a:cubicBezTo>
                    <a:lnTo>
                      <a:pt x="178876" y="668562"/>
                    </a:lnTo>
                    <a:cubicBezTo>
                      <a:pt x="131435" y="668562"/>
                      <a:pt x="85937" y="649716"/>
                      <a:pt x="52392" y="616170"/>
                    </a:cubicBezTo>
                    <a:cubicBezTo>
                      <a:pt x="18846" y="582624"/>
                      <a:pt x="0" y="537127"/>
                      <a:pt x="0" y="489686"/>
                    </a:cubicBezTo>
                    <a:lnTo>
                      <a:pt x="0" y="178876"/>
                    </a:lnTo>
                    <a:cubicBezTo>
                      <a:pt x="0" y="131435"/>
                      <a:pt x="18846" y="85937"/>
                      <a:pt x="52392" y="52392"/>
                    </a:cubicBezTo>
                    <a:cubicBezTo>
                      <a:pt x="85937" y="18846"/>
                      <a:pt x="131435" y="0"/>
                      <a:pt x="178876" y="0"/>
                    </a:cubicBezTo>
                    <a:close/>
                  </a:path>
                </a:pathLst>
              </a:custGeom>
              <a:solidFill>
                <a:srgbClr val="B4A540"/>
              </a:solidFill>
            </p:spPr>
            <p:txBody>
              <a:bodyPr/>
              <a:lstStyle/>
              <a:p>
                <a:endParaRPr lang="en-US"/>
              </a:p>
            </p:txBody>
          </p:sp>
          <p:sp>
            <p:nvSpPr>
              <p:cNvPr id="5" name="TextBox 5"/>
              <p:cNvSpPr txBox="1"/>
              <p:nvPr/>
            </p:nvSpPr>
            <p:spPr>
              <a:xfrm>
                <a:off x="0" y="-57150"/>
                <a:ext cx="581354" cy="725712"/>
              </a:xfrm>
              <a:prstGeom prst="rect">
                <a:avLst/>
              </a:prstGeom>
            </p:spPr>
            <p:txBody>
              <a:bodyPr lIns="50800" tIns="50800" rIns="50800" bIns="50800" rtlCol="0" anchor="ctr"/>
              <a:lstStyle/>
              <a:p>
                <a:pPr algn="ctr">
                  <a:lnSpc>
                    <a:spcPts val="3639"/>
                  </a:lnSpc>
                </a:pPr>
                <a:r>
                  <a:rPr lang="en-US" sz="2599" b="1">
                    <a:solidFill>
                      <a:srgbClr val="FFFFFF"/>
                    </a:solidFill>
                    <a:latin typeface="Open Sans 1 Bold"/>
                    <a:ea typeface="Open Sans 1 Bold"/>
                    <a:cs typeface="Open Sans 1 Bold"/>
                    <a:sym typeface="Open Sans 1 Bold"/>
                  </a:rPr>
                  <a:t>Raw material sourcing</a:t>
                </a:r>
              </a:p>
              <a:p>
                <a:pPr algn="ctr">
                  <a:lnSpc>
                    <a:spcPts val="3079"/>
                  </a:lnSpc>
                </a:pPr>
                <a:endParaRPr lang="en-US" sz="2599" b="1">
                  <a:solidFill>
                    <a:srgbClr val="FFFFFF"/>
                  </a:solidFill>
                  <a:latin typeface="Open Sans 1 Bold"/>
                  <a:ea typeface="Open Sans 1 Bold"/>
                  <a:cs typeface="Open Sans 1 Bold"/>
                  <a:sym typeface="Open Sans 1 Bold"/>
                </a:endParaRPr>
              </a:p>
              <a:p>
                <a:pPr algn="ctr">
                  <a:lnSpc>
                    <a:spcPts val="3639"/>
                  </a:lnSpc>
                  <a:spcBef>
                    <a:spcPct val="0"/>
                  </a:spcBef>
                </a:pPr>
                <a:r>
                  <a:rPr lang="en-US" sz="2599">
                    <a:solidFill>
                      <a:srgbClr val="FFFFFF"/>
                    </a:solidFill>
                    <a:latin typeface="Open Sans 1"/>
                    <a:ea typeface="Open Sans 1"/>
                    <a:cs typeface="Open Sans 1"/>
                    <a:sym typeface="Open Sans 1"/>
                  </a:rPr>
                  <a:t>2 weeks </a:t>
                </a:r>
              </a:p>
            </p:txBody>
          </p:sp>
        </p:grpSp>
        <p:grpSp>
          <p:nvGrpSpPr>
            <p:cNvPr id="6" name="Group 6"/>
            <p:cNvGrpSpPr/>
            <p:nvPr/>
          </p:nvGrpSpPr>
          <p:grpSpPr>
            <a:xfrm>
              <a:off x="4035306" y="0"/>
              <a:ext cx="2943106" cy="3384593"/>
              <a:chOff x="0" y="0"/>
              <a:chExt cx="581354" cy="668562"/>
            </a:xfrm>
          </p:grpSpPr>
          <p:sp>
            <p:nvSpPr>
              <p:cNvPr id="7" name="Freeform 7"/>
              <p:cNvSpPr/>
              <p:nvPr/>
            </p:nvSpPr>
            <p:spPr>
              <a:xfrm>
                <a:off x="0" y="0"/>
                <a:ext cx="581354" cy="668562"/>
              </a:xfrm>
              <a:custGeom>
                <a:avLst/>
                <a:gdLst/>
                <a:ahLst/>
                <a:cxnLst/>
                <a:rect l="l" t="t" r="r" b="b"/>
                <a:pathLst>
                  <a:path w="581354" h="668562">
                    <a:moveTo>
                      <a:pt x="178876" y="0"/>
                    </a:moveTo>
                    <a:lnTo>
                      <a:pt x="402479" y="0"/>
                    </a:lnTo>
                    <a:cubicBezTo>
                      <a:pt x="501269" y="0"/>
                      <a:pt x="581354" y="80085"/>
                      <a:pt x="581354" y="178876"/>
                    </a:cubicBezTo>
                    <a:lnTo>
                      <a:pt x="581354" y="489686"/>
                    </a:lnTo>
                    <a:cubicBezTo>
                      <a:pt x="581354" y="537127"/>
                      <a:pt x="562509" y="582624"/>
                      <a:pt x="528963" y="616170"/>
                    </a:cubicBezTo>
                    <a:cubicBezTo>
                      <a:pt x="495417" y="649716"/>
                      <a:pt x="449919" y="668562"/>
                      <a:pt x="402479" y="668562"/>
                    </a:cubicBezTo>
                    <a:lnTo>
                      <a:pt x="178876" y="668562"/>
                    </a:lnTo>
                    <a:cubicBezTo>
                      <a:pt x="131435" y="668562"/>
                      <a:pt x="85937" y="649716"/>
                      <a:pt x="52392" y="616170"/>
                    </a:cubicBezTo>
                    <a:cubicBezTo>
                      <a:pt x="18846" y="582624"/>
                      <a:pt x="0" y="537127"/>
                      <a:pt x="0" y="489686"/>
                    </a:cubicBezTo>
                    <a:lnTo>
                      <a:pt x="0" y="178876"/>
                    </a:lnTo>
                    <a:cubicBezTo>
                      <a:pt x="0" y="131435"/>
                      <a:pt x="18846" y="85937"/>
                      <a:pt x="52392" y="52392"/>
                    </a:cubicBezTo>
                    <a:cubicBezTo>
                      <a:pt x="85937" y="18846"/>
                      <a:pt x="131435" y="0"/>
                      <a:pt x="178876" y="0"/>
                    </a:cubicBezTo>
                    <a:close/>
                  </a:path>
                </a:pathLst>
              </a:custGeom>
              <a:solidFill>
                <a:srgbClr val="6F7030"/>
              </a:solidFill>
            </p:spPr>
            <p:txBody>
              <a:bodyPr/>
              <a:lstStyle/>
              <a:p>
                <a:endParaRPr lang="en-US"/>
              </a:p>
            </p:txBody>
          </p:sp>
          <p:sp>
            <p:nvSpPr>
              <p:cNvPr id="8" name="TextBox 8"/>
              <p:cNvSpPr txBox="1"/>
              <p:nvPr/>
            </p:nvSpPr>
            <p:spPr>
              <a:xfrm>
                <a:off x="0" y="-57150"/>
                <a:ext cx="581354" cy="725712"/>
              </a:xfrm>
              <a:prstGeom prst="rect">
                <a:avLst/>
              </a:prstGeom>
            </p:spPr>
            <p:txBody>
              <a:bodyPr lIns="50800" tIns="50800" rIns="50800" bIns="50800" rtlCol="0" anchor="ctr"/>
              <a:lstStyle/>
              <a:p>
                <a:pPr algn="ctr">
                  <a:lnSpc>
                    <a:spcPts val="3639"/>
                  </a:lnSpc>
                </a:pPr>
                <a:r>
                  <a:rPr lang="en-US" sz="2599" b="1">
                    <a:solidFill>
                      <a:srgbClr val="FFFFFF"/>
                    </a:solidFill>
                    <a:latin typeface="Open Sans 1 Bold"/>
                    <a:ea typeface="Open Sans 1 Bold"/>
                    <a:cs typeface="Open Sans 1 Bold"/>
                    <a:sym typeface="Open Sans 1 Bold"/>
                  </a:rPr>
                  <a:t>Material preparation</a:t>
                </a:r>
              </a:p>
              <a:p>
                <a:pPr algn="ctr">
                  <a:lnSpc>
                    <a:spcPts val="3639"/>
                  </a:lnSpc>
                </a:pPr>
                <a:endParaRPr lang="en-US" sz="2599" b="1">
                  <a:solidFill>
                    <a:srgbClr val="FFFFFF"/>
                  </a:solidFill>
                  <a:latin typeface="Open Sans 1 Bold"/>
                  <a:ea typeface="Open Sans 1 Bold"/>
                  <a:cs typeface="Open Sans 1 Bold"/>
                  <a:sym typeface="Open Sans 1 Bold"/>
                </a:endParaRPr>
              </a:p>
              <a:p>
                <a:pPr algn="ctr">
                  <a:lnSpc>
                    <a:spcPts val="3639"/>
                  </a:lnSpc>
                  <a:spcBef>
                    <a:spcPct val="0"/>
                  </a:spcBef>
                </a:pPr>
                <a:r>
                  <a:rPr lang="en-US" sz="2599">
                    <a:solidFill>
                      <a:srgbClr val="FFFFFF"/>
                    </a:solidFill>
                    <a:latin typeface="Open Sans 1"/>
                    <a:ea typeface="Open Sans 1"/>
                    <a:cs typeface="Open Sans 1"/>
                    <a:sym typeface="Open Sans 1"/>
                  </a:rPr>
                  <a:t>1-2 weeks </a:t>
                </a:r>
              </a:p>
            </p:txBody>
          </p:sp>
        </p:grpSp>
        <p:grpSp>
          <p:nvGrpSpPr>
            <p:cNvPr id="9" name="Group 9"/>
            <p:cNvGrpSpPr/>
            <p:nvPr/>
          </p:nvGrpSpPr>
          <p:grpSpPr>
            <a:xfrm>
              <a:off x="12105919" y="0"/>
              <a:ext cx="2943106" cy="3384593"/>
              <a:chOff x="0" y="0"/>
              <a:chExt cx="581354" cy="668562"/>
            </a:xfrm>
          </p:grpSpPr>
          <p:sp>
            <p:nvSpPr>
              <p:cNvPr id="10" name="Freeform 10"/>
              <p:cNvSpPr/>
              <p:nvPr/>
            </p:nvSpPr>
            <p:spPr>
              <a:xfrm>
                <a:off x="0" y="0"/>
                <a:ext cx="581354" cy="668562"/>
              </a:xfrm>
              <a:custGeom>
                <a:avLst/>
                <a:gdLst/>
                <a:ahLst/>
                <a:cxnLst/>
                <a:rect l="l" t="t" r="r" b="b"/>
                <a:pathLst>
                  <a:path w="581354" h="668562">
                    <a:moveTo>
                      <a:pt x="178876" y="0"/>
                    </a:moveTo>
                    <a:lnTo>
                      <a:pt x="402479" y="0"/>
                    </a:lnTo>
                    <a:cubicBezTo>
                      <a:pt x="501269" y="0"/>
                      <a:pt x="581354" y="80085"/>
                      <a:pt x="581354" y="178876"/>
                    </a:cubicBezTo>
                    <a:lnTo>
                      <a:pt x="581354" y="489686"/>
                    </a:lnTo>
                    <a:cubicBezTo>
                      <a:pt x="581354" y="537127"/>
                      <a:pt x="562509" y="582624"/>
                      <a:pt x="528963" y="616170"/>
                    </a:cubicBezTo>
                    <a:cubicBezTo>
                      <a:pt x="495417" y="649716"/>
                      <a:pt x="449919" y="668562"/>
                      <a:pt x="402479" y="668562"/>
                    </a:cubicBezTo>
                    <a:lnTo>
                      <a:pt x="178876" y="668562"/>
                    </a:lnTo>
                    <a:cubicBezTo>
                      <a:pt x="131435" y="668562"/>
                      <a:pt x="85937" y="649716"/>
                      <a:pt x="52392" y="616170"/>
                    </a:cubicBezTo>
                    <a:cubicBezTo>
                      <a:pt x="18846" y="582624"/>
                      <a:pt x="0" y="537127"/>
                      <a:pt x="0" y="489686"/>
                    </a:cubicBezTo>
                    <a:lnTo>
                      <a:pt x="0" y="178876"/>
                    </a:lnTo>
                    <a:cubicBezTo>
                      <a:pt x="0" y="131435"/>
                      <a:pt x="18846" y="85937"/>
                      <a:pt x="52392" y="52392"/>
                    </a:cubicBezTo>
                    <a:cubicBezTo>
                      <a:pt x="85937" y="18846"/>
                      <a:pt x="131435" y="0"/>
                      <a:pt x="178876" y="0"/>
                    </a:cubicBezTo>
                    <a:close/>
                  </a:path>
                </a:pathLst>
              </a:custGeom>
              <a:solidFill>
                <a:srgbClr val="6F7030"/>
              </a:solidFill>
            </p:spPr>
            <p:txBody>
              <a:bodyPr/>
              <a:lstStyle/>
              <a:p>
                <a:endParaRPr lang="en-US"/>
              </a:p>
            </p:txBody>
          </p:sp>
          <p:sp>
            <p:nvSpPr>
              <p:cNvPr id="11" name="TextBox 11"/>
              <p:cNvSpPr txBox="1"/>
              <p:nvPr/>
            </p:nvSpPr>
            <p:spPr>
              <a:xfrm>
                <a:off x="0" y="-57150"/>
                <a:ext cx="581354" cy="725712"/>
              </a:xfrm>
              <a:prstGeom prst="rect">
                <a:avLst/>
              </a:prstGeom>
            </p:spPr>
            <p:txBody>
              <a:bodyPr lIns="50800" tIns="50800" rIns="50800" bIns="50800" rtlCol="0" anchor="ctr"/>
              <a:lstStyle/>
              <a:p>
                <a:pPr algn="ctr">
                  <a:lnSpc>
                    <a:spcPts val="3639"/>
                  </a:lnSpc>
                </a:pPr>
                <a:r>
                  <a:rPr lang="en-US" sz="2599" b="1">
                    <a:solidFill>
                      <a:srgbClr val="FFFFFF"/>
                    </a:solidFill>
                    <a:latin typeface="Open Sans 1 Bold"/>
                    <a:ea typeface="Open Sans 1 Bold"/>
                    <a:cs typeface="Open Sans 1 Bold"/>
                    <a:sym typeface="Open Sans 1 Bold"/>
                  </a:rPr>
                  <a:t> Assembly</a:t>
                </a:r>
              </a:p>
              <a:p>
                <a:pPr algn="ctr">
                  <a:lnSpc>
                    <a:spcPts val="3639"/>
                  </a:lnSpc>
                </a:pPr>
                <a:endParaRPr lang="en-US" sz="2599" b="1">
                  <a:solidFill>
                    <a:srgbClr val="FFFFFF"/>
                  </a:solidFill>
                  <a:latin typeface="Open Sans 1 Bold"/>
                  <a:ea typeface="Open Sans 1 Bold"/>
                  <a:cs typeface="Open Sans 1 Bold"/>
                  <a:sym typeface="Open Sans 1 Bold"/>
                </a:endParaRPr>
              </a:p>
              <a:p>
                <a:pPr algn="ctr">
                  <a:lnSpc>
                    <a:spcPts val="3639"/>
                  </a:lnSpc>
                </a:pPr>
                <a:endParaRPr lang="en-US" sz="2599" b="1">
                  <a:solidFill>
                    <a:srgbClr val="FFFFFF"/>
                  </a:solidFill>
                  <a:latin typeface="Open Sans 1 Bold"/>
                  <a:ea typeface="Open Sans 1 Bold"/>
                  <a:cs typeface="Open Sans 1 Bold"/>
                  <a:sym typeface="Open Sans 1 Bold"/>
                </a:endParaRPr>
              </a:p>
              <a:p>
                <a:pPr algn="ctr">
                  <a:lnSpc>
                    <a:spcPts val="3639"/>
                  </a:lnSpc>
                  <a:spcBef>
                    <a:spcPct val="0"/>
                  </a:spcBef>
                </a:pPr>
                <a:r>
                  <a:rPr lang="en-US" sz="2599">
                    <a:solidFill>
                      <a:srgbClr val="FFFFFF"/>
                    </a:solidFill>
                    <a:latin typeface="Open Sans 1"/>
                    <a:ea typeface="Open Sans 1"/>
                    <a:cs typeface="Open Sans 1"/>
                    <a:sym typeface="Open Sans 1"/>
                  </a:rPr>
                  <a:t>1-4 weeks </a:t>
                </a:r>
              </a:p>
            </p:txBody>
          </p:sp>
        </p:grpSp>
        <p:grpSp>
          <p:nvGrpSpPr>
            <p:cNvPr id="12" name="Group 12"/>
            <p:cNvGrpSpPr/>
            <p:nvPr/>
          </p:nvGrpSpPr>
          <p:grpSpPr>
            <a:xfrm>
              <a:off x="8070613" y="5393"/>
              <a:ext cx="2943106" cy="3379200"/>
              <a:chOff x="0" y="0"/>
              <a:chExt cx="581354" cy="667496"/>
            </a:xfrm>
          </p:grpSpPr>
          <p:sp>
            <p:nvSpPr>
              <p:cNvPr id="13" name="Freeform 13"/>
              <p:cNvSpPr/>
              <p:nvPr/>
            </p:nvSpPr>
            <p:spPr>
              <a:xfrm>
                <a:off x="0" y="0"/>
                <a:ext cx="581354" cy="667496"/>
              </a:xfrm>
              <a:custGeom>
                <a:avLst/>
                <a:gdLst/>
                <a:ahLst/>
                <a:cxnLst/>
                <a:rect l="l" t="t" r="r" b="b"/>
                <a:pathLst>
                  <a:path w="581354" h="667496">
                    <a:moveTo>
                      <a:pt x="178876" y="0"/>
                    </a:moveTo>
                    <a:lnTo>
                      <a:pt x="402479" y="0"/>
                    </a:lnTo>
                    <a:cubicBezTo>
                      <a:pt x="501269" y="0"/>
                      <a:pt x="581354" y="80085"/>
                      <a:pt x="581354" y="178876"/>
                    </a:cubicBezTo>
                    <a:lnTo>
                      <a:pt x="581354" y="488621"/>
                    </a:lnTo>
                    <a:cubicBezTo>
                      <a:pt x="581354" y="536061"/>
                      <a:pt x="562509" y="581559"/>
                      <a:pt x="528963" y="615105"/>
                    </a:cubicBezTo>
                    <a:cubicBezTo>
                      <a:pt x="495417" y="648651"/>
                      <a:pt x="449919" y="667496"/>
                      <a:pt x="402479" y="667496"/>
                    </a:cubicBezTo>
                    <a:lnTo>
                      <a:pt x="178876" y="667496"/>
                    </a:lnTo>
                    <a:cubicBezTo>
                      <a:pt x="80085" y="667496"/>
                      <a:pt x="0" y="587411"/>
                      <a:pt x="0" y="488621"/>
                    </a:cubicBezTo>
                    <a:lnTo>
                      <a:pt x="0" y="178876"/>
                    </a:lnTo>
                    <a:cubicBezTo>
                      <a:pt x="0" y="131435"/>
                      <a:pt x="18846" y="85937"/>
                      <a:pt x="52392" y="52392"/>
                    </a:cubicBezTo>
                    <a:cubicBezTo>
                      <a:pt x="85937" y="18846"/>
                      <a:pt x="131435" y="0"/>
                      <a:pt x="178876" y="0"/>
                    </a:cubicBezTo>
                    <a:close/>
                  </a:path>
                </a:pathLst>
              </a:custGeom>
              <a:solidFill>
                <a:srgbClr val="B4A540"/>
              </a:solidFill>
            </p:spPr>
            <p:txBody>
              <a:bodyPr/>
              <a:lstStyle/>
              <a:p>
                <a:endParaRPr lang="en-US"/>
              </a:p>
            </p:txBody>
          </p:sp>
          <p:sp>
            <p:nvSpPr>
              <p:cNvPr id="14" name="TextBox 14"/>
              <p:cNvSpPr txBox="1"/>
              <p:nvPr/>
            </p:nvSpPr>
            <p:spPr>
              <a:xfrm>
                <a:off x="0" y="-57150"/>
                <a:ext cx="581354" cy="724646"/>
              </a:xfrm>
              <a:prstGeom prst="rect">
                <a:avLst/>
              </a:prstGeom>
            </p:spPr>
            <p:txBody>
              <a:bodyPr lIns="50800" tIns="50800" rIns="50800" bIns="50800" rtlCol="0" anchor="ctr"/>
              <a:lstStyle/>
              <a:p>
                <a:pPr algn="ctr">
                  <a:lnSpc>
                    <a:spcPts val="3639"/>
                  </a:lnSpc>
                </a:pPr>
                <a:r>
                  <a:rPr lang="en-US" sz="2599" b="1">
                    <a:solidFill>
                      <a:srgbClr val="FFFFFF"/>
                    </a:solidFill>
                    <a:latin typeface="Open Sans 1 Bold"/>
                    <a:ea typeface="Open Sans 1 Bold"/>
                    <a:cs typeface="Open Sans 1 Bold"/>
                    <a:sym typeface="Open Sans 1 Bold"/>
                  </a:rPr>
                  <a:t>Fabric cutting</a:t>
                </a:r>
              </a:p>
              <a:p>
                <a:pPr algn="ctr">
                  <a:lnSpc>
                    <a:spcPts val="3639"/>
                  </a:lnSpc>
                </a:pPr>
                <a:endParaRPr lang="en-US" sz="2599" b="1">
                  <a:solidFill>
                    <a:srgbClr val="FFFFFF"/>
                  </a:solidFill>
                  <a:latin typeface="Open Sans 1 Bold"/>
                  <a:ea typeface="Open Sans 1 Bold"/>
                  <a:cs typeface="Open Sans 1 Bold"/>
                  <a:sym typeface="Open Sans 1 Bold"/>
                </a:endParaRPr>
              </a:p>
              <a:p>
                <a:pPr algn="ctr">
                  <a:lnSpc>
                    <a:spcPts val="3639"/>
                  </a:lnSpc>
                  <a:spcBef>
                    <a:spcPct val="0"/>
                  </a:spcBef>
                </a:pPr>
                <a:r>
                  <a:rPr lang="en-US" sz="2599">
                    <a:solidFill>
                      <a:srgbClr val="FFFFFF"/>
                    </a:solidFill>
                    <a:latin typeface="Open Sans 1"/>
                    <a:ea typeface="Open Sans 1"/>
                    <a:cs typeface="Open Sans 1"/>
                    <a:sym typeface="Open Sans 1"/>
                  </a:rPr>
                  <a:t>1 week </a:t>
                </a:r>
              </a:p>
            </p:txBody>
          </p:sp>
        </p:grpSp>
        <p:grpSp>
          <p:nvGrpSpPr>
            <p:cNvPr id="15" name="Group 15"/>
            <p:cNvGrpSpPr/>
            <p:nvPr/>
          </p:nvGrpSpPr>
          <p:grpSpPr>
            <a:xfrm>
              <a:off x="16131819" y="5393"/>
              <a:ext cx="2943106" cy="3379200"/>
              <a:chOff x="0" y="0"/>
              <a:chExt cx="581354" cy="667496"/>
            </a:xfrm>
          </p:grpSpPr>
          <p:sp>
            <p:nvSpPr>
              <p:cNvPr id="16" name="Freeform 16"/>
              <p:cNvSpPr/>
              <p:nvPr/>
            </p:nvSpPr>
            <p:spPr>
              <a:xfrm>
                <a:off x="0" y="0"/>
                <a:ext cx="581354" cy="667496"/>
              </a:xfrm>
              <a:custGeom>
                <a:avLst/>
                <a:gdLst/>
                <a:ahLst/>
                <a:cxnLst/>
                <a:rect l="l" t="t" r="r" b="b"/>
                <a:pathLst>
                  <a:path w="581354" h="667496">
                    <a:moveTo>
                      <a:pt x="178876" y="0"/>
                    </a:moveTo>
                    <a:lnTo>
                      <a:pt x="402479" y="0"/>
                    </a:lnTo>
                    <a:cubicBezTo>
                      <a:pt x="501269" y="0"/>
                      <a:pt x="581354" y="80085"/>
                      <a:pt x="581354" y="178876"/>
                    </a:cubicBezTo>
                    <a:lnTo>
                      <a:pt x="581354" y="488621"/>
                    </a:lnTo>
                    <a:cubicBezTo>
                      <a:pt x="581354" y="536061"/>
                      <a:pt x="562509" y="581559"/>
                      <a:pt x="528963" y="615105"/>
                    </a:cubicBezTo>
                    <a:cubicBezTo>
                      <a:pt x="495417" y="648651"/>
                      <a:pt x="449919" y="667496"/>
                      <a:pt x="402479" y="667496"/>
                    </a:cubicBezTo>
                    <a:lnTo>
                      <a:pt x="178876" y="667496"/>
                    </a:lnTo>
                    <a:cubicBezTo>
                      <a:pt x="80085" y="667496"/>
                      <a:pt x="0" y="587411"/>
                      <a:pt x="0" y="488621"/>
                    </a:cubicBezTo>
                    <a:lnTo>
                      <a:pt x="0" y="178876"/>
                    </a:lnTo>
                    <a:cubicBezTo>
                      <a:pt x="0" y="131435"/>
                      <a:pt x="18846" y="85937"/>
                      <a:pt x="52392" y="52392"/>
                    </a:cubicBezTo>
                    <a:cubicBezTo>
                      <a:pt x="85937" y="18846"/>
                      <a:pt x="131435" y="0"/>
                      <a:pt x="178876" y="0"/>
                    </a:cubicBezTo>
                    <a:close/>
                  </a:path>
                </a:pathLst>
              </a:custGeom>
              <a:solidFill>
                <a:srgbClr val="B4A540"/>
              </a:solidFill>
            </p:spPr>
            <p:txBody>
              <a:bodyPr/>
              <a:lstStyle/>
              <a:p>
                <a:endParaRPr lang="en-US"/>
              </a:p>
            </p:txBody>
          </p:sp>
          <p:sp>
            <p:nvSpPr>
              <p:cNvPr id="17" name="TextBox 17"/>
              <p:cNvSpPr txBox="1"/>
              <p:nvPr/>
            </p:nvSpPr>
            <p:spPr>
              <a:xfrm>
                <a:off x="0" y="-57150"/>
                <a:ext cx="581354" cy="724646"/>
              </a:xfrm>
              <a:prstGeom prst="rect">
                <a:avLst/>
              </a:prstGeom>
            </p:spPr>
            <p:txBody>
              <a:bodyPr lIns="50800" tIns="50800" rIns="50800" bIns="50800" rtlCol="0" anchor="ctr"/>
              <a:lstStyle/>
              <a:p>
                <a:pPr algn="ctr">
                  <a:lnSpc>
                    <a:spcPts val="3639"/>
                  </a:lnSpc>
                </a:pPr>
                <a:r>
                  <a:rPr lang="en-US" sz="2599" b="1">
                    <a:solidFill>
                      <a:srgbClr val="FFFFFF"/>
                    </a:solidFill>
                    <a:latin typeface="Open Sans 1 Bold"/>
                    <a:ea typeface="Open Sans 1 Bold"/>
                    <a:cs typeface="Open Sans 1 Bold"/>
                    <a:sym typeface="Open Sans 1 Bold"/>
                  </a:rPr>
                  <a:t> Quality control</a:t>
                </a:r>
              </a:p>
              <a:p>
                <a:pPr algn="ctr">
                  <a:lnSpc>
                    <a:spcPts val="3639"/>
                  </a:lnSpc>
                </a:pPr>
                <a:endParaRPr lang="en-US" sz="2599" b="1">
                  <a:solidFill>
                    <a:srgbClr val="FFFFFF"/>
                  </a:solidFill>
                  <a:latin typeface="Open Sans 1 Bold"/>
                  <a:ea typeface="Open Sans 1 Bold"/>
                  <a:cs typeface="Open Sans 1 Bold"/>
                  <a:sym typeface="Open Sans 1 Bold"/>
                </a:endParaRPr>
              </a:p>
              <a:p>
                <a:pPr algn="ctr">
                  <a:lnSpc>
                    <a:spcPts val="3639"/>
                  </a:lnSpc>
                  <a:spcBef>
                    <a:spcPct val="0"/>
                  </a:spcBef>
                </a:pPr>
                <a:r>
                  <a:rPr lang="en-US" sz="2599">
                    <a:solidFill>
                      <a:srgbClr val="FFFFFF"/>
                    </a:solidFill>
                    <a:latin typeface="Open Sans 1"/>
                    <a:ea typeface="Open Sans 1"/>
                    <a:cs typeface="Open Sans 1"/>
                    <a:sym typeface="Open Sans 1"/>
                  </a:rPr>
                  <a:t>1-2 weeks </a:t>
                </a:r>
              </a:p>
            </p:txBody>
          </p:sp>
        </p:grpSp>
        <p:grpSp>
          <p:nvGrpSpPr>
            <p:cNvPr id="18" name="Group 18"/>
            <p:cNvGrpSpPr/>
            <p:nvPr/>
          </p:nvGrpSpPr>
          <p:grpSpPr>
            <a:xfrm>
              <a:off x="20167125" y="5393"/>
              <a:ext cx="2943106" cy="3379200"/>
              <a:chOff x="0" y="0"/>
              <a:chExt cx="581354" cy="667496"/>
            </a:xfrm>
          </p:grpSpPr>
          <p:sp>
            <p:nvSpPr>
              <p:cNvPr id="19" name="Freeform 19"/>
              <p:cNvSpPr/>
              <p:nvPr/>
            </p:nvSpPr>
            <p:spPr>
              <a:xfrm>
                <a:off x="0" y="0"/>
                <a:ext cx="581354" cy="667496"/>
              </a:xfrm>
              <a:custGeom>
                <a:avLst/>
                <a:gdLst/>
                <a:ahLst/>
                <a:cxnLst/>
                <a:rect l="l" t="t" r="r" b="b"/>
                <a:pathLst>
                  <a:path w="581354" h="667496">
                    <a:moveTo>
                      <a:pt x="178876" y="0"/>
                    </a:moveTo>
                    <a:lnTo>
                      <a:pt x="402479" y="0"/>
                    </a:lnTo>
                    <a:cubicBezTo>
                      <a:pt x="501269" y="0"/>
                      <a:pt x="581354" y="80085"/>
                      <a:pt x="581354" y="178876"/>
                    </a:cubicBezTo>
                    <a:lnTo>
                      <a:pt x="581354" y="488621"/>
                    </a:lnTo>
                    <a:cubicBezTo>
                      <a:pt x="581354" y="536061"/>
                      <a:pt x="562509" y="581559"/>
                      <a:pt x="528963" y="615105"/>
                    </a:cubicBezTo>
                    <a:cubicBezTo>
                      <a:pt x="495417" y="648651"/>
                      <a:pt x="449919" y="667496"/>
                      <a:pt x="402479" y="667496"/>
                    </a:cubicBezTo>
                    <a:lnTo>
                      <a:pt x="178876" y="667496"/>
                    </a:lnTo>
                    <a:cubicBezTo>
                      <a:pt x="80085" y="667496"/>
                      <a:pt x="0" y="587411"/>
                      <a:pt x="0" y="488621"/>
                    </a:cubicBezTo>
                    <a:lnTo>
                      <a:pt x="0" y="178876"/>
                    </a:lnTo>
                    <a:cubicBezTo>
                      <a:pt x="0" y="131435"/>
                      <a:pt x="18846" y="85937"/>
                      <a:pt x="52392" y="52392"/>
                    </a:cubicBezTo>
                    <a:cubicBezTo>
                      <a:pt x="85937" y="18846"/>
                      <a:pt x="131435" y="0"/>
                      <a:pt x="178876" y="0"/>
                    </a:cubicBezTo>
                    <a:close/>
                  </a:path>
                </a:pathLst>
              </a:custGeom>
              <a:solidFill>
                <a:srgbClr val="6F7030"/>
              </a:solidFill>
            </p:spPr>
            <p:txBody>
              <a:bodyPr/>
              <a:lstStyle/>
              <a:p>
                <a:endParaRPr lang="en-US"/>
              </a:p>
            </p:txBody>
          </p:sp>
          <p:sp>
            <p:nvSpPr>
              <p:cNvPr id="20" name="TextBox 20"/>
              <p:cNvSpPr txBox="1"/>
              <p:nvPr/>
            </p:nvSpPr>
            <p:spPr>
              <a:xfrm>
                <a:off x="0" y="-57150"/>
                <a:ext cx="581354" cy="724646"/>
              </a:xfrm>
              <a:prstGeom prst="rect">
                <a:avLst/>
              </a:prstGeom>
            </p:spPr>
            <p:txBody>
              <a:bodyPr lIns="50800" tIns="50800" rIns="50800" bIns="50800" rtlCol="0" anchor="ctr"/>
              <a:lstStyle/>
              <a:p>
                <a:pPr algn="ctr">
                  <a:lnSpc>
                    <a:spcPts val="3639"/>
                  </a:lnSpc>
                </a:pPr>
                <a:r>
                  <a:rPr lang="en-US" sz="2599" b="1">
                    <a:solidFill>
                      <a:srgbClr val="FFFFFF"/>
                    </a:solidFill>
                    <a:latin typeface="Open Sans 1 Bold"/>
                    <a:ea typeface="Open Sans 1 Bold"/>
                    <a:cs typeface="Open Sans 1 Bold"/>
                    <a:sym typeface="Open Sans 1 Bold"/>
                  </a:rPr>
                  <a:t>Packaging and shipping</a:t>
                </a:r>
              </a:p>
              <a:p>
                <a:pPr algn="ctr">
                  <a:lnSpc>
                    <a:spcPts val="3639"/>
                  </a:lnSpc>
                </a:pPr>
                <a:endParaRPr lang="en-US" sz="2599" b="1">
                  <a:solidFill>
                    <a:srgbClr val="FFFFFF"/>
                  </a:solidFill>
                  <a:latin typeface="Open Sans 1 Bold"/>
                  <a:ea typeface="Open Sans 1 Bold"/>
                  <a:cs typeface="Open Sans 1 Bold"/>
                  <a:sym typeface="Open Sans 1 Bold"/>
                </a:endParaRPr>
              </a:p>
              <a:p>
                <a:pPr algn="ctr">
                  <a:lnSpc>
                    <a:spcPts val="3639"/>
                  </a:lnSpc>
                  <a:spcBef>
                    <a:spcPct val="0"/>
                  </a:spcBef>
                </a:pPr>
                <a:r>
                  <a:rPr lang="en-US" sz="2599">
                    <a:solidFill>
                      <a:srgbClr val="FFFFFF"/>
                    </a:solidFill>
                    <a:latin typeface="Open Sans 1"/>
                    <a:ea typeface="Open Sans 1"/>
                    <a:cs typeface="Open Sans 1"/>
                    <a:sym typeface="Open Sans 1"/>
                  </a:rPr>
                  <a:t>1-3 weeks </a:t>
                </a:r>
              </a:p>
            </p:txBody>
          </p:sp>
        </p:grpSp>
      </p:grpSp>
      <p:sp>
        <p:nvSpPr>
          <p:cNvPr id="21" name="AutoShape 21"/>
          <p:cNvSpPr/>
          <p:nvPr/>
        </p:nvSpPr>
        <p:spPr>
          <a:xfrm>
            <a:off x="2756652" y="5379261"/>
            <a:ext cx="647306" cy="0"/>
          </a:xfrm>
          <a:prstGeom prst="line">
            <a:avLst/>
          </a:prstGeom>
          <a:ln w="38100" cap="flat">
            <a:solidFill>
              <a:srgbClr val="000000"/>
            </a:solidFill>
            <a:prstDash val="solid"/>
            <a:headEnd type="none" w="sm" len="sm"/>
            <a:tailEnd type="arrow" w="med" len="sm"/>
          </a:ln>
        </p:spPr>
        <p:txBody>
          <a:bodyPr/>
          <a:lstStyle/>
          <a:p>
            <a:endParaRPr lang="en-US"/>
          </a:p>
        </p:txBody>
      </p:sp>
      <p:sp>
        <p:nvSpPr>
          <p:cNvPr id="22" name="AutoShape 22"/>
          <p:cNvSpPr/>
          <p:nvPr/>
        </p:nvSpPr>
        <p:spPr>
          <a:xfrm>
            <a:off x="5820891" y="5417361"/>
            <a:ext cx="647306" cy="0"/>
          </a:xfrm>
          <a:prstGeom prst="line">
            <a:avLst/>
          </a:prstGeom>
          <a:ln w="38100" cap="flat">
            <a:solidFill>
              <a:srgbClr val="000000"/>
            </a:solidFill>
            <a:prstDash val="solid"/>
            <a:headEnd type="none" w="sm" len="sm"/>
            <a:tailEnd type="arrow" w="med" len="sm"/>
          </a:ln>
        </p:spPr>
        <p:txBody>
          <a:bodyPr/>
          <a:lstStyle/>
          <a:p>
            <a:endParaRPr lang="en-US"/>
          </a:p>
        </p:txBody>
      </p:sp>
      <p:sp>
        <p:nvSpPr>
          <p:cNvPr id="23" name="AutoShape 23"/>
          <p:cNvSpPr/>
          <p:nvPr/>
        </p:nvSpPr>
        <p:spPr>
          <a:xfrm>
            <a:off x="8820347" y="5379261"/>
            <a:ext cx="647306" cy="0"/>
          </a:xfrm>
          <a:prstGeom prst="line">
            <a:avLst/>
          </a:prstGeom>
          <a:ln w="38100" cap="flat">
            <a:solidFill>
              <a:srgbClr val="000000"/>
            </a:solidFill>
            <a:prstDash val="solid"/>
            <a:headEnd type="none" w="sm" len="sm"/>
            <a:tailEnd type="arrow" w="med" len="sm"/>
          </a:ln>
        </p:spPr>
        <p:txBody>
          <a:bodyPr/>
          <a:lstStyle/>
          <a:p>
            <a:endParaRPr lang="en-US"/>
          </a:p>
        </p:txBody>
      </p:sp>
      <p:sp>
        <p:nvSpPr>
          <p:cNvPr id="24" name="AutoShape 24"/>
          <p:cNvSpPr/>
          <p:nvPr/>
        </p:nvSpPr>
        <p:spPr>
          <a:xfrm>
            <a:off x="11857114" y="5360211"/>
            <a:ext cx="647306" cy="0"/>
          </a:xfrm>
          <a:prstGeom prst="line">
            <a:avLst/>
          </a:prstGeom>
          <a:ln w="38100" cap="flat">
            <a:solidFill>
              <a:srgbClr val="000000"/>
            </a:solidFill>
            <a:prstDash val="solid"/>
            <a:headEnd type="none" w="sm" len="sm"/>
            <a:tailEnd type="arrow" w="med" len="sm"/>
          </a:ln>
        </p:spPr>
        <p:txBody>
          <a:bodyPr/>
          <a:lstStyle/>
          <a:p>
            <a:endParaRPr lang="en-US"/>
          </a:p>
        </p:txBody>
      </p:sp>
      <p:sp>
        <p:nvSpPr>
          <p:cNvPr id="25" name="AutoShape 25"/>
          <p:cNvSpPr/>
          <p:nvPr/>
        </p:nvSpPr>
        <p:spPr>
          <a:xfrm>
            <a:off x="14875225" y="5341161"/>
            <a:ext cx="647306" cy="0"/>
          </a:xfrm>
          <a:prstGeom prst="line">
            <a:avLst/>
          </a:prstGeom>
          <a:ln w="38100" cap="flat">
            <a:solidFill>
              <a:srgbClr val="000000"/>
            </a:solidFill>
            <a:prstDash val="solid"/>
            <a:headEnd type="none" w="sm" len="sm"/>
            <a:tailEnd type="arrow" w="med" len="sm"/>
          </a:ln>
        </p:spPr>
        <p:txBody>
          <a:bodyPr/>
          <a:lstStyle/>
          <a:p>
            <a:endParaRPr lang="en-US"/>
          </a:p>
        </p:txBody>
      </p:sp>
      <p:grpSp>
        <p:nvGrpSpPr>
          <p:cNvPr id="26" name="Group 26"/>
          <p:cNvGrpSpPr/>
          <p:nvPr/>
        </p:nvGrpSpPr>
        <p:grpSpPr>
          <a:xfrm>
            <a:off x="2488246" y="8277861"/>
            <a:ext cx="14905581" cy="1634874"/>
            <a:chOff x="0" y="0"/>
            <a:chExt cx="3925750" cy="430584"/>
          </a:xfrm>
        </p:grpSpPr>
        <p:sp>
          <p:nvSpPr>
            <p:cNvPr id="27" name="Freeform 27"/>
            <p:cNvSpPr/>
            <p:nvPr/>
          </p:nvSpPr>
          <p:spPr>
            <a:xfrm>
              <a:off x="0" y="0"/>
              <a:ext cx="3925750" cy="430584"/>
            </a:xfrm>
            <a:custGeom>
              <a:avLst/>
              <a:gdLst/>
              <a:ahLst/>
              <a:cxnLst/>
              <a:rect l="l" t="t" r="r" b="b"/>
              <a:pathLst>
                <a:path w="3925750" h="430584">
                  <a:moveTo>
                    <a:pt x="0" y="0"/>
                  </a:moveTo>
                  <a:lnTo>
                    <a:pt x="3925750" y="0"/>
                  </a:lnTo>
                  <a:lnTo>
                    <a:pt x="3925750" y="430584"/>
                  </a:lnTo>
                  <a:lnTo>
                    <a:pt x="0" y="430584"/>
                  </a:lnTo>
                  <a:close/>
                </a:path>
              </a:pathLst>
            </a:custGeom>
            <a:solidFill>
              <a:srgbClr val="FFFFFF"/>
            </a:solidFill>
            <a:ln w="38100" cap="sq">
              <a:solidFill>
                <a:srgbClr val="000000"/>
              </a:solidFill>
              <a:prstDash val="solid"/>
              <a:miter/>
            </a:ln>
          </p:spPr>
          <p:txBody>
            <a:bodyPr/>
            <a:lstStyle/>
            <a:p>
              <a:endParaRPr lang="en-US"/>
            </a:p>
          </p:txBody>
        </p:sp>
        <p:sp>
          <p:nvSpPr>
            <p:cNvPr id="28" name="TextBox 28"/>
            <p:cNvSpPr txBox="1"/>
            <p:nvPr/>
          </p:nvSpPr>
          <p:spPr>
            <a:xfrm>
              <a:off x="0" y="-57150"/>
              <a:ext cx="3925750" cy="487734"/>
            </a:xfrm>
            <a:prstGeom prst="rect">
              <a:avLst/>
            </a:prstGeom>
          </p:spPr>
          <p:txBody>
            <a:bodyPr lIns="50800" tIns="50800" rIns="50800" bIns="50800" rtlCol="0" anchor="ctr"/>
            <a:lstStyle/>
            <a:p>
              <a:pPr algn="ctr">
                <a:lnSpc>
                  <a:spcPts val="3639"/>
                </a:lnSpc>
              </a:pPr>
              <a:r>
                <a:rPr lang="en-US" sz="2599" i="1" dirty="0">
                  <a:solidFill>
                    <a:srgbClr val="000000"/>
                  </a:solidFill>
                  <a:latin typeface="Open Sans 1 Italics"/>
                  <a:ea typeface="Open Sans 1 Italics"/>
                  <a:cs typeface="Open Sans 1 Italics"/>
                  <a:sym typeface="Open Sans 1 Italics"/>
                </a:rPr>
                <a:t>I have voluntarily excluded the jacket design activities and the quality control of the final product because we consider these activities only relevant to the pre-commercialization phase of the jacket and therefore, they do not affect the production process once the customer's order has been placed.</a:t>
              </a:r>
            </a:p>
          </p:txBody>
        </p:sp>
      </p:grpSp>
      <p:sp>
        <p:nvSpPr>
          <p:cNvPr id="29" name="Freeform 29"/>
          <p:cNvSpPr/>
          <p:nvPr/>
        </p:nvSpPr>
        <p:spPr>
          <a:xfrm>
            <a:off x="686078" y="8468681"/>
            <a:ext cx="1513980" cy="1253233"/>
          </a:xfrm>
          <a:custGeom>
            <a:avLst/>
            <a:gdLst/>
            <a:ahLst/>
            <a:cxnLst/>
            <a:rect l="l" t="t" r="r" b="b"/>
            <a:pathLst>
              <a:path w="1513980" h="1253233">
                <a:moveTo>
                  <a:pt x="0" y="0"/>
                </a:moveTo>
                <a:lnTo>
                  <a:pt x="1513980" y="0"/>
                </a:lnTo>
                <a:lnTo>
                  <a:pt x="1513980" y="1253233"/>
                </a:lnTo>
                <a:lnTo>
                  <a:pt x="0" y="12532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0" name="Freeform 30"/>
          <p:cNvSpPr/>
          <p:nvPr/>
        </p:nvSpPr>
        <p:spPr>
          <a:xfrm>
            <a:off x="0" y="-412946"/>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3"/>
            <a:stretch>
              <a:fillRect/>
            </a:stretch>
          </a:blipFill>
        </p:spPr>
        <p:txBody>
          <a:bodyPr/>
          <a:lstStyle/>
          <a:p>
            <a:endParaRPr lang="en-US"/>
          </a:p>
        </p:txBody>
      </p:sp>
      <p:sp>
        <p:nvSpPr>
          <p:cNvPr id="31" name="TextBox 31"/>
          <p:cNvSpPr txBox="1"/>
          <p:nvPr/>
        </p:nvSpPr>
        <p:spPr>
          <a:xfrm>
            <a:off x="2488246" y="40005"/>
            <a:ext cx="15953371" cy="988695"/>
          </a:xfrm>
          <a:prstGeom prst="rect">
            <a:avLst/>
          </a:prstGeom>
        </p:spPr>
        <p:txBody>
          <a:bodyPr lIns="0" tIns="0" rIns="0" bIns="0" rtlCol="0" anchor="t">
            <a:spAutoFit/>
          </a:bodyPr>
          <a:lstStyle/>
          <a:p>
            <a:pPr marL="0" lvl="0" indent="0" algn="l">
              <a:lnSpc>
                <a:spcPts val="3840"/>
              </a:lnSpc>
              <a:spcBef>
                <a:spcPct val="0"/>
              </a:spcBef>
            </a:pPr>
            <a:r>
              <a:rPr lang="en-US" sz="3000" b="1" u="none" strike="noStrike">
                <a:solidFill>
                  <a:srgbClr val="1E4541"/>
                </a:solidFill>
                <a:latin typeface="Poppins Bold"/>
                <a:ea typeface="Poppins Bold"/>
                <a:cs typeface="Poppins Bold"/>
                <a:sym typeface="Poppins Bold"/>
              </a:rPr>
              <a:t>The bottleneck, throughput time, cycle time, and throughput rate when we order the Dawn Sweater Jacket.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488246" y="8277861"/>
            <a:ext cx="14905581" cy="1634874"/>
            <a:chOff x="0" y="0"/>
            <a:chExt cx="3925750" cy="430584"/>
          </a:xfrm>
        </p:grpSpPr>
        <p:sp>
          <p:nvSpPr>
            <p:cNvPr id="3" name="Freeform 3"/>
            <p:cNvSpPr/>
            <p:nvPr/>
          </p:nvSpPr>
          <p:spPr>
            <a:xfrm>
              <a:off x="0" y="0"/>
              <a:ext cx="3925750" cy="430584"/>
            </a:xfrm>
            <a:custGeom>
              <a:avLst/>
              <a:gdLst/>
              <a:ahLst/>
              <a:cxnLst/>
              <a:rect l="l" t="t" r="r" b="b"/>
              <a:pathLst>
                <a:path w="3925750" h="430584">
                  <a:moveTo>
                    <a:pt x="0" y="0"/>
                  </a:moveTo>
                  <a:lnTo>
                    <a:pt x="3925750" y="0"/>
                  </a:lnTo>
                  <a:lnTo>
                    <a:pt x="3925750" y="430584"/>
                  </a:lnTo>
                  <a:lnTo>
                    <a:pt x="0" y="430584"/>
                  </a:lnTo>
                  <a:close/>
                </a:path>
              </a:pathLst>
            </a:custGeom>
            <a:solidFill>
              <a:srgbClr val="FFFFFF"/>
            </a:solidFill>
            <a:ln w="38100" cap="sq">
              <a:solidFill>
                <a:srgbClr val="000000"/>
              </a:solidFill>
              <a:prstDash val="solid"/>
              <a:miter/>
            </a:ln>
          </p:spPr>
          <p:txBody>
            <a:bodyPr/>
            <a:lstStyle/>
            <a:p>
              <a:endParaRPr lang="en-US"/>
            </a:p>
          </p:txBody>
        </p:sp>
        <p:sp>
          <p:nvSpPr>
            <p:cNvPr id="4" name="TextBox 4"/>
            <p:cNvSpPr txBox="1"/>
            <p:nvPr/>
          </p:nvSpPr>
          <p:spPr>
            <a:xfrm>
              <a:off x="0" y="-57150"/>
              <a:ext cx="3925750" cy="487734"/>
            </a:xfrm>
            <a:prstGeom prst="rect">
              <a:avLst/>
            </a:prstGeom>
          </p:spPr>
          <p:txBody>
            <a:bodyPr lIns="50800" tIns="50800" rIns="50800" bIns="50800" rtlCol="0" anchor="ctr"/>
            <a:lstStyle/>
            <a:p>
              <a:pPr algn="ctr">
                <a:lnSpc>
                  <a:spcPts val="3639"/>
                </a:lnSpc>
              </a:pPr>
              <a:r>
                <a:rPr lang="en-US" sz="2599" i="1" dirty="0">
                  <a:solidFill>
                    <a:srgbClr val="000000"/>
                  </a:solidFill>
                  <a:latin typeface="Open Sans 1 Italics"/>
                  <a:ea typeface="Open Sans 1 Italics"/>
                  <a:cs typeface="Open Sans 1 Italics"/>
                  <a:sym typeface="Open Sans 1 Italics"/>
                </a:rPr>
                <a:t>I have voluntarily excluded the jacket design activities and the quality control of the final product because we consider these activities only relevant to the pre-commercialization phase of the jacket and therefore, they do not affect the production process once the customer's order has been placed.</a:t>
              </a:r>
            </a:p>
          </p:txBody>
        </p:sp>
      </p:grpSp>
      <p:sp>
        <p:nvSpPr>
          <p:cNvPr id="5" name="Freeform 5"/>
          <p:cNvSpPr/>
          <p:nvPr/>
        </p:nvSpPr>
        <p:spPr>
          <a:xfrm>
            <a:off x="686078" y="8468681"/>
            <a:ext cx="1513980" cy="1253233"/>
          </a:xfrm>
          <a:custGeom>
            <a:avLst/>
            <a:gdLst/>
            <a:ahLst/>
            <a:cxnLst/>
            <a:rect l="l" t="t" r="r" b="b"/>
            <a:pathLst>
              <a:path w="1513980" h="1253233">
                <a:moveTo>
                  <a:pt x="0" y="0"/>
                </a:moveTo>
                <a:lnTo>
                  <a:pt x="1513980" y="0"/>
                </a:lnTo>
                <a:lnTo>
                  <a:pt x="1513980" y="1253233"/>
                </a:lnTo>
                <a:lnTo>
                  <a:pt x="0" y="12532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TextBox 6"/>
          <p:cNvSpPr txBox="1"/>
          <p:nvPr/>
        </p:nvSpPr>
        <p:spPr>
          <a:xfrm>
            <a:off x="514350" y="2378656"/>
            <a:ext cx="17773650" cy="4105911"/>
          </a:xfrm>
          <a:prstGeom prst="rect">
            <a:avLst/>
          </a:prstGeom>
        </p:spPr>
        <p:txBody>
          <a:bodyPr lIns="0" tIns="0" rIns="0" bIns="0" rtlCol="0" anchor="t">
            <a:spAutoFit/>
          </a:bodyPr>
          <a:lstStyle/>
          <a:p>
            <a:pPr marL="561336" lvl="1" indent="-280668" algn="l">
              <a:lnSpc>
                <a:spcPts val="3639"/>
              </a:lnSpc>
              <a:buFont typeface="Arial"/>
              <a:buChar char="•"/>
            </a:pPr>
            <a:r>
              <a:rPr lang="en-US" sz="2599" b="1">
                <a:solidFill>
                  <a:srgbClr val="000000"/>
                </a:solidFill>
                <a:latin typeface="Open Sans 1 Bold"/>
                <a:ea typeface="Open Sans 1 Bold"/>
                <a:cs typeface="Open Sans 1 Bold"/>
                <a:sym typeface="Open Sans 1 Bold"/>
              </a:rPr>
              <a:t>Bottleneck</a:t>
            </a:r>
            <a:r>
              <a:rPr lang="en-US" sz="2599">
                <a:solidFill>
                  <a:srgbClr val="000000"/>
                </a:solidFill>
                <a:latin typeface="Open Sans 1"/>
                <a:ea typeface="Open Sans 1"/>
                <a:cs typeface="Open Sans 1"/>
                <a:sym typeface="Open Sans 1"/>
              </a:rPr>
              <a:t> (the activity with the largest processing time or lowest output) = Assembly of up to 4 weeks</a:t>
            </a:r>
          </a:p>
          <a:p>
            <a:pPr algn="l">
              <a:lnSpc>
                <a:spcPts val="3639"/>
              </a:lnSpc>
            </a:pPr>
            <a:endParaRPr lang="en-US" sz="2599">
              <a:solidFill>
                <a:srgbClr val="000000"/>
              </a:solidFill>
              <a:latin typeface="Open Sans 1"/>
              <a:ea typeface="Open Sans 1"/>
              <a:cs typeface="Open Sans 1"/>
              <a:sym typeface="Open Sans 1"/>
            </a:endParaRPr>
          </a:p>
          <a:p>
            <a:pPr marL="561336" lvl="1" indent="-280668" algn="l">
              <a:lnSpc>
                <a:spcPts val="3639"/>
              </a:lnSpc>
              <a:buFont typeface="Arial"/>
              <a:buChar char="•"/>
            </a:pPr>
            <a:r>
              <a:rPr lang="en-US" sz="2599" b="1">
                <a:solidFill>
                  <a:srgbClr val="000000"/>
                </a:solidFill>
                <a:latin typeface="Open Sans 1 Bold"/>
                <a:ea typeface="Open Sans 1 Bold"/>
                <a:cs typeface="Open Sans 1 Bold"/>
                <a:sym typeface="Open Sans 1 Bold"/>
              </a:rPr>
              <a:t>Throughput time</a:t>
            </a:r>
            <a:r>
              <a:rPr lang="en-US" sz="2599">
                <a:solidFill>
                  <a:srgbClr val="000000"/>
                </a:solidFill>
                <a:latin typeface="Open Sans 1"/>
                <a:ea typeface="Open Sans 1"/>
                <a:cs typeface="Open Sans 1"/>
                <a:sym typeface="Open Sans 1"/>
              </a:rPr>
              <a:t> (the sum of processing time for all activities) = 2+2+1+4+2+3 = 14 weeks </a:t>
            </a:r>
          </a:p>
          <a:p>
            <a:pPr algn="l">
              <a:lnSpc>
                <a:spcPts val="3639"/>
              </a:lnSpc>
            </a:pPr>
            <a:endParaRPr lang="en-US" sz="2599">
              <a:solidFill>
                <a:srgbClr val="000000"/>
              </a:solidFill>
              <a:latin typeface="Open Sans 1"/>
              <a:ea typeface="Open Sans 1"/>
              <a:cs typeface="Open Sans 1"/>
              <a:sym typeface="Open Sans 1"/>
            </a:endParaRPr>
          </a:p>
          <a:p>
            <a:pPr marL="561336" lvl="1" indent="-280668" algn="l">
              <a:lnSpc>
                <a:spcPts val="3639"/>
              </a:lnSpc>
              <a:buFont typeface="Arial"/>
              <a:buChar char="•"/>
            </a:pPr>
            <a:r>
              <a:rPr lang="en-US" sz="2599" b="1">
                <a:solidFill>
                  <a:srgbClr val="000000"/>
                </a:solidFill>
                <a:latin typeface="Open Sans 1 Bold"/>
                <a:ea typeface="Open Sans 1 Bold"/>
                <a:cs typeface="Open Sans 1 Bold"/>
                <a:sym typeface="Open Sans 1 Bold"/>
              </a:rPr>
              <a:t>Cycle time</a:t>
            </a:r>
            <a:r>
              <a:rPr lang="en-US" sz="2599">
                <a:solidFill>
                  <a:srgbClr val="000000"/>
                </a:solidFill>
                <a:latin typeface="Open Sans 1"/>
                <a:ea typeface="Open Sans 1"/>
                <a:cs typeface="Open Sans 1"/>
                <a:sym typeface="Open Sans 1"/>
              </a:rPr>
              <a:t> (The rate at which products comes out of the system or the process time of bottleneck activity)  = 4 weeks</a:t>
            </a:r>
          </a:p>
          <a:p>
            <a:pPr algn="l">
              <a:lnSpc>
                <a:spcPts val="3639"/>
              </a:lnSpc>
            </a:pPr>
            <a:endParaRPr lang="en-US" sz="2599">
              <a:solidFill>
                <a:srgbClr val="000000"/>
              </a:solidFill>
              <a:latin typeface="Open Sans 1"/>
              <a:ea typeface="Open Sans 1"/>
              <a:cs typeface="Open Sans 1"/>
              <a:sym typeface="Open Sans 1"/>
            </a:endParaRPr>
          </a:p>
          <a:p>
            <a:pPr marL="561336" lvl="1" indent="-280668" algn="l">
              <a:lnSpc>
                <a:spcPts val="3639"/>
              </a:lnSpc>
              <a:buFont typeface="Arial"/>
              <a:buChar char="•"/>
            </a:pPr>
            <a:r>
              <a:rPr lang="en-US" sz="2599" b="1">
                <a:solidFill>
                  <a:srgbClr val="000000"/>
                </a:solidFill>
                <a:latin typeface="Open Sans 1 Bold"/>
                <a:ea typeface="Open Sans 1 Bold"/>
                <a:cs typeface="Open Sans 1 Bold"/>
                <a:sym typeface="Open Sans 1 Bold"/>
              </a:rPr>
              <a:t>Throughput rate</a:t>
            </a:r>
            <a:r>
              <a:rPr lang="en-US" sz="2599">
                <a:solidFill>
                  <a:srgbClr val="000000"/>
                </a:solidFill>
                <a:latin typeface="Open Sans 1"/>
                <a:ea typeface="Open Sans 1"/>
                <a:cs typeface="Open Sans 1"/>
                <a:sym typeface="Open Sans 1"/>
              </a:rPr>
              <a:t> (the rate at which the system produces one unit) = it takes roughly 672 hours to produce a single jacket when considering the bottleneck activity, which is the Assembly stage with a cycle time of 4 weeks.</a:t>
            </a:r>
          </a:p>
        </p:txBody>
      </p:sp>
      <p:sp>
        <p:nvSpPr>
          <p:cNvPr id="7" name="Freeform 7"/>
          <p:cNvSpPr/>
          <p:nvPr/>
        </p:nvSpPr>
        <p:spPr>
          <a:xfrm>
            <a:off x="0" y="-412946"/>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2488246" y="40005"/>
            <a:ext cx="15953371" cy="988695"/>
          </a:xfrm>
          <a:prstGeom prst="rect">
            <a:avLst/>
          </a:prstGeom>
        </p:spPr>
        <p:txBody>
          <a:bodyPr lIns="0" tIns="0" rIns="0" bIns="0" rtlCol="0" anchor="t">
            <a:spAutoFit/>
          </a:bodyPr>
          <a:lstStyle/>
          <a:p>
            <a:pPr marL="0" lvl="0" indent="0" algn="l">
              <a:lnSpc>
                <a:spcPts val="3840"/>
              </a:lnSpc>
              <a:spcBef>
                <a:spcPct val="0"/>
              </a:spcBef>
            </a:pPr>
            <a:r>
              <a:rPr lang="en-US" sz="3000" b="1" u="none" strike="noStrike">
                <a:solidFill>
                  <a:srgbClr val="1E4541"/>
                </a:solidFill>
                <a:latin typeface="Poppins Bold"/>
                <a:ea typeface="Poppins Bold"/>
                <a:cs typeface="Poppins Bold"/>
                <a:sym typeface="Poppins Bold"/>
              </a:rPr>
              <a:t>The bottleneck, throughput time, cycle time, and throughput rate when we order the Dawn Sweater Jacket.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3078089" y="1028700"/>
            <a:ext cx="4181211" cy="8229600"/>
            <a:chOff x="0" y="0"/>
            <a:chExt cx="5574947" cy="10972800"/>
          </a:xfrm>
        </p:grpSpPr>
        <p:pic>
          <p:nvPicPr>
            <p:cNvPr id="6" name="Picture 6"/>
            <p:cNvPicPr>
              <a:picLocks noChangeAspect="1"/>
            </p:cNvPicPr>
            <p:nvPr/>
          </p:nvPicPr>
          <p:blipFill>
            <a:blip r:embed="rId2"/>
            <a:srcRect l="21108" r="21108"/>
            <a:stretch>
              <a:fillRect/>
            </a:stretch>
          </p:blipFill>
          <p:spPr>
            <a:xfrm>
              <a:off x="0" y="0"/>
              <a:ext cx="5574947" cy="10972800"/>
            </a:xfrm>
            <a:prstGeom prst="rect">
              <a:avLst/>
            </a:prstGeom>
          </p:spPr>
        </p:pic>
      </p:grpSp>
      <p:sp>
        <p:nvSpPr>
          <p:cNvPr id="7" name="Freeform 7"/>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663344" y="1387296"/>
            <a:ext cx="10981429" cy="775716"/>
          </a:xfrm>
          <a:prstGeom prst="rect">
            <a:avLst/>
          </a:prstGeom>
        </p:spPr>
        <p:txBody>
          <a:bodyPr lIns="0" tIns="0" rIns="0" bIns="0" rtlCol="0" anchor="t">
            <a:spAutoFit/>
          </a:bodyPr>
          <a:lstStyle/>
          <a:p>
            <a:pPr algn="l">
              <a:lnSpc>
                <a:spcPts val="3072"/>
              </a:lnSpc>
            </a:pPr>
            <a:r>
              <a:rPr lang="en-US" sz="2400" b="1">
                <a:solidFill>
                  <a:srgbClr val="1E4541"/>
                </a:solidFill>
                <a:latin typeface="Poppins Bold"/>
                <a:ea typeface="Poppins Bold"/>
                <a:cs typeface="Poppins Bold"/>
                <a:sym typeface="Poppins Bold"/>
              </a:rPr>
              <a:t>How does Patagonia manage its finished goods and raw materials ?(1/2)</a:t>
            </a:r>
          </a:p>
        </p:txBody>
      </p:sp>
      <p:sp>
        <p:nvSpPr>
          <p:cNvPr id="9" name="TextBox 9"/>
          <p:cNvSpPr txBox="1"/>
          <p:nvPr/>
        </p:nvSpPr>
        <p:spPr>
          <a:xfrm>
            <a:off x="1663344" y="3027712"/>
            <a:ext cx="11077798" cy="3106420"/>
          </a:xfrm>
          <a:prstGeom prst="rect">
            <a:avLst/>
          </a:prstGeom>
        </p:spPr>
        <p:txBody>
          <a:bodyPr lIns="0" tIns="0" rIns="0" bIns="0" rtlCol="0" anchor="t">
            <a:spAutoFit/>
          </a:bodyPr>
          <a:lstStyle/>
          <a:p>
            <a:pPr algn="just">
              <a:lnSpc>
                <a:spcPts val="3079"/>
              </a:lnSpc>
              <a:spcBef>
                <a:spcPct val="0"/>
              </a:spcBef>
            </a:pPr>
            <a:r>
              <a:rPr lang="en-US" sz="2199">
                <a:solidFill>
                  <a:srgbClr val="1F2020"/>
                </a:solidFill>
                <a:latin typeface="Open Sans 2"/>
                <a:ea typeface="Open Sans 2"/>
                <a:cs typeface="Open Sans 2"/>
                <a:sym typeface="Open Sans 2"/>
              </a:rPr>
              <a:t>Patagonia manages its finished goods and raw materials through an approach that emphasizes social and environmental responsibility across its entire supply chain. For their finished goods factories, Patagonia engages in rigorous due diligence activities, ensuring compliance with fair labor practices, safe working conditions, and environmental standards. This involves a comprehensive Supplier Workplace Code of Conduct that is aligned with the International Labour Organization's core labor standards and covers everything from labor practices to health and safety, environmental impact, and community engagement.</a:t>
            </a:r>
          </a:p>
        </p:txBody>
      </p:sp>
      <p:sp>
        <p:nvSpPr>
          <p:cNvPr id="10" name="TextBox 10"/>
          <p:cNvSpPr txBox="1"/>
          <p:nvPr/>
        </p:nvSpPr>
        <p:spPr>
          <a:xfrm>
            <a:off x="1663344" y="2550192"/>
            <a:ext cx="2012018" cy="3962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Handling </a:t>
            </a:r>
          </a:p>
        </p:txBody>
      </p:sp>
      <p:sp>
        <p:nvSpPr>
          <p:cNvPr id="11" name="TextBox 11"/>
          <p:cNvSpPr txBox="1"/>
          <p:nvPr/>
        </p:nvSpPr>
        <p:spPr>
          <a:xfrm>
            <a:off x="1663344" y="6450179"/>
            <a:ext cx="11077798" cy="2654300"/>
          </a:xfrm>
          <a:prstGeom prst="rect">
            <a:avLst/>
          </a:prstGeom>
        </p:spPr>
        <p:txBody>
          <a:bodyPr lIns="0" tIns="0" rIns="0" bIns="0" rtlCol="0" anchor="t">
            <a:spAutoFit/>
          </a:bodyPr>
          <a:lstStyle/>
          <a:p>
            <a:pPr algn="just">
              <a:lnSpc>
                <a:spcPts val="2800"/>
              </a:lnSpc>
            </a:pPr>
            <a:endParaRPr/>
          </a:p>
          <a:p>
            <a:pPr algn="just">
              <a:lnSpc>
                <a:spcPts val="3079"/>
              </a:lnSpc>
            </a:pPr>
            <a:r>
              <a:rPr lang="en-US" sz="2199">
                <a:solidFill>
                  <a:srgbClr val="1F2020"/>
                </a:solidFill>
                <a:latin typeface="Open Sans 2"/>
                <a:ea typeface="Open Sans 2"/>
                <a:cs typeface="Open Sans 2"/>
                <a:sym typeface="Open Sans 2"/>
              </a:rPr>
              <a:t>The company has a 4-Fold Approach to Supply Chain Decisions to pre-screen factories before placing orders, requiring suppliers to meet their business, quality, social, and environmental criteria. This approach ensures that every new and existing supplier aligns with Patagonia's high standards, and their teams have the power to veto any new factory that doesn't meet these standards.</a:t>
            </a:r>
          </a:p>
          <a:p>
            <a:pPr algn="just">
              <a:lnSpc>
                <a:spcPts val="2800"/>
              </a:lnSpc>
              <a:spcBef>
                <a:spcPct val="0"/>
              </a:spcBef>
            </a:pPr>
            <a:endParaRPr lang="en-US" sz="2199">
              <a:solidFill>
                <a:srgbClr val="1F2020"/>
              </a:solidFill>
              <a:latin typeface="Open Sans 2"/>
              <a:ea typeface="Open Sans 2"/>
              <a:cs typeface="Open Sans 2"/>
              <a:sym typeface="Open Sans 2"/>
            </a:endParaRPr>
          </a:p>
        </p:txBody>
      </p:sp>
      <p:sp>
        <p:nvSpPr>
          <p:cNvPr id="12" name="TextBox 12"/>
          <p:cNvSpPr txBox="1"/>
          <p:nvPr/>
        </p:nvSpPr>
        <p:spPr>
          <a:xfrm>
            <a:off x="1663344" y="6280634"/>
            <a:ext cx="8977503" cy="3962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Focus on the 4-Fold Approach to Supply Chain Decisions: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3078089" y="1028700"/>
            <a:ext cx="4181211" cy="8229600"/>
            <a:chOff x="0" y="0"/>
            <a:chExt cx="5574947" cy="10972800"/>
          </a:xfrm>
        </p:grpSpPr>
        <p:pic>
          <p:nvPicPr>
            <p:cNvPr id="6" name="Picture 6"/>
            <p:cNvPicPr>
              <a:picLocks noChangeAspect="1"/>
            </p:cNvPicPr>
            <p:nvPr/>
          </p:nvPicPr>
          <p:blipFill>
            <a:blip r:embed="rId2"/>
            <a:srcRect l="15662" r="15662"/>
            <a:stretch>
              <a:fillRect/>
            </a:stretch>
          </p:blipFill>
          <p:spPr>
            <a:xfrm>
              <a:off x="0" y="0"/>
              <a:ext cx="5574947" cy="10972800"/>
            </a:xfrm>
            <a:prstGeom prst="rect">
              <a:avLst/>
            </a:prstGeom>
          </p:spPr>
        </p:pic>
      </p:grpSp>
      <p:sp>
        <p:nvSpPr>
          <p:cNvPr id="7" name="Freeform 7"/>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663344" y="1387296"/>
            <a:ext cx="10981429" cy="812800"/>
          </a:xfrm>
          <a:prstGeom prst="rect">
            <a:avLst/>
          </a:prstGeom>
        </p:spPr>
        <p:txBody>
          <a:bodyPr lIns="0" tIns="0" rIns="0" bIns="0" rtlCol="0" anchor="t">
            <a:spAutoFit/>
          </a:bodyPr>
          <a:lstStyle/>
          <a:p>
            <a:pPr algn="l">
              <a:lnSpc>
                <a:spcPts val="3199"/>
              </a:lnSpc>
            </a:pPr>
            <a:r>
              <a:rPr lang="en-US" sz="2499" b="1">
                <a:solidFill>
                  <a:srgbClr val="1E4541"/>
                </a:solidFill>
                <a:latin typeface="Poppins Bold"/>
                <a:ea typeface="Poppins Bold"/>
                <a:cs typeface="Poppins Bold"/>
                <a:sym typeface="Poppins Bold"/>
              </a:rPr>
              <a:t>How does Patagonia manage its finished goods and raw materials ?(2/2)</a:t>
            </a:r>
          </a:p>
        </p:txBody>
      </p:sp>
      <p:sp>
        <p:nvSpPr>
          <p:cNvPr id="9" name="TextBox 9"/>
          <p:cNvSpPr txBox="1"/>
          <p:nvPr/>
        </p:nvSpPr>
        <p:spPr>
          <a:xfrm>
            <a:off x="1663344" y="3018187"/>
            <a:ext cx="11077798" cy="3489325"/>
          </a:xfrm>
          <a:prstGeom prst="rect">
            <a:avLst/>
          </a:prstGeom>
        </p:spPr>
        <p:txBody>
          <a:bodyPr lIns="0" tIns="0" rIns="0" bIns="0" rtlCol="0" anchor="t">
            <a:spAutoFit/>
          </a:bodyPr>
          <a:lstStyle/>
          <a:p>
            <a:pPr algn="just">
              <a:lnSpc>
                <a:spcPts val="3499"/>
              </a:lnSpc>
              <a:spcBef>
                <a:spcPct val="0"/>
              </a:spcBef>
            </a:pPr>
            <a:r>
              <a:rPr lang="en-US" sz="2499">
                <a:solidFill>
                  <a:srgbClr val="1F2020"/>
                </a:solidFill>
                <a:latin typeface="Open Sans 2"/>
                <a:ea typeface="Open Sans 2"/>
                <a:cs typeface="Open Sans 2"/>
                <a:sym typeface="Open Sans 2"/>
              </a:rPr>
              <a:t>For raw materials, Patagonia has a robust Material Traceability program to ensure a strong chain of custody and is moving towards using recycled materials and regenerative organic sources for its products. They are actively engaged in measuring and reducing the environmental impacts of manufacturing Patagonia products, emphasizing the need for suppliers to comply with local laws and Patagonia's own code of conduct. All of these elements ensure transparency and accountability throughout the supply chain</a:t>
            </a:r>
          </a:p>
        </p:txBody>
      </p:sp>
      <p:sp>
        <p:nvSpPr>
          <p:cNvPr id="10" name="TextBox 10"/>
          <p:cNvSpPr txBox="1"/>
          <p:nvPr/>
        </p:nvSpPr>
        <p:spPr>
          <a:xfrm>
            <a:off x="1663344" y="2398004"/>
            <a:ext cx="3228964" cy="422275"/>
          </a:xfrm>
          <a:prstGeom prst="rect">
            <a:avLst/>
          </a:prstGeom>
        </p:spPr>
        <p:txBody>
          <a:bodyPr lIns="0" tIns="0" rIns="0" bIns="0" rtlCol="0" anchor="t">
            <a:spAutoFit/>
          </a:bodyPr>
          <a:lstStyle/>
          <a:p>
            <a:pPr algn="l">
              <a:lnSpc>
                <a:spcPts val="3499"/>
              </a:lnSpc>
              <a:spcBef>
                <a:spcPct val="0"/>
              </a:spcBef>
            </a:pPr>
            <a:r>
              <a:rPr lang="en-US" sz="2499" b="1">
                <a:solidFill>
                  <a:srgbClr val="1E4541"/>
                </a:solidFill>
                <a:latin typeface="Open Sans 2 Bold"/>
                <a:ea typeface="Open Sans 2 Bold"/>
                <a:cs typeface="Open Sans 2 Bold"/>
                <a:sym typeface="Open Sans 2 Bold"/>
              </a:rPr>
              <a:t>Raw Materials </a:t>
            </a:r>
          </a:p>
        </p:txBody>
      </p:sp>
      <p:sp>
        <p:nvSpPr>
          <p:cNvPr id="11" name="TextBox 11"/>
          <p:cNvSpPr txBox="1"/>
          <p:nvPr/>
        </p:nvSpPr>
        <p:spPr>
          <a:xfrm>
            <a:off x="1663344" y="6621812"/>
            <a:ext cx="11077798" cy="3051175"/>
          </a:xfrm>
          <a:prstGeom prst="rect">
            <a:avLst/>
          </a:prstGeom>
        </p:spPr>
        <p:txBody>
          <a:bodyPr lIns="0" tIns="0" rIns="0" bIns="0" rtlCol="0" anchor="t">
            <a:spAutoFit/>
          </a:bodyPr>
          <a:lstStyle/>
          <a:p>
            <a:pPr algn="just">
              <a:lnSpc>
                <a:spcPts val="3499"/>
              </a:lnSpc>
            </a:pPr>
            <a:endParaRPr/>
          </a:p>
          <a:p>
            <a:pPr algn="just">
              <a:lnSpc>
                <a:spcPts val="3499"/>
              </a:lnSpc>
              <a:spcBef>
                <a:spcPct val="0"/>
              </a:spcBef>
            </a:pPr>
            <a:r>
              <a:rPr lang="en-US" sz="2499">
                <a:solidFill>
                  <a:srgbClr val="1F2020"/>
                </a:solidFill>
                <a:latin typeface="Open Sans 2"/>
                <a:ea typeface="Open Sans 2"/>
                <a:cs typeface="Open Sans 2"/>
                <a:sym typeface="Open Sans 2"/>
              </a:rPr>
              <a:t>Patagonia also has an ongoing commitment to reduce its carbon footprint and has set a goal to use preferred materials, like organic and regenerative organic cotton, recycled polyester, and recycled nylon, by 2025, thus minimizing their dependence on new raw materials and reducing carbon emissions​. Patagonia's commitment to using recycled materials reduces the need for virgin resources, further lowering their carbon footprint</a:t>
            </a:r>
          </a:p>
        </p:txBody>
      </p:sp>
      <p:sp>
        <p:nvSpPr>
          <p:cNvPr id="12" name="TextBox 12"/>
          <p:cNvSpPr txBox="1"/>
          <p:nvPr/>
        </p:nvSpPr>
        <p:spPr>
          <a:xfrm>
            <a:off x="1663344" y="6583712"/>
            <a:ext cx="8977503" cy="422275"/>
          </a:xfrm>
          <a:prstGeom prst="rect">
            <a:avLst/>
          </a:prstGeom>
        </p:spPr>
        <p:txBody>
          <a:bodyPr lIns="0" tIns="0" rIns="0" bIns="0" rtlCol="0" anchor="t">
            <a:spAutoFit/>
          </a:bodyPr>
          <a:lstStyle/>
          <a:p>
            <a:pPr algn="l">
              <a:lnSpc>
                <a:spcPts val="3499"/>
              </a:lnSpc>
              <a:spcBef>
                <a:spcPct val="0"/>
              </a:spcBef>
            </a:pPr>
            <a:r>
              <a:rPr lang="en-US" sz="2499" b="1">
                <a:solidFill>
                  <a:srgbClr val="1E4541"/>
                </a:solidFill>
                <a:latin typeface="Open Sans 2 Bold"/>
                <a:ea typeface="Open Sans 2 Bold"/>
                <a:cs typeface="Open Sans 2 Bold"/>
                <a:sym typeface="Open Sans 2 Bold"/>
              </a:rPr>
              <a:t>Green Commitment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1119573" y="1028700"/>
            <a:ext cx="6410159" cy="3994162"/>
            <a:chOff x="0" y="0"/>
            <a:chExt cx="8546879" cy="5325549"/>
          </a:xfrm>
        </p:grpSpPr>
        <p:pic>
          <p:nvPicPr>
            <p:cNvPr id="4" name="Picture 4"/>
            <p:cNvPicPr>
              <a:picLocks noChangeAspect="1"/>
            </p:cNvPicPr>
            <p:nvPr/>
          </p:nvPicPr>
          <p:blipFill>
            <a:blip r:embed="rId3"/>
            <a:srcRect l="4862" r="4862"/>
            <a:stretch>
              <a:fillRect/>
            </a:stretch>
          </p:blipFill>
          <p:spPr>
            <a:xfrm>
              <a:off x="0" y="0"/>
              <a:ext cx="8546879" cy="5325549"/>
            </a:xfrm>
            <a:prstGeom prst="rect">
              <a:avLst/>
            </a:prstGeom>
          </p:spPr>
        </p:pic>
      </p:grpSp>
      <p:sp>
        <p:nvSpPr>
          <p:cNvPr id="5" name="Freeform 5"/>
          <p:cNvSpPr/>
          <p:nvPr/>
        </p:nvSpPr>
        <p:spPr>
          <a:xfrm>
            <a:off x="12551703" y="4550703"/>
            <a:ext cx="5736297" cy="5736297"/>
          </a:xfrm>
          <a:custGeom>
            <a:avLst/>
            <a:gdLst/>
            <a:ahLst/>
            <a:cxnLst/>
            <a:rect l="l" t="t" r="r" b="b"/>
            <a:pathLst>
              <a:path w="5736297" h="5736297">
                <a:moveTo>
                  <a:pt x="0" y="0"/>
                </a:moveTo>
                <a:lnTo>
                  <a:pt x="5736297" y="0"/>
                </a:lnTo>
                <a:lnTo>
                  <a:pt x="5736297" y="5736297"/>
                </a:lnTo>
                <a:lnTo>
                  <a:pt x="0" y="5736297"/>
                </a:lnTo>
                <a:lnTo>
                  <a:pt x="0" y="0"/>
                </a:lnTo>
                <a:close/>
              </a:path>
            </a:pathLst>
          </a:custGeom>
          <a:blipFill>
            <a:blip r:embed="rId4"/>
            <a:stretch>
              <a:fillRect/>
            </a:stretch>
          </a:blipFill>
        </p:spPr>
        <p:txBody>
          <a:bodyPr/>
          <a:lstStyle/>
          <a:p>
            <a:endParaRPr lang="en-US"/>
          </a:p>
        </p:txBody>
      </p:sp>
      <p:grpSp>
        <p:nvGrpSpPr>
          <p:cNvPr id="6" name="Group 6"/>
          <p:cNvGrpSpPr/>
          <p:nvPr/>
        </p:nvGrpSpPr>
        <p:grpSpPr>
          <a:xfrm>
            <a:off x="17259300" y="0"/>
            <a:ext cx="1028700" cy="10287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410691" y="1387296"/>
            <a:ext cx="10347643" cy="812800"/>
          </a:xfrm>
          <a:prstGeom prst="rect">
            <a:avLst/>
          </a:prstGeom>
        </p:spPr>
        <p:txBody>
          <a:bodyPr lIns="0" tIns="0" rIns="0" bIns="0" rtlCol="0" anchor="t">
            <a:spAutoFit/>
          </a:bodyPr>
          <a:lstStyle/>
          <a:p>
            <a:pPr algn="l">
              <a:lnSpc>
                <a:spcPts val="3199"/>
              </a:lnSpc>
            </a:pPr>
            <a:r>
              <a:rPr lang="en-US" sz="2499" b="1">
                <a:solidFill>
                  <a:srgbClr val="1E4541"/>
                </a:solidFill>
                <a:latin typeface="Poppins Bold"/>
                <a:ea typeface="Poppins Bold"/>
                <a:cs typeface="Poppins Bold"/>
                <a:sym typeface="Poppins Bold"/>
              </a:rPr>
              <a:t>How does Patagonia prepare its production plans ? What data are used by them ?(1/2)</a:t>
            </a:r>
          </a:p>
        </p:txBody>
      </p:sp>
      <p:sp>
        <p:nvSpPr>
          <p:cNvPr id="10" name="TextBox 10"/>
          <p:cNvSpPr txBox="1"/>
          <p:nvPr/>
        </p:nvSpPr>
        <p:spPr>
          <a:xfrm>
            <a:off x="410691" y="2828217"/>
            <a:ext cx="10438450" cy="3489325"/>
          </a:xfrm>
          <a:prstGeom prst="rect">
            <a:avLst/>
          </a:prstGeom>
        </p:spPr>
        <p:txBody>
          <a:bodyPr lIns="0" tIns="0" rIns="0" bIns="0" rtlCol="0" anchor="t">
            <a:spAutoFit/>
          </a:bodyPr>
          <a:lstStyle/>
          <a:p>
            <a:pPr algn="just">
              <a:lnSpc>
                <a:spcPts val="3499"/>
              </a:lnSpc>
              <a:spcBef>
                <a:spcPct val="0"/>
              </a:spcBef>
            </a:pPr>
            <a:r>
              <a:rPr lang="en-US" sz="2499">
                <a:solidFill>
                  <a:srgbClr val="1F2020"/>
                </a:solidFill>
                <a:latin typeface="Open Sans 2"/>
                <a:ea typeface="Open Sans 2"/>
                <a:cs typeface="Open Sans 2"/>
                <a:sym typeface="Open Sans 2"/>
              </a:rPr>
              <a:t>Patagonia's approach planning process integrates rigorous data analysis, advanced forecasting techniques, and stakeholder engagement to align with its commitment to sustainability and social responsibility. They are driven by a philosophy that prioritizes quality and minimizing harm over mere expansion and profit. This approach is infused into every aspect of their operations, including production planning, and hinges on a profound understanding of their environmental impact and social responsibility.</a:t>
            </a:r>
          </a:p>
        </p:txBody>
      </p:sp>
      <p:sp>
        <p:nvSpPr>
          <p:cNvPr id="11" name="TextBox 11"/>
          <p:cNvSpPr txBox="1"/>
          <p:nvPr/>
        </p:nvSpPr>
        <p:spPr>
          <a:xfrm>
            <a:off x="410691" y="2398004"/>
            <a:ext cx="3042606" cy="422275"/>
          </a:xfrm>
          <a:prstGeom prst="rect">
            <a:avLst/>
          </a:prstGeom>
        </p:spPr>
        <p:txBody>
          <a:bodyPr lIns="0" tIns="0" rIns="0" bIns="0" rtlCol="0" anchor="t">
            <a:spAutoFit/>
          </a:bodyPr>
          <a:lstStyle/>
          <a:p>
            <a:pPr algn="l">
              <a:lnSpc>
                <a:spcPts val="3499"/>
              </a:lnSpc>
              <a:spcBef>
                <a:spcPct val="0"/>
              </a:spcBef>
            </a:pPr>
            <a:r>
              <a:rPr lang="en-US" sz="2499" b="1">
                <a:solidFill>
                  <a:srgbClr val="1E4541"/>
                </a:solidFill>
                <a:latin typeface="Open Sans 2 Bold"/>
                <a:ea typeface="Open Sans 2 Bold"/>
                <a:cs typeface="Open Sans 2 Bold"/>
                <a:sym typeface="Open Sans 2 Bold"/>
              </a:rPr>
              <a:t>Planning</a:t>
            </a:r>
          </a:p>
        </p:txBody>
      </p:sp>
      <p:sp>
        <p:nvSpPr>
          <p:cNvPr id="12" name="TextBox 12"/>
          <p:cNvSpPr txBox="1"/>
          <p:nvPr/>
        </p:nvSpPr>
        <p:spPr>
          <a:xfrm>
            <a:off x="410691" y="6899095"/>
            <a:ext cx="10708882" cy="3106420"/>
          </a:xfrm>
          <a:prstGeom prst="rect">
            <a:avLst/>
          </a:prstGeom>
        </p:spPr>
        <p:txBody>
          <a:bodyPr lIns="0" tIns="0" rIns="0" bIns="0" rtlCol="0" anchor="t">
            <a:spAutoFit/>
          </a:bodyPr>
          <a:lstStyle/>
          <a:p>
            <a:pPr algn="just">
              <a:lnSpc>
                <a:spcPts val="3080"/>
              </a:lnSpc>
              <a:spcBef>
                <a:spcPct val="0"/>
              </a:spcBef>
            </a:pPr>
            <a:r>
              <a:rPr lang="en-US" sz="2200">
                <a:solidFill>
                  <a:srgbClr val="1F2020"/>
                </a:solidFill>
                <a:latin typeface="Open Sans 2"/>
                <a:ea typeface="Open Sans 2"/>
                <a:cs typeface="Open Sans 2"/>
                <a:sym typeface="Open Sans 2"/>
              </a:rPr>
              <a:t>A significant part of Patagonia's production planning involves assessing the carbon footprint across its supply chain, which is considerable, as nearly 86% of the company's total emissions come from material creation used in their products. To reduce this footprint and move towards their goal of carbon neutrality by 2025, Patagonia implements multiple strategies that focus on the materials they source and the processes involved in creating their apparel​. This includes sourcing sustainable materials, optimizing transportation logistics to minimize emissions, and investing in renewable energy solutions for their facilities</a:t>
            </a:r>
          </a:p>
        </p:txBody>
      </p:sp>
      <p:sp>
        <p:nvSpPr>
          <p:cNvPr id="13" name="TextBox 13"/>
          <p:cNvSpPr txBox="1"/>
          <p:nvPr/>
        </p:nvSpPr>
        <p:spPr>
          <a:xfrm>
            <a:off x="410691" y="6477879"/>
            <a:ext cx="3042606" cy="422275"/>
          </a:xfrm>
          <a:prstGeom prst="rect">
            <a:avLst/>
          </a:prstGeom>
        </p:spPr>
        <p:txBody>
          <a:bodyPr lIns="0" tIns="0" rIns="0" bIns="0" rtlCol="0" anchor="t">
            <a:spAutoFit/>
          </a:bodyPr>
          <a:lstStyle/>
          <a:p>
            <a:pPr algn="l">
              <a:lnSpc>
                <a:spcPts val="3499"/>
              </a:lnSpc>
              <a:spcBef>
                <a:spcPct val="0"/>
              </a:spcBef>
            </a:pPr>
            <a:r>
              <a:rPr lang="en-US" sz="2499" b="1">
                <a:solidFill>
                  <a:srgbClr val="1E4541"/>
                </a:solidFill>
                <a:latin typeface="Open Sans 2 Bold"/>
                <a:ea typeface="Open Sans 2 Bold"/>
                <a:cs typeface="Open Sans 2 Bold"/>
                <a:sym typeface="Open Sans 2 Bold"/>
              </a:rPr>
              <a:t>Carbon footprint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1761850" y="8467"/>
            <a:ext cx="5497450" cy="5908495"/>
            <a:chOff x="0" y="0"/>
            <a:chExt cx="7329933" cy="7877994"/>
          </a:xfrm>
        </p:grpSpPr>
        <p:pic>
          <p:nvPicPr>
            <p:cNvPr id="4" name="Picture 4"/>
            <p:cNvPicPr>
              <a:picLocks noChangeAspect="1"/>
            </p:cNvPicPr>
            <p:nvPr/>
          </p:nvPicPr>
          <p:blipFill>
            <a:blip r:embed="rId3"/>
            <a:srcRect l="25661" r="25661"/>
            <a:stretch>
              <a:fillRect/>
            </a:stretch>
          </p:blipFill>
          <p:spPr>
            <a:xfrm>
              <a:off x="0" y="0"/>
              <a:ext cx="7329933" cy="7877994"/>
            </a:xfrm>
            <a:prstGeom prst="rect">
              <a:avLst/>
            </a:prstGeom>
          </p:spPr>
        </p:pic>
      </p:grpSp>
      <p:sp>
        <p:nvSpPr>
          <p:cNvPr id="5" name="TextBox 5"/>
          <p:cNvSpPr txBox="1"/>
          <p:nvPr/>
        </p:nvSpPr>
        <p:spPr>
          <a:xfrm>
            <a:off x="410691" y="1387296"/>
            <a:ext cx="10347643" cy="812800"/>
          </a:xfrm>
          <a:prstGeom prst="rect">
            <a:avLst/>
          </a:prstGeom>
        </p:spPr>
        <p:txBody>
          <a:bodyPr lIns="0" tIns="0" rIns="0" bIns="0" rtlCol="0" anchor="t">
            <a:spAutoFit/>
          </a:bodyPr>
          <a:lstStyle/>
          <a:p>
            <a:pPr algn="l">
              <a:lnSpc>
                <a:spcPts val="3199"/>
              </a:lnSpc>
            </a:pPr>
            <a:r>
              <a:rPr lang="en-US" sz="2499" b="1">
                <a:solidFill>
                  <a:srgbClr val="1E4541"/>
                </a:solidFill>
                <a:latin typeface="Poppins Bold"/>
                <a:ea typeface="Poppins Bold"/>
                <a:cs typeface="Poppins Bold"/>
                <a:sym typeface="Poppins Bold"/>
              </a:rPr>
              <a:t>How does Patagonia prepare its production plans ? What data are used by them ?(2/2)</a:t>
            </a:r>
          </a:p>
        </p:txBody>
      </p:sp>
      <p:sp>
        <p:nvSpPr>
          <p:cNvPr id="6" name="TextBox 6"/>
          <p:cNvSpPr txBox="1"/>
          <p:nvPr/>
        </p:nvSpPr>
        <p:spPr>
          <a:xfrm>
            <a:off x="410691" y="2857940"/>
            <a:ext cx="11027605" cy="2816225"/>
          </a:xfrm>
          <a:prstGeom prst="rect">
            <a:avLst/>
          </a:prstGeom>
        </p:spPr>
        <p:txBody>
          <a:bodyPr lIns="0" tIns="0" rIns="0" bIns="0" rtlCol="0" anchor="t">
            <a:spAutoFit/>
          </a:bodyPr>
          <a:lstStyle/>
          <a:p>
            <a:pPr algn="just">
              <a:lnSpc>
                <a:spcPts val="2800"/>
              </a:lnSpc>
              <a:spcBef>
                <a:spcPct val="0"/>
              </a:spcBef>
            </a:pPr>
            <a:r>
              <a:rPr lang="en-US" sz="2000">
                <a:solidFill>
                  <a:srgbClr val="1F2020"/>
                </a:solidFill>
                <a:latin typeface="Open Sans 2"/>
                <a:ea typeface="Open Sans 2"/>
                <a:cs typeface="Open Sans 2"/>
                <a:sym typeface="Open Sans 2"/>
              </a:rPr>
              <a:t>Patagonia has also embraced a more transparent and ethical approach by working closely with suppliers that share their values and committing to fair labor practices. This includes rigorous screening processes to ensure that factories and mills meet their environmental and social standards. As such, when preparing production plans, they likely consider the compliance of their suppliers with their established Supplier Workplace Code of Conduct, which covers a wide range of aspects from labor and safety to environmental impact and community engagement​ while serving as a benchmark for evaluating compliance across various aspects</a:t>
            </a:r>
          </a:p>
        </p:txBody>
      </p:sp>
      <p:sp>
        <p:nvSpPr>
          <p:cNvPr id="7" name="TextBox 7"/>
          <p:cNvSpPr txBox="1"/>
          <p:nvPr/>
        </p:nvSpPr>
        <p:spPr>
          <a:xfrm>
            <a:off x="410691" y="2398004"/>
            <a:ext cx="5219225" cy="422275"/>
          </a:xfrm>
          <a:prstGeom prst="rect">
            <a:avLst/>
          </a:prstGeom>
        </p:spPr>
        <p:txBody>
          <a:bodyPr lIns="0" tIns="0" rIns="0" bIns="0" rtlCol="0" anchor="t">
            <a:spAutoFit/>
          </a:bodyPr>
          <a:lstStyle/>
          <a:p>
            <a:pPr algn="l">
              <a:lnSpc>
                <a:spcPts val="3499"/>
              </a:lnSpc>
              <a:spcBef>
                <a:spcPct val="0"/>
              </a:spcBef>
            </a:pPr>
            <a:r>
              <a:rPr lang="en-US" sz="2499" b="1">
                <a:solidFill>
                  <a:srgbClr val="1E4541"/>
                </a:solidFill>
                <a:latin typeface="Open Sans 2 Bold"/>
                <a:ea typeface="Open Sans 2 Bold"/>
                <a:cs typeface="Open Sans 2 Bold"/>
                <a:sym typeface="Open Sans 2 Bold"/>
              </a:rPr>
              <a:t>Monitoring Supplier Plans</a:t>
            </a:r>
          </a:p>
        </p:txBody>
      </p:sp>
      <p:sp>
        <p:nvSpPr>
          <p:cNvPr id="8" name="TextBox 8"/>
          <p:cNvSpPr txBox="1"/>
          <p:nvPr/>
        </p:nvSpPr>
        <p:spPr>
          <a:xfrm>
            <a:off x="410691" y="5869337"/>
            <a:ext cx="17362959" cy="3873500"/>
          </a:xfrm>
          <a:prstGeom prst="rect">
            <a:avLst/>
          </a:prstGeom>
        </p:spPr>
        <p:txBody>
          <a:bodyPr lIns="0" tIns="0" rIns="0" bIns="0" rtlCol="0" anchor="t">
            <a:spAutoFit/>
          </a:bodyPr>
          <a:lstStyle/>
          <a:p>
            <a:pPr algn="just">
              <a:lnSpc>
                <a:spcPts val="2800"/>
              </a:lnSpc>
            </a:pPr>
            <a:endParaRPr/>
          </a:p>
          <a:p>
            <a:pPr algn="just">
              <a:lnSpc>
                <a:spcPts val="2800"/>
              </a:lnSpc>
            </a:pPr>
            <a:r>
              <a:rPr lang="en-US" sz="2000">
                <a:solidFill>
                  <a:srgbClr val="1F2020"/>
                </a:solidFill>
                <a:latin typeface="Open Sans 2"/>
                <a:ea typeface="Open Sans 2"/>
                <a:cs typeface="Open Sans 2"/>
                <a:sym typeface="Open Sans 2"/>
              </a:rPr>
              <a:t>On top of everything mentioned earlier Patagonia uses the below data as well for making production plans :</a:t>
            </a:r>
          </a:p>
          <a:p>
            <a:pPr marL="431801" lvl="1" indent="-215900" algn="just">
              <a:lnSpc>
                <a:spcPts val="2800"/>
              </a:lnSpc>
              <a:buFont typeface="Arial"/>
              <a:buChar char="•"/>
            </a:pPr>
            <a:r>
              <a:rPr lang="en-US" sz="2000" b="1">
                <a:solidFill>
                  <a:srgbClr val="1F2020"/>
                </a:solidFill>
                <a:latin typeface="Open Sans 2 Bold"/>
                <a:ea typeface="Open Sans 2 Bold"/>
                <a:cs typeface="Open Sans 2 Bold"/>
                <a:sym typeface="Open Sans 2 Bold"/>
              </a:rPr>
              <a:t>Sales data</a:t>
            </a:r>
            <a:r>
              <a:rPr lang="en-US" sz="2000">
                <a:solidFill>
                  <a:srgbClr val="1F2020"/>
                </a:solidFill>
                <a:latin typeface="Open Sans 2"/>
                <a:ea typeface="Open Sans 2"/>
                <a:cs typeface="Open Sans 2"/>
                <a:sym typeface="Open Sans 2"/>
              </a:rPr>
              <a:t>: This includes historical sales figures for different product categories, regions, and seasons. This helps them understand what's selling well and plan production accordingly and guiding production decisions.</a:t>
            </a:r>
          </a:p>
          <a:p>
            <a:pPr marL="431801" lvl="1" indent="-215900" algn="just">
              <a:lnSpc>
                <a:spcPts val="2800"/>
              </a:lnSpc>
              <a:buFont typeface="Arial"/>
              <a:buChar char="•"/>
            </a:pPr>
            <a:r>
              <a:rPr lang="en-US" sz="2000" b="1">
                <a:solidFill>
                  <a:srgbClr val="1F2020"/>
                </a:solidFill>
                <a:latin typeface="Open Sans 2 Bold"/>
                <a:ea typeface="Open Sans 2 Bold"/>
                <a:cs typeface="Open Sans 2 Bold"/>
                <a:sym typeface="Open Sans 2 Bold"/>
              </a:rPr>
              <a:t>Inventory data</a:t>
            </a:r>
            <a:r>
              <a:rPr lang="en-US" sz="2000">
                <a:solidFill>
                  <a:srgbClr val="1F2020"/>
                </a:solidFill>
                <a:latin typeface="Open Sans 2"/>
                <a:ea typeface="Open Sans 2"/>
                <a:cs typeface="Open Sans 2"/>
                <a:sym typeface="Open Sans 2"/>
              </a:rPr>
              <a:t>: Knowing current inventory levels of finished goods, raw materials, and work-in-progress helps avoid overproduction or stockouts and optimize inventory management.</a:t>
            </a:r>
          </a:p>
          <a:p>
            <a:pPr marL="431801" lvl="1" indent="-215900" algn="just">
              <a:lnSpc>
                <a:spcPts val="2800"/>
              </a:lnSpc>
              <a:buFont typeface="Arial"/>
              <a:buChar char="•"/>
            </a:pPr>
            <a:r>
              <a:rPr lang="en-US" sz="2000" b="1">
                <a:solidFill>
                  <a:srgbClr val="1F2020"/>
                </a:solidFill>
                <a:latin typeface="Open Sans 2 Bold"/>
                <a:ea typeface="Open Sans 2 Bold"/>
                <a:cs typeface="Open Sans 2 Bold"/>
                <a:sym typeface="Open Sans 2 Bold"/>
              </a:rPr>
              <a:t>Material lead times</a:t>
            </a:r>
            <a:r>
              <a:rPr lang="en-US" sz="2000">
                <a:solidFill>
                  <a:srgbClr val="1F2020"/>
                </a:solidFill>
                <a:latin typeface="Open Sans 2"/>
                <a:ea typeface="Open Sans 2"/>
                <a:cs typeface="Open Sans 2"/>
                <a:sym typeface="Open Sans 2"/>
              </a:rPr>
              <a:t>: Understanding how long it takes to receive raw materials from suppliers helps determine precise production timelines.</a:t>
            </a:r>
          </a:p>
          <a:p>
            <a:pPr marL="431801" lvl="1" indent="-215900" algn="just">
              <a:lnSpc>
                <a:spcPts val="2800"/>
              </a:lnSpc>
              <a:buFont typeface="Arial"/>
              <a:buChar char="•"/>
            </a:pPr>
            <a:r>
              <a:rPr lang="en-US" sz="2000" b="1">
                <a:solidFill>
                  <a:srgbClr val="1F2020"/>
                </a:solidFill>
                <a:latin typeface="Open Sans 2 Bold"/>
                <a:ea typeface="Open Sans 2 Bold"/>
                <a:cs typeface="Open Sans 2 Bold"/>
                <a:sym typeface="Open Sans 2 Bold"/>
              </a:rPr>
              <a:t>Production capacity</a:t>
            </a:r>
            <a:r>
              <a:rPr lang="en-US" sz="2000">
                <a:solidFill>
                  <a:srgbClr val="1F2020"/>
                </a:solidFill>
                <a:latin typeface="Open Sans 2"/>
                <a:ea typeface="Open Sans 2"/>
                <a:cs typeface="Open Sans 2"/>
                <a:sym typeface="Open Sans 2"/>
              </a:rPr>
              <a:t>: Knowing the limitations of their own factories or those of their suppliers helps plan realistic production volumes.</a:t>
            </a:r>
          </a:p>
          <a:p>
            <a:pPr marL="431801" lvl="1" indent="-215900" algn="just">
              <a:lnSpc>
                <a:spcPts val="2800"/>
              </a:lnSpc>
              <a:buFont typeface="Arial"/>
              <a:buChar char="•"/>
            </a:pPr>
            <a:r>
              <a:rPr lang="en-US" sz="2000" b="1">
                <a:solidFill>
                  <a:srgbClr val="1F2020"/>
                </a:solidFill>
                <a:latin typeface="Open Sans 2 Bold"/>
                <a:ea typeface="Open Sans 2 Bold"/>
                <a:cs typeface="Open Sans 2 Bold"/>
                <a:sym typeface="Open Sans 2 Bold"/>
              </a:rPr>
              <a:t>Seasonality</a:t>
            </a:r>
            <a:r>
              <a:rPr lang="en-US" sz="2000">
                <a:solidFill>
                  <a:srgbClr val="1F2020"/>
                </a:solidFill>
                <a:latin typeface="Open Sans 2"/>
                <a:ea typeface="Open Sans 2"/>
                <a:cs typeface="Open Sans 2"/>
                <a:sym typeface="Open Sans 2"/>
              </a:rPr>
              <a:t>: Patagonia is good at making plans for increased production of winter gear in advance of the winter season and vice versa for summer.</a:t>
            </a:r>
          </a:p>
          <a:p>
            <a:pPr algn="just">
              <a:lnSpc>
                <a:spcPts val="2800"/>
              </a:lnSpc>
              <a:spcBef>
                <a:spcPct val="0"/>
              </a:spcBef>
            </a:pPr>
            <a:endParaRPr lang="en-US" sz="2000">
              <a:solidFill>
                <a:srgbClr val="1F2020"/>
              </a:solidFill>
              <a:latin typeface="Open Sans 2"/>
              <a:ea typeface="Open Sans 2"/>
              <a:cs typeface="Open Sans 2"/>
              <a:sym typeface="Open Sans 2"/>
            </a:endParaRPr>
          </a:p>
        </p:txBody>
      </p:sp>
      <p:sp>
        <p:nvSpPr>
          <p:cNvPr id="9" name="TextBox 9"/>
          <p:cNvSpPr txBox="1"/>
          <p:nvPr/>
        </p:nvSpPr>
        <p:spPr>
          <a:xfrm>
            <a:off x="410691" y="5682012"/>
            <a:ext cx="3042606" cy="422275"/>
          </a:xfrm>
          <a:prstGeom prst="rect">
            <a:avLst/>
          </a:prstGeom>
        </p:spPr>
        <p:txBody>
          <a:bodyPr lIns="0" tIns="0" rIns="0" bIns="0" rtlCol="0" anchor="t">
            <a:spAutoFit/>
          </a:bodyPr>
          <a:lstStyle/>
          <a:p>
            <a:pPr algn="l">
              <a:lnSpc>
                <a:spcPts val="3499"/>
              </a:lnSpc>
              <a:spcBef>
                <a:spcPct val="0"/>
              </a:spcBef>
            </a:pPr>
            <a:r>
              <a:rPr lang="en-US" sz="2499" b="1">
                <a:solidFill>
                  <a:srgbClr val="1E4541"/>
                </a:solidFill>
                <a:latin typeface="Open Sans 2 Bold"/>
                <a:ea typeface="Open Sans 2 Bold"/>
                <a:cs typeface="Open Sans 2 Bold"/>
                <a:sym typeface="Open Sans 2 Bold"/>
              </a:rPr>
              <a:t>Data Collected</a:t>
            </a:r>
          </a:p>
        </p:txBody>
      </p:sp>
      <p:grpSp>
        <p:nvGrpSpPr>
          <p:cNvPr id="10" name="Group 10"/>
          <p:cNvGrpSpPr/>
          <p:nvPr/>
        </p:nvGrpSpPr>
        <p:grpSpPr>
          <a:xfrm>
            <a:off x="17259300" y="5916962"/>
            <a:ext cx="1028700" cy="589247"/>
            <a:chOff x="0" y="0"/>
            <a:chExt cx="812800" cy="465578"/>
          </a:xfrm>
        </p:grpSpPr>
        <p:sp>
          <p:nvSpPr>
            <p:cNvPr id="11" name="Freeform 11"/>
            <p:cNvSpPr/>
            <p:nvPr/>
          </p:nvSpPr>
          <p:spPr>
            <a:xfrm>
              <a:off x="0" y="0"/>
              <a:ext cx="812800" cy="465578"/>
            </a:xfrm>
            <a:custGeom>
              <a:avLst/>
              <a:gdLst/>
              <a:ahLst/>
              <a:cxnLst/>
              <a:rect l="l" t="t" r="r" b="b"/>
              <a:pathLst>
                <a:path w="812800" h="465578">
                  <a:moveTo>
                    <a:pt x="0" y="0"/>
                  </a:moveTo>
                  <a:lnTo>
                    <a:pt x="812800" y="0"/>
                  </a:lnTo>
                  <a:lnTo>
                    <a:pt x="812800" y="465578"/>
                  </a:lnTo>
                  <a:lnTo>
                    <a:pt x="0" y="465578"/>
                  </a:lnTo>
                  <a:close/>
                </a:path>
              </a:pathLst>
            </a:custGeom>
            <a:solidFill>
              <a:srgbClr val="1E4541"/>
            </a:solidFill>
          </p:spPr>
          <p:txBody>
            <a:bodyPr/>
            <a:lstStyle/>
            <a:p>
              <a:endParaRPr lang="en-US"/>
            </a:p>
          </p:txBody>
        </p:sp>
        <p:sp>
          <p:nvSpPr>
            <p:cNvPr id="12" name="TextBox 12"/>
            <p:cNvSpPr txBox="1"/>
            <p:nvPr/>
          </p:nvSpPr>
          <p:spPr>
            <a:xfrm>
              <a:off x="0" y="-38100"/>
              <a:ext cx="812800" cy="503678"/>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10691" y="1028700"/>
            <a:ext cx="4027967" cy="4027967"/>
            <a:chOff x="0" y="0"/>
            <a:chExt cx="5370622" cy="5370622"/>
          </a:xfrm>
        </p:grpSpPr>
        <p:pic>
          <p:nvPicPr>
            <p:cNvPr id="6" name="Picture 6"/>
            <p:cNvPicPr>
              <a:picLocks noChangeAspect="1"/>
            </p:cNvPicPr>
            <p:nvPr/>
          </p:nvPicPr>
          <p:blipFill>
            <a:blip r:embed="rId2"/>
            <a:srcRect l="16679" r="16679"/>
            <a:stretch>
              <a:fillRect/>
            </a:stretch>
          </p:blipFill>
          <p:spPr>
            <a:xfrm>
              <a:off x="0" y="0"/>
              <a:ext cx="5370622" cy="5370622"/>
            </a:xfrm>
            <a:prstGeom prst="rect">
              <a:avLst/>
            </a:prstGeom>
          </p:spPr>
        </p:pic>
      </p:grpSp>
      <p:grpSp>
        <p:nvGrpSpPr>
          <p:cNvPr id="7" name="Group 7"/>
          <p:cNvGrpSpPr/>
          <p:nvPr/>
        </p:nvGrpSpPr>
        <p:grpSpPr>
          <a:xfrm>
            <a:off x="410691" y="5396432"/>
            <a:ext cx="4027967" cy="4027967"/>
            <a:chOff x="0" y="0"/>
            <a:chExt cx="5370622" cy="5370622"/>
          </a:xfrm>
        </p:grpSpPr>
        <p:pic>
          <p:nvPicPr>
            <p:cNvPr id="8" name="Picture 8"/>
            <p:cNvPicPr>
              <a:picLocks noChangeAspect="1"/>
            </p:cNvPicPr>
            <p:nvPr/>
          </p:nvPicPr>
          <p:blipFill>
            <a:blip r:embed="rId3"/>
            <a:srcRect l="16750" r="16750"/>
            <a:stretch>
              <a:fillRect/>
            </a:stretch>
          </p:blipFill>
          <p:spPr>
            <a:xfrm>
              <a:off x="0" y="0"/>
              <a:ext cx="5370622" cy="5370622"/>
            </a:xfrm>
            <a:prstGeom prst="rect">
              <a:avLst/>
            </a:prstGeom>
          </p:spPr>
        </p:pic>
      </p:grpSp>
      <p:grpSp>
        <p:nvGrpSpPr>
          <p:cNvPr id="9" name="Group 9"/>
          <p:cNvGrpSpPr/>
          <p:nvPr/>
        </p:nvGrpSpPr>
        <p:grpSpPr>
          <a:xfrm>
            <a:off x="5034842" y="2495395"/>
            <a:ext cx="677751" cy="677751"/>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11" name="TextBox 11"/>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12" name="Group 12"/>
          <p:cNvGrpSpPr/>
          <p:nvPr/>
        </p:nvGrpSpPr>
        <p:grpSpPr>
          <a:xfrm>
            <a:off x="13100409" y="2445650"/>
            <a:ext cx="677751" cy="677751"/>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14" name="TextBox 14"/>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15" name="Group 15"/>
          <p:cNvGrpSpPr/>
          <p:nvPr/>
        </p:nvGrpSpPr>
        <p:grpSpPr>
          <a:xfrm>
            <a:off x="5344888" y="6341160"/>
            <a:ext cx="894023" cy="687429"/>
            <a:chOff x="0" y="0"/>
            <a:chExt cx="1057072" cy="812800"/>
          </a:xfrm>
        </p:grpSpPr>
        <p:sp>
          <p:nvSpPr>
            <p:cNvPr id="16" name="Freeform 16"/>
            <p:cNvSpPr/>
            <p:nvPr/>
          </p:nvSpPr>
          <p:spPr>
            <a:xfrm>
              <a:off x="0" y="0"/>
              <a:ext cx="1057072" cy="812800"/>
            </a:xfrm>
            <a:custGeom>
              <a:avLst/>
              <a:gdLst/>
              <a:ahLst/>
              <a:cxnLst/>
              <a:rect l="l" t="t" r="r" b="b"/>
              <a:pathLst>
                <a:path w="1057072" h="812800">
                  <a:moveTo>
                    <a:pt x="0" y="0"/>
                  </a:moveTo>
                  <a:lnTo>
                    <a:pt x="1057072" y="0"/>
                  </a:lnTo>
                  <a:lnTo>
                    <a:pt x="1057072" y="812800"/>
                  </a:lnTo>
                  <a:lnTo>
                    <a:pt x="0" y="812800"/>
                  </a:lnTo>
                  <a:close/>
                </a:path>
              </a:pathLst>
            </a:custGeom>
            <a:solidFill>
              <a:srgbClr val="1E4541"/>
            </a:solidFill>
          </p:spPr>
          <p:txBody>
            <a:bodyPr/>
            <a:lstStyle/>
            <a:p>
              <a:endParaRPr lang="en-US"/>
            </a:p>
          </p:txBody>
        </p:sp>
        <p:sp>
          <p:nvSpPr>
            <p:cNvPr id="17" name="TextBox 17"/>
            <p:cNvSpPr txBox="1"/>
            <p:nvPr/>
          </p:nvSpPr>
          <p:spPr>
            <a:xfrm>
              <a:off x="0" y="-47625"/>
              <a:ext cx="1057072" cy="860425"/>
            </a:xfrm>
            <a:prstGeom prst="rect">
              <a:avLst/>
            </a:prstGeom>
          </p:spPr>
          <p:txBody>
            <a:bodyPr lIns="50800" tIns="50800" rIns="50800" bIns="50800" rtlCol="0" anchor="ctr"/>
            <a:lstStyle/>
            <a:p>
              <a:pPr algn="ctr">
                <a:lnSpc>
                  <a:spcPts val="2239"/>
                </a:lnSpc>
              </a:pPr>
              <a:endParaRPr/>
            </a:p>
          </p:txBody>
        </p:sp>
      </p:grpSp>
      <p:sp>
        <p:nvSpPr>
          <p:cNvPr id="18" name="Freeform 18"/>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4"/>
            <a:stretch>
              <a:fillRect/>
            </a:stretch>
          </a:blipFill>
        </p:spPr>
        <p:txBody>
          <a:bodyPr/>
          <a:lstStyle/>
          <a:p>
            <a:endParaRPr lang="en-US"/>
          </a:p>
        </p:txBody>
      </p:sp>
      <p:sp>
        <p:nvSpPr>
          <p:cNvPr id="19" name="TextBox 19"/>
          <p:cNvSpPr txBox="1"/>
          <p:nvPr/>
        </p:nvSpPr>
        <p:spPr>
          <a:xfrm>
            <a:off x="4734699" y="165752"/>
            <a:ext cx="13038951" cy="394716"/>
          </a:xfrm>
          <a:prstGeom prst="rect">
            <a:avLst/>
          </a:prstGeom>
        </p:spPr>
        <p:txBody>
          <a:bodyPr lIns="0" tIns="0" rIns="0" bIns="0" rtlCol="0" anchor="t">
            <a:spAutoFit/>
          </a:bodyPr>
          <a:lstStyle/>
          <a:p>
            <a:pPr algn="l">
              <a:lnSpc>
                <a:spcPts val="3072"/>
              </a:lnSpc>
            </a:pPr>
            <a:r>
              <a:rPr lang="en-US" sz="2400" b="1">
                <a:solidFill>
                  <a:srgbClr val="1E4541"/>
                </a:solidFill>
                <a:latin typeface="Poppins Bold"/>
                <a:ea typeface="Poppins Bold"/>
                <a:cs typeface="Poppins Bold"/>
                <a:sym typeface="Poppins Bold"/>
              </a:rPr>
              <a:t>How does the company identify the various material requirements?(1/2)</a:t>
            </a:r>
          </a:p>
        </p:txBody>
      </p:sp>
      <p:sp>
        <p:nvSpPr>
          <p:cNvPr id="20" name="TextBox 20"/>
          <p:cNvSpPr txBox="1"/>
          <p:nvPr/>
        </p:nvSpPr>
        <p:spPr>
          <a:xfrm>
            <a:off x="4734699" y="3187115"/>
            <a:ext cx="6712187" cy="3106420"/>
          </a:xfrm>
          <a:prstGeom prst="rect">
            <a:avLst/>
          </a:prstGeom>
        </p:spPr>
        <p:txBody>
          <a:bodyPr lIns="0" tIns="0" rIns="0" bIns="0" rtlCol="0" anchor="t">
            <a:spAutoFit/>
          </a:bodyPr>
          <a:lstStyle/>
          <a:p>
            <a:pPr marL="474979" lvl="1" indent="-237490" algn="just">
              <a:lnSpc>
                <a:spcPts val="3079"/>
              </a:lnSpc>
              <a:buFont typeface="Arial"/>
              <a:buChar char="•"/>
            </a:pPr>
            <a:r>
              <a:rPr lang="en-US" sz="2199">
                <a:solidFill>
                  <a:srgbClr val="1F2020"/>
                </a:solidFill>
                <a:latin typeface="Open Sans 2"/>
                <a:ea typeface="Open Sans 2"/>
                <a:cs typeface="Open Sans 2"/>
                <a:sym typeface="Open Sans 2"/>
              </a:rPr>
              <a:t>Patagonia employs a comprehensive approach to material selection, considering both functional necessity and environmental impact.</a:t>
            </a:r>
          </a:p>
          <a:p>
            <a:pPr marL="474979" lvl="1" indent="-237490" algn="just">
              <a:lnSpc>
                <a:spcPts val="3079"/>
              </a:lnSpc>
              <a:buFont typeface="Arial"/>
              <a:buChar char="•"/>
            </a:pPr>
            <a:r>
              <a:rPr lang="en-US" sz="2199">
                <a:solidFill>
                  <a:srgbClr val="1F2020"/>
                </a:solidFill>
                <a:latin typeface="Open Sans 2"/>
                <a:ea typeface="Open Sans 2"/>
                <a:cs typeface="Open Sans 2"/>
                <a:sym typeface="Open Sans 2"/>
              </a:rPr>
              <a:t>The company's decisions are guided by environmental profit and loss metrics, ensuring that product selection aligns with minimizing socio-ecological harm.</a:t>
            </a:r>
          </a:p>
          <a:p>
            <a:pPr algn="just">
              <a:lnSpc>
                <a:spcPts val="3079"/>
              </a:lnSpc>
              <a:spcBef>
                <a:spcPct val="0"/>
              </a:spcBef>
            </a:pPr>
            <a:endParaRPr lang="en-US" sz="2199">
              <a:solidFill>
                <a:srgbClr val="1F2020"/>
              </a:solidFill>
              <a:latin typeface="Open Sans 2"/>
              <a:ea typeface="Open Sans 2"/>
              <a:cs typeface="Open Sans 2"/>
              <a:sym typeface="Open Sans 2"/>
            </a:endParaRPr>
          </a:p>
        </p:txBody>
      </p:sp>
      <p:sp>
        <p:nvSpPr>
          <p:cNvPr id="21" name="TextBox 21"/>
          <p:cNvSpPr txBox="1"/>
          <p:nvPr/>
        </p:nvSpPr>
        <p:spPr>
          <a:xfrm>
            <a:off x="5125662" y="2671393"/>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2 Bold"/>
                <a:ea typeface="Open Sans 2 Bold"/>
                <a:cs typeface="Open Sans 2 Bold"/>
                <a:sym typeface="Open Sans 2 Bold"/>
              </a:rPr>
              <a:t>01</a:t>
            </a:r>
          </a:p>
        </p:txBody>
      </p:sp>
      <p:sp>
        <p:nvSpPr>
          <p:cNvPr id="22" name="TextBox 22"/>
          <p:cNvSpPr txBox="1"/>
          <p:nvPr/>
        </p:nvSpPr>
        <p:spPr>
          <a:xfrm>
            <a:off x="4734699" y="672033"/>
            <a:ext cx="12290202" cy="1406525"/>
          </a:xfrm>
          <a:prstGeom prst="rect">
            <a:avLst/>
          </a:prstGeom>
        </p:spPr>
        <p:txBody>
          <a:bodyPr lIns="0" tIns="0" rIns="0" bIns="0" rtlCol="0" anchor="t">
            <a:spAutoFit/>
          </a:bodyPr>
          <a:lstStyle/>
          <a:p>
            <a:pPr algn="l">
              <a:lnSpc>
                <a:spcPts val="2800"/>
              </a:lnSpc>
              <a:spcBef>
                <a:spcPct val="0"/>
              </a:spcBef>
            </a:pPr>
            <a:r>
              <a:rPr lang="en-US" sz="2000" b="1">
                <a:solidFill>
                  <a:srgbClr val="1E4541"/>
                </a:solidFill>
                <a:latin typeface="Open Sans 2 Bold"/>
                <a:ea typeface="Open Sans 2 Bold"/>
                <a:cs typeface="Open Sans 2 Bold"/>
                <a:sym typeface="Open Sans 2 Bold"/>
              </a:rPr>
              <a:t>Finding completely harmless materials remains a challenge (e.g., DWR coatings). Patagonia acknowledges these issues and seeks continuous improvement by employing a comprehensive strategy for material selection, prioritizing functionality, environmental responsibility, and ethical sourcing practices.</a:t>
            </a:r>
          </a:p>
        </p:txBody>
      </p:sp>
      <p:sp>
        <p:nvSpPr>
          <p:cNvPr id="23" name="TextBox 23"/>
          <p:cNvSpPr txBox="1"/>
          <p:nvPr/>
        </p:nvSpPr>
        <p:spPr>
          <a:xfrm>
            <a:off x="13191229" y="3135045"/>
            <a:ext cx="5340036" cy="2325370"/>
          </a:xfrm>
          <a:prstGeom prst="rect">
            <a:avLst/>
          </a:prstGeom>
        </p:spPr>
        <p:txBody>
          <a:bodyPr lIns="0" tIns="0" rIns="0" bIns="0" rtlCol="0" anchor="t">
            <a:spAutoFit/>
          </a:bodyPr>
          <a:lstStyle/>
          <a:p>
            <a:pPr marL="474979" lvl="1" indent="-237490" algn="l">
              <a:lnSpc>
                <a:spcPts val="3079"/>
              </a:lnSpc>
              <a:buFont typeface="Arial"/>
              <a:buChar char="•"/>
            </a:pPr>
            <a:r>
              <a:rPr lang="en-US" sz="2199">
                <a:solidFill>
                  <a:srgbClr val="1F2020"/>
                </a:solidFill>
                <a:latin typeface="Open Sans 2"/>
                <a:ea typeface="Open Sans 2"/>
                <a:cs typeface="Open Sans 2"/>
                <a:sym typeface="Open Sans 2"/>
              </a:rPr>
              <a:t>sustainable design principles.</a:t>
            </a:r>
          </a:p>
          <a:p>
            <a:pPr marL="474979" lvl="1" indent="-237490" algn="l">
              <a:lnSpc>
                <a:spcPts val="3079"/>
              </a:lnSpc>
              <a:buFont typeface="Arial"/>
              <a:buChar char="•"/>
            </a:pPr>
            <a:r>
              <a:rPr lang="en-US" sz="2199">
                <a:solidFill>
                  <a:srgbClr val="1F2020"/>
                </a:solidFill>
                <a:latin typeface="Open Sans 2"/>
                <a:ea typeface="Open Sans 2"/>
                <a:cs typeface="Open Sans 2"/>
                <a:sym typeface="Open Sans 2"/>
              </a:rPr>
              <a:t>Design criteria include repairability, ease of care, and timelessness, aiming to extend product lifespan and reduce consumption.</a:t>
            </a:r>
          </a:p>
          <a:p>
            <a:pPr algn="l">
              <a:lnSpc>
                <a:spcPts val="3079"/>
              </a:lnSpc>
              <a:spcBef>
                <a:spcPct val="0"/>
              </a:spcBef>
            </a:pPr>
            <a:endParaRPr lang="en-US" sz="2199">
              <a:solidFill>
                <a:srgbClr val="1F2020"/>
              </a:solidFill>
              <a:latin typeface="Open Sans 2"/>
              <a:ea typeface="Open Sans 2"/>
              <a:cs typeface="Open Sans 2"/>
              <a:sym typeface="Open Sans 2"/>
            </a:endParaRPr>
          </a:p>
        </p:txBody>
      </p:sp>
      <p:sp>
        <p:nvSpPr>
          <p:cNvPr id="24" name="TextBox 24"/>
          <p:cNvSpPr txBox="1"/>
          <p:nvPr/>
        </p:nvSpPr>
        <p:spPr>
          <a:xfrm>
            <a:off x="13191229" y="2621648"/>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2 Bold"/>
                <a:ea typeface="Open Sans 2 Bold"/>
                <a:cs typeface="Open Sans 2 Bold"/>
                <a:sym typeface="Open Sans 2 Bold"/>
              </a:rPr>
              <a:t>02</a:t>
            </a:r>
          </a:p>
        </p:txBody>
      </p:sp>
      <p:sp>
        <p:nvSpPr>
          <p:cNvPr id="25" name="TextBox 25"/>
          <p:cNvSpPr txBox="1"/>
          <p:nvPr/>
        </p:nvSpPr>
        <p:spPr>
          <a:xfrm>
            <a:off x="14097530" y="2407550"/>
            <a:ext cx="3709717" cy="3962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Design Stage Impact:</a:t>
            </a:r>
          </a:p>
        </p:txBody>
      </p:sp>
      <p:sp>
        <p:nvSpPr>
          <p:cNvPr id="26" name="TextBox 26"/>
          <p:cNvSpPr txBox="1"/>
          <p:nvPr/>
        </p:nvSpPr>
        <p:spPr>
          <a:xfrm>
            <a:off x="5125662" y="7142889"/>
            <a:ext cx="12820643" cy="1971455"/>
          </a:xfrm>
          <a:prstGeom prst="rect">
            <a:avLst/>
          </a:prstGeom>
        </p:spPr>
        <p:txBody>
          <a:bodyPr lIns="0" tIns="0" rIns="0" bIns="0" rtlCol="0" anchor="t">
            <a:spAutoFit/>
          </a:bodyPr>
          <a:lstStyle/>
          <a:p>
            <a:pPr marL="481762" lvl="1" indent="-240881" algn="just">
              <a:lnSpc>
                <a:spcPts val="3123"/>
              </a:lnSpc>
              <a:buFont typeface="Arial"/>
              <a:buChar char="•"/>
            </a:pPr>
            <a:r>
              <a:rPr lang="en-US" sz="2231">
                <a:solidFill>
                  <a:srgbClr val="1F2020"/>
                </a:solidFill>
                <a:latin typeface="Open Sans 2"/>
                <a:ea typeface="Open Sans 2"/>
                <a:cs typeface="Open Sans 2"/>
                <a:sym typeface="Open Sans 2"/>
              </a:rPr>
              <a:t>Patagonia prioritizes responsible sourcing practices, seeking raw materials with minimal socio-ecological impacts, even at a potential financial loss.</a:t>
            </a:r>
          </a:p>
          <a:p>
            <a:pPr marL="481762" lvl="1" indent="-240881" algn="just">
              <a:lnSpc>
                <a:spcPts val="3123"/>
              </a:lnSpc>
              <a:spcBef>
                <a:spcPct val="0"/>
              </a:spcBef>
              <a:buFont typeface="Arial"/>
              <a:buChar char="•"/>
            </a:pPr>
            <a:r>
              <a:rPr lang="en-US" sz="2231">
                <a:solidFill>
                  <a:srgbClr val="1F2020"/>
                </a:solidFill>
                <a:latin typeface="Open Sans 2"/>
                <a:ea typeface="Open Sans 2"/>
                <a:cs typeface="Open Sans 2"/>
                <a:sym typeface="Open Sans 2"/>
              </a:rPr>
              <a:t>Initiatives such as the transition to 100% organic cotton demonstrate a commitment to environmentally friendly materials.</a:t>
            </a:r>
          </a:p>
          <a:p>
            <a:pPr algn="just">
              <a:lnSpc>
                <a:spcPts val="3123"/>
              </a:lnSpc>
              <a:spcBef>
                <a:spcPct val="0"/>
              </a:spcBef>
            </a:pPr>
            <a:endParaRPr lang="en-US" sz="2231">
              <a:solidFill>
                <a:srgbClr val="1F2020"/>
              </a:solidFill>
              <a:latin typeface="Open Sans 2"/>
              <a:ea typeface="Open Sans 2"/>
              <a:cs typeface="Open Sans 2"/>
              <a:sym typeface="Open Sans 2"/>
            </a:endParaRPr>
          </a:p>
        </p:txBody>
      </p:sp>
      <p:sp>
        <p:nvSpPr>
          <p:cNvPr id="27" name="TextBox 27"/>
          <p:cNvSpPr txBox="1"/>
          <p:nvPr/>
        </p:nvSpPr>
        <p:spPr>
          <a:xfrm>
            <a:off x="5464689" y="6520079"/>
            <a:ext cx="654421" cy="301016"/>
          </a:xfrm>
          <a:prstGeom prst="rect">
            <a:avLst/>
          </a:prstGeom>
        </p:spPr>
        <p:txBody>
          <a:bodyPr lIns="0" tIns="0" rIns="0" bIns="0" rtlCol="0" anchor="t">
            <a:spAutoFit/>
          </a:bodyPr>
          <a:lstStyle/>
          <a:p>
            <a:pPr algn="ctr">
              <a:lnSpc>
                <a:spcPts val="2555"/>
              </a:lnSpc>
              <a:spcBef>
                <a:spcPct val="0"/>
              </a:spcBef>
            </a:pPr>
            <a:r>
              <a:rPr lang="en-US" sz="1825" b="1">
                <a:solidFill>
                  <a:srgbClr val="FFFFFF"/>
                </a:solidFill>
                <a:latin typeface="Open Sans 2 Bold"/>
                <a:ea typeface="Open Sans 2 Bold"/>
                <a:cs typeface="Open Sans 2 Bold"/>
                <a:sym typeface="Open Sans 2 Bold"/>
              </a:rPr>
              <a:t>03</a:t>
            </a:r>
          </a:p>
        </p:txBody>
      </p:sp>
      <p:sp>
        <p:nvSpPr>
          <p:cNvPr id="28" name="TextBox 28"/>
          <p:cNvSpPr txBox="1"/>
          <p:nvPr/>
        </p:nvSpPr>
        <p:spPr>
          <a:xfrm>
            <a:off x="6637123" y="6465148"/>
            <a:ext cx="5238153" cy="401354"/>
          </a:xfrm>
          <a:prstGeom prst="rect">
            <a:avLst/>
          </a:prstGeom>
        </p:spPr>
        <p:txBody>
          <a:bodyPr lIns="0" tIns="0" rIns="0" bIns="0" rtlCol="0" anchor="t">
            <a:spAutoFit/>
          </a:bodyPr>
          <a:lstStyle/>
          <a:p>
            <a:pPr algn="l">
              <a:lnSpc>
                <a:spcPts val="3407"/>
              </a:lnSpc>
              <a:spcBef>
                <a:spcPct val="0"/>
              </a:spcBef>
            </a:pPr>
            <a:r>
              <a:rPr lang="en-US" sz="2434" b="1">
                <a:solidFill>
                  <a:srgbClr val="1E4541"/>
                </a:solidFill>
                <a:latin typeface="Open Sans 2 Bold"/>
                <a:ea typeface="Open Sans 2 Bold"/>
                <a:cs typeface="Open Sans 2 Bold"/>
                <a:sym typeface="Open Sans 2 Bold"/>
              </a:rPr>
              <a:t>Responsible Sourcing:</a:t>
            </a:r>
          </a:p>
        </p:txBody>
      </p:sp>
      <p:sp>
        <p:nvSpPr>
          <p:cNvPr id="29" name="TextBox 29"/>
          <p:cNvSpPr txBox="1"/>
          <p:nvPr/>
        </p:nvSpPr>
        <p:spPr>
          <a:xfrm>
            <a:off x="5953030" y="2407550"/>
            <a:ext cx="5011452" cy="8153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Functional Need and Environmental Assessment: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10691" y="1028700"/>
            <a:ext cx="4027967" cy="4027967"/>
            <a:chOff x="0" y="0"/>
            <a:chExt cx="5370622" cy="5370622"/>
          </a:xfrm>
        </p:grpSpPr>
        <p:pic>
          <p:nvPicPr>
            <p:cNvPr id="6" name="Picture 6"/>
            <p:cNvPicPr>
              <a:picLocks noChangeAspect="1"/>
            </p:cNvPicPr>
            <p:nvPr/>
          </p:nvPicPr>
          <p:blipFill>
            <a:blip r:embed="rId2"/>
            <a:srcRect l="7220" r="7220"/>
            <a:stretch>
              <a:fillRect/>
            </a:stretch>
          </p:blipFill>
          <p:spPr>
            <a:xfrm>
              <a:off x="0" y="0"/>
              <a:ext cx="5370622" cy="5370622"/>
            </a:xfrm>
            <a:prstGeom prst="rect">
              <a:avLst/>
            </a:prstGeom>
          </p:spPr>
        </p:pic>
      </p:grpSp>
      <p:grpSp>
        <p:nvGrpSpPr>
          <p:cNvPr id="7" name="Group 7"/>
          <p:cNvGrpSpPr/>
          <p:nvPr/>
        </p:nvGrpSpPr>
        <p:grpSpPr>
          <a:xfrm>
            <a:off x="410691" y="5396432"/>
            <a:ext cx="4027967" cy="4027967"/>
            <a:chOff x="0" y="0"/>
            <a:chExt cx="5370622" cy="5370622"/>
          </a:xfrm>
        </p:grpSpPr>
        <p:pic>
          <p:nvPicPr>
            <p:cNvPr id="8" name="Picture 8"/>
            <p:cNvPicPr>
              <a:picLocks noChangeAspect="1"/>
            </p:cNvPicPr>
            <p:nvPr/>
          </p:nvPicPr>
          <p:blipFill>
            <a:blip r:embed="rId3"/>
            <a:srcRect l="14230" r="14230"/>
            <a:stretch>
              <a:fillRect/>
            </a:stretch>
          </p:blipFill>
          <p:spPr>
            <a:xfrm>
              <a:off x="0" y="0"/>
              <a:ext cx="5370622" cy="5370622"/>
            </a:xfrm>
            <a:prstGeom prst="rect">
              <a:avLst/>
            </a:prstGeom>
          </p:spPr>
        </p:pic>
      </p:grpSp>
      <p:grpSp>
        <p:nvGrpSpPr>
          <p:cNvPr id="9" name="Group 9"/>
          <p:cNvGrpSpPr/>
          <p:nvPr/>
        </p:nvGrpSpPr>
        <p:grpSpPr>
          <a:xfrm>
            <a:off x="5324535" y="1353794"/>
            <a:ext cx="677751" cy="677751"/>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11" name="TextBox 11"/>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12" name="Group 12"/>
          <p:cNvGrpSpPr/>
          <p:nvPr/>
        </p:nvGrpSpPr>
        <p:grpSpPr>
          <a:xfrm>
            <a:off x="12947964" y="1353794"/>
            <a:ext cx="677751" cy="677751"/>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14" name="TextBox 14"/>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15" name="Group 15"/>
          <p:cNvGrpSpPr/>
          <p:nvPr/>
        </p:nvGrpSpPr>
        <p:grpSpPr>
          <a:xfrm>
            <a:off x="5639907" y="5894884"/>
            <a:ext cx="1980677" cy="677751"/>
            <a:chOff x="0" y="0"/>
            <a:chExt cx="2375349" cy="812800"/>
          </a:xfrm>
        </p:grpSpPr>
        <p:sp>
          <p:nvSpPr>
            <p:cNvPr id="16" name="Freeform 16"/>
            <p:cNvSpPr/>
            <p:nvPr/>
          </p:nvSpPr>
          <p:spPr>
            <a:xfrm>
              <a:off x="0" y="0"/>
              <a:ext cx="2375349" cy="812800"/>
            </a:xfrm>
            <a:custGeom>
              <a:avLst/>
              <a:gdLst/>
              <a:ahLst/>
              <a:cxnLst/>
              <a:rect l="l" t="t" r="r" b="b"/>
              <a:pathLst>
                <a:path w="2375349" h="812800">
                  <a:moveTo>
                    <a:pt x="0" y="0"/>
                  </a:moveTo>
                  <a:lnTo>
                    <a:pt x="2375349" y="0"/>
                  </a:lnTo>
                  <a:lnTo>
                    <a:pt x="2375349" y="812800"/>
                  </a:lnTo>
                  <a:lnTo>
                    <a:pt x="0" y="812800"/>
                  </a:lnTo>
                  <a:close/>
                </a:path>
              </a:pathLst>
            </a:custGeom>
            <a:solidFill>
              <a:srgbClr val="1E4541"/>
            </a:solidFill>
          </p:spPr>
          <p:txBody>
            <a:bodyPr/>
            <a:lstStyle/>
            <a:p>
              <a:endParaRPr lang="en-US"/>
            </a:p>
          </p:txBody>
        </p:sp>
        <p:sp>
          <p:nvSpPr>
            <p:cNvPr id="17" name="TextBox 17"/>
            <p:cNvSpPr txBox="1"/>
            <p:nvPr/>
          </p:nvSpPr>
          <p:spPr>
            <a:xfrm>
              <a:off x="0" y="-47625"/>
              <a:ext cx="2375349" cy="860425"/>
            </a:xfrm>
            <a:prstGeom prst="rect">
              <a:avLst/>
            </a:prstGeom>
          </p:spPr>
          <p:txBody>
            <a:bodyPr lIns="50800" tIns="50800" rIns="50800" bIns="50800" rtlCol="0" anchor="ctr"/>
            <a:lstStyle/>
            <a:p>
              <a:pPr algn="ctr">
                <a:lnSpc>
                  <a:spcPts val="2239"/>
                </a:lnSpc>
              </a:pPr>
              <a:endParaRPr/>
            </a:p>
          </p:txBody>
        </p:sp>
      </p:grpSp>
      <p:sp>
        <p:nvSpPr>
          <p:cNvPr id="18" name="Freeform 18"/>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4"/>
            <a:stretch>
              <a:fillRect/>
            </a:stretch>
          </a:blipFill>
        </p:spPr>
        <p:txBody>
          <a:bodyPr/>
          <a:lstStyle/>
          <a:p>
            <a:endParaRPr lang="en-US"/>
          </a:p>
        </p:txBody>
      </p:sp>
      <p:sp>
        <p:nvSpPr>
          <p:cNvPr id="19" name="TextBox 19"/>
          <p:cNvSpPr txBox="1"/>
          <p:nvPr/>
        </p:nvSpPr>
        <p:spPr>
          <a:xfrm>
            <a:off x="4734699" y="165752"/>
            <a:ext cx="13038951" cy="394716"/>
          </a:xfrm>
          <a:prstGeom prst="rect">
            <a:avLst/>
          </a:prstGeom>
        </p:spPr>
        <p:txBody>
          <a:bodyPr lIns="0" tIns="0" rIns="0" bIns="0" rtlCol="0" anchor="t">
            <a:spAutoFit/>
          </a:bodyPr>
          <a:lstStyle/>
          <a:p>
            <a:pPr algn="l">
              <a:lnSpc>
                <a:spcPts val="3072"/>
              </a:lnSpc>
            </a:pPr>
            <a:r>
              <a:rPr lang="en-US" sz="2400" b="1">
                <a:solidFill>
                  <a:srgbClr val="1E4541"/>
                </a:solidFill>
                <a:latin typeface="Poppins Bold"/>
                <a:ea typeface="Poppins Bold"/>
                <a:cs typeface="Poppins Bold"/>
                <a:sym typeface="Poppins Bold"/>
              </a:rPr>
              <a:t>How does the company identify the various material requirements?(2/2)</a:t>
            </a:r>
          </a:p>
        </p:txBody>
      </p:sp>
      <p:sp>
        <p:nvSpPr>
          <p:cNvPr id="20" name="TextBox 20"/>
          <p:cNvSpPr txBox="1"/>
          <p:nvPr/>
        </p:nvSpPr>
        <p:spPr>
          <a:xfrm>
            <a:off x="5024391" y="2045514"/>
            <a:ext cx="6712187" cy="3106420"/>
          </a:xfrm>
          <a:prstGeom prst="rect">
            <a:avLst/>
          </a:prstGeom>
        </p:spPr>
        <p:txBody>
          <a:bodyPr lIns="0" tIns="0" rIns="0" bIns="0" rtlCol="0" anchor="t">
            <a:spAutoFit/>
          </a:bodyPr>
          <a:lstStyle/>
          <a:p>
            <a:pPr marL="474979" lvl="1" indent="-237490" algn="just">
              <a:lnSpc>
                <a:spcPts val="3079"/>
              </a:lnSpc>
              <a:buFont typeface="Arial"/>
              <a:buChar char="•"/>
            </a:pPr>
            <a:r>
              <a:rPr lang="en-US" sz="2199">
                <a:solidFill>
                  <a:srgbClr val="1F2020"/>
                </a:solidFill>
                <a:latin typeface="Open Sans 2"/>
                <a:ea typeface="Open Sans 2"/>
                <a:cs typeface="Open Sans 2"/>
                <a:sym typeface="Open Sans 2"/>
              </a:rPr>
              <a:t>The company aims to increase the use of recycled and environmentally friendly materials, with a goal to utilize only recycled petroleum-based fibers by 2025.</a:t>
            </a:r>
          </a:p>
          <a:p>
            <a:pPr marL="474979" lvl="1" indent="-237490" algn="just">
              <a:lnSpc>
                <a:spcPts val="3079"/>
              </a:lnSpc>
              <a:buFont typeface="Arial"/>
              <a:buChar char="•"/>
            </a:pPr>
            <a:r>
              <a:rPr lang="en-US" sz="2199">
                <a:solidFill>
                  <a:srgbClr val="1F2020"/>
                </a:solidFill>
                <a:latin typeface="Open Sans 2"/>
                <a:ea typeface="Open Sans 2"/>
                <a:cs typeface="Open Sans 2"/>
                <a:sym typeface="Open Sans 2"/>
              </a:rPr>
              <a:t>Pre-cycling programs further reduce virgin material usage, exemplified by the creation of infant clothing from scrap materials.</a:t>
            </a:r>
          </a:p>
          <a:p>
            <a:pPr algn="just">
              <a:lnSpc>
                <a:spcPts val="3079"/>
              </a:lnSpc>
              <a:spcBef>
                <a:spcPct val="0"/>
              </a:spcBef>
            </a:pPr>
            <a:endParaRPr lang="en-US" sz="2199">
              <a:solidFill>
                <a:srgbClr val="1F2020"/>
              </a:solidFill>
              <a:latin typeface="Open Sans 2"/>
              <a:ea typeface="Open Sans 2"/>
              <a:cs typeface="Open Sans 2"/>
              <a:sym typeface="Open Sans 2"/>
            </a:endParaRPr>
          </a:p>
        </p:txBody>
      </p:sp>
      <p:sp>
        <p:nvSpPr>
          <p:cNvPr id="21" name="TextBox 21"/>
          <p:cNvSpPr txBox="1"/>
          <p:nvPr/>
        </p:nvSpPr>
        <p:spPr>
          <a:xfrm>
            <a:off x="5415355" y="1529791"/>
            <a:ext cx="496110" cy="611505"/>
          </a:xfrm>
          <a:prstGeom prst="rect">
            <a:avLst/>
          </a:prstGeom>
        </p:spPr>
        <p:txBody>
          <a:bodyPr lIns="0" tIns="0" rIns="0" bIns="0" rtlCol="0" anchor="t">
            <a:spAutoFit/>
          </a:bodyPr>
          <a:lstStyle/>
          <a:p>
            <a:pPr algn="ctr">
              <a:lnSpc>
                <a:spcPts val="2519"/>
              </a:lnSpc>
            </a:pPr>
            <a:r>
              <a:rPr lang="en-US" sz="1799" b="1">
                <a:solidFill>
                  <a:srgbClr val="FFFFFF"/>
                </a:solidFill>
                <a:latin typeface="Open Sans 2 Bold"/>
                <a:ea typeface="Open Sans 2 Bold"/>
                <a:cs typeface="Open Sans 2 Bold"/>
                <a:sym typeface="Open Sans 2 Bold"/>
              </a:rPr>
              <a:t>04</a:t>
            </a:r>
          </a:p>
          <a:p>
            <a:pPr algn="ctr">
              <a:lnSpc>
                <a:spcPts val="2519"/>
              </a:lnSpc>
              <a:spcBef>
                <a:spcPct val="0"/>
              </a:spcBef>
            </a:pPr>
            <a:endParaRPr lang="en-US" sz="1799" b="1">
              <a:solidFill>
                <a:srgbClr val="FFFFFF"/>
              </a:solidFill>
              <a:latin typeface="Open Sans 2 Bold"/>
              <a:ea typeface="Open Sans 2 Bold"/>
              <a:cs typeface="Open Sans 2 Bold"/>
              <a:sym typeface="Open Sans 2 Bold"/>
            </a:endParaRPr>
          </a:p>
        </p:txBody>
      </p:sp>
      <p:sp>
        <p:nvSpPr>
          <p:cNvPr id="22" name="TextBox 22"/>
          <p:cNvSpPr txBox="1"/>
          <p:nvPr/>
        </p:nvSpPr>
        <p:spPr>
          <a:xfrm>
            <a:off x="12947964" y="2043189"/>
            <a:ext cx="5340036" cy="3887470"/>
          </a:xfrm>
          <a:prstGeom prst="rect">
            <a:avLst/>
          </a:prstGeom>
        </p:spPr>
        <p:txBody>
          <a:bodyPr lIns="0" tIns="0" rIns="0" bIns="0" rtlCol="0" anchor="t">
            <a:spAutoFit/>
          </a:bodyPr>
          <a:lstStyle/>
          <a:p>
            <a:pPr marL="474979" lvl="1" indent="-237490" algn="just">
              <a:lnSpc>
                <a:spcPts val="3079"/>
              </a:lnSpc>
              <a:buFont typeface="Arial"/>
              <a:buChar char="•"/>
            </a:pPr>
            <a:r>
              <a:rPr lang="en-US" sz="2199">
                <a:solidFill>
                  <a:srgbClr val="1F2020"/>
                </a:solidFill>
                <a:latin typeface="Open Sans 2"/>
                <a:ea typeface="Open Sans 2"/>
                <a:cs typeface="Open Sans 2"/>
                <a:sym typeface="Open Sans 2"/>
              </a:rPr>
              <a:t>Patagonia implements stringent standards for animal-related inputs and ensures traceability through initiatives like the Traceable Down Standard.</a:t>
            </a:r>
          </a:p>
          <a:p>
            <a:pPr marL="474979" lvl="1" indent="-237490" algn="just">
              <a:lnSpc>
                <a:spcPts val="3079"/>
              </a:lnSpc>
              <a:buFont typeface="Arial"/>
              <a:buChar char="•"/>
            </a:pPr>
            <a:r>
              <a:rPr lang="en-US" sz="2199">
                <a:solidFill>
                  <a:srgbClr val="1F2020"/>
                </a:solidFill>
                <a:latin typeface="Open Sans 2"/>
                <a:ea typeface="Open Sans 2"/>
                <a:cs typeface="Open Sans 2"/>
                <a:sym typeface="Open Sans 2"/>
              </a:rPr>
              <a:t>Socially responsible practices extend to monitoring working conditions at suppliers, including second or third-tier suppliers.</a:t>
            </a:r>
          </a:p>
          <a:p>
            <a:pPr algn="just">
              <a:lnSpc>
                <a:spcPts val="3079"/>
              </a:lnSpc>
              <a:spcBef>
                <a:spcPct val="0"/>
              </a:spcBef>
            </a:pPr>
            <a:endParaRPr lang="en-US" sz="2199">
              <a:solidFill>
                <a:srgbClr val="1F2020"/>
              </a:solidFill>
              <a:latin typeface="Open Sans 2"/>
              <a:ea typeface="Open Sans 2"/>
              <a:cs typeface="Open Sans 2"/>
              <a:sym typeface="Open Sans 2"/>
            </a:endParaRPr>
          </a:p>
        </p:txBody>
      </p:sp>
      <p:sp>
        <p:nvSpPr>
          <p:cNvPr id="23" name="TextBox 23"/>
          <p:cNvSpPr txBox="1"/>
          <p:nvPr/>
        </p:nvSpPr>
        <p:spPr>
          <a:xfrm>
            <a:off x="13038785" y="1529791"/>
            <a:ext cx="496110" cy="611505"/>
          </a:xfrm>
          <a:prstGeom prst="rect">
            <a:avLst/>
          </a:prstGeom>
        </p:spPr>
        <p:txBody>
          <a:bodyPr lIns="0" tIns="0" rIns="0" bIns="0" rtlCol="0" anchor="t">
            <a:spAutoFit/>
          </a:bodyPr>
          <a:lstStyle/>
          <a:p>
            <a:pPr algn="ctr">
              <a:lnSpc>
                <a:spcPts val="2519"/>
              </a:lnSpc>
            </a:pPr>
            <a:r>
              <a:rPr lang="en-US" sz="1799" b="1">
                <a:solidFill>
                  <a:srgbClr val="FFFFFF"/>
                </a:solidFill>
                <a:latin typeface="Open Sans 2 Bold"/>
                <a:ea typeface="Open Sans 2 Bold"/>
                <a:cs typeface="Open Sans 2 Bold"/>
                <a:sym typeface="Open Sans 2 Bold"/>
              </a:rPr>
              <a:t>05</a:t>
            </a:r>
          </a:p>
          <a:p>
            <a:pPr algn="ctr">
              <a:lnSpc>
                <a:spcPts val="2519"/>
              </a:lnSpc>
              <a:spcBef>
                <a:spcPct val="0"/>
              </a:spcBef>
            </a:pPr>
            <a:endParaRPr lang="en-US" sz="1799" b="1">
              <a:solidFill>
                <a:srgbClr val="FFFFFF"/>
              </a:solidFill>
              <a:latin typeface="Open Sans 2 Bold"/>
              <a:ea typeface="Open Sans 2 Bold"/>
              <a:cs typeface="Open Sans 2 Bold"/>
              <a:sym typeface="Open Sans 2 Bold"/>
            </a:endParaRPr>
          </a:p>
        </p:txBody>
      </p:sp>
      <p:sp>
        <p:nvSpPr>
          <p:cNvPr id="24" name="TextBox 24"/>
          <p:cNvSpPr txBox="1"/>
          <p:nvPr/>
        </p:nvSpPr>
        <p:spPr>
          <a:xfrm>
            <a:off x="13863840" y="1265949"/>
            <a:ext cx="3709717" cy="8153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Ethical Standards and Traceability</a:t>
            </a:r>
          </a:p>
        </p:txBody>
      </p:sp>
      <p:sp>
        <p:nvSpPr>
          <p:cNvPr id="25" name="TextBox 25"/>
          <p:cNvSpPr txBox="1"/>
          <p:nvPr/>
        </p:nvSpPr>
        <p:spPr>
          <a:xfrm>
            <a:off x="5799749" y="6691912"/>
            <a:ext cx="11459551" cy="2325370"/>
          </a:xfrm>
          <a:prstGeom prst="rect">
            <a:avLst/>
          </a:prstGeom>
        </p:spPr>
        <p:txBody>
          <a:bodyPr lIns="0" tIns="0" rIns="0" bIns="0" rtlCol="0" anchor="t">
            <a:spAutoFit/>
          </a:bodyPr>
          <a:lstStyle/>
          <a:p>
            <a:pPr marL="474979" lvl="1" indent="-237490" algn="just">
              <a:lnSpc>
                <a:spcPts val="3079"/>
              </a:lnSpc>
              <a:buFont typeface="Arial"/>
              <a:buChar char="•"/>
            </a:pPr>
            <a:r>
              <a:rPr lang="en-US" sz="2199">
                <a:solidFill>
                  <a:srgbClr val="1F2020"/>
                </a:solidFill>
                <a:latin typeface="Open Sans 2"/>
                <a:ea typeface="Open Sans 2"/>
                <a:cs typeface="Open Sans 2"/>
                <a:sym typeface="Open Sans 2"/>
              </a:rPr>
              <a:t>Despite efforts to minimize harm, challenges persist, such as the use of toxic chemicals in Durable Water Repellent (DWR) coatings.</a:t>
            </a:r>
          </a:p>
          <a:p>
            <a:pPr marL="474979" lvl="1" indent="-237490" algn="just">
              <a:lnSpc>
                <a:spcPts val="3079"/>
              </a:lnSpc>
              <a:spcBef>
                <a:spcPct val="0"/>
              </a:spcBef>
              <a:buFont typeface="Arial"/>
              <a:buChar char="•"/>
            </a:pPr>
            <a:r>
              <a:rPr lang="en-US" sz="2199">
                <a:solidFill>
                  <a:srgbClr val="1F2020"/>
                </a:solidFill>
                <a:latin typeface="Open Sans 2"/>
                <a:ea typeface="Open Sans 2"/>
                <a:cs typeface="Open Sans 2"/>
                <a:sym typeface="Open Sans 2"/>
              </a:rPr>
              <a:t>Patagonia acknowledges these shortcomings and works towards continuous improvement in material selection and production processes ( O'Rourke &amp; Strand, 2017).</a:t>
            </a:r>
          </a:p>
          <a:p>
            <a:pPr algn="just">
              <a:lnSpc>
                <a:spcPts val="3079"/>
              </a:lnSpc>
              <a:spcBef>
                <a:spcPct val="0"/>
              </a:spcBef>
            </a:pPr>
            <a:endParaRPr lang="en-US" sz="2199">
              <a:solidFill>
                <a:srgbClr val="1F2020"/>
              </a:solidFill>
              <a:latin typeface="Open Sans 2"/>
              <a:ea typeface="Open Sans 2"/>
              <a:cs typeface="Open Sans 2"/>
              <a:sym typeface="Open Sans 2"/>
            </a:endParaRPr>
          </a:p>
        </p:txBody>
      </p:sp>
      <p:sp>
        <p:nvSpPr>
          <p:cNvPr id="26" name="TextBox 26"/>
          <p:cNvSpPr txBox="1"/>
          <p:nvPr/>
        </p:nvSpPr>
        <p:spPr>
          <a:xfrm>
            <a:off x="5905322" y="6070882"/>
            <a:ext cx="1449846" cy="611505"/>
          </a:xfrm>
          <a:prstGeom prst="rect">
            <a:avLst/>
          </a:prstGeom>
        </p:spPr>
        <p:txBody>
          <a:bodyPr lIns="0" tIns="0" rIns="0" bIns="0" rtlCol="0" anchor="t">
            <a:spAutoFit/>
          </a:bodyPr>
          <a:lstStyle/>
          <a:p>
            <a:pPr algn="ctr">
              <a:lnSpc>
                <a:spcPts val="2519"/>
              </a:lnSpc>
            </a:pPr>
            <a:r>
              <a:rPr lang="en-US" sz="1799" b="1">
                <a:solidFill>
                  <a:srgbClr val="FFFFFF"/>
                </a:solidFill>
                <a:latin typeface="Open Sans 2 Bold"/>
                <a:ea typeface="Open Sans 2 Bold"/>
                <a:cs typeface="Open Sans 2 Bold"/>
                <a:sym typeface="Open Sans 2 Bold"/>
              </a:rPr>
              <a:t>06</a:t>
            </a:r>
          </a:p>
          <a:p>
            <a:pPr algn="ctr">
              <a:lnSpc>
                <a:spcPts val="2519"/>
              </a:lnSpc>
              <a:spcBef>
                <a:spcPct val="0"/>
              </a:spcBef>
            </a:pPr>
            <a:endParaRPr lang="en-US" sz="1799" b="1">
              <a:solidFill>
                <a:srgbClr val="FFFFFF"/>
              </a:solidFill>
              <a:latin typeface="Open Sans 2 Bold"/>
              <a:ea typeface="Open Sans 2 Bold"/>
              <a:cs typeface="Open Sans 2 Bold"/>
              <a:sym typeface="Open Sans 2 Bold"/>
            </a:endParaRPr>
          </a:p>
        </p:txBody>
      </p:sp>
      <p:sp>
        <p:nvSpPr>
          <p:cNvPr id="27" name="TextBox 27"/>
          <p:cNvSpPr txBox="1"/>
          <p:nvPr/>
        </p:nvSpPr>
        <p:spPr>
          <a:xfrm>
            <a:off x="7986121" y="5954220"/>
            <a:ext cx="5879975" cy="3962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Challenges and Ongoing Improvement</a:t>
            </a:r>
          </a:p>
        </p:txBody>
      </p:sp>
      <p:sp>
        <p:nvSpPr>
          <p:cNvPr id="28" name="TextBox 28"/>
          <p:cNvSpPr txBox="1"/>
          <p:nvPr/>
        </p:nvSpPr>
        <p:spPr>
          <a:xfrm>
            <a:off x="6242723" y="1265949"/>
            <a:ext cx="5011452" cy="8153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Recycled and Environmentally Friendly Materials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1028700"/>
            <a:ext cx="16230600" cy="1849928"/>
            <a:chOff x="0" y="0"/>
            <a:chExt cx="21640800" cy="2466570"/>
          </a:xfrm>
        </p:grpSpPr>
        <p:pic>
          <p:nvPicPr>
            <p:cNvPr id="6" name="Picture 6"/>
            <p:cNvPicPr>
              <a:picLocks noChangeAspect="1"/>
            </p:cNvPicPr>
            <p:nvPr/>
          </p:nvPicPr>
          <p:blipFill>
            <a:blip r:embed="rId2"/>
            <a:srcRect t="65738" b="17153"/>
            <a:stretch>
              <a:fillRect/>
            </a:stretch>
          </p:blipFill>
          <p:spPr>
            <a:xfrm>
              <a:off x="0" y="0"/>
              <a:ext cx="21640800" cy="2466570"/>
            </a:xfrm>
            <a:prstGeom prst="rect">
              <a:avLst/>
            </a:prstGeom>
          </p:spPr>
        </p:pic>
      </p:grpSp>
      <p:sp>
        <p:nvSpPr>
          <p:cNvPr id="7" name="TextBox 7"/>
          <p:cNvSpPr txBox="1"/>
          <p:nvPr/>
        </p:nvSpPr>
        <p:spPr>
          <a:xfrm>
            <a:off x="8581230" y="6672295"/>
            <a:ext cx="3052094" cy="82617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2"/>
                <a:ea typeface="Open Sans 2"/>
                <a:cs typeface="Open Sans 2"/>
                <a:sym typeface="Open Sans 2"/>
              </a:rPr>
              <a:t>Lorem ipsum dolor sit amet, consectetur adipiscing elit, sed do eiusmod tempor incididunt ut labore et dolore magna aliqua. Ut enim ad minim</a:t>
            </a:r>
          </a:p>
        </p:txBody>
      </p:sp>
      <p:sp>
        <p:nvSpPr>
          <p:cNvPr id="8" name="TextBox 8"/>
          <p:cNvSpPr txBox="1"/>
          <p:nvPr/>
        </p:nvSpPr>
        <p:spPr>
          <a:xfrm>
            <a:off x="8581230" y="6306495"/>
            <a:ext cx="2012018" cy="240591"/>
          </a:xfrm>
          <a:prstGeom prst="rect">
            <a:avLst/>
          </a:prstGeom>
        </p:spPr>
        <p:txBody>
          <a:bodyPr lIns="0" tIns="0" rIns="0" bIns="0" rtlCol="0" anchor="t">
            <a:spAutoFit/>
          </a:bodyPr>
          <a:lstStyle/>
          <a:p>
            <a:pPr algn="l">
              <a:lnSpc>
                <a:spcPts val="1960"/>
              </a:lnSpc>
              <a:spcBef>
                <a:spcPct val="0"/>
              </a:spcBef>
            </a:pPr>
            <a:r>
              <a:rPr lang="en-US" sz="1400" b="1">
                <a:solidFill>
                  <a:srgbClr val="FFFFFF"/>
                </a:solidFill>
                <a:latin typeface="Open Sans 2 Bold"/>
                <a:ea typeface="Open Sans 2 Bold"/>
                <a:cs typeface="Open Sans 2 Bold"/>
                <a:sym typeface="Open Sans 2 Bold"/>
              </a:rPr>
              <a:t>Mission 03</a:t>
            </a:r>
          </a:p>
        </p:txBody>
      </p:sp>
      <p:sp>
        <p:nvSpPr>
          <p:cNvPr id="9" name="TextBox 9"/>
          <p:cNvSpPr txBox="1"/>
          <p:nvPr/>
        </p:nvSpPr>
        <p:spPr>
          <a:xfrm>
            <a:off x="12596910" y="6672295"/>
            <a:ext cx="3052094" cy="82617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2"/>
                <a:ea typeface="Open Sans 2"/>
                <a:cs typeface="Open Sans 2"/>
                <a:sym typeface="Open Sans 2"/>
              </a:rPr>
              <a:t>Lorem ipsum dolor sit amet, consectetur adipiscing elit, sed do eiusmod tempor incididunt ut labore et dolore magna aliqua. Ut enim ad minim</a:t>
            </a:r>
          </a:p>
        </p:txBody>
      </p:sp>
      <p:sp>
        <p:nvSpPr>
          <p:cNvPr id="10" name="TextBox 10"/>
          <p:cNvSpPr txBox="1"/>
          <p:nvPr/>
        </p:nvSpPr>
        <p:spPr>
          <a:xfrm>
            <a:off x="12596910" y="6306495"/>
            <a:ext cx="2012018" cy="240591"/>
          </a:xfrm>
          <a:prstGeom prst="rect">
            <a:avLst/>
          </a:prstGeom>
        </p:spPr>
        <p:txBody>
          <a:bodyPr lIns="0" tIns="0" rIns="0" bIns="0" rtlCol="0" anchor="t">
            <a:spAutoFit/>
          </a:bodyPr>
          <a:lstStyle/>
          <a:p>
            <a:pPr algn="l">
              <a:lnSpc>
                <a:spcPts val="1960"/>
              </a:lnSpc>
              <a:spcBef>
                <a:spcPct val="0"/>
              </a:spcBef>
            </a:pPr>
            <a:r>
              <a:rPr lang="en-US" sz="1400" b="1">
                <a:solidFill>
                  <a:srgbClr val="FFFFFF"/>
                </a:solidFill>
                <a:latin typeface="Open Sans 2 Bold"/>
                <a:ea typeface="Open Sans 2 Bold"/>
                <a:cs typeface="Open Sans 2 Bold"/>
                <a:sym typeface="Open Sans 2 Bold"/>
              </a:rPr>
              <a:t>Mission 04</a:t>
            </a:r>
          </a:p>
        </p:txBody>
      </p:sp>
      <p:sp>
        <p:nvSpPr>
          <p:cNvPr id="11" name="Freeform 11"/>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3"/>
            <a:stretch>
              <a:fillRect/>
            </a:stretch>
          </a:blipFill>
        </p:spPr>
        <p:txBody>
          <a:bodyPr/>
          <a:lstStyle/>
          <a:p>
            <a:endParaRPr lang="en-US"/>
          </a:p>
        </p:txBody>
      </p:sp>
      <p:sp>
        <p:nvSpPr>
          <p:cNvPr id="12" name="TextBox 12"/>
          <p:cNvSpPr txBox="1"/>
          <p:nvPr/>
        </p:nvSpPr>
        <p:spPr>
          <a:xfrm>
            <a:off x="1084006" y="3174313"/>
            <a:ext cx="16175294" cy="775716"/>
          </a:xfrm>
          <a:prstGeom prst="rect">
            <a:avLst/>
          </a:prstGeom>
        </p:spPr>
        <p:txBody>
          <a:bodyPr lIns="0" tIns="0" rIns="0" bIns="0" rtlCol="0" anchor="t">
            <a:spAutoFit/>
          </a:bodyPr>
          <a:lstStyle/>
          <a:p>
            <a:pPr algn="l">
              <a:lnSpc>
                <a:spcPts val="3072"/>
              </a:lnSpc>
            </a:pPr>
            <a:r>
              <a:rPr lang="en-US" sz="2400" b="1">
                <a:solidFill>
                  <a:srgbClr val="1E4541"/>
                </a:solidFill>
                <a:latin typeface="Poppins Bold"/>
                <a:ea typeface="Poppins Bold"/>
                <a:cs typeface="Poppins Bold"/>
                <a:sym typeface="Poppins Bold"/>
              </a:rPr>
              <a:t>What are the different quality issues faced? What quality management tools and techniques are used?(1/3)</a:t>
            </a:r>
          </a:p>
        </p:txBody>
      </p:sp>
      <p:sp>
        <p:nvSpPr>
          <p:cNvPr id="13" name="TextBox 13"/>
          <p:cNvSpPr txBox="1"/>
          <p:nvPr/>
        </p:nvSpPr>
        <p:spPr>
          <a:xfrm>
            <a:off x="907019" y="4245304"/>
            <a:ext cx="16352281" cy="1544320"/>
          </a:xfrm>
          <a:prstGeom prst="rect">
            <a:avLst/>
          </a:prstGeom>
        </p:spPr>
        <p:txBody>
          <a:bodyPr lIns="0" tIns="0" rIns="0" bIns="0" rtlCol="0" anchor="t">
            <a:spAutoFit/>
          </a:bodyPr>
          <a:lstStyle/>
          <a:p>
            <a:pPr algn="just">
              <a:lnSpc>
                <a:spcPts val="3079"/>
              </a:lnSpc>
              <a:spcBef>
                <a:spcPct val="0"/>
              </a:spcBef>
            </a:pPr>
            <a:r>
              <a:rPr lang="en-US" sz="2199" b="1">
                <a:solidFill>
                  <a:srgbClr val="1F2020"/>
                </a:solidFill>
                <a:latin typeface="Open Sans 2 Bold"/>
                <a:ea typeface="Open Sans 2 Bold"/>
                <a:cs typeface="Open Sans 2 Bold"/>
                <a:sym typeface="Open Sans 2 Bold"/>
              </a:rPr>
              <a:t>Patagonia employs a comprehensive quality management system that combines expert evaluation, thorough testing, and a commitment to continuous improvement. This ensures materials meet their high standards for durability, functionality, aesthetics, and sustainability matching both its quality standards and its vision of environment preservation.</a:t>
            </a:r>
          </a:p>
        </p:txBody>
      </p:sp>
      <p:sp>
        <p:nvSpPr>
          <p:cNvPr id="14" name="TextBox 14"/>
          <p:cNvSpPr txBox="1"/>
          <p:nvPr/>
        </p:nvSpPr>
        <p:spPr>
          <a:xfrm>
            <a:off x="925041" y="5537907"/>
            <a:ext cx="16848609" cy="3873500"/>
          </a:xfrm>
          <a:prstGeom prst="rect">
            <a:avLst/>
          </a:prstGeom>
        </p:spPr>
        <p:txBody>
          <a:bodyPr lIns="0" tIns="0" rIns="0" bIns="0" rtlCol="0" anchor="t">
            <a:spAutoFit/>
          </a:bodyPr>
          <a:lstStyle/>
          <a:p>
            <a:pPr algn="just">
              <a:lnSpc>
                <a:spcPts val="2800"/>
              </a:lnSpc>
            </a:pPr>
            <a:endParaRPr/>
          </a:p>
          <a:p>
            <a:pPr algn="just">
              <a:lnSpc>
                <a:spcPts val="2800"/>
              </a:lnSpc>
            </a:pPr>
            <a:endParaRPr/>
          </a:p>
          <a:p>
            <a:pPr marL="431801" lvl="1" indent="-215900" algn="just">
              <a:lnSpc>
                <a:spcPts val="2800"/>
              </a:lnSpc>
              <a:buAutoNum type="arabicPeriod"/>
            </a:pPr>
            <a:r>
              <a:rPr lang="en-US" sz="2000" b="1">
                <a:solidFill>
                  <a:srgbClr val="000000"/>
                </a:solidFill>
                <a:latin typeface="Open Sans 1 Bold"/>
                <a:ea typeface="Open Sans 1 Bold"/>
                <a:cs typeface="Open Sans 1 Bold"/>
                <a:sym typeface="Open Sans 1 Bold"/>
              </a:rPr>
              <a:t>Quality Standards:</a:t>
            </a:r>
          </a:p>
          <a:p>
            <a:pPr marL="863601" lvl="2" indent="-287867" algn="just">
              <a:lnSpc>
                <a:spcPts val="2800"/>
              </a:lnSpc>
              <a:buFont typeface="Arial"/>
              <a:buChar char="⚬"/>
            </a:pPr>
            <a:r>
              <a:rPr lang="en-US" sz="2000">
                <a:solidFill>
                  <a:srgbClr val="000000"/>
                </a:solidFill>
                <a:latin typeface="Open Sans 1"/>
                <a:ea typeface="Open Sans 1"/>
                <a:cs typeface="Open Sans 1"/>
                <a:sym typeface="Open Sans 1"/>
              </a:rPr>
              <a:t>Patagonia emphasizes stringent quality standards for its materials, demanding durability, functionality, ease of care, and aesthetic appeal.</a:t>
            </a:r>
          </a:p>
          <a:p>
            <a:pPr marL="863601" lvl="2" indent="-287867" algn="just">
              <a:lnSpc>
                <a:spcPts val="2800"/>
              </a:lnSpc>
              <a:buFont typeface="Arial"/>
              <a:buChar char="⚬"/>
            </a:pPr>
            <a:r>
              <a:rPr lang="en-US" sz="2000">
                <a:solidFill>
                  <a:srgbClr val="000000"/>
                </a:solidFill>
                <a:latin typeface="Open Sans 1"/>
                <a:ea typeface="Open Sans 1"/>
                <a:cs typeface="Open Sans 1"/>
                <a:sym typeface="Open Sans 1"/>
              </a:rPr>
              <a:t>Every material must resist degradation from wearing and washing and be grown or manufactured with consideration for environmental and social impacts.</a:t>
            </a:r>
          </a:p>
          <a:p>
            <a:pPr marL="431801" lvl="1" indent="-215900" algn="just">
              <a:lnSpc>
                <a:spcPts val="2800"/>
              </a:lnSpc>
              <a:buAutoNum type="arabicPeriod"/>
            </a:pPr>
            <a:r>
              <a:rPr lang="en-US" sz="2000" b="1">
                <a:solidFill>
                  <a:srgbClr val="000000"/>
                </a:solidFill>
                <a:latin typeface="Open Sans 1 Bold"/>
                <a:ea typeface="Open Sans 1 Bold"/>
                <a:cs typeface="Open Sans 1 Bold"/>
                <a:sym typeface="Open Sans 1 Bold"/>
              </a:rPr>
              <a:t>Quality Issues:</a:t>
            </a:r>
          </a:p>
          <a:p>
            <a:pPr marL="863601" lvl="2" indent="-287867" algn="just">
              <a:lnSpc>
                <a:spcPts val="2800"/>
              </a:lnSpc>
              <a:buFont typeface="Arial"/>
              <a:buChar char="⚬"/>
            </a:pPr>
            <a:r>
              <a:rPr lang="en-US" sz="2000">
                <a:solidFill>
                  <a:srgbClr val="000000"/>
                </a:solidFill>
                <a:latin typeface="Open Sans 1"/>
                <a:ea typeface="Open Sans 1"/>
                <a:cs typeface="Open Sans 1"/>
                <a:sym typeface="Open Sans 1"/>
              </a:rPr>
              <a:t>Quality issues may include material degradation, inadequate performance, or failure to meet sustainability criteria.</a:t>
            </a:r>
          </a:p>
          <a:p>
            <a:pPr marL="863601" lvl="2" indent="-287867" algn="just">
              <a:lnSpc>
                <a:spcPts val="2800"/>
              </a:lnSpc>
              <a:buFont typeface="Arial"/>
              <a:buChar char="⚬"/>
            </a:pPr>
            <a:r>
              <a:rPr lang="en-US" sz="2000">
                <a:solidFill>
                  <a:srgbClr val="000000"/>
                </a:solidFill>
                <a:latin typeface="Open Sans 1"/>
                <a:ea typeface="Open Sans 1"/>
                <a:cs typeface="Open Sans 1"/>
                <a:sym typeface="Open Sans 1"/>
              </a:rPr>
              <a:t>Ensuring consistent quality across a diverse range of materials sourced globally presents a significant challenge.</a:t>
            </a:r>
          </a:p>
          <a:p>
            <a:pPr algn="just">
              <a:lnSpc>
                <a:spcPts val="2800"/>
              </a:lnSpc>
              <a:spcBef>
                <a:spcPct val="0"/>
              </a:spcBef>
            </a:pPr>
            <a:endParaRPr lang="en-US" sz="2000">
              <a:solidFill>
                <a:srgbClr val="000000"/>
              </a:solidFill>
              <a:latin typeface="Open Sans 1"/>
              <a:ea typeface="Open Sans 1"/>
              <a:cs typeface="Open Sans 1"/>
              <a:sym typeface="Open Sans 1"/>
            </a:endParaRPr>
          </a:p>
        </p:txBody>
      </p:sp>
      <p:sp>
        <p:nvSpPr>
          <p:cNvPr id="15" name="TextBox 15"/>
          <p:cNvSpPr txBox="1"/>
          <p:nvPr/>
        </p:nvSpPr>
        <p:spPr>
          <a:xfrm>
            <a:off x="6143172" y="5456905"/>
            <a:ext cx="5879975" cy="1234440"/>
          </a:xfrm>
          <a:prstGeom prst="rect">
            <a:avLst/>
          </a:prstGeom>
        </p:spPr>
        <p:txBody>
          <a:bodyPr lIns="0" tIns="0" rIns="0" bIns="0" rtlCol="0" anchor="t">
            <a:spAutoFit/>
          </a:bodyPr>
          <a:lstStyle/>
          <a:p>
            <a:pPr algn="l">
              <a:lnSpc>
                <a:spcPts val="3359"/>
              </a:lnSpc>
            </a:pPr>
            <a:endParaRPr/>
          </a:p>
          <a:p>
            <a:pPr algn="l">
              <a:lnSpc>
                <a:spcPts val="3359"/>
              </a:lnSpc>
            </a:pPr>
            <a:r>
              <a:rPr lang="en-US" sz="2400" b="1">
                <a:solidFill>
                  <a:srgbClr val="1E4541"/>
                </a:solidFill>
                <a:latin typeface="Open Sans 2 Bold"/>
                <a:ea typeface="Open Sans 2 Bold"/>
                <a:cs typeface="Open Sans 2 Bold"/>
                <a:sym typeface="Open Sans 2 Bold"/>
              </a:rPr>
              <a:t>Quality Issues and Management</a:t>
            </a:r>
          </a:p>
          <a:p>
            <a:pPr algn="l">
              <a:lnSpc>
                <a:spcPts val="3359"/>
              </a:lnSpc>
              <a:spcBef>
                <a:spcPct val="0"/>
              </a:spcBef>
            </a:pPr>
            <a:endParaRPr lang="en-US" sz="2400" b="1">
              <a:solidFill>
                <a:srgbClr val="1E4541"/>
              </a:solidFill>
              <a:latin typeface="Open Sans 2 Bold"/>
              <a:ea typeface="Open Sans 2 Bold"/>
              <a:cs typeface="Open Sans 2 Bold"/>
              <a:sym typeface="Open Sans 2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1028700"/>
            <a:ext cx="16230600" cy="1849928"/>
            <a:chOff x="0" y="0"/>
            <a:chExt cx="21640800" cy="2466570"/>
          </a:xfrm>
        </p:grpSpPr>
        <p:pic>
          <p:nvPicPr>
            <p:cNvPr id="6" name="Picture 6"/>
            <p:cNvPicPr>
              <a:picLocks noChangeAspect="1"/>
            </p:cNvPicPr>
            <p:nvPr/>
          </p:nvPicPr>
          <p:blipFill>
            <a:blip r:embed="rId2"/>
            <a:srcRect t="65738" b="17153"/>
            <a:stretch>
              <a:fillRect/>
            </a:stretch>
          </p:blipFill>
          <p:spPr>
            <a:xfrm>
              <a:off x="0" y="0"/>
              <a:ext cx="21640800" cy="2466570"/>
            </a:xfrm>
            <a:prstGeom prst="rect">
              <a:avLst/>
            </a:prstGeom>
          </p:spPr>
        </p:pic>
      </p:grpSp>
      <p:sp>
        <p:nvSpPr>
          <p:cNvPr id="7" name="TextBox 7"/>
          <p:cNvSpPr txBox="1"/>
          <p:nvPr/>
        </p:nvSpPr>
        <p:spPr>
          <a:xfrm>
            <a:off x="8581230" y="6672295"/>
            <a:ext cx="3052094" cy="82617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2"/>
                <a:ea typeface="Open Sans 2"/>
                <a:cs typeface="Open Sans 2"/>
                <a:sym typeface="Open Sans 2"/>
              </a:rPr>
              <a:t>Lorem ipsum dolor sit amet, consectetur adipiscing elit, sed do eiusmod tempor incididunt ut labore et dolore magna aliqua. Ut enim ad minim</a:t>
            </a:r>
          </a:p>
        </p:txBody>
      </p:sp>
      <p:sp>
        <p:nvSpPr>
          <p:cNvPr id="8" name="TextBox 8"/>
          <p:cNvSpPr txBox="1"/>
          <p:nvPr/>
        </p:nvSpPr>
        <p:spPr>
          <a:xfrm>
            <a:off x="8581230" y="6306495"/>
            <a:ext cx="2012018" cy="240591"/>
          </a:xfrm>
          <a:prstGeom prst="rect">
            <a:avLst/>
          </a:prstGeom>
        </p:spPr>
        <p:txBody>
          <a:bodyPr lIns="0" tIns="0" rIns="0" bIns="0" rtlCol="0" anchor="t">
            <a:spAutoFit/>
          </a:bodyPr>
          <a:lstStyle/>
          <a:p>
            <a:pPr algn="l">
              <a:lnSpc>
                <a:spcPts val="1960"/>
              </a:lnSpc>
              <a:spcBef>
                <a:spcPct val="0"/>
              </a:spcBef>
            </a:pPr>
            <a:r>
              <a:rPr lang="en-US" sz="1400" b="1">
                <a:solidFill>
                  <a:srgbClr val="FFFFFF"/>
                </a:solidFill>
                <a:latin typeface="Open Sans 2 Bold"/>
                <a:ea typeface="Open Sans 2 Bold"/>
                <a:cs typeface="Open Sans 2 Bold"/>
                <a:sym typeface="Open Sans 2 Bold"/>
              </a:rPr>
              <a:t>Mission 03</a:t>
            </a:r>
          </a:p>
        </p:txBody>
      </p:sp>
      <p:sp>
        <p:nvSpPr>
          <p:cNvPr id="9" name="TextBox 9"/>
          <p:cNvSpPr txBox="1"/>
          <p:nvPr/>
        </p:nvSpPr>
        <p:spPr>
          <a:xfrm>
            <a:off x="12596910" y="6672295"/>
            <a:ext cx="3052094" cy="82617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2"/>
                <a:ea typeface="Open Sans 2"/>
                <a:cs typeface="Open Sans 2"/>
                <a:sym typeface="Open Sans 2"/>
              </a:rPr>
              <a:t>Lorem ipsum dolor sit amet, consectetur adipiscing elit, sed do eiusmod tempor incididunt ut labore et dolore magna aliqua. Ut enim ad minim</a:t>
            </a:r>
          </a:p>
        </p:txBody>
      </p:sp>
      <p:sp>
        <p:nvSpPr>
          <p:cNvPr id="10" name="TextBox 10"/>
          <p:cNvSpPr txBox="1"/>
          <p:nvPr/>
        </p:nvSpPr>
        <p:spPr>
          <a:xfrm>
            <a:off x="12596910" y="6306495"/>
            <a:ext cx="2012018" cy="240591"/>
          </a:xfrm>
          <a:prstGeom prst="rect">
            <a:avLst/>
          </a:prstGeom>
        </p:spPr>
        <p:txBody>
          <a:bodyPr lIns="0" tIns="0" rIns="0" bIns="0" rtlCol="0" anchor="t">
            <a:spAutoFit/>
          </a:bodyPr>
          <a:lstStyle/>
          <a:p>
            <a:pPr algn="l">
              <a:lnSpc>
                <a:spcPts val="1960"/>
              </a:lnSpc>
              <a:spcBef>
                <a:spcPct val="0"/>
              </a:spcBef>
            </a:pPr>
            <a:r>
              <a:rPr lang="en-US" sz="1400" b="1">
                <a:solidFill>
                  <a:srgbClr val="FFFFFF"/>
                </a:solidFill>
                <a:latin typeface="Open Sans 2 Bold"/>
                <a:ea typeface="Open Sans 2 Bold"/>
                <a:cs typeface="Open Sans 2 Bold"/>
                <a:sym typeface="Open Sans 2 Bold"/>
              </a:rPr>
              <a:t>Mission 04</a:t>
            </a:r>
          </a:p>
        </p:txBody>
      </p:sp>
      <p:sp>
        <p:nvSpPr>
          <p:cNvPr id="11" name="Freeform 11"/>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3"/>
            <a:stretch>
              <a:fillRect/>
            </a:stretch>
          </a:blipFill>
        </p:spPr>
        <p:txBody>
          <a:bodyPr/>
          <a:lstStyle/>
          <a:p>
            <a:endParaRPr lang="en-US"/>
          </a:p>
        </p:txBody>
      </p:sp>
      <p:sp>
        <p:nvSpPr>
          <p:cNvPr id="12" name="TextBox 12"/>
          <p:cNvSpPr txBox="1"/>
          <p:nvPr/>
        </p:nvSpPr>
        <p:spPr>
          <a:xfrm>
            <a:off x="1084006" y="3174313"/>
            <a:ext cx="16175294" cy="775716"/>
          </a:xfrm>
          <a:prstGeom prst="rect">
            <a:avLst/>
          </a:prstGeom>
        </p:spPr>
        <p:txBody>
          <a:bodyPr lIns="0" tIns="0" rIns="0" bIns="0" rtlCol="0" anchor="t">
            <a:spAutoFit/>
          </a:bodyPr>
          <a:lstStyle/>
          <a:p>
            <a:pPr algn="l">
              <a:lnSpc>
                <a:spcPts val="3072"/>
              </a:lnSpc>
            </a:pPr>
            <a:r>
              <a:rPr lang="en-US" sz="2400" b="1">
                <a:solidFill>
                  <a:srgbClr val="1E4541"/>
                </a:solidFill>
                <a:latin typeface="Poppins Bold"/>
                <a:ea typeface="Poppins Bold"/>
                <a:cs typeface="Poppins Bold"/>
                <a:sym typeface="Poppins Bold"/>
              </a:rPr>
              <a:t>What are the different quality issues faced? What quality management tools and techniques are used?(2/3)</a:t>
            </a:r>
          </a:p>
        </p:txBody>
      </p:sp>
      <p:sp>
        <p:nvSpPr>
          <p:cNvPr id="13" name="TextBox 13"/>
          <p:cNvSpPr txBox="1"/>
          <p:nvPr/>
        </p:nvSpPr>
        <p:spPr>
          <a:xfrm>
            <a:off x="6204012" y="3909060"/>
            <a:ext cx="7918945" cy="3962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Quality Management Tools and Techniques</a:t>
            </a:r>
          </a:p>
        </p:txBody>
      </p:sp>
      <p:sp>
        <p:nvSpPr>
          <p:cNvPr id="14" name="Freeform 14"/>
          <p:cNvSpPr/>
          <p:nvPr/>
        </p:nvSpPr>
        <p:spPr>
          <a:xfrm>
            <a:off x="7357614" y="6880461"/>
            <a:ext cx="10930386" cy="3406539"/>
          </a:xfrm>
          <a:custGeom>
            <a:avLst/>
            <a:gdLst/>
            <a:ahLst/>
            <a:cxnLst/>
            <a:rect l="l" t="t" r="r" b="b"/>
            <a:pathLst>
              <a:path w="10930386" h="3406539">
                <a:moveTo>
                  <a:pt x="0" y="0"/>
                </a:moveTo>
                <a:lnTo>
                  <a:pt x="10930386" y="0"/>
                </a:lnTo>
                <a:lnTo>
                  <a:pt x="10930386" y="3406539"/>
                </a:lnTo>
                <a:lnTo>
                  <a:pt x="0" y="3406539"/>
                </a:lnTo>
                <a:lnTo>
                  <a:pt x="0" y="0"/>
                </a:lnTo>
                <a:close/>
              </a:path>
            </a:pathLst>
          </a:custGeom>
          <a:blipFill>
            <a:blip r:embed="rId4"/>
            <a:stretch>
              <a:fillRect l="-2783" t="-11827" b="-9252"/>
            </a:stretch>
          </a:blipFill>
        </p:spPr>
        <p:txBody>
          <a:bodyPr/>
          <a:lstStyle/>
          <a:p>
            <a:endParaRPr lang="en-US"/>
          </a:p>
        </p:txBody>
      </p:sp>
      <p:sp>
        <p:nvSpPr>
          <p:cNvPr id="15" name="TextBox 15"/>
          <p:cNvSpPr txBox="1"/>
          <p:nvPr/>
        </p:nvSpPr>
        <p:spPr>
          <a:xfrm>
            <a:off x="410691" y="4257675"/>
            <a:ext cx="17654527" cy="3521075"/>
          </a:xfrm>
          <a:prstGeom prst="rect">
            <a:avLst/>
          </a:prstGeom>
        </p:spPr>
        <p:txBody>
          <a:bodyPr lIns="0" tIns="0" rIns="0" bIns="0" rtlCol="0" anchor="t">
            <a:spAutoFit/>
          </a:bodyPr>
          <a:lstStyle/>
          <a:p>
            <a:pPr algn="just">
              <a:lnSpc>
                <a:spcPts val="2800"/>
              </a:lnSpc>
            </a:pPr>
            <a:endParaRPr/>
          </a:p>
          <a:p>
            <a:pPr marL="431801" lvl="1" indent="-215900" algn="just">
              <a:lnSpc>
                <a:spcPts val="2800"/>
              </a:lnSpc>
              <a:buAutoNum type="arabicPeriod"/>
            </a:pPr>
            <a:r>
              <a:rPr lang="en-US" sz="2000" b="1">
                <a:solidFill>
                  <a:srgbClr val="000000"/>
                </a:solidFill>
                <a:latin typeface="Open Sans 1 Bold"/>
                <a:ea typeface="Open Sans 1 Bold"/>
                <a:cs typeface="Open Sans 1 Bold"/>
                <a:sym typeface="Open Sans 1 Bold"/>
              </a:rPr>
              <a:t>Material Testing Laboratory:</a:t>
            </a:r>
          </a:p>
          <a:p>
            <a:pPr marL="863601" lvl="2" indent="-287867" algn="just">
              <a:lnSpc>
                <a:spcPts val="2800"/>
              </a:lnSpc>
              <a:buFont typeface="Arial"/>
              <a:buChar char="⚬"/>
            </a:pPr>
            <a:r>
              <a:rPr lang="en-US" sz="2000">
                <a:solidFill>
                  <a:srgbClr val="000000"/>
                </a:solidFill>
                <a:latin typeface="Open Sans 1"/>
                <a:ea typeface="Open Sans 1"/>
                <a:cs typeface="Open Sans 1"/>
                <a:sym typeface="Open Sans 1"/>
              </a:rPr>
              <a:t>Patagonia operates a quality testing lab where materials undergo rigorous evaluation against predefined performance criteria.</a:t>
            </a:r>
          </a:p>
          <a:p>
            <a:pPr marL="863601" lvl="2" indent="-287867" algn="just">
              <a:lnSpc>
                <a:spcPts val="2800"/>
              </a:lnSpc>
              <a:buFont typeface="Arial"/>
              <a:buChar char="⚬"/>
            </a:pPr>
            <a:r>
              <a:rPr lang="en-US" sz="2000">
                <a:solidFill>
                  <a:srgbClr val="000000"/>
                </a:solidFill>
                <a:latin typeface="Open Sans 1"/>
                <a:ea typeface="Open Sans 1"/>
                <a:cs typeface="Open Sans 1"/>
                <a:sym typeface="Open Sans 1"/>
              </a:rPr>
              <a:t>Analysts rely on industry standards, proprietary test methods, and specialized equipment to assess material quality.</a:t>
            </a:r>
          </a:p>
          <a:p>
            <a:pPr marL="431801" lvl="1" indent="-215900" algn="just">
              <a:lnSpc>
                <a:spcPts val="2800"/>
              </a:lnSpc>
              <a:buAutoNum type="arabicPeriod"/>
            </a:pPr>
            <a:r>
              <a:rPr lang="en-US" sz="2000" b="1">
                <a:solidFill>
                  <a:srgbClr val="000000"/>
                </a:solidFill>
                <a:latin typeface="Open Sans 1 Bold"/>
                <a:ea typeface="Open Sans 1 Bold"/>
                <a:cs typeface="Open Sans 1 Bold"/>
                <a:sym typeface="Open Sans 1 Bold"/>
              </a:rPr>
              <a:t>Traceability Requirements:</a:t>
            </a:r>
          </a:p>
          <a:p>
            <a:pPr marL="863601" lvl="2" indent="-287867" algn="just">
              <a:lnSpc>
                <a:spcPts val="2800"/>
              </a:lnSpc>
              <a:buFont typeface="Arial"/>
              <a:buChar char="⚬"/>
            </a:pPr>
            <a:r>
              <a:rPr lang="en-US" sz="2000">
                <a:solidFill>
                  <a:srgbClr val="000000"/>
                </a:solidFill>
                <a:latin typeface="Open Sans 1"/>
                <a:ea typeface="Open Sans 1"/>
                <a:cs typeface="Open Sans 1"/>
                <a:sym typeface="Open Sans 1"/>
              </a:rPr>
              <a:t>Traceability throughout the supply chain is essential for maintaining quality and assessing environmental and social impacts.</a:t>
            </a:r>
          </a:p>
          <a:p>
            <a:pPr marL="863601" lvl="2" indent="-287867" algn="just">
              <a:lnSpc>
                <a:spcPts val="2800"/>
              </a:lnSpc>
              <a:buFont typeface="Arial"/>
              <a:buChar char="⚬"/>
            </a:pPr>
            <a:r>
              <a:rPr lang="en-US" sz="2000">
                <a:solidFill>
                  <a:srgbClr val="000000"/>
                </a:solidFill>
                <a:latin typeface="Open Sans 1"/>
                <a:ea typeface="Open Sans 1"/>
                <a:cs typeface="Open Sans 1"/>
                <a:sym typeface="Open Sans 1"/>
              </a:rPr>
              <a:t>Suppliers are required to provide detailed information about the origin and production processes of materials, including profile sheets, supply-chain tracking sheets, and third-party certificates.</a:t>
            </a:r>
          </a:p>
          <a:p>
            <a:pPr marL="863601" lvl="2" indent="-287867" algn="just">
              <a:lnSpc>
                <a:spcPts val="2800"/>
              </a:lnSpc>
              <a:buFont typeface="Arial"/>
              <a:buChar char="⚬"/>
            </a:pPr>
            <a:r>
              <a:rPr lang="en-US" sz="2000">
                <a:solidFill>
                  <a:srgbClr val="000000"/>
                </a:solidFill>
                <a:latin typeface="Open Sans 1"/>
                <a:ea typeface="Open Sans 1"/>
                <a:cs typeface="Open Sans 1"/>
                <a:sym typeface="Open Sans 1"/>
              </a:rPr>
              <a:t>Materials sourced globally presents a significant challenge.</a:t>
            </a:r>
          </a:p>
          <a:p>
            <a:pPr algn="just">
              <a:lnSpc>
                <a:spcPts val="2800"/>
              </a:lnSpc>
              <a:spcBef>
                <a:spcPct val="0"/>
              </a:spcBef>
            </a:pPr>
            <a:endParaRPr lang="en-US" sz="2000">
              <a:solidFill>
                <a:srgbClr val="000000"/>
              </a:solidFill>
              <a:latin typeface="Open Sans 1"/>
              <a:ea typeface="Open Sans 1"/>
              <a:cs typeface="Open Sans 1"/>
              <a:sym typeface="Open Sans 1"/>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1028700"/>
            <a:ext cx="16230600" cy="1849928"/>
            <a:chOff x="0" y="0"/>
            <a:chExt cx="21640800" cy="2466570"/>
          </a:xfrm>
        </p:grpSpPr>
        <p:pic>
          <p:nvPicPr>
            <p:cNvPr id="6" name="Picture 6"/>
            <p:cNvPicPr>
              <a:picLocks noChangeAspect="1"/>
            </p:cNvPicPr>
            <p:nvPr/>
          </p:nvPicPr>
          <p:blipFill>
            <a:blip r:embed="rId2"/>
            <a:srcRect t="65738" b="17153"/>
            <a:stretch>
              <a:fillRect/>
            </a:stretch>
          </p:blipFill>
          <p:spPr>
            <a:xfrm>
              <a:off x="0" y="0"/>
              <a:ext cx="21640800" cy="2466570"/>
            </a:xfrm>
            <a:prstGeom prst="rect">
              <a:avLst/>
            </a:prstGeom>
          </p:spPr>
        </p:pic>
      </p:grpSp>
      <p:sp>
        <p:nvSpPr>
          <p:cNvPr id="7" name="TextBox 7"/>
          <p:cNvSpPr txBox="1"/>
          <p:nvPr/>
        </p:nvSpPr>
        <p:spPr>
          <a:xfrm>
            <a:off x="8581230" y="6672295"/>
            <a:ext cx="3052094" cy="82617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2"/>
                <a:ea typeface="Open Sans 2"/>
                <a:cs typeface="Open Sans 2"/>
                <a:sym typeface="Open Sans 2"/>
              </a:rPr>
              <a:t>Lorem ipsum dolor sit amet, consectetur adipiscing elit, sed do eiusmod tempor incididunt ut labore et dolore magna aliqua. Ut enim ad minim</a:t>
            </a:r>
          </a:p>
        </p:txBody>
      </p:sp>
      <p:sp>
        <p:nvSpPr>
          <p:cNvPr id="8" name="TextBox 8"/>
          <p:cNvSpPr txBox="1"/>
          <p:nvPr/>
        </p:nvSpPr>
        <p:spPr>
          <a:xfrm>
            <a:off x="8581230" y="6306495"/>
            <a:ext cx="2012018" cy="240591"/>
          </a:xfrm>
          <a:prstGeom prst="rect">
            <a:avLst/>
          </a:prstGeom>
        </p:spPr>
        <p:txBody>
          <a:bodyPr lIns="0" tIns="0" rIns="0" bIns="0" rtlCol="0" anchor="t">
            <a:spAutoFit/>
          </a:bodyPr>
          <a:lstStyle/>
          <a:p>
            <a:pPr algn="l">
              <a:lnSpc>
                <a:spcPts val="1960"/>
              </a:lnSpc>
              <a:spcBef>
                <a:spcPct val="0"/>
              </a:spcBef>
            </a:pPr>
            <a:r>
              <a:rPr lang="en-US" sz="1400" b="1">
                <a:solidFill>
                  <a:srgbClr val="FFFFFF"/>
                </a:solidFill>
                <a:latin typeface="Open Sans 2 Bold"/>
                <a:ea typeface="Open Sans 2 Bold"/>
                <a:cs typeface="Open Sans 2 Bold"/>
                <a:sym typeface="Open Sans 2 Bold"/>
              </a:rPr>
              <a:t>Mission 03</a:t>
            </a:r>
          </a:p>
        </p:txBody>
      </p:sp>
      <p:sp>
        <p:nvSpPr>
          <p:cNvPr id="9" name="TextBox 9"/>
          <p:cNvSpPr txBox="1"/>
          <p:nvPr/>
        </p:nvSpPr>
        <p:spPr>
          <a:xfrm>
            <a:off x="12596910" y="6672295"/>
            <a:ext cx="3052094" cy="82617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2"/>
                <a:ea typeface="Open Sans 2"/>
                <a:cs typeface="Open Sans 2"/>
                <a:sym typeface="Open Sans 2"/>
              </a:rPr>
              <a:t>Lorem ipsum dolor sit amet, consectetur adipiscing elit, sed do eiusmod tempor incididunt ut labore et dolore magna aliqua. Ut enim ad minim</a:t>
            </a:r>
          </a:p>
        </p:txBody>
      </p:sp>
      <p:sp>
        <p:nvSpPr>
          <p:cNvPr id="10" name="TextBox 10"/>
          <p:cNvSpPr txBox="1"/>
          <p:nvPr/>
        </p:nvSpPr>
        <p:spPr>
          <a:xfrm>
            <a:off x="12596910" y="6306495"/>
            <a:ext cx="2012018" cy="240591"/>
          </a:xfrm>
          <a:prstGeom prst="rect">
            <a:avLst/>
          </a:prstGeom>
        </p:spPr>
        <p:txBody>
          <a:bodyPr lIns="0" tIns="0" rIns="0" bIns="0" rtlCol="0" anchor="t">
            <a:spAutoFit/>
          </a:bodyPr>
          <a:lstStyle/>
          <a:p>
            <a:pPr algn="l">
              <a:lnSpc>
                <a:spcPts val="1960"/>
              </a:lnSpc>
              <a:spcBef>
                <a:spcPct val="0"/>
              </a:spcBef>
            </a:pPr>
            <a:r>
              <a:rPr lang="en-US" sz="1400" b="1">
                <a:solidFill>
                  <a:srgbClr val="FFFFFF"/>
                </a:solidFill>
                <a:latin typeface="Open Sans 2 Bold"/>
                <a:ea typeface="Open Sans 2 Bold"/>
                <a:cs typeface="Open Sans 2 Bold"/>
                <a:sym typeface="Open Sans 2 Bold"/>
              </a:rPr>
              <a:t>Mission 04</a:t>
            </a:r>
          </a:p>
        </p:txBody>
      </p:sp>
      <p:sp>
        <p:nvSpPr>
          <p:cNvPr id="11" name="Freeform 11"/>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3"/>
            <a:stretch>
              <a:fillRect/>
            </a:stretch>
          </a:blipFill>
        </p:spPr>
        <p:txBody>
          <a:bodyPr/>
          <a:lstStyle/>
          <a:p>
            <a:endParaRPr lang="en-US"/>
          </a:p>
        </p:txBody>
      </p:sp>
      <p:sp>
        <p:nvSpPr>
          <p:cNvPr id="12" name="TextBox 12"/>
          <p:cNvSpPr txBox="1"/>
          <p:nvPr/>
        </p:nvSpPr>
        <p:spPr>
          <a:xfrm>
            <a:off x="1084006" y="3174313"/>
            <a:ext cx="16175294" cy="775716"/>
          </a:xfrm>
          <a:prstGeom prst="rect">
            <a:avLst/>
          </a:prstGeom>
        </p:spPr>
        <p:txBody>
          <a:bodyPr lIns="0" tIns="0" rIns="0" bIns="0" rtlCol="0" anchor="t">
            <a:spAutoFit/>
          </a:bodyPr>
          <a:lstStyle/>
          <a:p>
            <a:pPr algn="l">
              <a:lnSpc>
                <a:spcPts val="3072"/>
              </a:lnSpc>
            </a:pPr>
            <a:r>
              <a:rPr lang="en-US" sz="2400" b="1">
                <a:solidFill>
                  <a:srgbClr val="1E4541"/>
                </a:solidFill>
                <a:latin typeface="Poppins Bold"/>
                <a:ea typeface="Poppins Bold"/>
                <a:cs typeface="Poppins Bold"/>
                <a:sym typeface="Poppins Bold"/>
              </a:rPr>
              <a:t>What are the different quality issues faced? What quality management tools and techniques are used?(3/3)</a:t>
            </a:r>
          </a:p>
        </p:txBody>
      </p:sp>
      <p:sp>
        <p:nvSpPr>
          <p:cNvPr id="13" name="TextBox 13"/>
          <p:cNvSpPr txBox="1"/>
          <p:nvPr/>
        </p:nvSpPr>
        <p:spPr>
          <a:xfrm>
            <a:off x="2915997" y="4001601"/>
            <a:ext cx="7918945" cy="396240"/>
          </a:xfrm>
          <a:prstGeom prst="rect">
            <a:avLst/>
          </a:prstGeom>
        </p:spPr>
        <p:txBody>
          <a:bodyPr lIns="0" tIns="0" rIns="0" bIns="0" rtlCol="0" anchor="t">
            <a:spAutoFit/>
          </a:bodyPr>
          <a:lstStyle/>
          <a:p>
            <a:pPr algn="l">
              <a:lnSpc>
                <a:spcPts val="3359"/>
              </a:lnSpc>
              <a:spcBef>
                <a:spcPct val="0"/>
              </a:spcBef>
            </a:pPr>
            <a:r>
              <a:rPr lang="en-US" sz="2400" b="1">
                <a:solidFill>
                  <a:srgbClr val="1E4541"/>
                </a:solidFill>
                <a:latin typeface="Open Sans 2 Bold"/>
                <a:ea typeface="Open Sans 2 Bold"/>
                <a:cs typeface="Open Sans 2 Bold"/>
                <a:sym typeface="Open Sans 2 Bold"/>
              </a:rPr>
              <a:t>Quality Management Tools and Techniques</a:t>
            </a:r>
          </a:p>
        </p:txBody>
      </p:sp>
      <p:sp>
        <p:nvSpPr>
          <p:cNvPr id="14" name="TextBox 14"/>
          <p:cNvSpPr txBox="1"/>
          <p:nvPr/>
        </p:nvSpPr>
        <p:spPr>
          <a:xfrm>
            <a:off x="549707" y="4316828"/>
            <a:ext cx="12651525" cy="4930775"/>
          </a:xfrm>
          <a:prstGeom prst="rect">
            <a:avLst/>
          </a:prstGeom>
        </p:spPr>
        <p:txBody>
          <a:bodyPr lIns="0" tIns="0" rIns="0" bIns="0" rtlCol="0" anchor="t">
            <a:spAutoFit/>
          </a:bodyPr>
          <a:lstStyle/>
          <a:p>
            <a:pPr algn="just">
              <a:lnSpc>
                <a:spcPts val="2800"/>
              </a:lnSpc>
            </a:pPr>
            <a:endParaRPr/>
          </a:p>
          <a:p>
            <a:pPr algn="just">
              <a:lnSpc>
                <a:spcPts val="2800"/>
              </a:lnSpc>
            </a:pPr>
            <a:endParaRPr/>
          </a:p>
          <a:p>
            <a:pPr algn="just">
              <a:lnSpc>
                <a:spcPts val="2800"/>
              </a:lnSpc>
            </a:pPr>
            <a:r>
              <a:rPr lang="en-US" sz="2000" b="1">
                <a:solidFill>
                  <a:srgbClr val="000000"/>
                </a:solidFill>
                <a:latin typeface="Open Sans 1 Bold"/>
                <a:ea typeface="Open Sans 1 Bold"/>
                <a:cs typeface="Open Sans 1 Bold"/>
                <a:sym typeface="Open Sans 1 Bold"/>
              </a:rPr>
              <a:t>      </a:t>
            </a:r>
            <a:r>
              <a:rPr lang="en-US" sz="2000">
                <a:solidFill>
                  <a:srgbClr val="000000"/>
                </a:solidFill>
                <a:latin typeface="Open Sans 1"/>
                <a:ea typeface="Open Sans 1"/>
                <a:cs typeface="Open Sans 1"/>
                <a:sym typeface="Open Sans 1"/>
              </a:rPr>
              <a:t>1.</a:t>
            </a:r>
            <a:r>
              <a:rPr lang="en-US" sz="2000" b="1">
                <a:solidFill>
                  <a:srgbClr val="000000"/>
                </a:solidFill>
                <a:latin typeface="Open Sans 1 Bold"/>
                <a:ea typeface="Open Sans 1 Bold"/>
                <a:cs typeface="Open Sans 1 Bold"/>
                <a:sym typeface="Open Sans 1 Bold"/>
              </a:rPr>
              <a:t>Supply Chain Environmental Responsibility Program:</a:t>
            </a:r>
          </a:p>
          <a:p>
            <a:pPr marL="431801" lvl="1" indent="-215900" algn="just">
              <a:lnSpc>
                <a:spcPts val="2800"/>
              </a:lnSpc>
              <a:buFont typeface="Arial"/>
              <a:buChar char="•"/>
            </a:pPr>
            <a:r>
              <a:rPr lang="en-US" sz="2000">
                <a:solidFill>
                  <a:srgbClr val="000000"/>
                </a:solidFill>
                <a:latin typeface="Open Sans 1"/>
                <a:ea typeface="Open Sans 1"/>
                <a:cs typeface="Open Sans 1"/>
                <a:sym typeface="Open Sans 1"/>
              </a:rPr>
              <a:t>Patagonia's Supply Chain Environmental Responsibility Program addresses environmental impacts associated with material production.</a:t>
            </a:r>
          </a:p>
          <a:p>
            <a:pPr marL="431801" lvl="1" indent="-215900" algn="just">
              <a:lnSpc>
                <a:spcPts val="2800"/>
              </a:lnSpc>
              <a:buFont typeface="Arial"/>
              <a:buChar char="•"/>
            </a:pPr>
            <a:r>
              <a:rPr lang="en-US" sz="2000">
                <a:solidFill>
                  <a:srgbClr val="000000"/>
                </a:solidFill>
                <a:latin typeface="Open Sans 1"/>
                <a:ea typeface="Open Sans 1"/>
                <a:cs typeface="Open Sans 1"/>
                <a:sym typeface="Open Sans 1"/>
              </a:rPr>
              <a:t>It utilizes industry-wide tools like the Higg Index and recognizes third-party certification programs such as bluesign to ensure environmental standards are met.</a:t>
            </a:r>
          </a:p>
          <a:p>
            <a:pPr algn="just">
              <a:lnSpc>
                <a:spcPts val="2800"/>
              </a:lnSpc>
            </a:pPr>
            <a:endParaRPr lang="en-US" sz="2000">
              <a:solidFill>
                <a:srgbClr val="000000"/>
              </a:solidFill>
              <a:latin typeface="Open Sans 1"/>
              <a:ea typeface="Open Sans 1"/>
              <a:cs typeface="Open Sans 1"/>
              <a:sym typeface="Open Sans 1"/>
            </a:endParaRPr>
          </a:p>
          <a:p>
            <a:pPr algn="just">
              <a:lnSpc>
                <a:spcPts val="2800"/>
              </a:lnSpc>
            </a:pPr>
            <a:r>
              <a:rPr lang="en-US" sz="2000">
                <a:solidFill>
                  <a:srgbClr val="000000"/>
                </a:solidFill>
                <a:latin typeface="Open Sans 1"/>
                <a:ea typeface="Open Sans 1"/>
                <a:cs typeface="Open Sans 1"/>
                <a:sym typeface="Open Sans 1"/>
              </a:rPr>
              <a:t>      2.</a:t>
            </a:r>
            <a:r>
              <a:rPr lang="en-US" sz="2000" b="1">
                <a:solidFill>
                  <a:srgbClr val="000000"/>
                </a:solidFill>
                <a:latin typeface="Open Sans 1 Bold"/>
                <a:ea typeface="Open Sans 1 Bold"/>
                <a:cs typeface="Open Sans 1 Bold"/>
                <a:sym typeface="Open Sans 1 Bold"/>
              </a:rPr>
              <a:t>Raw Materials Social Responsibility Program:</a:t>
            </a:r>
          </a:p>
          <a:p>
            <a:pPr marL="431801" lvl="1" indent="-215900" algn="just">
              <a:lnSpc>
                <a:spcPts val="2800"/>
              </a:lnSpc>
              <a:buFont typeface="Arial"/>
              <a:buChar char="•"/>
            </a:pPr>
            <a:r>
              <a:rPr lang="en-US" sz="2000">
                <a:solidFill>
                  <a:srgbClr val="000000"/>
                </a:solidFill>
                <a:latin typeface="Open Sans 1"/>
                <a:ea typeface="Open Sans 1"/>
                <a:cs typeface="Open Sans 1"/>
                <a:sym typeface="Open Sans 1"/>
              </a:rPr>
              <a:t>The Raw Materials Social Responsibility Program monitors key material suppliers for compliance with social responsibility standards.</a:t>
            </a:r>
          </a:p>
          <a:p>
            <a:pPr marL="431801" lvl="1" indent="-215900" algn="just">
              <a:lnSpc>
                <a:spcPts val="2800"/>
              </a:lnSpc>
              <a:buFont typeface="Arial"/>
              <a:buChar char="•"/>
            </a:pPr>
            <a:r>
              <a:rPr lang="en-US" sz="2000">
                <a:solidFill>
                  <a:srgbClr val="000000"/>
                </a:solidFill>
                <a:latin typeface="Open Sans 1"/>
                <a:ea typeface="Open Sans 1"/>
                <a:cs typeface="Open Sans 1"/>
                <a:sym typeface="Open Sans 1"/>
              </a:rPr>
              <a:t>This includes standards on wages, benefits, workplace safety, and other social and environmental benchmarks, ensuring ethical practices throughout the supply chain.</a:t>
            </a:r>
          </a:p>
          <a:p>
            <a:pPr algn="just">
              <a:lnSpc>
                <a:spcPts val="2800"/>
              </a:lnSpc>
              <a:spcBef>
                <a:spcPct val="0"/>
              </a:spcBef>
            </a:pPr>
            <a:endParaRPr lang="en-US" sz="2000">
              <a:solidFill>
                <a:srgbClr val="000000"/>
              </a:solidFill>
              <a:latin typeface="Open Sans 1"/>
              <a:ea typeface="Open Sans 1"/>
              <a:cs typeface="Open Sans 1"/>
              <a:sym typeface="Open Sans 1"/>
            </a:endParaRPr>
          </a:p>
        </p:txBody>
      </p:sp>
      <p:sp>
        <p:nvSpPr>
          <p:cNvPr id="15" name="Freeform 15"/>
          <p:cNvSpPr/>
          <p:nvPr/>
        </p:nvSpPr>
        <p:spPr>
          <a:xfrm>
            <a:off x="7287376" y="4487513"/>
            <a:ext cx="3768554" cy="4407665"/>
          </a:xfrm>
          <a:custGeom>
            <a:avLst/>
            <a:gdLst/>
            <a:ahLst/>
            <a:cxnLst/>
            <a:rect l="l" t="t" r="r" b="b"/>
            <a:pathLst>
              <a:path w="3768554" h="4407665">
                <a:moveTo>
                  <a:pt x="0" y="0"/>
                </a:moveTo>
                <a:lnTo>
                  <a:pt x="3768554" y="0"/>
                </a:lnTo>
                <a:lnTo>
                  <a:pt x="3768554" y="4407665"/>
                </a:lnTo>
                <a:lnTo>
                  <a:pt x="0" y="4407665"/>
                </a:lnTo>
                <a:lnTo>
                  <a:pt x="0" y="0"/>
                </a:lnTo>
                <a:close/>
              </a:path>
            </a:pathLst>
          </a:custGeom>
          <a:blipFill>
            <a:blip r:embed="rId4">
              <a:alphaModFix amt="12000"/>
            </a:blip>
            <a:stretch>
              <a:fillRect/>
            </a:stretch>
          </a:blipFill>
        </p:spPr>
        <p:txBody>
          <a:bodyPr/>
          <a:lstStyle/>
          <a:p>
            <a:endParaRPr lang="en-US"/>
          </a:p>
        </p:txBody>
      </p:sp>
      <p:sp>
        <p:nvSpPr>
          <p:cNvPr id="16" name="Freeform 16"/>
          <p:cNvSpPr/>
          <p:nvPr/>
        </p:nvSpPr>
        <p:spPr>
          <a:xfrm>
            <a:off x="13590833" y="3950029"/>
            <a:ext cx="4697167" cy="6312794"/>
          </a:xfrm>
          <a:custGeom>
            <a:avLst/>
            <a:gdLst/>
            <a:ahLst/>
            <a:cxnLst/>
            <a:rect l="l" t="t" r="r" b="b"/>
            <a:pathLst>
              <a:path w="4697167" h="6312794">
                <a:moveTo>
                  <a:pt x="0" y="0"/>
                </a:moveTo>
                <a:lnTo>
                  <a:pt x="4697167" y="0"/>
                </a:lnTo>
                <a:lnTo>
                  <a:pt x="4697167" y="6312795"/>
                </a:lnTo>
                <a:lnTo>
                  <a:pt x="0" y="6312795"/>
                </a:lnTo>
                <a:lnTo>
                  <a:pt x="0" y="0"/>
                </a:lnTo>
                <a:close/>
              </a:path>
            </a:pathLst>
          </a:custGeom>
          <a:blipFill>
            <a:blip r:embed="rId5"/>
            <a:stretch>
              <a:fillRect t="-5842"/>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410691" y="-348022"/>
            <a:ext cx="2505306" cy="1773419"/>
          </a:xfrm>
          <a:custGeom>
            <a:avLst/>
            <a:gdLst/>
            <a:ahLst/>
            <a:cxnLst/>
            <a:rect l="l" t="t" r="r" b="b"/>
            <a:pathLst>
              <a:path w="2505306" h="1773419">
                <a:moveTo>
                  <a:pt x="0" y="0"/>
                </a:moveTo>
                <a:lnTo>
                  <a:pt x="2505306" y="0"/>
                </a:lnTo>
                <a:lnTo>
                  <a:pt x="2505306" y="1773418"/>
                </a:lnTo>
                <a:lnTo>
                  <a:pt x="0" y="1773418"/>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1028700" y="990600"/>
            <a:ext cx="10891904" cy="8528685"/>
          </a:xfrm>
          <a:prstGeom prst="rect">
            <a:avLst/>
          </a:prstGeom>
        </p:spPr>
        <p:txBody>
          <a:bodyPr lIns="0" tIns="0" rIns="0" bIns="0" rtlCol="0" anchor="t">
            <a:spAutoFit/>
          </a:bodyPr>
          <a:lstStyle/>
          <a:p>
            <a:pPr algn="just">
              <a:lnSpc>
                <a:spcPts val="2940"/>
              </a:lnSpc>
            </a:pPr>
            <a:r>
              <a:rPr lang="en-US" sz="2100" b="1">
                <a:solidFill>
                  <a:srgbClr val="1F2020"/>
                </a:solidFill>
                <a:latin typeface="Open Sans 2 Bold"/>
                <a:ea typeface="Open Sans 2 Bold"/>
                <a:cs typeface="Open Sans 2 Bold"/>
                <a:sym typeface="Open Sans 2 Bold"/>
              </a:rPr>
              <a:t>1.About Patagonia</a:t>
            </a:r>
          </a:p>
          <a:p>
            <a:pPr algn="just">
              <a:lnSpc>
                <a:spcPts val="2940"/>
              </a:lnSpc>
            </a:pPr>
            <a:r>
              <a:rPr lang="en-US" sz="2100">
                <a:solidFill>
                  <a:srgbClr val="1F2020"/>
                </a:solidFill>
                <a:latin typeface="Open Sans 2"/>
                <a:ea typeface="Open Sans 2"/>
                <a:cs typeface="Open Sans 2"/>
                <a:sym typeface="Open Sans 2"/>
              </a:rPr>
              <a:t>Patagonia stands as a beacon of sustainability and ethical practices within the outdoor clothing industry. The company has established itself as a leader in environmentally responsible business practices </a:t>
            </a:r>
          </a:p>
          <a:p>
            <a:pPr algn="just">
              <a:lnSpc>
                <a:spcPts val="2940"/>
              </a:lnSpc>
            </a:pPr>
            <a:endParaRPr lang="en-US" sz="2100">
              <a:solidFill>
                <a:srgbClr val="1F2020"/>
              </a:solidFill>
              <a:latin typeface="Open Sans 2"/>
              <a:ea typeface="Open Sans 2"/>
              <a:cs typeface="Open Sans 2"/>
              <a:sym typeface="Open Sans 2"/>
            </a:endParaRPr>
          </a:p>
          <a:p>
            <a:pPr algn="just">
              <a:lnSpc>
                <a:spcPts val="2940"/>
              </a:lnSpc>
            </a:pPr>
            <a:r>
              <a:rPr lang="en-US" sz="2100" b="1">
                <a:solidFill>
                  <a:srgbClr val="1F2020"/>
                </a:solidFill>
                <a:latin typeface="Open Sans 2 Bold"/>
                <a:ea typeface="Open Sans 2 Bold"/>
                <a:cs typeface="Open Sans 2 Bold"/>
                <a:sym typeface="Open Sans 2 Bold"/>
              </a:rPr>
              <a:t>2.Manufacturing Process Analysis</a:t>
            </a:r>
          </a:p>
          <a:p>
            <a:pPr algn="just">
              <a:lnSpc>
                <a:spcPts val="2940"/>
              </a:lnSpc>
            </a:pPr>
            <a:r>
              <a:rPr lang="en-US" sz="2100">
                <a:solidFill>
                  <a:srgbClr val="1F2020"/>
                </a:solidFill>
                <a:latin typeface="Open Sans 2"/>
                <a:ea typeface="Open Sans 2"/>
                <a:cs typeface="Open Sans 2"/>
                <a:sym typeface="Open Sans 2"/>
              </a:rPr>
              <a:t>Patagonia's manufacturing process exemplifies meticulous attention to detail and sustainability at every step. Taking the example of their Down Sweater jacket, we see a thorough process that spans from design to quality control. Notably, Patagonia invests significant time and resources in each stage, ensuring responsible material sourcing and rigorous quality checks.</a:t>
            </a:r>
          </a:p>
          <a:p>
            <a:pPr algn="just">
              <a:lnSpc>
                <a:spcPts val="2940"/>
              </a:lnSpc>
            </a:pPr>
            <a:endParaRPr lang="en-US" sz="2100">
              <a:solidFill>
                <a:srgbClr val="1F2020"/>
              </a:solidFill>
              <a:latin typeface="Open Sans 2"/>
              <a:ea typeface="Open Sans 2"/>
              <a:cs typeface="Open Sans 2"/>
              <a:sym typeface="Open Sans 2"/>
            </a:endParaRPr>
          </a:p>
          <a:p>
            <a:pPr algn="just">
              <a:lnSpc>
                <a:spcPts val="2940"/>
              </a:lnSpc>
            </a:pPr>
            <a:r>
              <a:rPr lang="en-US" sz="2100" b="1">
                <a:solidFill>
                  <a:srgbClr val="1F2020"/>
                </a:solidFill>
                <a:latin typeface="Open Sans 2 Bold"/>
                <a:ea typeface="Open Sans 2 Bold"/>
                <a:cs typeface="Open Sans 2 Bold"/>
                <a:sym typeface="Open Sans 2 Bold"/>
              </a:rPr>
              <a:t>3.Supply Chain Overview</a:t>
            </a:r>
          </a:p>
          <a:p>
            <a:pPr algn="just">
              <a:lnSpc>
                <a:spcPts val="2940"/>
              </a:lnSpc>
            </a:pPr>
            <a:r>
              <a:rPr lang="en-US" sz="2100">
                <a:solidFill>
                  <a:srgbClr val="1F2020"/>
                </a:solidFill>
                <a:latin typeface="Open Sans 2"/>
                <a:ea typeface="Open Sans 2"/>
                <a:cs typeface="Open Sans 2"/>
                <a:sym typeface="Open Sans 2"/>
              </a:rPr>
              <a:t>Patagonia's supply chain is characterized by partnerships with key stakeholders committed to sustainability. From organic cotton farms to responsible down suppliers, the company prioritizes ethical sourcing and environmental responsibility. With a network of fabric mills and production factories worldwide, Patagonia ensures quality and compliance with their standards at every stage of production.</a:t>
            </a:r>
          </a:p>
          <a:p>
            <a:pPr algn="just">
              <a:lnSpc>
                <a:spcPts val="2940"/>
              </a:lnSpc>
            </a:pPr>
            <a:endParaRPr lang="en-US" sz="2100">
              <a:solidFill>
                <a:srgbClr val="1F2020"/>
              </a:solidFill>
              <a:latin typeface="Open Sans 2"/>
              <a:ea typeface="Open Sans 2"/>
              <a:cs typeface="Open Sans 2"/>
              <a:sym typeface="Open Sans 2"/>
            </a:endParaRPr>
          </a:p>
          <a:p>
            <a:pPr algn="just">
              <a:lnSpc>
                <a:spcPts val="2940"/>
              </a:lnSpc>
            </a:pPr>
            <a:r>
              <a:rPr lang="en-US" sz="2100" b="1">
                <a:solidFill>
                  <a:srgbClr val="1F2020"/>
                </a:solidFill>
                <a:latin typeface="Open Sans 2 Bold"/>
                <a:ea typeface="Open Sans 2 Bold"/>
                <a:cs typeface="Open Sans 2 Bold"/>
                <a:sym typeface="Open Sans 2 Bold"/>
              </a:rPr>
              <a:t>4.Bottlenecks and Capacity</a:t>
            </a:r>
          </a:p>
          <a:p>
            <a:pPr algn="just">
              <a:lnSpc>
                <a:spcPts val="2940"/>
              </a:lnSpc>
            </a:pPr>
            <a:r>
              <a:rPr lang="en-US" sz="2100">
                <a:solidFill>
                  <a:srgbClr val="1F2020"/>
                </a:solidFill>
                <a:latin typeface="Open Sans 2"/>
                <a:ea typeface="Open Sans 2"/>
                <a:cs typeface="Open Sans 2"/>
                <a:sym typeface="Open Sans 2"/>
              </a:rPr>
              <a:t>Through analyzing the manufacturing process, it's evident that assembly stands as the bottleneck activity, with a throughput time of 14 weeks and a cycle time of 4 weeks.</a:t>
            </a:r>
          </a:p>
          <a:p>
            <a:pPr algn="just">
              <a:lnSpc>
                <a:spcPts val="2940"/>
              </a:lnSpc>
              <a:spcBef>
                <a:spcPct val="0"/>
              </a:spcBef>
            </a:pPr>
            <a:endParaRPr lang="en-US" sz="2100">
              <a:solidFill>
                <a:srgbClr val="1F2020"/>
              </a:solidFill>
              <a:latin typeface="Open Sans 2"/>
              <a:ea typeface="Open Sans 2"/>
              <a:cs typeface="Open Sans 2"/>
              <a:sym typeface="Open Sans 2"/>
            </a:endParaRPr>
          </a:p>
        </p:txBody>
      </p:sp>
      <p:grpSp>
        <p:nvGrpSpPr>
          <p:cNvPr id="7" name="Group 7"/>
          <p:cNvGrpSpPr/>
          <p:nvPr/>
        </p:nvGrpSpPr>
        <p:grpSpPr>
          <a:xfrm>
            <a:off x="13809987" y="1028700"/>
            <a:ext cx="3449313" cy="8131870"/>
            <a:chOff x="0" y="0"/>
            <a:chExt cx="4599084" cy="10842494"/>
          </a:xfrm>
        </p:grpSpPr>
        <p:pic>
          <p:nvPicPr>
            <p:cNvPr id="8" name="Picture 8"/>
            <p:cNvPicPr>
              <a:picLocks noChangeAspect="1"/>
            </p:cNvPicPr>
            <p:nvPr/>
          </p:nvPicPr>
          <p:blipFill>
            <a:blip r:embed="rId3"/>
            <a:srcRect l="22163" r="22163"/>
            <a:stretch>
              <a:fillRect/>
            </a:stretch>
          </p:blipFill>
          <p:spPr>
            <a:xfrm>
              <a:off x="0" y="0"/>
              <a:ext cx="4599084" cy="10842494"/>
            </a:xfrm>
            <a:prstGeom prst="rect">
              <a:avLst/>
            </a:prstGeom>
          </p:spPr>
        </p:pic>
      </p:grpSp>
      <p:sp>
        <p:nvSpPr>
          <p:cNvPr id="9" name="TextBox 9"/>
          <p:cNvSpPr txBox="1"/>
          <p:nvPr/>
        </p:nvSpPr>
        <p:spPr>
          <a:xfrm>
            <a:off x="13809987" y="127652"/>
            <a:ext cx="4849755" cy="745871"/>
          </a:xfrm>
          <a:prstGeom prst="rect">
            <a:avLst/>
          </a:prstGeom>
        </p:spPr>
        <p:txBody>
          <a:bodyPr lIns="0" tIns="0" rIns="0" bIns="0" rtlCol="0" anchor="t">
            <a:spAutoFit/>
          </a:bodyPr>
          <a:lstStyle/>
          <a:p>
            <a:pPr algn="l">
              <a:lnSpc>
                <a:spcPts val="5632"/>
              </a:lnSpc>
            </a:pPr>
            <a:r>
              <a:rPr lang="en-US" sz="4400" b="1">
                <a:solidFill>
                  <a:srgbClr val="1E4541"/>
                </a:solidFill>
                <a:latin typeface="Poppins Bold"/>
                <a:ea typeface="Poppins Bold"/>
                <a:cs typeface="Poppins Bold"/>
                <a:sym typeface="Poppins Bold"/>
              </a:rPr>
              <a:t>Review (1/2)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E4541"/>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09298" y="141415"/>
            <a:ext cx="12020343" cy="10757535"/>
          </a:xfrm>
          <a:prstGeom prst="rect">
            <a:avLst/>
          </a:prstGeom>
        </p:spPr>
        <p:txBody>
          <a:bodyPr lIns="0" tIns="0" rIns="0" bIns="0" rtlCol="0" anchor="t">
            <a:spAutoFit/>
          </a:bodyPr>
          <a:lstStyle/>
          <a:p>
            <a:pPr algn="just">
              <a:lnSpc>
                <a:spcPts val="2940"/>
              </a:lnSpc>
            </a:pPr>
            <a:r>
              <a:rPr lang="en-US" sz="2100" b="1">
                <a:solidFill>
                  <a:srgbClr val="1F2020"/>
                </a:solidFill>
                <a:latin typeface="Open Sans 2 Bold"/>
                <a:ea typeface="Open Sans 2 Bold"/>
                <a:cs typeface="Open Sans 2 Bold"/>
                <a:sym typeface="Open Sans 2 Bold"/>
              </a:rPr>
              <a:t>5.Inventory Management</a:t>
            </a:r>
          </a:p>
          <a:p>
            <a:pPr algn="just">
              <a:lnSpc>
                <a:spcPts val="2940"/>
              </a:lnSpc>
            </a:pPr>
            <a:r>
              <a:rPr lang="en-US" sz="2100">
                <a:solidFill>
                  <a:srgbClr val="1F2020"/>
                </a:solidFill>
                <a:latin typeface="Open Sans 2"/>
                <a:ea typeface="Open Sans 2"/>
                <a:cs typeface="Open Sans 2"/>
                <a:sym typeface="Open Sans 2"/>
              </a:rPr>
              <a:t>Patagonia employs a multifaceted approach to manage both raw materials and finished goods. With a focus on social and environmental responsibility, the company ensures compliance with fair labor practices and environmental standards throughout its supply chain. Their 4-Fold Approach to Supply Chain Decisions emphasizes rigorous pre-screening of suppliers to align with Patagonia's high standards.</a:t>
            </a:r>
          </a:p>
          <a:p>
            <a:pPr algn="just">
              <a:lnSpc>
                <a:spcPts val="2940"/>
              </a:lnSpc>
            </a:pPr>
            <a:endParaRPr lang="en-US" sz="2100">
              <a:solidFill>
                <a:srgbClr val="1F2020"/>
              </a:solidFill>
              <a:latin typeface="Open Sans 2"/>
              <a:ea typeface="Open Sans 2"/>
              <a:cs typeface="Open Sans 2"/>
              <a:sym typeface="Open Sans 2"/>
            </a:endParaRPr>
          </a:p>
          <a:p>
            <a:pPr algn="just">
              <a:lnSpc>
                <a:spcPts val="2940"/>
              </a:lnSpc>
            </a:pPr>
            <a:r>
              <a:rPr lang="en-US" sz="2100" b="1">
                <a:solidFill>
                  <a:srgbClr val="1F2020"/>
                </a:solidFill>
                <a:latin typeface="Open Sans 2 Bold"/>
                <a:ea typeface="Open Sans 2 Bold"/>
                <a:cs typeface="Open Sans 2 Bold"/>
                <a:sym typeface="Open Sans 2 Bold"/>
              </a:rPr>
              <a:t>6.Production Planning and Data Utilization</a:t>
            </a:r>
          </a:p>
          <a:p>
            <a:pPr algn="just">
              <a:lnSpc>
                <a:spcPts val="2940"/>
              </a:lnSpc>
            </a:pPr>
            <a:r>
              <a:rPr lang="en-US" sz="2100">
                <a:solidFill>
                  <a:srgbClr val="1F2020"/>
                </a:solidFill>
                <a:latin typeface="Open Sans 2"/>
                <a:ea typeface="Open Sans 2"/>
                <a:cs typeface="Open Sans 2"/>
                <a:sym typeface="Open Sans 2"/>
              </a:rPr>
              <a:t>Patagonia's production planning is deeply integrated with their commitment to sustainability. By assessing their carbon footprint and working closely with suppliers that share their values, the company ensures ethical and transparent operations. Detailed environmental impact assessments and supply chain transparency reports inform their production plans, guiding decisions to minimize harm and prioritize quality.</a:t>
            </a:r>
          </a:p>
          <a:p>
            <a:pPr algn="just">
              <a:lnSpc>
                <a:spcPts val="2940"/>
              </a:lnSpc>
            </a:pPr>
            <a:endParaRPr lang="en-US" sz="2100">
              <a:solidFill>
                <a:srgbClr val="1F2020"/>
              </a:solidFill>
              <a:latin typeface="Open Sans 2"/>
              <a:ea typeface="Open Sans 2"/>
              <a:cs typeface="Open Sans 2"/>
              <a:sym typeface="Open Sans 2"/>
            </a:endParaRPr>
          </a:p>
          <a:p>
            <a:pPr algn="just">
              <a:lnSpc>
                <a:spcPts val="2940"/>
              </a:lnSpc>
            </a:pPr>
            <a:r>
              <a:rPr lang="en-US" sz="2100" b="1">
                <a:solidFill>
                  <a:srgbClr val="1F2020"/>
                </a:solidFill>
                <a:latin typeface="Open Sans 2 Bold"/>
                <a:ea typeface="Open Sans 2 Bold"/>
                <a:cs typeface="Open Sans 2 Bold"/>
                <a:sym typeface="Open Sans 2 Bold"/>
              </a:rPr>
              <a:t>7.Material Requirement Identification</a:t>
            </a:r>
          </a:p>
          <a:p>
            <a:pPr algn="just">
              <a:lnSpc>
                <a:spcPts val="2940"/>
              </a:lnSpc>
            </a:pPr>
            <a:r>
              <a:rPr lang="en-US" sz="2100">
                <a:solidFill>
                  <a:srgbClr val="1F2020"/>
                </a:solidFill>
                <a:latin typeface="Open Sans 2"/>
                <a:ea typeface="Open Sans 2"/>
                <a:cs typeface="Open Sans 2"/>
                <a:sym typeface="Open Sans 2"/>
              </a:rPr>
              <a:t>Patagonia's material requirement identification process reflects their commitment to minimizing socio-ecological harm. Through functional need assessments, responsible sourcing practices, and a focus on recycled and environmentally friendly materials, the company strives to create products that align with their sustainability goals.</a:t>
            </a:r>
          </a:p>
          <a:p>
            <a:pPr algn="just">
              <a:lnSpc>
                <a:spcPts val="2940"/>
              </a:lnSpc>
            </a:pPr>
            <a:endParaRPr lang="en-US" sz="2100">
              <a:solidFill>
                <a:srgbClr val="1F2020"/>
              </a:solidFill>
              <a:latin typeface="Open Sans 2"/>
              <a:ea typeface="Open Sans 2"/>
              <a:cs typeface="Open Sans 2"/>
              <a:sym typeface="Open Sans 2"/>
            </a:endParaRPr>
          </a:p>
          <a:p>
            <a:pPr algn="just">
              <a:lnSpc>
                <a:spcPts val="2940"/>
              </a:lnSpc>
            </a:pPr>
            <a:r>
              <a:rPr lang="en-US" sz="2100" b="1">
                <a:solidFill>
                  <a:srgbClr val="1F2020"/>
                </a:solidFill>
                <a:latin typeface="Open Sans 2 Bold"/>
                <a:ea typeface="Open Sans 2 Bold"/>
                <a:cs typeface="Open Sans 2 Bold"/>
                <a:sym typeface="Open Sans 2 Bold"/>
              </a:rPr>
              <a:t>8.Quality Management</a:t>
            </a:r>
          </a:p>
          <a:p>
            <a:pPr algn="just">
              <a:lnSpc>
                <a:spcPts val="2940"/>
              </a:lnSpc>
            </a:pPr>
            <a:r>
              <a:rPr lang="en-US" sz="2100">
                <a:solidFill>
                  <a:srgbClr val="1F2020"/>
                </a:solidFill>
                <a:latin typeface="Open Sans 2"/>
                <a:ea typeface="Open Sans 2"/>
                <a:cs typeface="Open Sans 2"/>
                <a:sym typeface="Open Sans 2"/>
              </a:rPr>
              <a:t>Quality is paramount for Patagonia, as they combine expert evaluation, thorough testing, and continuous improvement to ensure their materials meet high standards. Through material testing laboratories, traceability requirements, and environmental responsibility programs, Patagonia maintains consistent quality while upholding their commitment to sustainability and ethical practices.</a:t>
            </a:r>
          </a:p>
          <a:p>
            <a:pPr algn="just">
              <a:lnSpc>
                <a:spcPts val="2940"/>
              </a:lnSpc>
            </a:pPr>
            <a:endParaRPr lang="en-US" sz="2100">
              <a:solidFill>
                <a:srgbClr val="1F2020"/>
              </a:solidFill>
              <a:latin typeface="Open Sans 2"/>
              <a:ea typeface="Open Sans 2"/>
              <a:cs typeface="Open Sans 2"/>
              <a:sym typeface="Open Sans 2"/>
            </a:endParaRPr>
          </a:p>
          <a:p>
            <a:pPr algn="just">
              <a:lnSpc>
                <a:spcPts val="2940"/>
              </a:lnSpc>
            </a:pPr>
            <a:endParaRPr lang="en-US" sz="2100">
              <a:solidFill>
                <a:srgbClr val="1F2020"/>
              </a:solidFill>
              <a:latin typeface="Open Sans 2"/>
              <a:ea typeface="Open Sans 2"/>
              <a:cs typeface="Open Sans 2"/>
              <a:sym typeface="Open Sans 2"/>
            </a:endParaRPr>
          </a:p>
          <a:p>
            <a:pPr algn="just">
              <a:lnSpc>
                <a:spcPts val="2940"/>
              </a:lnSpc>
              <a:spcBef>
                <a:spcPct val="0"/>
              </a:spcBef>
            </a:pPr>
            <a:endParaRPr lang="en-US" sz="2100">
              <a:solidFill>
                <a:srgbClr val="1F2020"/>
              </a:solidFill>
              <a:latin typeface="Open Sans 2"/>
              <a:ea typeface="Open Sans 2"/>
              <a:cs typeface="Open Sans 2"/>
              <a:sym typeface="Open Sans 2"/>
            </a:endParaRPr>
          </a:p>
        </p:txBody>
      </p:sp>
      <p:grpSp>
        <p:nvGrpSpPr>
          <p:cNvPr id="6" name="Group 6"/>
          <p:cNvGrpSpPr/>
          <p:nvPr/>
        </p:nvGrpSpPr>
        <p:grpSpPr>
          <a:xfrm>
            <a:off x="13231333" y="1028700"/>
            <a:ext cx="4027967" cy="8229600"/>
            <a:chOff x="0" y="0"/>
            <a:chExt cx="5370622" cy="10972800"/>
          </a:xfrm>
        </p:grpSpPr>
        <p:pic>
          <p:nvPicPr>
            <p:cNvPr id="7" name="Picture 7"/>
            <p:cNvPicPr>
              <a:picLocks noChangeAspect="1"/>
            </p:cNvPicPr>
            <p:nvPr/>
          </p:nvPicPr>
          <p:blipFill>
            <a:blip r:embed="rId2"/>
            <a:srcRect l="17879" r="17879"/>
            <a:stretch>
              <a:fillRect/>
            </a:stretch>
          </p:blipFill>
          <p:spPr>
            <a:xfrm>
              <a:off x="0" y="0"/>
              <a:ext cx="5370622" cy="10972800"/>
            </a:xfrm>
            <a:prstGeom prst="rect">
              <a:avLst/>
            </a:prstGeom>
          </p:spPr>
        </p:pic>
      </p:grpSp>
      <p:sp>
        <p:nvSpPr>
          <p:cNvPr id="8" name="TextBox 8"/>
          <p:cNvSpPr txBox="1"/>
          <p:nvPr/>
        </p:nvSpPr>
        <p:spPr>
          <a:xfrm>
            <a:off x="13438245" y="103315"/>
            <a:ext cx="4849755" cy="745871"/>
          </a:xfrm>
          <a:prstGeom prst="rect">
            <a:avLst/>
          </a:prstGeom>
        </p:spPr>
        <p:txBody>
          <a:bodyPr lIns="0" tIns="0" rIns="0" bIns="0" rtlCol="0" anchor="t">
            <a:spAutoFit/>
          </a:bodyPr>
          <a:lstStyle/>
          <a:p>
            <a:pPr algn="l">
              <a:lnSpc>
                <a:spcPts val="5632"/>
              </a:lnSpc>
            </a:pPr>
            <a:r>
              <a:rPr lang="en-US" sz="4400" b="1">
                <a:solidFill>
                  <a:srgbClr val="1E4541"/>
                </a:solidFill>
                <a:latin typeface="Poppins Bold"/>
                <a:ea typeface="Poppins Bold"/>
                <a:cs typeface="Poppins Bold"/>
                <a:sym typeface="Poppins Bold"/>
              </a:rPr>
              <a:t>Review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3461</Words>
  <Application>Microsoft Office PowerPoint</Application>
  <PresentationFormat>Custom</PresentationFormat>
  <Paragraphs>234</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Poppins Bold</vt:lpstr>
      <vt:lpstr>Open Sans 1 Italics</vt:lpstr>
      <vt:lpstr>Arial</vt:lpstr>
      <vt:lpstr>Open Sans 1 Bold</vt:lpstr>
      <vt:lpstr>Open Sans 2</vt:lpstr>
      <vt:lpstr>Calibri</vt:lpstr>
      <vt:lpstr>Open Sans 1</vt:lpstr>
      <vt:lpstr>Open Sans 2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Patagonia is an American retailer of outdoor recreation clothing. It was founded by Yvon Chouinard in 1973 and is based in Ventura, California. Patagonia operates stores in more than 10 countries globally, as well as factories in 16 countries. In 2023,</dc:title>
  <cp:lastModifiedBy>vinayak singh</cp:lastModifiedBy>
  <cp:revision>2</cp:revision>
  <dcterms:created xsi:type="dcterms:W3CDTF">2006-08-16T00:00:00Z</dcterms:created>
  <dcterms:modified xsi:type="dcterms:W3CDTF">2026-05-30T08:43:54Z</dcterms:modified>
  <dc:identifier>DAGDnxMPTCc</dc:identifier>
</cp:coreProperties>
</file>