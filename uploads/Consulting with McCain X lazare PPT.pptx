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8288000" cy="10287000"/>
  <p:notesSz cx="6858000" cy="9144000"/>
  <p:embeddedFontLst>
    <p:embeddedFont>
      <p:font typeface="Canva Sans" panose="020B0604020202020204" charset="0"/>
      <p:regular r:id="rId37"/>
    </p:embeddedFont>
    <p:embeddedFont>
      <p:font typeface="Canva Sans Bold" panose="020B0604020202020204" charset="0"/>
      <p:regular r:id="rId38"/>
    </p:embeddedFont>
    <p:embeddedFont>
      <p:font typeface="Cy Grotesk Wide Bold" panose="020B0604020202020204" charset="0"/>
      <p:regular r:id="rId39"/>
    </p:embeddedFont>
    <p:embeddedFont>
      <p:font typeface="DM Sans Bold" panose="020B0604020202020204" charset="0"/>
      <p:regular r:id="rId40"/>
    </p:embeddedFont>
    <p:embeddedFont>
      <p:font typeface="Gordita Bold" panose="020B0604020202020204" charset="0"/>
      <p:regular r:id="rId41"/>
    </p:embeddedFont>
    <p:embeddedFont>
      <p:font typeface="Montserrat" panose="00000500000000000000" pitchFamily="2" charset="0"/>
      <p:regular r:id="rId42"/>
    </p:embeddedFont>
    <p:embeddedFont>
      <p:font typeface="Montserrat Bold" panose="00000800000000000000" charset="0"/>
      <p:regular r:id="rId43"/>
    </p:embeddedFont>
    <p:embeddedFont>
      <p:font typeface="Montserrat Bold Italics" panose="020B0604020202020204" charset="0"/>
      <p:regular r:id="rId44"/>
    </p:embeddedFont>
    <p:embeddedFont>
      <p:font typeface="Montserrat Italics" panose="020B0604020202020204" charset="0"/>
      <p:regular r:id="rId45"/>
    </p:embeddedFont>
    <p:embeddedFont>
      <p:font typeface="Open Sans 1" panose="020B0604020202020204" charset="0"/>
      <p:regular r:id="rId46"/>
    </p:embeddedFont>
    <p:embeddedFont>
      <p:font typeface="Open Sans 1 Bold" panose="020B0604020202020204" charset="0"/>
      <p:regular r:id="rId47"/>
    </p:embeddedFont>
    <p:embeddedFont>
      <p:font typeface="Open Sans 2" panose="020B0604020202020204" charset="0"/>
      <p:regular r:id="rId48"/>
    </p:embeddedFont>
    <p:embeddedFont>
      <p:font typeface="Open Sans 2 Bold" panose="020B0604020202020204" charset="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4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4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6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26" Type="http://schemas.openxmlformats.org/officeDocument/2006/relationships/image" Target="../media/image98.png"/><Relationship Id="rId3" Type="http://schemas.openxmlformats.org/officeDocument/2006/relationships/image" Target="../media/image75.png"/><Relationship Id="rId21" Type="http://schemas.openxmlformats.org/officeDocument/2006/relationships/image" Target="../media/image93.svg"/><Relationship Id="rId7" Type="http://schemas.openxmlformats.org/officeDocument/2006/relationships/image" Target="../media/image79.png"/><Relationship Id="rId12" Type="http://schemas.openxmlformats.org/officeDocument/2006/relationships/image" Target="../media/image84.svg"/><Relationship Id="rId17" Type="http://schemas.openxmlformats.org/officeDocument/2006/relationships/image" Target="../media/image89.png"/><Relationship Id="rId25" Type="http://schemas.openxmlformats.org/officeDocument/2006/relationships/image" Target="../media/image97.png"/><Relationship Id="rId2" Type="http://schemas.openxmlformats.org/officeDocument/2006/relationships/image" Target="../media/image74.png"/><Relationship Id="rId16" Type="http://schemas.openxmlformats.org/officeDocument/2006/relationships/image" Target="../media/image88.png"/><Relationship Id="rId20" Type="http://schemas.openxmlformats.org/officeDocument/2006/relationships/image" Target="../media/image92.svg"/><Relationship Id="rId29" Type="http://schemas.openxmlformats.org/officeDocument/2006/relationships/image" Target="../media/image10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3.svg"/><Relationship Id="rId24" Type="http://schemas.openxmlformats.org/officeDocument/2006/relationships/image" Target="../media/image96.sv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23" Type="http://schemas.openxmlformats.org/officeDocument/2006/relationships/image" Target="../media/image95.svg"/><Relationship Id="rId28" Type="http://schemas.openxmlformats.org/officeDocument/2006/relationships/image" Target="../media/image100.png"/><Relationship Id="rId10" Type="http://schemas.openxmlformats.org/officeDocument/2006/relationships/image" Target="../media/image82.png"/><Relationship Id="rId19" Type="http://schemas.openxmlformats.org/officeDocument/2006/relationships/image" Target="../media/image91.sv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Relationship Id="rId22" Type="http://schemas.openxmlformats.org/officeDocument/2006/relationships/image" Target="../media/image94.svg"/><Relationship Id="rId27" Type="http://schemas.openxmlformats.org/officeDocument/2006/relationships/image" Target="../media/image99.svg"/><Relationship Id="rId30" Type="http://schemas.openxmlformats.org/officeDocument/2006/relationships/image" Target="../media/image102.sv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edheccom-my.sharepoint.com/:x:/g/personal/raviteja_sekhar_edhec_com/IQBPiHPCM6KLQIune8KSAiZ8Advr5rbN2jK2MuMAQemPqbQ?e=BoO5FJ" TargetMode="External"/><Relationship Id="rId2" Type="http://schemas.openxmlformats.org/officeDocument/2006/relationships/hyperlink" Target="https://1drv.ms/x/c/5fbd5c8b7a3a7265/IQC2St6M3A7MToezv9tNFra3AfPchBeUnPqJeKycBh0Prk8?e=jkNSz0" TargetMode="Externa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nva.com/design/DAG5KONXzdg/cRe5KLV2drXc9UoYlQD_bQ/edit?utm_content=DAG5KONXzdg&amp;utm_campaign=designshare&amp;utm_medium=link2&amp;utm_source=sharebutton" TargetMode="Externa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nva.com/design/DAG6Y1-_0aM/-ko_HKEpl5fmy5r94XsU3w/edit?utm_content=DAG6Y1-_0aM&amp;utm_campaign=designshare&amp;utm_medium=link2&amp;utm_source=sharebutto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90902" y="8234934"/>
            <a:ext cx="3742306" cy="1647787"/>
            <a:chOff x="0" y="0"/>
            <a:chExt cx="4989741" cy="21970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9703" cy="2195957"/>
            </a:xfrm>
            <a:custGeom>
              <a:avLst/>
              <a:gdLst/>
              <a:ahLst/>
              <a:cxnLst/>
              <a:rect l="l" t="t" r="r" b="b"/>
              <a:pathLst>
                <a:path w="4989703" h="2195957">
                  <a:moveTo>
                    <a:pt x="4989703" y="0"/>
                  </a:moveTo>
                  <a:lnTo>
                    <a:pt x="0" y="0"/>
                  </a:lnTo>
                  <a:lnTo>
                    <a:pt x="0" y="2195957"/>
                  </a:lnTo>
                  <a:lnTo>
                    <a:pt x="4989703" y="2195957"/>
                  </a:lnTo>
                  <a:lnTo>
                    <a:pt x="4989703" y="0"/>
                  </a:ln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731929" y="411747"/>
            <a:ext cx="9148534" cy="2079393"/>
            <a:chOff x="0" y="0"/>
            <a:chExt cx="12198045" cy="27725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6953" cy="2772029"/>
            </a:xfrm>
            <a:custGeom>
              <a:avLst/>
              <a:gdLst/>
              <a:ahLst/>
              <a:cxnLst/>
              <a:rect l="l" t="t" r="r" b="b"/>
              <a:pathLst>
                <a:path w="12196953" h="2772029">
                  <a:moveTo>
                    <a:pt x="12196953" y="0"/>
                  </a:moveTo>
                  <a:lnTo>
                    <a:pt x="0" y="0"/>
                  </a:lnTo>
                  <a:lnTo>
                    <a:pt x="0" y="2772029"/>
                  </a:lnTo>
                  <a:lnTo>
                    <a:pt x="12196953" y="2772029"/>
                  </a:lnTo>
                  <a:lnTo>
                    <a:pt x="12196953" y="0"/>
                  </a:lnTo>
                  <a:close/>
                </a:path>
              </a:pathLst>
            </a:custGeom>
            <a:solidFill>
              <a:srgbClr val="FFC82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15804" y="2470471"/>
            <a:ext cx="17463183" cy="5764463"/>
            <a:chOff x="0" y="0"/>
            <a:chExt cx="23284244" cy="76859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284180" cy="7685913"/>
            </a:xfrm>
            <a:custGeom>
              <a:avLst/>
              <a:gdLst/>
              <a:ahLst/>
              <a:cxnLst/>
              <a:rect l="l" t="t" r="r" b="b"/>
              <a:pathLst>
                <a:path w="23284180" h="7685913">
                  <a:moveTo>
                    <a:pt x="0" y="0"/>
                  </a:moveTo>
                  <a:lnTo>
                    <a:pt x="23284180" y="0"/>
                  </a:lnTo>
                  <a:lnTo>
                    <a:pt x="23284180" y="7685913"/>
                  </a:lnTo>
                  <a:lnTo>
                    <a:pt x="0" y="7685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" r="-1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04504" y="739581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6566583" y="1167995"/>
            <a:ext cx="1918483" cy="566897"/>
          </a:xfrm>
          <a:custGeom>
            <a:avLst/>
            <a:gdLst/>
            <a:ahLst/>
            <a:cxnLst/>
            <a:rect l="l" t="t" r="r" b="b"/>
            <a:pathLst>
              <a:path w="1918483" h="566897">
                <a:moveTo>
                  <a:pt x="0" y="0"/>
                </a:moveTo>
                <a:lnTo>
                  <a:pt x="1918483" y="0"/>
                </a:lnTo>
                <a:lnTo>
                  <a:pt x="1918483" y="566897"/>
                </a:lnTo>
                <a:lnTo>
                  <a:pt x="0" y="566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4146125" y="826900"/>
            <a:ext cx="2087083" cy="1249087"/>
          </a:xfrm>
          <a:custGeom>
            <a:avLst/>
            <a:gdLst/>
            <a:ahLst/>
            <a:cxnLst/>
            <a:rect l="l" t="t" r="r" b="b"/>
            <a:pathLst>
              <a:path w="2087083" h="1249087">
                <a:moveTo>
                  <a:pt x="0" y="0"/>
                </a:moveTo>
                <a:lnTo>
                  <a:pt x="2087083" y="0"/>
                </a:lnTo>
                <a:lnTo>
                  <a:pt x="2087083" y="1249087"/>
                </a:lnTo>
                <a:lnTo>
                  <a:pt x="0" y="1249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556536" y="7613496"/>
            <a:ext cx="2323927" cy="46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3264" i="1" spc="-32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2025-2026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3606" y="8646077"/>
            <a:ext cx="8415381" cy="364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3099"/>
              </a:lnSpc>
            </a:pPr>
            <a:r>
              <a:rPr lang="en-US" sz="1999" b="1" dirty="0">
                <a:solidFill>
                  <a:srgbClr val="5519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Vinayak SINGH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5804" y="9016682"/>
            <a:ext cx="2075097" cy="407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9"/>
              </a:lnSpc>
            </a:pPr>
            <a:r>
              <a:rPr lang="en-US" sz="2199" b="1">
                <a:solidFill>
                  <a:srgbClr val="5519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12th May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897267"/>
            <a:ext cx="16441322" cy="135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99"/>
              </a:lnSpc>
              <a:spcBef>
                <a:spcPct val="0"/>
              </a:spcBef>
            </a:pPr>
            <a:r>
              <a:rPr lang="en-US" sz="4764" b="1" i="1" u="none" strike="noStrike" spc="-47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FORESIGHT STUDY: UNLOCK THE POTENTIAL OF A NATIONAL BRAND/NGO PARTNERSHIP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918271" y="6376119"/>
            <a:ext cx="21176374" cy="0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565061" y="2188962"/>
            <a:ext cx="578939" cy="257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8"/>
              </a:lnSpc>
            </a:pPr>
            <a:r>
              <a:rPr lang="en-US" sz="14998" b="1">
                <a:solidFill>
                  <a:srgbClr val="5C1837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3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213512" y="5065209"/>
            <a:ext cx="0" cy="1901917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49761" y="2188962"/>
            <a:ext cx="578939" cy="257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8"/>
              </a:lnSpc>
            </a:pPr>
            <a:r>
              <a:rPr lang="en-US" sz="14998" b="1">
                <a:solidFill>
                  <a:srgbClr val="5C1837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1185" y="7940099"/>
            <a:ext cx="5698009" cy="61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BENCHMARKING</a:t>
            </a:r>
          </a:p>
        </p:txBody>
      </p:sp>
      <p:sp>
        <p:nvSpPr>
          <p:cNvPr id="7" name="Freeform 7"/>
          <p:cNvSpPr/>
          <p:nvPr/>
        </p:nvSpPr>
        <p:spPr>
          <a:xfrm rot="5400000">
            <a:off x="1629656" y="3979171"/>
            <a:ext cx="150163" cy="150163"/>
          </a:xfrm>
          <a:custGeom>
            <a:avLst/>
            <a:gdLst/>
            <a:ahLst/>
            <a:cxnLst/>
            <a:rect l="l" t="t" r="r" b="b"/>
            <a:pathLst>
              <a:path w="150163" h="150163">
                <a:moveTo>
                  <a:pt x="0" y="0"/>
                </a:moveTo>
                <a:lnTo>
                  <a:pt x="150163" y="0"/>
                </a:lnTo>
                <a:lnTo>
                  <a:pt x="150163" y="150163"/>
                </a:lnTo>
                <a:lnTo>
                  <a:pt x="0" y="150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5400000">
            <a:off x="1629656" y="4290136"/>
            <a:ext cx="150163" cy="150163"/>
          </a:xfrm>
          <a:custGeom>
            <a:avLst/>
            <a:gdLst/>
            <a:ahLst/>
            <a:cxnLst/>
            <a:rect l="l" t="t" r="r" b="b"/>
            <a:pathLst>
              <a:path w="150163" h="150163">
                <a:moveTo>
                  <a:pt x="0" y="0"/>
                </a:moveTo>
                <a:lnTo>
                  <a:pt x="150163" y="0"/>
                </a:lnTo>
                <a:lnTo>
                  <a:pt x="150163" y="150162"/>
                </a:lnTo>
                <a:lnTo>
                  <a:pt x="0" y="1501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5400000">
            <a:off x="1629656" y="4601100"/>
            <a:ext cx="150163" cy="150163"/>
          </a:xfrm>
          <a:custGeom>
            <a:avLst/>
            <a:gdLst/>
            <a:ahLst/>
            <a:cxnLst/>
            <a:rect l="l" t="t" r="r" b="b"/>
            <a:pathLst>
              <a:path w="150163" h="150163">
                <a:moveTo>
                  <a:pt x="0" y="0"/>
                </a:moveTo>
                <a:lnTo>
                  <a:pt x="150163" y="0"/>
                </a:lnTo>
                <a:lnTo>
                  <a:pt x="150163" y="150163"/>
                </a:lnTo>
                <a:lnTo>
                  <a:pt x="0" y="150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269493" y="7199376"/>
            <a:ext cx="1468843" cy="257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8"/>
              </a:lnSpc>
            </a:pPr>
            <a:r>
              <a:rPr lang="en-US" sz="14998" b="1">
                <a:solidFill>
                  <a:srgbClr val="5C1837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2</a:t>
            </a:r>
          </a:p>
        </p:txBody>
      </p:sp>
      <p:sp>
        <p:nvSpPr>
          <p:cNvPr id="11" name="AutoShape 11"/>
          <p:cNvSpPr/>
          <p:nvPr/>
        </p:nvSpPr>
        <p:spPr>
          <a:xfrm flipV="1">
            <a:off x="5003915" y="5846140"/>
            <a:ext cx="0" cy="1784636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flipV="1">
            <a:off x="9430443" y="4895182"/>
            <a:ext cx="0" cy="1901917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442204" y="2941930"/>
            <a:ext cx="5246866" cy="1251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EXECUTIVE RECOMMENDATION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90610" y="3091954"/>
            <a:ext cx="5357766" cy="61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3514" y="9447943"/>
            <a:ext cx="5485286" cy="32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19"/>
              </a:lnSpc>
              <a:spcBef>
                <a:spcPct val="0"/>
              </a:spcBef>
            </a:pPr>
            <a:r>
              <a:rPr lang="en-US" sz="1699" b="1" spc="90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EVOLUTION OF SUCCESSFUL PARTNERSHIP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03514" y="8814976"/>
            <a:ext cx="5815757" cy="32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19"/>
              </a:lnSpc>
              <a:spcBef>
                <a:spcPct val="0"/>
              </a:spcBef>
            </a:pPr>
            <a:r>
              <a:rPr lang="en-US" sz="1699" b="1" spc="90">
                <a:solidFill>
                  <a:srgbClr val="5C18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MATURITY GAP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03514" y="9131460"/>
            <a:ext cx="6039566" cy="32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19"/>
              </a:lnSpc>
              <a:spcBef>
                <a:spcPct val="0"/>
              </a:spcBef>
            </a:pPr>
            <a:r>
              <a:rPr lang="en-US" sz="1699" b="1" spc="90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SUCCESS CRITERIA</a:t>
            </a:r>
          </a:p>
        </p:txBody>
      </p:sp>
      <p:sp>
        <p:nvSpPr>
          <p:cNvPr id="18" name="Freeform 18"/>
          <p:cNvSpPr/>
          <p:nvPr/>
        </p:nvSpPr>
        <p:spPr>
          <a:xfrm rot="5400000">
            <a:off x="6185031" y="8881651"/>
            <a:ext cx="150163" cy="150163"/>
          </a:xfrm>
          <a:custGeom>
            <a:avLst/>
            <a:gdLst/>
            <a:ahLst/>
            <a:cxnLst/>
            <a:rect l="l" t="t" r="r" b="b"/>
            <a:pathLst>
              <a:path w="150163" h="150163">
                <a:moveTo>
                  <a:pt x="0" y="0"/>
                </a:moveTo>
                <a:lnTo>
                  <a:pt x="150163" y="0"/>
                </a:lnTo>
                <a:lnTo>
                  <a:pt x="150163" y="150163"/>
                </a:lnTo>
                <a:lnTo>
                  <a:pt x="0" y="150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 rot="5400000">
            <a:off x="6185031" y="9192616"/>
            <a:ext cx="150163" cy="150163"/>
          </a:xfrm>
          <a:custGeom>
            <a:avLst/>
            <a:gdLst/>
            <a:ahLst/>
            <a:cxnLst/>
            <a:rect l="l" t="t" r="r" b="b"/>
            <a:pathLst>
              <a:path w="150163" h="150163">
                <a:moveTo>
                  <a:pt x="0" y="0"/>
                </a:moveTo>
                <a:lnTo>
                  <a:pt x="150163" y="0"/>
                </a:lnTo>
                <a:lnTo>
                  <a:pt x="150163" y="150162"/>
                </a:lnTo>
                <a:lnTo>
                  <a:pt x="0" y="1501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5400000">
            <a:off x="6185031" y="9503580"/>
            <a:ext cx="150163" cy="150163"/>
          </a:xfrm>
          <a:custGeom>
            <a:avLst/>
            <a:gdLst/>
            <a:ahLst/>
            <a:cxnLst/>
            <a:rect l="l" t="t" r="r" b="b"/>
            <a:pathLst>
              <a:path w="150163" h="150163">
                <a:moveTo>
                  <a:pt x="0" y="0"/>
                </a:moveTo>
                <a:lnTo>
                  <a:pt x="150163" y="0"/>
                </a:lnTo>
                <a:lnTo>
                  <a:pt x="150163" y="150163"/>
                </a:lnTo>
                <a:lnTo>
                  <a:pt x="0" y="150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000431" y="3881499"/>
            <a:ext cx="5815757" cy="32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19"/>
              </a:lnSpc>
              <a:spcBef>
                <a:spcPct val="0"/>
              </a:spcBef>
            </a:pPr>
            <a:r>
              <a:rPr lang="en-US" sz="1699" b="1" spc="90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PARTNERSHIP CONTEXT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79844" y="4223461"/>
            <a:ext cx="5815757" cy="32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19"/>
              </a:lnSpc>
              <a:spcBef>
                <a:spcPct val="0"/>
              </a:spcBef>
            </a:pPr>
            <a:r>
              <a:rPr lang="en-US" sz="1699" b="1" spc="90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SCQA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79844" y="4571966"/>
            <a:ext cx="7431549" cy="32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19"/>
              </a:lnSpc>
              <a:spcBef>
                <a:spcPct val="0"/>
              </a:spcBef>
            </a:pPr>
            <a:r>
              <a:rPr lang="en-US" sz="1699" b="1" spc="90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TAKEAWAY </a:t>
            </a:r>
          </a:p>
        </p:txBody>
      </p:sp>
      <p:sp>
        <p:nvSpPr>
          <p:cNvPr id="24" name="AutoShape 24"/>
          <p:cNvSpPr/>
          <p:nvPr/>
        </p:nvSpPr>
        <p:spPr>
          <a:xfrm flipV="1">
            <a:off x="13569157" y="5846140"/>
            <a:ext cx="0" cy="1901917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2583242" y="7267147"/>
            <a:ext cx="1497211" cy="257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8"/>
              </a:lnSpc>
            </a:pPr>
            <a:r>
              <a:rPr lang="en-US" sz="14998" b="1">
                <a:solidFill>
                  <a:srgbClr val="5C1837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219969" y="7940099"/>
            <a:ext cx="4476035" cy="61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27" name="Freeform 27"/>
          <p:cNvSpPr/>
          <p:nvPr/>
        </p:nvSpPr>
        <p:spPr>
          <a:xfrm rot="5400000">
            <a:off x="10292041" y="4364967"/>
            <a:ext cx="150163" cy="150163"/>
          </a:xfrm>
          <a:custGeom>
            <a:avLst/>
            <a:gdLst/>
            <a:ahLst/>
            <a:cxnLst/>
            <a:rect l="l" t="t" r="r" b="b"/>
            <a:pathLst>
              <a:path w="150163" h="150163">
                <a:moveTo>
                  <a:pt x="0" y="0"/>
                </a:moveTo>
                <a:lnTo>
                  <a:pt x="150163" y="0"/>
                </a:lnTo>
                <a:lnTo>
                  <a:pt x="150163" y="150162"/>
                </a:lnTo>
                <a:lnTo>
                  <a:pt x="0" y="1501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5400000">
            <a:off x="10292041" y="4746385"/>
            <a:ext cx="150163" cy="150163"/>
          </a:xfrm>
          <a:custGeom>
            <a:avLst/>
            <a:gdLst/>
            <a:ahLst/>
            <a:cxnLst/>
            <a:rect l="l" t="t" r="r" b="b"/>
            <a:pathLst>
              <a:path w="150163" h="150163">
                <a:moveTo>
                  <a:pt x="0" y="0"/>
                </a:moveTo>
                <a:lnTo>
                  <a:pt x="150163" y="0"/>
                </a:lnTo>
                <a:lnTo>
                  <a:pt x="150163" y="150163"/>
                </a:lnTo>
                <a:lnTo>
                  <a:pt x="0" y="150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0642229" y="4298292"/>
            <a:ext cx="5815757" cy="32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19"/>
              </a:lnSpc>
              <a:spcBef>
                <a:spcPct val="0"/>
              </a:spcBef>
            </a:pPr>
            <a:r>
              <a:rPr lang="en-US" sz="1699" b="1" spc="90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PILLAR 1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23634" y="9477518"/>
            <a:ext cx="1655388" cy="404412"/>
            <a:chOff x="0" y="0"/>
            <a:chExt cx="2207184" cy="53921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07133" cy="539242"/>
            </a:xfrm>
            <a:custGeom>
              <a:avLst/>
              <a:gdLst/>
              <a:ahLst/>
              <a:cxnLst/>
              <a:rect l="l" t="t" r="r" b="b"/>
              <a:pathLst>
                <a:path w="2207133" h="539242">
                  <a:moveTo>
                    <a:pt x="0" y="0"/>
                  </a:moveTo>
                  <a:lnTo>
                    <a:pt x="2207133" y="0"/>
                  </a:lnTo>
                  <a:lnTo>
                    <a:pt x="2207133" y="539242"/>
                  </a:lnTo>
                  <a:lnTo>
                    <a:pt x="0" y="53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66" r="-2" b="-45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3929944" y="9691430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958311" y="823893"/>
            <a:ext cx="4164844" cy="823893"/>
            <a:chOff x="0" y="0"/>
            <a:chExt cx="5553126" cy="109852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552313" cy="1098042"/>
            </a:xfrm>
            <a:custGeom>
              <a:avLst/>
              <a:gdLst/>
              <a:ahLst/>
              <a:cxnLst/>
              <a:rect l="l" t="t" r="r" b="b"/>
              <a:pathLst>
                <a:path w="5552313" h="1098042">
                  <a:moveTo>
                    <a:pt x="0" y="1098042"/>
                  </a:moveTo>
                  <a:lnTo>
                    <a:pt x="5552313" y="1098042"/>
                  </a:lnTo>
                  <a:lnTo>
                    <a:pt x="5552313" y="0"/>
                  </a:lnTo>
                  <a:lnTo>
                    <a:pt x="0" y="0"/>
                  </a:lnTo>
                  <a:lnTo>
                    <a:pt x="0" y="1098042"/>
                  </a:lnTo>
                  <a:close/>
                </a:path>
              </a:pathLst>
            </a:custGeom>
            <a:solidFill>
              <a:srgbClr val="37B39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466953" y="565087"/>
            <a:ext cx="4922679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sz="4500" b="1" spc="-56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Table of content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642229" y="4626521"/>
            <a:ext cx="5815757" cy="32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19"/>
              </a:lnSpc>
              <a:spcBef>
                <a:spcPct val="0"/>
              </a:spcBef>
            </a:pPr>
            <a:r>
              <a:rPr lang="en-US" sz="1699" b="1" spc="90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PILLAR 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538452" y="8761787"/>
            <a:ext cx="3093120" cy="32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19"/>
              </a:lnSpc>
              <a:spcBef>
                <a:spcPct val="0"/>
              </a:spcBef>
            </a:pPr>
            <a:r>
              <a:rPr lang="en-US" sz="1699" b="1" spc="90">
                <a:solidFill>
                  <a:srgbClr val="5C18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IMPLEMENTATION PLAN</a:t>
            </a:r>
          </a:p>
        </p:txBody>
      </p:sp>
      <p:sp>
        <p:nvSpPr>
          <p:cNvPr id="38" name="Freeform 38"/>
          <p:cNvSpPr/>
          <p:nvPr/>
        </p:nvSpPr>
        <p:spPr>
          <a:xfrm rot="5400000">
            <a:off x="14347153" y="8881651"/>
            <a:ext cx="150163" cy="150163"/>
          </a:xfrm>
          <a:custGeom>
            <a:avLst/>
            <a:gdLst/>
            <a:ahLst/>
            <a:cxnLst/>
            <a:rect l="l" t="t" r="r" b="b"/>
            <a:pathLst>
              <a:path w="150163" h="150163">
                <a:moveTo>
                  <a:pt x="0" y="0"/>
                </a:moveTo>
                <a:lnTo>
                  <a:pt x="150163" y="0"/>
                </a:lnTo>
                <a:lnTo>
                  <a:pt x="150163" y="150163"/>
                </a:lnTo>
                <a:lnTo>
                  <a:pt x="0" y="150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9" name="Group 39"/>
          <p:cNvGrpSpPr/>
          <p:nvPr/>
        </p:nvGrpSpPr>
        <p:grpSpPr>
          <a:xfrm>
            <a:off x="14123156" y="0"/>
            <a:ext cx="4164844" cy="823893"/>
            <a:chOff x="0" y="0"/>
            <a:chExt cx="5553126" cy="109852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552313" cy="1098042"/>
            </a:xfrm>
            <a:custGeom>
              <a:avLst/>
              <a:gdLst/>
              <a:ahLst/>
              <a:cxnLst/>
              <a:rect l="l" t="t" r="r" b="b"/>
              <a:pathLst>
                <a:path w="5552313" h="1098042">
                  <a:moveTo>
                    <a:pt x="0" y="1098042"/>
                  </a:moveTo>
                  <a:lnTo>
                    <a:pt x="5552313" y="1098042"/>
                  </a:lnTo>
                  <a:lnTo>
                    <a:pt x="5552313" y="0"/>
                  </a:lnTo>
                  <a:lnTo>
                    <a:pt x="0" y="0"/>
                  </a:lnTo>
                  <a:lnTo>
                    <a:pt x="0" y="1098042"/>
                  </a:ln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1582" y="-860262"/>
            <a:ext cx="6209021" cy="11297240"/>
            <a:chOff x="0" y="0"/>
            <a:chExt cx="677600" cy="1232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7600" cy="1232885"/>
            </a:xfrm>
            <a:custGeom>
              <a:avLst/>
              <a:gdLst/>
              <a:ahLst/>
              <a:cxnLst/>
              <a:rect l="l" t="t" r="r" b="b"/>
              <a:pathLst>
                <a:path w="677600" h="1232885">
                  <a:moveTo>
                    <a:pt x="0" y="0"/>
                  </a:moveTo>
                  <a:lnTo>
                    <a:pt x="677600" y="0"/>
                  </a:lnTo>
                  <a:lnTo>
                    <a:pt x="677600" y="1232885"/>
                  </a:lnTo>
                  <a:lnTo>
                    <a:pt x="0" y="1232885"/>
                  </a:ln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677600" cy="1194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42389" y="2935198"/>
            <a:ext cx="11074086" cy="3706319"/>
            <a:chOff x="0" y="0"/>
            <a:chExt cx="14765448" cy="4941759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797462"/>
              <a:ext cx="7039824" cy="4144297"/>
              <a:chOff x="0" y="0"/>
              <a:chExt cx="1390582" cy="81862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390582" cy="818627"/>
              </a:xfrm>
              <a:custGeom>
                <a:avLst/>
                <a:gdLst/>
                <a:ahLst/>
                <a:cxnLst/>
                <a:rect l="l" t="t" r="r" b="b"/>
                <a:pathLst>
                  <a:path w="1390582" h="818627">
                    <a:moveTo>
                      <a:pt x="74782" y="0"/>
                    </a:moveTo>
                    <a:lnTo>
                      <a:pt x="1315801" y="0"/>
                    </a:lnTo>
                    <a:cubicBezTo>
                      <a:pt x="1357102" y="0"/>
                      <a:pt x="1390582" y="33481"/>
                      <a:pt x="1390582" y="74782"/>
                    </a:cubicBezTo>
                    <a:lnTo>
                      <a:pt x="1390582" y="743845"/>
                    </a:lnTo>
                    <a:cubicBezTo>
                      <a:pt x="1390582" y="763678"/>
                      <a:pt x="1382704" y="782699"/>
                      <a:pt x="1368679" y="796724"/>
                    </a:cubicBezTo>
                    <a:cubicBezTo>
                      <a:pt x="1354655" y="810748"/>
                      <a:pt x="1335634" y="818627"/>
                      <a:pt x="1315801" y="818627"/>
                    </a:cubicBezTo>
                    <a:lnTo>
                      <a:pt x="74782" y="818627"/>
                    </a:lnTo>
                    <a:cubicBezTo>
                      <a:pt x="54948" y="818627"/>
                      <a:pt x="35927" y="810748"/>
                      <a:pt x="21903" y="796724"/>
                    </a:cubicBezTo>
                    <a:cubicBezTo>
                      <a:pt x="7879" y="782699"/>
                      <a:pt x="0" y="763678"/>
                      <a:pt x="0" y="743845"/>
                    </a:cubicBezTo>
                    <a:lnTo>
                      <a:pt x="0" y="74782"/>
                    </a:lnTo>
                    <a:cubicBezTo>
                      <a:pt x="0" y="54948"/>
                      <a:pt x="7879" y="35927"/>
                      <a:pt x="21903" y="21903"/>
                    </a:cubicBezTo>
                    <a:cubicBezTo>
                      <a:pt x="35927" y="7879"/>
                      <a:pt x="54948" y="0"/>
                      <a:pt x="74782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390582" cy="856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453390" lvl="1" indent="-226695" algn="l">
                  <a:lnSpc>
                    <a:spcPts val="2940"/>
                  </a:lnSpc>
                  <a:buFont typeface="Arial"/>
                  <a:buChar char="•"/>
                </a:pPr>
                <a:r>
                  <a:rPr lang="en-US" sz="2100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Financial donations</a:t>
                </a:r>
              </a:p>
              <a:p>
                <a:pPr marL="453390" lvl="1" indent="-226695" algn="l">
                  <a:lnSpc>
                    <a:spcPts val="2940"/>
                  </a:lnSpc>
                  <a:buFont typeface="Arial"/>
                  <a:buChar char="•"/>
                </a:pPr>
                <a:r>
                  <a:rPr lang="en-US" sz="2100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Events &amp; chef collaborations</a:t>
                </a:r>
              </a:p>
              <a:p>
                <a:pPr marL="453390" lvl="1" indent="-226695" algn="l">
                  <a:lnSpc>
                    <a:spcPts val="2940"/>
                  </a:lnSpc>
                  <a:buFont typeface="Arial"/>
                  <a:buChar char="•"/>
                </a:pPr>
                <a:r>
                  <a:rPr lang="en-US" sz="2100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Employee volunteering</a:t>
                </a:r>
              </a:p>
              <a:p>
                <a:pPr marL="453390" lvl="1" indent="-226695" algn="l">
                  <a:lnSpc>
                    <a:spcPts val="2940"/>
                  </a:lnSpc>
                  <a:buFont typeface="Arial"/>
                  <a:buChar char="•"/>
                </a:pPr>
                <a:r>
                  <a:rPr lang="en-US" sz="2100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Digital communication</a:t>
                </a:r>
              </a:p>
              <a:p>
                <a:pPr marL="453390" lvl="1" indent="-226695" algn="l">
                  <a:lnSpc>
                    <a:spcPts val="2940"/>
                  </a:lnSpc>
                  <a:buFont typeface="Arial"/>
                  <a:buChar char="•"/>
                </a:pPr>
                <a:r>
                  <a:rPr lang="en-US" sz="2100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On-pack visibility</a:t>
                </a:r>
              </a:p>
              <a:p>
                <a:pPr marL="0" lvl="0" indent="0" algn="l">
                  <a:lnSpc>
                    <a:spcPts val="2940"/>
                  </a:lnSpc>
                </a:pPr>
                <a:endPara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7725624" y="797462"/>
              <a:ext cx="7039824" cy="4144297"/>
              <a:chOff x="0" y="0"/>
              <a:chExt cx="1390582" cy="81862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390582" cy="818627"/>
              </a:xfrm>
              <a:custGeom>
                <a:avLst/>
                <a:gdLst/>
                <a:ahLst/>
                <a:cxnLst/>
                <a:rect l="l" t="t" r="r" b="b"/>
                <a:pathLst>
                  <a:path w="1390582" h="818627">
                    <a:moveTo>
                      <a:pt x="74782" y="0"/>
                    </a:moveTo>
                    <a:lnTo>
                      <a:pt x="1315801" y="0"/>
                    </a:lnTo>
                    <a:cubicBezTo>
                      <a:pt x="1357102" y="0"/>
                      <a:pt x="1390582" y="33481"/>
                      <a:pt x="1390582" y="74782"/>
                    </a:cubicBezTo>
                    <a:lnTo>
                      <a:pt x="1390582" y="743845"/>
                    </a:lnTo>
                    <a:cubicBezTo>
                      <a:pt x="1390582" y="763678"/>
                      <a:pt x="1382704" y="782699"/>
                      <a:pt x="1368679" y="796724"/>
                    </a:cubicBezTo>
                    <a:cubicBezTo>
                      <a:pt x="1354655" y="810748"/>
                      <a:pt x="1335634" y="818627"/>
                      <a:pt x="1315801" y="818627"/>
                    </a:cubicBezTo>
                    <a:lnTo>
                      <a:pt x="74782" y="818627"/>
                    </a:lnTo>
                    <a:cubicBezTo>
                      <a:pt x="54948" y="818627"/>
                      <a:pt x="35927" y="810748"/>
                      <a:pt x="21903" y="796724"/>
                    </a:cubicBezTo>
                    <a:cubicBezTo>
                      <a:pt x="7879" y="782699"/>
                      <a:pt x="0" y="763678"/>
                      <a:pt x="0" y="743845"/>
                    </a:cubicBezTo>
                    <a:lnTo>
                      <a:pt x="0" y="74782"/>
                    </a:lnTo>
                    <a:cubicBezTo>
                      <a:pt x="0" y="54948"/>
                      <a:pt x="7879" y="35927"/>
                      <a:pt x="21903" y="21903"/>
                    </a:cubicBezTo>
                    <a:cubicBezTo>
                      <a:pt x="35927" y="7879"/>
                      <a:pt x="54948" y="0"/>
                      <a:pt x="74782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390582" cy="856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453390" lvl="1" indent="-226695" algn="l">
                  <a:lnSpc>
                    <a:spcPts val="2940"/>
                  </a:lnSpc>
                  <a:buFont typeface="Arial"/>
                  <a:buChar char="•"/>
                </a:pPr>
                <a:r>
                  <a:rPr lang="en-US" sz="2100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McCain’s “Born to Share” positioning was not strongly associated with Lazare </a:t>
                </a:r>
              </a:p>
              <a:p>
                <a:pPr marL="453390" lvl="1" indent="-226695" algn="l">
                  <a:lnSpc>
                    <a:spcPts val="2940"/>
                  </a:lnSpc>
                  <a:buFont typeface="Arial"/>
                  <a:buChar char="•"/>
                </a:pPr>
                <a:r>
                  <a:rPr lang="en-US" sz="2100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Emotional brand equity impact remained limited </a:t>
                </a:r>
              </a:p>
              <a:p>
                <a:pPr marL="453390" lvl="1" indent="-226695" algn="l">
                  <a:lnSpc>
                    <a:spcPts val="2940"/>
                  </a:lnSpc>
                  <a:buFont typeface="Arial"/>
                  <a:buChar char="•"/>
                </a:pPr>
                <a:r>
                  <a:rPr lang="en-US" sz="2100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Clear KPI or long-term activation framework missing </a:t>
                </a: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991149" y="-38100"/>
              <a:ext cx="3057525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1">
                  <a:solidFill>
                    <a:srgbClr val="5F193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Main Initiatives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39157" y="-38100"/>
              <a:ext cx="3012758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1">
                  <a:solidFill>
                    <a:srgbClr val="5F193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Challenges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5352" y="4123488"/>
            <a:ext cx="5052135" cy="5841125"/>
            <a:chOff x="0" y="0"/>
            <a:chExt cx="6736180" cy="7788166"/>
          </a:xfrm>
        </p:grpSpPr>
        <p:sp>
          <p:nvSpPr>
            <p:cNvPr id="15" name="Freeform 15"/>
            <p:cNvSpPr/>
            <p:nvPr/>
          </p:nvSpPr>
          <p:spPr>
            <a:xfrm>
              <a:off x="1906905" y="4460321"/>
              <a:ext cx="2922362" cy="863536"/>
            </a:xfrm>
            <a:custGeom>
              <a:avLst/>
              <a:gdLst/>
              <a:ahLst/>
              <a:cxnLst/>
              <a:rect l="l" t="t" r="r" b="b"/>
              <a:pathLst>
                <a:path w="2922362" h="863536">
                  <a:moveTo>
                    <a:pt x="0" y="0"/>
                  </a:moveTo>
                  <a:lnTo>
                    <a:pt x="2922362" y="0"/>
                  </a:lnTo>
                  <a:lnTo>
                    <a:pt x="2922362" y="863536"/>
                  </a:lnTo>
                  <a:lnTo>
                    <a:pt x="0" y="863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 rot="-312264">
              <a:off x="1976705" y="122779"/>
              <a:ext cx="2782777" cy="1665450"/>
            </a:xfrm>
            <a:custGeom>
              <a:avLst/>
              <a:gdLst/>
              <a:ahLst/>
              <a:cxnLst/>
              <a:rect l="l" t="t" r="r" b="b"/>
              <a:pathLst>
                <a:path w="2782777" h="1665450">
                  <a:moveTo>
                    <a:pt x="0" y="0"/>
                  </a:moveTo>
                  <a:lnTo>
                    <a:pt x="2782777" y="0"/>
                  </a:lnTo>
                  <a:lnTo>
                    <a:pt x="2782777" y="1665450"/>
                  </a:lnTo>
                  <a:lnTo>
                    <a:pt x="0" y="1665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" y="2263432"/>
              <a:ext cx="6736172" cy="1815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5439" lvl="1" indent="-172720" algn="just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Global leader in frozen potato products</a:t>
              </a:r>
            </a:p>
            <a:p>
              <a:pPr marL="345439" lvl="1" indent="-172720" algn="just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Presence in 160+ countries</a:t>
              </a:r>
            </a:p>
            <a:p>
              <a:pPr marL="345439" lvl="1" indent="-172720" algn="just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~42% frozen fries market share in France</a:t>
              </a:r>
            </a:p>
            <a:p>
              <a:pPr marL="345439" lvl="1" indent="-172720" algn="just">
                <a:lnSpc>
                  <a:spcPts val="2239"/>
                </a:lnSpc>
                <a:buFont typeface="Arial"/>
                <a:buChar char="•"/>
              </a:pPr>
              <a:r>
                <a:rPr lang="en-US" sz="1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Brand platform: “Born to Share”</a:t>
              </a:r>
            </a:p>
            <a:p>
              <a:pPr algn="just">
                <a:lnSpc>
                  <a:spcPts val="2239"/>
                </a:lnSpc>
              </a:pPr>
              <a:endParaRPr lang="en-US" sz="1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5676791"/>
              <a:ext cx="6736172" cy="2111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 indent="-161925" algn="just">
                <a:lnSpc>
                  <a:spcPts val="2100"/>
                </a:lnSpc>
                <a:buFont typeface="Arial"/>
                <a:buChar char="•"/>
              </a:pPr>
              <a:r>
                <a:rPr lang="en-US" sz="15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French NGO founded in 2010</a:t>
              </a:r>
            </a:p>
            <a:p>
              <a:pPr marL="323850" lvl="1" indent="-161925" algn="just">
                <a:lnSpc>
                  <a:spcPts val="2100"/>
                </a:lnSpc>
                <a:buFont typeface="Arial"/>
                <a:buChar char="•"/>
              </a:pPr>
              <a:r>
                <a:rPr lang="en-US" sz="15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Shared housing model</a:t>
              </a:r>
            </a:p>
            <a:p>
              <a:pPr marL="323850" lvl="1" indent="-161925" algn="just">
                <a:lnSpc>
                  <a:spcPts val="2100"/>
                </a:lnSpc>
                <a:buFont typeface="Arial"/>
                <a:buChar char="•"/>
              </a:pPr>
              <a:r>
                <a:rPr lang="en-US" sz="15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Homeless individuals + young professionals living together</a:t>
              </a:r>
            </a:p>
            <a:p>
              <a:pPr marL="323850" lvl="1" indent="-161925" algn="just">
                <a:lnSpc>
                  <a:spcPts val="2100"/>
                </a:lnSpc>
                <a:buFont typeface="Arial"/>
                <a:buChar char="•"/>
              </a:pPr>
              <a:r>
                <a:rPr lang="en-US" sz="15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Focus: Dignity, inclusion, social reintegration</a:t>
              </a:r>
            </a:p>
            <a:p>
              <a:pPr algn="just">
                <a:lnSpc>
                  <a:spcPts val="2100"/>
                </a:lnSpc>
              </a:pPr>
              <a:endParaRPr lang="en-US" sz="1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11095599" y="8534154"/>
            <a:ext cx="1103985" cy="513353"/>
          </a:xfrm>
          <a:custGeom>
            <a:avLst/>
            <a:gdLst/>
            <a:ahLst/>
            <a:cxnLst/>
            <a:rect l="l" t="t" r="r" b="b"/>
            <a:pathLst>
              <a:path w="1103985" h="513353">
                <a:moveTo>
                  <a:pt x="0" y="0"/>
                </a:moveTo>
                <a:lnTo>
                  <a:pt x="1103985" y="0"/>
                </a:lnTo>
                <a:lnTo>
                  <a:pt x="1103985" y="513353"/>
                </a:lnTo>
                <a:lnTo>
                  <a:pt x="0" y="513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356864" y="461281"/>
            <a:ext cx="5052129" cy="82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49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McCain X Lazare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6864" y="1451233"/>
            <a:ext cx="7748256" cy="61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Partnership Context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6864" y="2433118"/>
            <a:ext cx="5229111" cy="1461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partnership successfully supported Lazare’s social mission but remained primarily donation-driven and disconnected from McCain’s commercial ecosystem.</a:t>
            </a:r>
          </a:p>
          <a:p>
            <a:pPr algn="just">
              <a:lnSpc>
                <a:spcPts val="2380"/>
              </a:lnSpc>
            </a:pPr>
            <a:endParaRPr lang="en-US" sz="17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8265940" y="817234"/>
            <a:ext cx="7205757" cy="1401347"/>
            <a:chOff x="0" y="0"/>
            <a:chExt cx="9607676" cy="1868463"/>
          </a:xfrm>
        </p:grpSpPr>
        <p:sp>
          <p:nvSpPr>
            <p:cNvPr id="24" name="TextBox 24"/>
            <p:cNvSpPr txBox="1"/>
            <p:nvPr/>
          </p:nvSpPr>
          <p:spPr>
            <a:xfrm>
              <a:off x="0" y="9525"/>
              <a:ext cx="4265523" cy="18589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180"/>
                </a:lnSpc>
              </a:pPr>
              <a:r>
                <a:rPr lang="en-US" sz="6828" b="1" spc="-54">
                  <a:solidFill>
                    <a:srgbClr val="5F193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€300K</a:t>
              </a:r>
            </a:p>
            <a:p>
              <a:pPr algn="ctr">
                <a:lnSpc>
                  <a:spcPts val="2875"/>
                </a:lnSpc>
              </a:pPr>
              <a:r>
                <a:rPr lang="en-US" sz="2400" b="1" spc="-20">
                  <a:solidFill>
                    <a:srgbClr val="5F193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Donated  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37123" y="9525"/>
              <a:ext cx="3970553" cy="18589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180"/>
                </a:lnSpc>
              </a:pPr>
              <a:r>
                <a:rPr lang="en-US" sz="6828" b="1" spc="-54">
                  <a:solidFill>
                    <a:srgbClr val="5F193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3-year</a:t>
              </a:r>
            </a:p>
            <a:p>
              <a:pPr algn="ctr">
                <a:lnSpc>
                  <a:spcPts val="2875"/>
                </a:lnSpc>
              </a:pPr>
              <a:r>
                <a:rPr lang="en-US" sz="2400" b="1" spc="-20">
                  <a:solidFill>
                    <a:srgbClr val="5F193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Partnership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773675" y="7552565"/>
            <a:ext cx="73307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5F19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Strategic Ambition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363" y="8422000"/>
            <a:ext cx="3471212" cy="71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223" spc="-1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Transactional</a:t>
            </a:r>
          </a:p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223" spc="-1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CSR donation model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51234" y="8603004"/>
            <a:ext cx="3554909" cy="35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223" spc="-1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Shared Value Partnership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929944" y="9691430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2225771" y="-175953"/>
            <a:ext cx="4991858" cy="6124979"/>
          </a:xfrm>
          <a:custGeom>
            <a:avLst/>
            <a:gdLst/>
            <a:ahLst/>
            <a:cxnLst/>
            <a:rect l="l" t="t" r="r" b="b"/>
            <a:pathLst>
              <a:path w="4991858" h="6124979">
                <a:moveTo>
                  <a:pt x="0" y="0"/>
                </a:moveTo>
                <a:lnTo>
                  <a:pt x="4991858" y="0"/>
                </a:lnTo>
                <a:lnTo>
                  <a:pt x="4991858" y="6124979"/>
                </a:lnTo>
                <a:lnTo>
                  <a:pt x="0" y="61249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 flipV="1">
            <a:off x="6041781" y="-175953"/>
            <a:ext cx="4991858" cy="6124979"/>
          </a:xfrm>
          <a:custGeom>
            <a:avLst/>
            <a:gdLst/>
            <a:ahLst/>
            <a:cxnLst/>
            <a:rect l="l" t="t" r="r" b="b"/>
            <a:pathLst>
              <a:path w="4991858" h="6124979">
                <a:moveTo>
                  <a:pt x="0" y="6124979"/>
                </a:moveTo>
                <a:lnTo>
                  <a:pt x="4991858" y="6124979"/>
                </a:lnTo>
                <a:lnTo>
                  <a:pt x="4991858" y="0"/>
                </a:lnTo>
                <a:lnTo>
                  <a:pt x="0" y="0"/>
                </a:lnTo>
                <a:lnTo>
                  <a:pt x="0" y="612497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 flipH="1">
            <a:off x="12225771" y="4363320"/>
            <a:ext cx="4991858" cy="6124979"/>
          </a:xfrm>
          <a:custGeom>
            <a:avLst/>
            <a:gdLst/>
            <a:ahLst/>
            <a:cxnLst/>
            <a:rect l="l" t="t" r="r" b="b"/>
            <a:pathLst>
              <a:path w="4991858" h="6124979">
                <a:moveTo>
                  <a:pt x="4991858" y="0"/>
                </a:moveTo>
                <a:lnTo>
                  <a:pt x="0" y="0"/>
                </a:lnTo>
                <a:lnTo>
                  <a:pt x="0" y="6124979"/>
                </a:lnTo>
                <a:lnTo>
                  <a:pt x="4991858" y="6124979"/>
                </a:lnTo>
                <a:lnTo>
                  <a:pt x="499185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 flipH="1" flipV="1">
            <a:off x="6041781" y="4363320"/>
            <a:ext cx="4991858" cy="6124979"/>
          </a:xfrm>
          <a:custGeom>
            <a:avLst/>
            <a:gdLst/>
            <a:ahLst/>
            <a:cxnLst/>
            <a:rect l="l" t="t" r="r" b="b"/>
            <a:pathLst>
              <a:path w="4991858" h="6124979">
                <a:moveTo>
                  <a:pt x="4991858" y="6124979"/>
                </a:moveTo>
                <a:lnTo>
                  <a:pt x="0" y="6124979"/>
                </a:lnTo>
                <a:lnTo>
                  <a:pt x="0" y="0"/>
                </a:lnTo>
                <a:lnTo>
                  <a:pt x="4991858" y="0"/>
                </a:lnTo>
                <a:lnTo>
                  <a:pt x="4991858" y="612497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500904" y="2577601"/>
            <a:ext cx="4758256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29" lvl="1" indent="-183514" algn="l">
              <a:lnSpc>
                <a:spcPts val="2039"/>
              </a:lnSpc>
              <a:buFont typeface="Arial"/>
              <a:buChar char="•"/>
            </a:pPr>
            <a:r>
              <a:rPr lang="en-US" sz="1699">
                <a:solidFill>
                  <a:srgbClr val="1A362E"/>
                </a:solidFill>
                <a:latin typeface="Montserrat"/>
                <a:ea typeface="Montserrat"/>
                <a:cs typeface="Montserrat"/>
                <a:sym typeface="Montserrat"/>
              </a:rPr>
              <a:t>Strong alignment:</a:t>
            </a:r>
          </a:p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A362E"/>
                </a:solidFill>
                <a:latin typeface="Montserrat"/>
                <a:ea typeface="Montserrat"/>
                <a:cs typeface="Montserrat"/>
                <a:sym typeface="Montserrat"/>
              </a:rPr>
              <a:t>      “Born to Share” × social reintegration</a:t>
            </a:r>
          </a:p>
          <a:p>
            <a:pPr algn="l">
              <a:lnSpc>
                <a:spcPts val="2039"/>
              </a:lnSpc>
            </a:pPr>
            <a:endParaRPr lang="en-US" sz="1699">
              <a:solidFill>
                <a:srgbClr val="1A362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67029" lvl="1" indent="-183514" algn="l">
              <a:lnSpc>
                <a:spcPts val="2039"/>
              </a:lnSpc>
              <a:buFont typeface="Arial"/>
              <a:buChar char="•"/>
            </a:pPr>
            <a:r>
              <a:rPr lang="en-US" sz="1699">
                <a:solidFill>
                  <a:srgbClr val="1A362E"/>
                </a:solidFill>
                <a:latin typeface="Montserrat"/>
                <a:ea typeface="Montserrat"/>
                <a:cs typeface="Montserrat"/>
                <a:sym typeface="Montserrat"/>
              </a:rPr>
              <a:t>Existing initiatives:</a:t>
            </a:r>
          </a:p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A362E"/>
                </a:solidFill>
                <a:latin typeface="Montserrat"/>
                <a:ea typeface="Montserrat"/>
                <a:cs typeface="Montserrat"/>
                <a:sym typeface="Montserrat"/>
              </a:rPr>
              <a:t>      donations, volunteering,</a:t>
            </a:r>
          </a:p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1A362E"/>
                </a:solidFill>
                <a:latin typeface="Montserrat"/>
                <a:ea typeface="Montserrat"/>
                <a:cs typeface="Montserrat"/>
                <a:sym typeface="Montserrat"/>
              </a:rPr>
              <a:t>      awareness campaigns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16472" y="6183193"/>
            <a:ext cx="3626187" cy="633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669" lvl="1" indent="-183834" algn="l">
              <a:lnSpc>
                <a:spcPts val="2605"/>
              </a:lnSpc>
              <a:buFont typeface="Arial"/>
              <a:buChar char="•"/>
            </a:pP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How can McCain transform the Lazare partnership from a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88270" y="6864297"/>
            <a:ext cx="3939190" cy="95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5"/>
              </a:lnSpc>
            </a:pPr>
            <a:r>
              <a:rPr lang="en-US" sz="17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transactional CSR donation model into a scalable retail-driven shared value partnership?</a:t>
            </a:r>
          </a:p>
        </p:txBody>
      </p:sp>
      <p:sp>
        <p:nvSpPr>
          <p:cNvPr id="9" name="Freeform 9"/>
          <p:cNvSpPr/>
          <p:nvPr/>
        </p:nvSpPr>
        <p:spPr>
          <a:xfrm>
            <a:off x="10531303" y="5694971"/>
            <a:ext cx="557478" cy="557478"/>
          </a:xfrm>
          <a:custGeom>
            <a:avLst/>
            <a:gdLst/>
            <a:ahLst/>
            <a:cxnLst/>
            <a:rect l="l" t="t" r="r" b="b"/>
            <a:pathLst>
              <a:path w="557478" h="557478">
                <a:moveTo>
                  <a:pt x="0" y="0"/>
                </a:moveTo>
                <a:lnTo>
                  <a:pt x="557479" y="0"/>
                </a:lnTo>
                <a:lnTo>
                  <a:pt x="557479" y="557478"/>
                </a:lnTo>
                <a:lnTo>
                  <a:pt x="0" y="557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577894" y="4054525"/>
            <a:ext cx="464296" cy="556877"/>
          </a:xfrm>
          <a:custGeom>
            <a:avLst/>
            <a:gdLst/>
            <a:ahLst/>
            <a:cxnLst/>
            <a:rect l="l" t="t" r="r" b="b"/>
            <a:pathLst>
              <a:path w="464296" h="556877">
                <a:moveTo>
                  <a:pt x="0" y="0"/>
                </a:moveTo>
                <a:lnTo>
                  <a:pt x="464297" y="0"/>
                </a:lnTo>
                <a:lnTo>
                  <a:pt x="464297" y="556877"/>
                </a:lnTo>
                <a:lnTo>
                  <a:pt x="0" y="55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216467" y="5682865"/>
            <a:ext cx="464798" cy="557478"/>
          </a:xfrm>
          <a:custGeom>
            <a:avLst/>
            <a:gdLst/>
            <a:ahLst/>
            <a:cxnLst/>
            <a:rect l="l" t="t" r="r" b="b"/>
            <a:pathLst>
              <a:path w="464798" h="557478">
                <a:moveTo>
                  <a:pt x="0" y="0"/>
                </a:moveTo>
                <a:lnTo>
                  <a:pt x="464797" y="0"/>
                </a:lnTo>
                <a:lnTo>
                  <a:pt x="464797" y="557478"/>
                </a:lnTo>
                <a:lnTo>
                  <a:pt x="0" y="557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170126" y="4054225"/>
            <a:ext cx="557478" cy="557478"/>
          </a:xfrm>
          <a:custGeom>
            <a:avLst/>
            <a:gdLst/>
            <a:ahLst/>
            <a:cxnLst/>
            <a:rect l="l" t="t" r="r" b="b"/>
            <a:pathLst>
              <a:path w="557478" h="557478">
                <a:moveTo>
                  <a:pt x="0" y="0"/>
                </a:moveTo>
                <a:lnTo>
                  <a:pt x="557479" y="0"/>
                </a:lnTo>
                <a:lnTo>
                  <a:pt x="557479" y="557478"/>
                </a:lnTo>
                <a:lnTo>
                  <a:pt x="0" y="557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438040" y="4265858"/>
            <a:ext cx="4846680" cy="2559129"/>
            <a:chOff x="0" y="0"/>
            <a:chExt cx="1276492" cy="67400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76492" cy="674009"/>
            </a:xfrm>
            <a:custGeom>
              <a:avLst/>
              <a:gdLst/>
              <a:ahLst/>
              <a:cxnLst/>
              <a:rect l="l" t="t" r="r" b="b"/>
              <a:pathLst>
                <a:path w="1276492" h="674009">
                  <a:moveTo>
                    <a:pt x="11182" y="0"/>
                  </a:moveTo>
                  <a:lnTo>
                    <a:pt x="1265310" y="0"/>
                  </a:lnTo>
                  <a:cubicBezTo>
                    <a:pt x="1271486" y="0"/>
                    <a:pt x="1276492" y="5006"/>
                    <a:pt x="1276492" y="11182"/>
                  </a:cubicBezTo>
                  <a:lnTo>
                    <a:pt x="1276492" y="662828"/>
                  </a:lnTo>
                  <a:cubicBezTo>
                    <a:pt x="1276492" y="665793"/>
                    <a:pt x="1275314" y="668637"/>
                    <a:pt x="1273217" y="670734"/>
                  </a:cubicBezTo>
                  <a:cubicBezTo>
                    <a:pt x="1271120" y="672831"/>
                    <a:pt x="1268276" y="674009"/>
                    <a:pt x="1265310" y="674009"/>
                  </a:cubicBezTo>
                  <a:lnTo>
                    <a:pt x="11182" y="674009"/>
                  </a:lnTo>
                  <a:cubicBezTo>
                    <a:pt x="5006" y="674009"/>
                    <a:pt x="0" y="669003"/>
                    <a:pt x="0" y="662828"/>
                  </a:cubicBezTo>
                  <a:lnTo>
                    <a:pt x="0" y="11182"/>
                  </a:lnTo>
                  <a:cubicBezTo>
                    <a:pt x="0" y="8216"/>
                    <a:pt x="1178" y="5372"/>
                    <a:pt x="3275" y="3275"/>
                  </a:cubicBezTo>
                  <a:cubicBezTo>
                    <a:pt x="5372" y="1178"/>
                    <a:pt x="8216" y="0"/>
                    <a:pt x="11182" y="0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276492" cy="674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38040" y="3365765"/>
            <a:ext cx="326585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b="1">
                <a:solidFill>
                  <a:srgbClr val="1A36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SCQA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66906" y="1148309"/>
            <a:ext cx="930305" cy="656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4"/>
              </a:lnSpc>
            </a:pPr>
            <a:r>
              <a:rPr lang="en-US" sz="5338" b="1">
                <a:solidFill>
                  <a:srgbClr val="1A36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066993" y="1148309"/>
            <a:ext cx="930305" cy="656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4"/>
              </a:lnSpc>
            </a:pPr>
            <a:r>
              <a:rPr lang="en-US" sz="5338" b="1">
                <a:solidFill>
                  <a:srgbClr val="1A36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66906" y="8660155"/>
            <a:ext cx="930305" cy="656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4"/>
              </a:lnSpc>
            </a:pPr>
            <a:r>
              <a:rPr lang="en-US" sz="5338" b="1">
                <a:solidFill>
                  <a:srgbClr val="1A36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066993" y="8660155"/>
            <a:ext cx="930305" cy="656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4"/>
              </a:lnSpc>
            </a:pPr>
            <a:r>
              <a:rPr lang="en-US" sz="5338" b="1">
                <a:solidFill>
                  <a:srgbClr val="1A36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0254" y="4639248"/>
            <a:ext cx="462225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A36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Transactional CSR</a:t>
            </a:r>
          </a:p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A36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Shared Value Partnership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81285" y="1148285"/>
            <a:ext cx="268360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1A36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81285" y="8740031"/>
            <a:ext cx="283804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19378" y="1148285"/>
            <a:ext cx="268360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2499" b="1">
                <a:solidFill>
                  <a:srgbClr val="1A36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Complication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009709" y="8735884"/>
            <a:ext cx="169327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29755" y="1625350"/>
            <a:ext cx="3700735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1A362E"/>
                </a:solidFill>
                <a:latin typeface="Montserrat"/>
                <a:ea typeface="Montserrat"/>
                <a:cs typeface="Montserrat"/>
                <a:sym typeface="Montserrat"/>
              </a:rPr>
              <a:t>Partnership primarily driven by donations and isolated activations</a:t>
            </a:r>
          </a:p>
          <a:p>
            <a:pPr algn="l">
              <a:lnSpc>
                <a:spcPts val="2040"/>
              </a:lnSpc>
            </a:pPr>
            <a:endParaRPr lang="en-US" sz="1700">
              <a:solidFill>
                <a:srgbClr val="1A362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67031" lvl="1" indent="-183515" algn="l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1A362E"/>
                </a:solidFill>
                <a:latin typeface="Montserrat"/>
                <a:ea typeface="Montserrat"/>
                <a:cs typeface="Montserrat"/>
                <a:sym typeface="Montserrat"/>
              </a:rPr>
              <a:t> Brand visibility and emotional engagement remained underleveraged</a:t>
            </a:r>
          </a:p>
          <a:p>
            <a:pPr algn="l">
              <a:lnSpc>
                <a:spcPts val="2040"/>
              </a:lnSpc>
            </a:pPr>
            <a:endParaRPr lang="en-US" sz="1700">
              <a:solidFill>
                <a:srgbClr val="1A362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107229" y="5846551"/>
            <a:ext cx="363254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Strategic benchmark &amp; trend analysis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65853" y="1910568"/>
            <a:ext cx="3622929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1A362E"/>
                </a:solidFill>
                <a:latin typeface="Montserrat"/>
                <a:ea typeface="Montserrat"/>
                <a:cs typeface="Montserrat"/>
                <a:sym typeface="Montserrat"/>
              </a:rPr>
              <a:t>3-year  partnership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28367" y="3589755"/>
            <a:ext cx="386893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1A362E"/>
                </a:solidFill>
                <a:latin typeface="Montserrat"/>
                <a:ea typeface="Montserrat"/>
                <a:cs typeface="Montserrat"/>
                <a:sym typeface="Montserrat"/>
              </a:rPr>
              <a:t>Limited operational integration and KPI formalization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216467" y="6824987"/>
            <a:ext cx="4181625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endParaRPr/>
          </a:p>
          <a:p>
            <a:pPr algn="l">
              <a:lnSpc>
                <a:spcPts val="2040"/>
              </a:lnSpc>
            </a:pPr>
            <a:endParaRPr/>
          </a:p>
          <a:p>
            <a:pPr marL="367031" lvl="1" indent="-183515" algn="l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Retail moodboard &amp; activation concepts</a:t>
            </a:r>
          </a:p>
          <a:p>
            <a:pPr algn="l">
              <a:lnSpc>
                <a:spcPts val="2040"/>
              </a:lnSpc>
            </a:pPr>
            <a:endParaRPr lang="en-US" sz="17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67031" lvl="1" indent="-183515" algn="l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Integrated communication &amp; storytelling framework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914068" y="6567812"/>
            <a:ext cx="401886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Partnership success framework evaluation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0254" y="5535292"/>
            <a:ext cx="4622252" cy="92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1699">
                <a:solidFill>
                  <a:srgbClr val="1A362E"/>
                </a:solidFill>
                <a:latin typeface="Montserrat"/>
                <a:ea typeface="Montserrat"/>
                <a:cs typeface="Montserrat"/>
                <a:sym typeface="Montserrat"/>
              </a:rPr>
              <a:t>Reworking the McCain × Lazare</a:t>
            </a:r>
          </a:p>
          <a:p>
            <a:pPr algn="l">
              <a:lnSpc>
                <a:spcPts val="2549"/>
              </a:lnSpc>
            </a:pPr>
            <a:r>
              <a:rPr lang="en-US" sz="1699">
                <a:solidFill>
                  <a:srgbClr val="1A362E"/>
                </a:solidFill>
                <a:latin typeface="Montserrat"/>
                <a:ea typeface="Montserrat"/>
                <a:cs typeface="Montserrat"/>
                <a:sym typeface="Montserrat"/>
              </a:rPr>
              <a:t>partnership through retail integration</a:t>
            </a:r>
          </a:p>
          <a:p>
            <a:pPr algn="l">
              <a:lnSpc>
                <a:spcPts val="2549"/>
              </a:lnSpc>
            </a:pPr>
            <a:r>
              <a:rPr lang="en-US" sz="1699">
                <a:solidFill>
                  <a:srgbClr val="1A362E"/>
                </a:solidFill>
                <a:latin typeface="Montserrat"/>
                <a:ea typeface="Montserrat"/>
                <a:cs typeface="Montserrat"/>
                <a:sym typeface="Montserrat"/>
              </a:rPr>
              <a:t>and measurable impact.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929944" y="9691430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21948">
            <a:off x="1738241" y="1291780"/>
            <a:ext cx="7775493" cy="8497807"/>
          </a:xfrm>
          <a:custGeom>
            <a:avLst/>
            <a:gdLst/>
            <a:ahLst/>
            <a:cxnLst/>
            <a:rect l="l" t="t" r="r" b="b"/>
            <a:pathLst>
              <a:path w="7775493" h="8497807">
                <a:moveTo>
                  <a:pt x="0" y="0"/>
                </a:moveTo>
                <a:lnTo>
                  <a:pt x="7775493" y="0"/>
                </a:lnTo>
                <a:lnTo>
                  <a:pt x="7775493" y="8497807"/>
                </a:lnTo>
                <a:lnTo>
                  <a:pt x="0" y="8497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621948">
            <a:off x="4630480" y="3210499"/>
            <a:ext cx="767595" cy="767595"/>
          </a:xfrm>
          <a:custGeom>
            <a:avLst/>
            <a:gdLst/>
            <a:ahLst/>
            <a:cxnLst/>
            <a:rect l="l" t="t" r="r" b="b"/>
            <a:pathLst>
              <a:path w="767595" h="767595">
                <a:moveTo>
                  <a:pt x="0" y="0"/>
                </a:moveTo>
                <a:lnTo>
                  <a:pt x="767595" y="0"/>
                </a:lnTo>
                <a:lnTo>
                  <a:pt x="767595" y="767596"/>
                </a:lnTo>
                <a:lnTo>
                  <a:pt x="0" y="7675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621948">
            <a:off x="4354018" y="4762473"/>
            <a:ext cx="720580" cy="767595"/>
          </a:xfrm>
          <a:custGeom>
            <a:avLst/>
            <a:gdLst/>
            <a:ahLst/>
            <a:cxnLst/>
            <a:rect l="l" t="t" r="r" b="b"/>
            <a:pathLst>
              <a:path w="720580" h="767595">
                <a:moveTo>
                  <a:pt x="0" y="0"/>
                </a:moveTo>
                <a:lnTo>
                  <a:pt x="720580" y="0"/>
                </a:lnTo>
                <a:lnTo>
                  <a:pt x="720580" y="767595"/>
                </a:lnTo>
                <a:lnTo>
                  <a:pt x="0" y="767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19878" y="7903883"/>
            <a:ext cx="4037200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Takeaways</a:t>
            </a:r>
          </a:p>
        </p:txBody>
      </p:sp>
      <p:grpSp>
        <p:nvGrpSpPr>
          <p:cNvPr id="6" name="Group 6"/>
          <p:cNvGrpSpPr/>
          <p:nvPr/>
        </p:nvGrpSpPr>
        <p:grpSpPr>
          <a:xfrm rot="-5386694">
            <a:off x="9567406" y="1809909"/>
            <a:ext cx="903845" cy="677884"/>
            <a:chOff x="0" y="0"/>
            <a:chExt cx="812800" cy="609600"/>
          </a:xfrm>
        </p:grpSpPr>
        <p:sp>
          <p:nvSpPr>
            <p:cNvPr id="7" name="Freeform 7"/>
            <p:cNvSpPr/>
            <p:nvPr/>
          </p:nvSpPr>
          <p:spPr>
            <a:xfrm>
              <a:off x="21526" y="0"/>
              <a:ext cx="769748" cy="609600"/>
            </a:xfrm>
            <a:custGeom>
              <a:avLst/>
              <a:gdLst/>
              <a:ahLst/>
              <a:cxnLst/>
              <a:rect l="l" t="t" r="r" b="b"/>
              <a:pathLst>
                <a:path w="769748" h="609600">
                  <a:moveTo>
                    <a:pt x="258764" y="609600"/>
                  </a:moveTo>
                  <a:lnTo>
                    <a:pt x="510984" y="609600"/>
                  </a:lnTo>
                  <a:cubicBezTo>
                    <a:pt x="557021" y="609600"/>
                    <a:pt x="597894" y="580141"/>
                    <a:pt x="612452" y="536466"/>
                  </a:cubicBezTo>
                  <a:lnTo>
                    <a:pt x="766896" y="73134"/>
                  </a:lnTo>
                  <a:cubicBezTo>
                    <a:pt x="772544" y="56190"/>
                    <a:pt x="769703" y="37564"/>
                    <a:pt x="759259" y="23075"/>
                  </a:cubicBezTo>
                  <a:cubicBezTo>
                    <a:pt x="748816" y="8586"/>
                    <a:pt x="732045" y="0"/>
                    <a:pt x="714184" y="0"/>
                  </a:cubicBezTo>
                  <a:lnTo>
                    <a:pt x="55564" y="0"/>
                  </a:lnTo>
                  <a:cubicBezTo>
                    <a:pt x="37703" y="0"/>
                    <a:pt x="20932" y="8586"/>
                    <a:pt x="10489" y="23075"/>
                  </a:cubicBezTo>
                  <a:cubicBezTo>
                    <a:pt x="45" y="37564"/>
                    <a:pt x="-2796" y="56190"/>
                    <a:pt x="2852" y="73134"/>
                  </a:cubicBezTo>
                  <a:lnTo>
                    <a:pt x="157296" y="536466"/>
                  </a:lnTo>
                  <a:cubicBezTo>
                    <a:pt x="171854" y="580141"/>
                    <a:pt x="212727" y="609600"/>
                    <a:pt x="258764" y="609600"/>
                  </a:cubicBezTo>
                  <a:close/>
                </a:path>
              </a:pathLst>
            </a:custGeom>
            <a:solidFill>
              <a:srgbClr val="611A3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-38100"/>
              <a:ext cx="558800" cy="647700"/>
            </a:xfrm>
            <a:prstGeom prst="rect">
              <a:avLst/>
            </a:prstGeom>
          </p:spPr>
          <p:txBody>
            <a:bodyPr lIns="48242" tIns="48242" rIns="48242" bIns="48242" rtlCol="0" anchor="ctr"/>
            <a:lstStyle/>
            <a:p>
              <a:pPr marL="0" lvl="0" indent="0" algn="ctr">
                <a:lnSpc>
                  <a:spcPts val="25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739832" y="1992737"/>
            <a:ext cx="558995" cy="283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01</a:t>
            </a:r>
          </a:p>
        </p:txBody>
      </p:sp>
      <p:grpSp>
        <p:nvGrpSpPr>
          <p:cNvPr id="10" name="Group 10"/>
          <p:cNvGrpSpPr/>
          <p:nvPr/>
        </p:nvGrpSpPr>
        <p:grpSpPr>
          <a:xfrm rot="-5386694">
            <a:off x="9567406" y="6851440"/>
            <a:ext cx="903845" cy="677884"/>
            <a:chOff x="0" y="0"/>
            <a:chExt cx="812800" cy="609600"/>
          </a:xfrm>
        </p:grpSpPr>
        <p:sp>
          <p:nvSpPr>
            <p:cNvPr id="11" name="Freeform 11"/>
            <p:cNvSpPr/>
            <p:nvPr/>
          </p:nvSpPr>
          <p:spPr>
            <a:xfrm>
              <a:off x="21526" y="0"/>
              <a:ext cx="769748" cy="609600"/>
            </a:xfrm>
            <a:custGeom>
              <a:avLst/>
              <a:gdLst/>
              <a:ahLst/>
              <a:cxnLst/>
              <a:rect l="l" t="t" r="r" b="b"/>
              <a:pathLst>
                <a:path w="769748" h="609600">
                  <a:moveTo>
                    <a:pt x="258764" y="609600"/>
                  </a:moveTo>
                  <a:lnTo>
                    <a:pt x="510984" y="609600"/>
                  </a:lnTo>
                  <a:cubicBezTo>
                    <a:pt x="557021" y="609600"/>
                    <a:pt x="597894" y="580141"/>
                    <a:pt x="612452" y="536466"/>
                  </a:cubicBezTo>
                  <a:lnTo>
                    <a:pt x="766896" y="73134"/>
                  </a:lnTo>
                  <a:cubicBezTo>
                    <a:pt x="772544" y="56190"/>
                    <a:pt x="769703" y="37564"/>
                    <a:pt x="759259" y="23075"/>
                  </a:cubicBezTo>
                  <a:cubicBezTo>
                    <a:pt x="748816" y="8586"/>
                    <a:pt x="732045" y="0"/>
                    <a:pt x="714184" y="0"/>
                  </a:cubicBezTo>
                  <a:lnTo>
                    <a:pt x="55564" y="0"/>
                  </a:lnTo>
                  <a:cubicBezTo>
                    <a:pt x="37703" y="0"/>
                    <a:pt x="20932" y="8586"/>
                    <a:pt x="10489" y="23075"/>
                  </a:cubicBezTo>
                  <a:cubicBezTo>
                    <a:pt x="45" y="37564"/>
                    <a:pt x="-2796" y="56190"/>
                    <a:pt x="2852" y="73134"/>
                  </a:cubicBezTo>
                  <a:lnTo>
                    <a:pt x="157296" y="536466"/>
                  </a:lnTo>
                  <a:cubicBezTo>
                    <a:pt x="171854" y="580141"/>
                    <a:pt x="212727" y="609600"/>
                    <a:pt x="258764" y="609600"/>
                  </a:cubicBezTo>
                  <a:close/>
                </a:path>
              </a:pathLst>
            </a:custGeom>
            <a:solidFill>
              <a:srgbClr val="FFACD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000" y="-38100"/>
              <a:ext cx="558800" cy="647700"/>
            </a:xfrm>
            <a:prstGeom prst="rect">
              <a:avLst/>
            </a:prstGeom>
          </p:spPr>
          <p:txBody>
            <a:bodyPr lIns="48242" tIns="48242" rIns="48242" bIns="48242" rtlCol="0" anchor="ctr"/>
            <a:lstStyle/>
            <a:p>
              <a:pPr marL="0" lvl="0" indent="0" algn="ctr">
                <a:lnSpc>
                  <a:spcPts val="25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739832" y="7034267"/>
            <a:ext cx="558995" cy="283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b="1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04</a:t>
            </a:r>
          </a:p>
        </p:txBody>
      </p:sp>
      <p:grpSp>
        <p:nvGrpSpPr>
          <p:cNvPr id="14" name="Group 14"/>
          <p:cNvGrpSpPr/>
          <p:nvPr/>
        </p:nvGrpSpPr>
        <p:grpSpPr>
          <a:xfrm rot="-5386694">
            <a:off x="9567406" y="3484865"/>
            <a:ext cx="903845" cy="677884"/>
            <a:chOff x="0" y="0"/>
            <a:chExt cx="812800" cy="609600"/>
          </a:xfrm>
        </p:grpSpPr>
        <p:sp>
          <p:nvSpPr>
            <p:cNvPr id="15" name="Freeform 15"/>
            <p:cNvSpPr/>
            <p:nvPr/>
          </p:nvSpPr>
          <p:spPr>
            <a:xfrm>
              <a:off x="21526" y="0"/>
              <a:ext cx="769748" cy="609600"/>
            </a:xfrm>
            <a:custGeom>
              <a:avLst/>
              <a:gdLst/>
              <a:ahLst/>
              <a:cxnLst/>
              <a:rect l="l" t="t" r="r" b="b"/>
              <a:pathLst>
                <a:path w="769748" h="609600">
                  <a:moveTo>
                    <a:pt x="258764" y="609600"/>
                  </a:moveTo>
                  <a:lnTo>
                    <a:pt x="510984" y="609600"/>
                  </a:lnTo>
                  <a:cubicBezTo>
                    <a:pt x="557021" y="609600"/>
                    <a:pt x="597894" y="580141"/>
                    <a:pt x="612452" y="536466"/>
                  </a:cubicBezTo>
                  <a:lnTo>
                    <a:pt x="766896" y="73134"/>
                  </a:lnTo>
                  <a:cubicBezTo>
                    <a:pt x="772544" y="56190"/>
                    <a:pt x="769703" y="37564"/>
                    <a:pt x="759259" y="23075"/>
                  </a:cubicBezTo>
                  <a:cubicBezTo>
                    <a:pt x="748816" y="8586"/>
                    <a:pt x="732045" y="0"/>
                    <a:pt x="714184" y="0"/>
                  </a:cubicBezTo>
                  <a:lnTo>
                    <a:pt x="55564" y="0"/>
                  </a:lnTo>
                  <a:cubicBezTo>
                    <a:pt x="37703" y="0"/>
                    <a:pt x="20932" y="8586"/>
                    <a:pt x="10489" y="23075"/>
                  </a:cubicBezTo>
                  <a:cubicBezTo>
                    <a:pt x="45" y="37564"/>
                    <a:pt x="-2796" y="56190"/>
                    <a:pt x="2852" y="73134"/>
                  </a:cubicBezTo>
                  <a:lnTo>
                    <a:pt x="157296" y="536466"/>
                  </a:lnTo>
                  <a:cubicBezTo>
                    <a:pt x="171854" y="580141"/>
                    <a:pt x="212727" y="609600"/>
                    <a:pt x="258764" y="609600"/>
                  </a:cubicBezTo>
                  <a:close/>
                </a:path>
              </a:pathLst>
            </a:custGeom>
            <a:solidFill>
              <a:srgbClr val="4D162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7000" y="-38100"/>
              <a:ext cx="558800" cy="647700"/>
            </a:xfrm>
            <a:prstGeom prst="rect">
              <a:avLst/>
            </a:prstGeom>
          </p:spPr>
          <p:txBody>
            <a:bodyPr lIns="48242" tIns="48242" rIns="48242" bIns="48242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739832" y="3667692"/>
            <a:ext cx="558995" cy="283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02</a:t>
            </a:r>
          </a:p>
        </p:txBody>
      </p:sp>
      <p:grpSp>
        <p:nvGrpSpPr>
          <p:cNvPr id="18" name="Group 18"/>
          <p:cNvGrpSpPr/>
          <p:nvPr/>
        </p:nvGrpSpPr>
        <p:grpSpPr>
          <a:xfrm rot="-5386694">
            <a:off x="9567406" y="8482516"/>
            <a:ext cx="903845" cy="677884"/>
            <a:chOff x="0" y="0"/>
            <a:chExt cx="812800" cy="609600"/>
          </a:xfrm>
        </p:grpSpPr>
        <p:sp>
          <p:nvSpPr>
            <p:cNvPr id="19" name="Freeform 19"/>
            <p:cNvSpPr/>
            <p:nvPr/>
          </p:nvSpPr>
          <p:spPr>
            <a:xfrm>
              <a:off x="21526" y="0"/>
              <a:ext cx="769748" cy="609600"/>
            </a:xfrm>
            <a:custGeom>
              <a:avLst/>
              <a:gdLst/>
              <a:ahLst/>
              <a:cxnLst/>
              <a:rect l="l" t="t" r="r" b="b"/>
              <a:pathLst>
                <a:path w="769748" h="609600">
                  <a:moveTo>
                    <a:pt x="258764" y="609600"/>
                  </a:moveTo>
                  <a:lnTo>
                    <a:pt x="510984" y="609600"/>
                  </a:lnTo>
                  <a:cubicBezTo>
                    <a:pt x="557021" y="609600"/>
                    <a:pt x="597894" y="580141"/>
                    <a:pt x="612452" y="536466"/>
                  </a:cubicBezTo>
                  <a:lnTo>
                    <a:pt x="766896" y="73134"/>
                  </a:lnTo>
                  <a:cubicBezTo>
                    <a:pt x="772544" y="56190"/>
                    <a:pt x="769703" y="37564"/>
                    <a:pt x="759259" y="23075"/>
                  </a:cubicBezTo>
                  <a:cubicBezTo>
                    <a:pt x="748816" y="8586"/>
                    <a:pt x="732045" y="0"/>
                    <a:pt x="714184" y="0"/>
                  </a:cubicBezTo>
                  <a:lnTo>
                    <a:pt x="55564" y="0"/>
                  </a:lnTo>
                  <a:cubicBezTo>
                    <a:pt x="37703" y="0"/>
                    <a:pt x="20932" y="8586"/>
                    <a:pt x="10489" y="23075"/>
                  </a:cubicBezTo>
                  <a:cubicBezTo>
                    <a:pt x="45" y="37564"/>
                    <a:pt x="-2796" y="56190"/>
                    <a:pt x="2852" y="73134"/>
                  </a:cubicBezTo>
                  <a:lnTo>
                    <a:pt x="157296" y="536466"/>
                  </a:lnTo>
                  <a:cubicBezTo>
                    <a:pt x="171854" y="580141"/>
                    <a:pt x="212727" y="609600"/>
                    <a:pt x="258764" y="609600"/>
                  </a:cubicBezTo>
                  <a:close/>
                </a:path>
              </a:pathLst>
            </a:custGeom>
            <a:solidFill>
              <a:srgbClr val="FFE3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7000" y="-38100"/>
              <a:ext cx="558800" cy="647700"/>
            </a:xfrm>
            <a:prstGeom prst="rect">
              <a:avLst/>
            </a:prstGeom>
          </p:spPr>
          <p:txBody>
            <a:bodyPr lIns="48242" tIns="48242" rIns="48242" bIns="48242" rtlCol="0" anchor="ctr"/>
            <a:lstStyle/>
            <a:p>
              <a:pPr marL="0" lvl="0" indent="0" algn="ctr">
                <a:lnSpc>
                  <a:spcPts val="25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739832" y="8665343"/>
            <a:ext cx="558995" cy="283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b="1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05</a:t>
            </a:r>
          </a:p>
        </p:txBody>
      </p:sp>
      <p:grpSp>
        <p:nvGrpSpPr>
          <p:cNvPr id="22" name="Group 22"/>
          <p:cNvGrpSpPr/>
          <p:nvPr/>
        </p:nvGrpSpPr>
        <p:grpSpPr>
          <a:xfrm rot="-5386694">
            <a:off x="9567406" y="5074202"/>
            <a:ext cx="903845" cy="677884"/>
            <a:chOff x="0" y="0"/>
            <a:chExt cx="812800" cy="609600"/>
          </a:xfrm>
        </p:grpSpPr>
        <p:sp>
          <p:nvSpPr>
            <p:cNvPr id="23" name="Freeform 23"/>
            <p:cNvSpPr/>
            <p:nvPr/>
          </p:nvSpPr>
          <p:spPr>
            <a:xfrm>
              <a:off x="21526" y="0"/>
              <a:ext cx="769748" cy="609600"/>
            </a:xfrm>
            <a:custGeom>
              <a:avLst/>
              <a:gdLst/>
              <a:ahLst/>
              <a:cxnLst/>
              <a:rect l="l" t="t" r="r" b="b"/>
              <a:pathLst>
                <a:path w="769748" h="609600">
                  <a:moveTo>
                    <a:pt x="258764" y="609600"/>
                  </a:moveTo>
                  <a:lnTo>
                    <a:pt x="510984" y="609600"/>
                  </a:lnTo>
                  <a:cubicBezTo>
                    <a:pt x="557021" y="609600"/>
                    <a:pt x="597894" y="580141"/>
                    <a:pt x="612452" y="536466"/>
                  </a:cubicBezTo>
                  <a:lnTo>
                    <a:pt x="766896" y="73134"/>
                  </a:lnTo>
                  <a:cubicBezTo>
                    <a:pt x="772544" y="56190"/>
                    <a:pt x="769703" y="37564"/>
                    <a:pt x="759259" y="23075"/>
                  </a:cubicBezTo>
                  <a:cubicBezTo>
                    <a:pt x="748816" y="8586"/>
                    <a:pt x="732045" y="0"/>
                    <a:pt x="714184" y="0"/>
                  </a:cubicBezTo>
                  <a:lnTo>
                    <a:pt x="55564" y="0"/>
                  </a:lnTo>
                  <a:cubicBezTo>
                    <a:pt x="37703" y="0"/>
                    <a:pt x="20932" y="8586"/>
                    <a:pt x="10489" y="23075"/>
                  </a:cubicBezTo>
                  <a:cubicBezTo>
                    <a:pt x="45" y="37564"/>
                    <a:pt x="-2796" y="56190"/>
                    <a:pt x="2852" y="73134"/>
                  </a:cubicBezTo>
                  <a:lnTo>
                    <a:pt x="157296" y="536466"/>
                  </a:lnTo>
                  <a:cubicBezTo>
                    <a:pt x="171854" y="580141"/>
                    <a:pt x="212727" y="609600"/>
                    <a:pt x="258764" y="609600"/>
                  </a:cubicBezTo>
                  <a:close/>
                </a:path>
              </a:pathLst>
            </a:custGeom>
            <a:solidFill>
              <a:srgbClr val="3C122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7000" y="-38100"/>
              <a:ext cx="558800" cy="647700"/>
            </a:xfrm>
            <a:prstGeom prst="rect">
              <a:avLst/>
            </a:prstGeom>
          </p:spPr>
          <p:txBody>
            <a:bodyPr lIns="48242" tIns="48242" rIns="48242" bIns="48242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739832" y="5257030"/>
            <a:ext cx="558995" cy="283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03</a:t>
            </a:r>
          </a:p>
        </p:txBody>
      </p:sp>
      <p:sp>
        <p:nvSpPr>
          <p:cNvPr id="26" name="Freeform 26"/>
          <p:cNvSpPr/>
          <p:nvPr/>
        </p:nvSpPr>
        <p:spPr>
          <a:xfrm rot="-621948">
            <a:off x="5378835" y="5903914"/>
            <a:ext cx="767595" cy="767595"/>
          </a:xfrm>
          <a:custGeom>
            <a:avLst/>
            <a:gdLst/>
            <a:ahLst/>
            <a:cxnLst/>
            <a:rect l="l" t="t" r="r" b="b"/>
            <a:pathLst>
              <a:path w="767595" h="767595">
                <a:moveTo>
                  <a:pt x="0" y="0"/>
                </a:moveTo>
                <a:lnTo>
                  <a:pt x="767595" y="0"/>
                </a:lnTo>
                <a:lnTo>
                  <a:pt x="767595" y="767596"/>
                </a:lnTo>
                <a:lnTo>
                  <a:pt x="0" y="7675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 rot="-621948">
            <a:off x="5077463" y="7299611"/>
            <a:ext cx="719620" cy="767595"/>
          </a:xfrm>
          <a:custGeom>
            <a:avLst/>
            <a:gdLst/>
            <a:ahLst/>
            <a:cxnLst/>
            <a:rect l="l" t="t" r="r" b="b"/>
            <a:pathLst>
              <a:path w="719620" h="767595">
                <a:moveTo>
                  <a:pt x="0" y="0"/>
                </a:moveTo>
                <a:lnTo>
                  <a:pt x="719620" y="0"/>
                </a:lnTo>
                <a:lnTo>
                  <a:pt x="719620" y="767596"/>
                </a:lnTo>
                <a:lnTo>
                  <a:pt x="0" y="7675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621948">
            <a:off x="5886039" y="8676769"/>
            <a:ext cx="767595" cy="767595"/>
          </a:xfrm>
          <a:custGeom>
            <a:avLst/>
            <a:gdLst/>
            <a:ahLst/>
            <a:cxnLst/>
            <a:rect l="l" t="t" r="r" b="b"/>
            <a:pathLst>
              <a:path w="767595" h="767595">
                <a:moveTo>
                  <a:pt x="0" y="0"/>
                </a:moveTo>
                <a:lnTo>
                  <a:pt x="767595" y="0"/>
                </a:lnTo>
                <a:lnTo>
                  <a:pt x="767595" y="767595"/>
                </a:lnTo>
                <a:lnTo>
                  <a:pt x="0" y="767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 flipV="1">
            <a:off x="8304151" y="2195647"/>
            <a:ext cx="978022" cy="0"/>
          </a:xfrm>
          <a:prstGeom prst="line">
            <a:avLst/>
          </a:prstGeom>
          <a:ln w="38100" cap="flat">
            <a:solidFill>
              <a:srgbClr val="611A39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>
            <a:off x="7518558" y="3823807"/>
            <a:ext cx="1763615" cy="0"/>
          </a:xfrm>
          <a:prstGeom prst="line">
            <a:avLst/>
          </a:prstGeom>
          <a:ln w="38100" cap="flat">
            <a:solidFill>
              <a:srgbClr val="4F162E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>
            <a:off x="6478120" y="7213442"/>
            <a:ext cx="2804053" cy="0"/>
          </a:xfrm>
          <a:prstGeom prst="line">
            <a:avLst/>
          </a:prstGeom>
          <a:ln w="38100" cap="flat">
            <a:solidFill>
              <a:srgbClr val="FF96D2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>
            <a:off x="7316186" y="5413144"/>
            <a:ext cx="1975930" cy="0"/>
          </a:xfrm>
          <a:prstGeom prst="line">
            <a:avLst/>
          </a:prstGeom>
          <a:ln w="38100" cap="flat">
            <a:solidFill>
              <a:srgbClr val="3C1223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>
            <a:off x="6830709" y="8845539"/>
            <a:ext cx="2451464" cy="0"/>
          </a:xfrm>
          <a:prstGeom prst="line">
            <a:avLst/>
          </a:prstGeom>
          <a:ln w="38100" cap="flat">
            <a:solidFill>
              <a:srgbClr val="FFE395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0" y="22216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10598886" y="1616028"/>
            <a:ext cx="7420542" cy="986055"/>
            <a:chOff x="0" y="0"/>
            <a:chExt cx="1954381" cy="25970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954381" cy="259702"/>
            </a:xfrm>
            <a:custGeom>
              <a:avLst/>
              <a:gdLst/>
              <a:ahLst/>
              <a:cxnLst/>
              <a:rect l="l" t="t" r="r" b="b"/>
              <a:pathLst>
                <a:path w="1954381" h="259702">
                  <a:moveTo>
                    <a:pt x="7303" y="0"/>
                  </a:moveTo>
                  <a:lnTo>
                    <a:pt x="1947078" y="0"/>
                  </a:lnTo>
                  <a:cubicBezTo>
                    <a:pt x="1951112" y="0"/>
                    <a:pt x="1954381" y="3270"/>
                    <a:pt x="1954381" y="7303"/>
                  </a:cubicBezTo>
                  <a:lnTo>
                    <a:pt x="1954381" y="252398"/>
                  </a:lnTo>
                  <a:cubicBezTo>
                    <a:pt x="1954381" y="256432"/>
                    <a:pt x="1951112" y="259702"/>
                    <a:pt x="1947078" y="259702"/>
                  </a:cubicBezTo>
                  <a:lnTo>
                    <a:pt x="7303" y="259702"/>
                  </a:lnTo>
                  <a:cubicBezTo>
                    <a:pt x="3270" y="259702"/>
                    <a:pt x="0" y="256432"/>
                    <a:pt x="0" y="252398"/>
                  </a:cubicBezTo>
                  <a:lnTo>
                    <a:pt x="0" y="7303"/>
                  </a:lnTo>
                  <a:cubicBezTo>
                    <a:pt x="0" y="3270"/>
                    <a:pt x="3270" y="0"/>
                    <a:pt x="7303" y="0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1954381" cy="259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598886" y="3396357"/>
            <a:ext cx="7420542" cy="986055"/>
            <a:chOff x="0" y="0"/>
            <a:chExt cx="1954381" cy="25970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954381" cy="259702"/>
            </a:xfrm>
            <a:custGeom>
              <a:avLst/>
              <a:gdLst/>
              <a:ahLst/>
              <a:cxnLst/>
              <a:rect l="l" t="t" r="r" b="b"/>
              <a:pathLst>
                <a:path w="1954381" h="259702">
                  <a:moveTo>
                    <a:pt x="7303" y="0"/>
                  </a:moveTo>
                  <a:lnTo>
                    <a:pt x="1947078" y="0"/>
                  </a:lnTo>
                  <a:cubicBezTo>
                    <a:pt x="1951112" y="0"/>
                    <a:pt x="1954381" y="3270"/>
                    <a:pt x="1954381" y="7303"/>
                  </a:cubicBezTo>
                  <a:lnTo>
                    <a:pt x="1954381" y="252398"/>
                  </a:lnTo>
                  <a:cubicBezTo>
                    <a:pt x="1954381" y="256432"/>
                    <a:pt x="1951112" y="259702"/>
                    <a:pt x="1947078" y="259702"/>
                  </a:cubicBezTo>
                  <a:lnTo>
                    <a:pt x="7303" y="259702"/>
                  </a:lnTo>
                  <a:cubicBezTo>
                    <a:pt x="3270" y="259702"/>
                    <a:pt x="0" y="256432"/>
                    <a:pt x="0" y="252398"/>
                  </a:cubicBezTo>
                  <a:lnTo>
                    <a:pt x="0" y="7303"/>
                  </a:lnTo>
                  <a:cubicBezTo>
                    <a:pt x="0" y="3270"/>
                    <a:pt x="3270" y="0"/>
                    <a:pt x="7303" y="0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1954381" cy="259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0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598886" y="5163726"/>
            <a:ext cx="7420542" cy="986055"/>
            <a:chOff x="0" y="0"/>
            <a:chExt cx="1954381" cy="25970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954381" cy="259702"/>
            </a:xfrm>
            <a:custGeom>
              <a:avLst/>
              <a:gdLst/>
              <a:ahLst/>
              <a:cxnLst/>
              <a:rect l="l" t="t" r="r" b="b"/>
              <a:pathLst>
                <a:path w="1954381" h="259702">
                  <a:moveTo>
                    <a:pt x="7303" y="0"/>
                  </a:moveTo>
                  <a:lnTo>
                    <a:pt x="1947078" y="0"/>
                  </a:lnTo>
                  <a:cubicBezTo>
                    <a:pt x="1951112" y="0"/>
                    <a:pt x="1954381" y="3270"/>
                    <a:pt x="1954381" y="7303"/>
                  </a:cubicBezTo>
                  <a:lnTo>
                    <a:pt x="1954381" y="252398"/>
                  </a:lnTo>
                  <a:cubicBezTo>
                    <a:pt x="1954381" y="256432"/>
                    <a:pt x="1951112" y="259702"/>
                    <a:pt x="1947078" y="259702"/>
                  </a:cubicBezTo>
                  <a:lnTo>
                    <a:pt x="7303" y="259702"/>
                  </a:lnTo>
                  <a:cubicBezTo>
                    <a:pt x="3270" y="259702"/>
                    <a:pt x="0" y="256432"/>
                    <a:pt x="0" y="252398"/>
                  </a:cubicBezTo>
                  <a:lnTo>
                    <a:pt x="0" y="7303"/>
                  </a:lnTo>
                  <a:cubicBezTo>
                    <a:pt x="0" y="3270"/>
                    <a:pt x="3270" y="0"/>
                    <a:pt x="7303" y="0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1954381" cy="259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0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639869" y="6930422"/>
            <a:ext cx="7420542" cy="986055"/>
            <a:chOff x="0" y="0"/>
            <a:chExt cx="1954381" cy="25970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954381" cy="259702"/>
            </a:xfrm>
            <a:custGeom>
              <a:avLst/>
              <a:gdLst/>
              <a:ahLst/>
              <a:cxnLst/>
              <a:rect l="l" t="t" r="r" b="b"/>
              <a:pathLst>
                <a:path w="1954381" h="259702">
                  <a:moveTo>
                    <a:pt x="7303" y="0"/>
                  </a:moveTo>
                  <a:lnTo>
                    <a:pt x="1947078" y="0"/>
                  </a:lnTo>
                  <a:cubicBezTo>
                    <a:pt x="1951112" y="0"/>
                    <a:pt x="1954381" y="3270"/>
                    <a:pt x="1954381" y="7303"/>
                  </a:cubicBezTo>
                  <a:lnTo>
                    <a:pt x="1954381" y="252398"/>
                  </a:lnTo>
                  <a:cubicBezTo>
                    <a:pt x="1954381" y="256432"/>
                    <a:pt x="1951112" y="259702"/>
                    <a:pt x="1947078" y="259702"/>
                  </a:cubicBezTo>
                  <a:lnTo>
                    <a:pt x="7303" y="259702"/>
                  </a:lnTo>
                  <a:cubicBezTo>
                    <a:pt x="3270" y="259702"/>
                    <a:pt x="0" y="256432"/>
                    <a:pt x="0" y="252398"/>
                  </a:cubicBezTo>
                  <a:lnTo>
                    <a:pt x="0" y="7303"/>
                  </a:lnTo>
                  <a:cubicBezTo>
                    <a:pt x="0" y="3270"/>
                    <a:pt x="3270" y="0"/>
                    <a:pt x="7303" y="0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1954381" cy="259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0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639869" y="8498590"/>
            <a:ext cx="7420542" cy="986055"/>
            <a:chOff x="0" y="0"/>
            <a:chExt cx="1954381" cy="25970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954381" cy="259702"/>
            </a:xfrm>
            <a:custGeom>
              <a:avLst/>
              <a:gdLst/>
              <a:ahLst/>
              <a:cxnLst/>
              <a:rect l="l" t="t" r="r" b="b"/>
              <a:pathLst>
                <a:path w="1954381" h="259702">
                  <a:moveTo>
                    <a:pt x="7303" y="0"/>
                  </a:moveTo>
                  <a:lnTo>
                    <a:pt x="1947078" y="0"/>
                  </a:lnTo>
                  <a:cubicBezTo>
                    <a:pt x="1951112" y="0"/>
                    <a:pt x="1954381" y="3270"/>
                    <a:pt x="1954381" y="7303"/>
                  </a:cubicBezTo>
                  <a:lnTo>
                    <a:pt x="1954381" y="252398"/>
                  </a:lnTo>
                  <a:cubicBezTo>
                    <a:pt x="1954381" y="256432"/>
                    <a:pt x="1951112" y="259702"/>
                    <a:pt x="1947078" y="259702"/>
                  </a:cubicBezTo>
                  <a:lnTo>
                    <a:pt x="7303" y="259702"/>
                  </a:lnTo>
                  <a:cubicBezTo>
                    <a:pt x="3270" y="259702"/>
                    <a:pt x="0" y="256432"/>
                    <a:pt x="0" y="252398"/>
                  </a:cubicBezTo>
                  <a:lnTo>
                    <a:pt x="0" y="7303"/>
                  </a:lnTo>
                  <a:cubicBezTo>
                    <a:pt x="0" y="3270"/>
                    <a:pt x="3270" y="0"/>
                    <a:pt x="7303" y="0"/>
                  </a:cubicBez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1954381" cy="259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0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0639869" y="1215978"/>
            <a:ext cx="733857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Can success be measured and governed effectively ?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598886" y="2782714"/>
            <a:ext cx="733857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Does this partnership follow the trends of a successful partnership ?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639869" y="4563387"/>
            <a:ext cx="733857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Does Mcain have the levers to amplify Social impact and Brand visibility ?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639869" y="6330755"/>
            <a:ext cx="733857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Does Mcain have the partnership to scale through the retail ecosystem ?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680852" y="8097452"/>
            <a:ext cx="733857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680852" y="1703595"/>
            <a:ext cx="733857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Partnership performance is currently difficult to track and scale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680852" y="3483924"/>
            <a:ext cx="733857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shows potential, but remains under-integrated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680852" y="5251292"/>
            <a:ext cx="733857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 visibility potential, limited execution maturity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721835" y="7017989"/>
            <a:ext cx="733857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Strong scale opportunity, but no clear rollout model yet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721835" y="8697527"/>
            <a:ext cx="7338576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has strong strategic fit, but underperforms due to weak KPI governance, limited operational integration, and lack of a scalable retail model.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680852" y="2033361"/>
            <a:ext cx="7338576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2" lvl="1" indent="-129541" algn="l">
              <a:lnSpc>
                <a:spcPts val="1680"/>
              </a:lnSpc>
              <a:spcBef>
                <a:spcPct val="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Leading partnerships rely on clear KPIs, governance, and recurring impact reviews</a:t>
            </a:r>
          </a:p>
          <a:p>
            <a:pPr marL="259082" lvl="1" indent="-129541" algn="l">
              <a:lnSpc>
                <a:spcPts val="1680"/>
              </a:lnSpc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McCain × Lazare lacks a structured measurement framework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680852" y="3813690"/>
            <a:ext cx="7338576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2" lvl="1" indent="-129541" algn="l">
              <a:lnSpc>
                <a:spcPts val="1680"/>
              </a:lnSpc>
              <a:spcBef>
                <a:spcPct val="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Strong CSR partnerships move beyond one-off donations</a:t>
            </a:r>
          </a:p>
          <a:p>
            <a:pPr marL="259082" lvl="1" indent="-129541" algn="l">
              <a:lnSpc>
                <a:spcPts val="1680"/>
              </a:lnSpc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Retail integration and emotional storytelling drive engagement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680852" y="5581059"/>
            <a:ext cx="7338576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2" lvl="1" indent="-129541" algn="l">
              <a:lnSpc>
                <a:spcPts val="1680"/>
              </a:lnSpc>
              <a:spcBef>
                <a:spcPct val="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McCain benefits from strong retail reach, storytelling assets, and brand-NGO alignment</a:t>
            </a:r>
          </a:p>
          <a:p>
            <a:pPr marL="259082" lvl="1" indent="-129541" algn="l">
              <a:lnSpc>
                <a:spcPts val="1680"/>
              </a:lnSpc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These levers are not yet fully activated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721835" y="7347756"/>
            <a:ext cx="7338576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2" lvl="1" indent="-129541" algn="l">
              <a:lnSpc>
                <a:spcPts val="1680"/>
              </a:lnSpc>
              <a:spcBef>
                <a:spcPct val="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Retailers increasingly support measurable cause-led activations</a:t>
            </a:r>
          </a:p>
          <a:p>
            <a:pPr marL="259082" lvl="1" indent="-129541" algn="l">
              <a:lnSpc>
                <a:spcPts val="1680"/>
              </a:lnSpc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Scaling requires simple, repeatable retail mechanics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3929944" y="9691430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768919"/>
            <a:ext cx="16230600" cy="6990153"/>
            <a:chOff x="0" y="0"/>
            <a:chExt cx="4274726" cy="18410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841028"/>
            </a:xfrm>
            <a:custGeom>
              <a:avLst/>
              <a:gdLst/>
              <a:ahLst/>
              <a:cxnLst/>
              <a:rect l="l" t="t" r="r" b="b"/>
              <a:pathLst>
                <a:path w="4274726" h="1841028">
                  <a:moveTo>
                    <a:pt x="0" y="0"/>
                  </a:moveTo>
                  <a:lnTo>
                    <a:pt x="4274726" y="0"/>
                  </a:lnTo>
                  <a:lnTo>
                    <a:pt x="4274726" y="1841028"/>
                  </a:lnTo>
                  <a:lnTo>
                    <a:pt x="0" y="1841028"/>
                  </a:lnTo>
                  <a:close/>
                </a:path>
              </a:pathLst>
            </a:custGeom>
            <a:solidFill>
              <a:srgbClr val="5C18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4274726" cy="1802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29625" y="3178259"/>
            <a:ext cx="1428750" cy="57150"/>
            <a:chOff x="0" y="0"/>
            <a:chExt cx="19050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05000" cy="76200"/>
            </a:xfrm>
            <a:custGeom>
              <a:avLst/>
              <a:gdLst/>
              <a:ahLst/>
              <a:cxnLst/>
              <a:rect l="l" t="t" r="r" b="b"/>
              <a:pathLst>
                <a:path w="1905000" h="762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77562" y="6014119"/>
            <a:ext cx="8932875" cy="1914066"/>
            <a:chOff x="0" y="0"/>
            <a:chExt cx="2352691" cy="5041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52691" cy="504116"/>
            </a:xfrm>
            <a:custGeom>
              <a:avLst/>
              <a:gdLst/>
              <a:ahLst/>
              <a:cxnLst/>
              <a:rect l="l" t="t" r="r" b="b"/>
              <a:pathLst>
                <a:path w="2352691" h="504116">
                  <a:moveTo>
                    <a:pt x="0" y="0"/>
                  </a:moveTo>
                  <a:lnTo>
                    <a:pt x="2352691" y="0"/>
                  </a:lnTo>
                  <a:lnTo>
                    <a:pt x="2352691" y="504116"/>
                  </a:lnTo>
                  <a:lnTo>
                    <a:pt x="0" y="504116"/>
                  </a:lnTo>
                  <a:close/>
                </a:path>
              </a:pathLst>
            </a:custGeom>
            <a:ln w="38100" cap="sq">
              <a:solidFill>
                <a:srgbClr val="FDC62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352691" cy="551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3538381"/>
            <a:ext cx="16230600" cy="2085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6"/>
              </a:lnSpc>
            </a:pPr>
            <a:r>
              <a:rPr lang="en-US" sz="63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</a:t>
            </a:r>
          </a:p>
          <a:p>
            <a:pPr algn="ctr">
              <a:lnSpc>
                <a:spcPts val="8316"/>
              </a:lnSpc>
            </a:pPr>
            <a:r>
              <a:rPr lang="en-US" sz="63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Inside a Retail Environment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77562" y="6151673"/>
            <a:ext cx="8932875" cy="157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4794" b="1">
                <a:solidFill>
                  <a:srgbClr val="FDC62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 of foresight tools and </a:t>
            </a:r>
          </a:p>
          <a:p>
            <a:pPr algn="ctr">
              <a:lnSpc>
                <a:spcPts val="6328"/>
              </a:lnSpc>
            </a:pPr>
            <a:r>
              <a:rPr lang="en-US" sz="4794" b="1">
                <a:solidFill>
                  <a:srgbClr val="FDC62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benchmarking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929944" y="9691430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5814" y="411747"/>
            <a:ext cx="5821699" cy="1235335"/>
            <a:chOff x="0" y="0"/>
            <a:chExt cx="7762265" cy="1647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61732" cy="1646936"/>
            </a:xfrm>
            <a:custGeom>
              <a:avLst/>
              <a:gdLst/>
              <a:ahLst/>
              <a:cxnLst/>
              <a:rect l="l" t="t" r="r" b="b"/>
              <a:pathLst>
                <a:path w="7761732" h="1646936">
                  <a:moveTo>
                    <a:pt x="7761732" y="0"/>
                  </a:moveTo>
                  <a:lnTo>
                    <a:pt x="0" y="0"/>
                  </a:lnTo>
                  <a:lnTo>
                    <a:pt x="0" y="1646936"/>
                  </a:lnTo>
                  <a:lnTo>
                    <a:pt x="7761732" y="1646936"/>
                  </a:lnTo>
                  <a:lnTo>
                    <a:pt x="7761732" y="0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15795" y="1647158"/>
            <a:ext cx="17464107" cy="7412012"/>
            <a:chOff x="0" y="0"/>
            <a:chExt cx="23285475" cy="98826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285196" cy="9882632"/>
            </a:xfrm>
            <a:custGeom>
              <a:avLst/>
              <a:gdLst/>
              <a:ahLst/>
              <a:cxnLst/>
              <a:rect l="l" t="t" r="r" b="b"/>
              <a:pathLst>
                <a:path w="23285196" h="9882632">
                  <a:moveTo>
                    <a:pt x="23285196" y="0"/>
                  </a:moveTo>
                  <a:lnTo>
                    <a:pt x="7762621" y="0"/>
                  </a:lnTo>
                  <a:lnTo>
                    <a:pt x="7762621" y="1645793"/>
                  </a:lnTo>
                  <a:lnTo>
                    <a:pt x="0" y="1645793"/>
                  </a:lnTo>
                  <a:lnTo>
                    <a:pt x="0" y="6042533"/>
                  </a:lnTo>
                  <a:lnTo>
                    <a:pt x="0" y="9882632"/>
                  </a:lnTo>
                  <a:lnTo>
                    <a:pt x="23284180" y="9882632"/>
                  </a:lnTo>
                  <a:lnTo>
                    <a:pt x="23284180" y="6042533"/>
                  </a:lnTo>
                  <a:lnTo>
                    <a:pt x="23285069" y="6042533"/>
                  </a:lnTo>
                  <a:lnTo>
                    <a:pt x="23285069" y="1645793"/>
                  </a:lnTo>
                  <a:lnTo>
                    <a:pt x="23285069" y="0"/>
                  </a:ln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3634" y="9477518"/>
            <a:ext cx="1655388" cy="404412"/>
            <a:chOff x="0" y="0"/>
            <a:chExt cx="2207184" cy="5392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7133" cy="539242"/>
            </a:xfrm>
            <a:custGeom>
              <a:avLst/>
              <a:gdLst/>
              <a:ahLst/>
              <a:cxnLst/>
              <a:rect l="l" t="t" r="r" b="b"/>
              <a:pathLst>
                <a:path w="2207133" h="539242">
                  <a:moveTo>
                    <a:pt x="0" y="0"/>
                  </a:moveTo>
                  <a:lnTo>
                    <a:pt x="2207133" y="0"/>
                  </a:lnTo>
                  <a:lnTo>
                    <a:pt x="2207133" y="539242"/>
                  </a:lnTo>
                  <a:lnTo>
                    <a:pt x="0" y="53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6" r="-2" b="-45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62594" y="1647158"/>
            <a:ext cx="5817307" cy="7412088"/>
            <a:chOff x="0" y="0"/>
            <a:chExt cx="1532130" cy="19521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32130" cy="1952155"/>
            </a:xfrm>
            <a:custGeom>
              <a:avLst/>
              <a:gdLst/>
              <a:ahLst/>
              <a:cxnLst/>
              <a:rect l="l" t="t" r="r" b="b"/>
              <a:pathLst>
                <a:path w="1532130" h="1952155">
                  <a:moveTo>
                    <a:pt x="0" y="0"/>
                  </a:moveTo>
                  <a:lnTo>
                    <a:pt x="1532130" y="0"/>
                  </a:lnTo>
                  <a:lnTo>
                    <a:pt x="1532130" y="1952155"/>
                  </a:lnTo>
                  <a:lnTo>
                    <a:pt x="0" y="1952155"/>
                  </a:lnTo>
                  <a:close/>
                </a:path>
              </a:pathLst>
            </a:custGeom>
            <a:solidFill>
              <a:srgbClr val="000000">
                <a:alpha val="4196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532130" cy="1961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5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062594" y="1455000"/>
            <a:ext cx="8252269" cy="7292005"/>
          </a:xfrm>
          <a:custGeom>
            <a:avLst/>
            <a:gdLst/>
            <a:ahLst/>
            <a:cxnLst/>
            <a:rect l="l" t="t" r="r" b="b"/>
            <a:pathLst>
              <a:path w="8252269" h="7292005">
                <a:moveTo>
                  <a:pt x="0" y="0"/>
                </a:moveTo>
                <a:lnTo>
                  <a:pt x="8252269" y="0"/>
                </a:lnTo>
                <a:lnTo>
                  <a:pt x="8252269" y="7292005"/>
                </a:lnTo>
                <a:lnTo>
                  <a:pt x="0" y="72920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59104" y="4006531"/>
            <a:ext cx="429307" cy="454950"/>
          </a:xfrm>
          <a:custGeom>
            <a:avLst/>
            <a:gdLst/>
            <a:ahLst/>
            <a:cxnLst/>
            <a:rect l="l" t="t" r="r" b="b"/>
            <a:pathLst>
              <a:path w="429307" h="454950">
                <a:moveTo>
                  <a:pt x="0" y="0"/>
                </a:moveTo>
                <a:lnTo>
                  <a:pt x="429308" y="0"/>
                </a:lnTo>
                <a:lnTo>
                  <a:pt x="429308" y="454950"/>
                </a:lnTo>
                <a:lnTo>
                  <a:pt x="0" y="454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931092" y="4699606"/>
            <a:ext cx="485333" cy="485333"/>
          </a:xfrm>
          <a:custGeom>
            <a:avLst/>
            <a:gdLst/>
            <a:ahLst/>
            <a:cxnLst/>
            <a:rect l="l" t="t" r="r" b="b"/>
            <a:pathLst>
              <a:path w="485333" h="485333">
                <a:moveTo>
                  <a:pt x="0" y="0"/>
                </a:moveTo>
                <a:lnTo>
                  <a:pt x="485332" y="0"/>
                </a:lnTo>
                <a:lnTo>
                  <a:pt x="485332" y="485333"/>
                </a:lnTo>
                <a:lnTo>
                  <a:pt x="0" y="485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931092" y="5423064"/>
            <a:ext cx="485333" cy="352969"/>
          </a:xfrm>
          <a:custGeom>
            <a:avLst/>
            <a:gdLst/>
            <a:ahLst/>
            <a:cxnLst/>
            <a:rect l="l" t="t" r="r" b="b"/>
            <a:pathLst>
              <a:path w="485333" h="352969">
                <a:moveTo>
                  <a:pt x="0" y="0"/>
                </a:moveTo>
                <a:lnTo>
                  <a:pt x="485332" y="0"/>
                </a:lnTo>
                <a:lnTo>
                  <a:pt x="485332" y="352969"/>
                </a:lnTo>
                <a:lnTo>
                  <a:pt x="0" y="3529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319768" y="543639"/>
            <a:ext cx="363607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Methodological</a:t>
            </a:r>
          </a:p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Foundations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49679" y="3299105"/>
            <a:ext cx="9360440" cy="469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588" spc="-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Future-proof the McCain-Lazare partnership, we deployed a rigorous foresight methodology to anticipate the future of corporate-NGO collaborations.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9679" y="4006531"/>
            <a:ext cx="9360440" cy="184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10"/>
              </a:lnSpc>
            </a:pPr>
            <a:r>
              <a:rPr lang="en-US" sz="1588" spc="-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PESTEL Horizon Scan: Systematic detection of macro-environmental shifts and emerging weak signals.</a:t>
            </a:r>
          </a:p>
          <a:p>
            <a:pPr algn="just">
              <a:lnSpc>
                <a:spcPts val="1810"/>
              </a:lnSpc>
            </a:pPr>
            <a:endParaRPr lang="en-US" sz="1588" spc="-1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1810"/>
              </a:lnSpc>
            </a:pPr>
            <a:r>
              <a:rPr lang="en-US" sz="1588" spc="-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Global Intelligence Triangulation: Data sourced from the C&amp;E Advisory Barometer (2024-2025), OECD Development Finance, and World Economic Forum.</a:t>
            </a:r>
          </a:p>
          <a:p>
            <a:pPr algn="just">
              <a:lnSpc>
                <a:spcPts val="1810"/>
              </a:lnSpc>
            </a:pPr>
            <a:endParaRPr lang="en-US" sz="1588" spc="-1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1810"/>
              </a:lnSpc>
            </a:pPr>
            <a:r>
              <a:rPr lang="en-US" sz="1588" spc="-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Academic Validation: Grounded in peer-reviewed academic literature published between 2019 and 2026.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73758" y="6265085"/>
            <a:ext cx="7974090" cy="450519"/>
            <a:chOff x="0" y="0"/>
            <a:chExt cx="1640759" cy="926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40759" cy="92699"/>
            </a:xfrm>
            <a:custGeom>
              <a:avLst/>
              <a:gdLst/>
              <a:ahLst/>
              <a:cxnLst/>
              <a:rect l="l" t="t" r="r" b="b"/>
              <a:pathLst>
                <a:path w="1640759" h="92699">
                  <a:moveTo>
                    <a:pt x="46350" y="0"/>
                  </a:moveTo>
                  <a:lnTo>
                    <a:pt x="1594410" y="0"/>
                  </a:lnTo>
                  <a:cubicBezTo>
                    <a:pt x="1620008" y="0"/>
                    <a:pt x="1640759" y="20751"/>
                    <a:pt x="1640759" y="46350"/>
                  </a:cubicBezTo>
                  <a:lnTo>
                    <a:pt x="1640759" y="46350"/>
                  </a:lnTo>
                  <a:cubicBezTo>
                    <a:pt x="1640759" y="58642"/>
                    <a:pt x="1635876" y="70432"/>
                    <a:pt x="1627184" y="79124"/>
                  </a:cubicBezTo>
                  <a:cubicBezTo>
                    <a:pt x="1618492" y="87816"/>
                    <a:pt x="1606702" y="92699"/>
                    <a:pt x="1594410" y="92699"/>
                  </a:cubicBezTo>
                  <a:lnTo>
                    <a:pt x="46350" y="92699"/>
                  </a:lnTo>
                  <a:cubicBezTo>
                    <a:pt x="20751" y="92699"/>
                    <a:pt x="0" y="71948"/>
                    <a:pt x="0" y="46350"/>
                  </a:cubicBezTo>
                  <a:lnTo>
                    <a:pt x="0" y="46350"/>
                  </a:lnTo>
                  <a:cubicBezTo>
                    <a:pt x="0" y="20751"/>
                    <a:pt x="20751" y="0"/>
                    <a:pt x="46350" y="0"/>
                  </a:cubicBezTo>
                  <a:close/>
                </a:path>
              </a:pathLst>
            </a:custGeom>
            <a:solidFill>
              <a:srgbClr val="FFFFFF">
                <a:alpha val="33725"/>
              </a:srgbClr>
            </a:solidFill>
            <a:ln w="9525" cap="rnd">
              <a:solidFill>
                <a:srgbClr val="FFC82D">
                  <a:alpha val="33725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1640759" cy="10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5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73758" y="6361757"/>
            <a:ext cx="797409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5"/>
              </a:lnSpc>
              <a:spcBef>
                <a:spcPct val="0"/>
              </a:spcBef>
            </a:pPr>
            <a:r>
              <a:rPr lang="en-US" sz="1588" b="1" spc="-31">
                <a:solidFill>
                  <a:srgbClr val="FBF6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TRANSACTIONAL CHARITY ⟶ STRATEGIC CO-CREATION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68457" y="6953729"/>
            <a:ext cx="319234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5717" b="1" spc="-34">
                <a:solidFill>
                  <a:srgbClr val="FBF6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57%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81694" y="6953729"/>
            <a:ext cx="319234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5717" b="1" spc="-34">
                <a:solidFill>
                  <a:srgbClr val="FBF6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92%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73758" y="7820504"/>
            <a:ext cx="3580934" cy="92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588" spc="-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of corporates globally now cite "deeper problem solving" as their primary reason for partnering with NGOs.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81964" y="7820504"/>
            <a:ext cx="3580934" cy="92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588" spc="-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report that non-cash competencies offer more value and strategic impact than financial transfers alone.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29944" y="9691430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1470" y="2229405"/>
            <a:ext cx="6618344" cy="3071539"/>
            <a:chOff x="0" y="0"/>
            <a:chExt cx="5545061" cy="25734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45074" cy="2573447"/>
            </a:xfrm>
            <a:custGeom>
              <a:avLst/>
              <a:gdLst/>
              <a:ahLst/>
              <a:cxnLst/>
              <a:rect l="l" t="t" r="r" b="b"/>
              <a:pathLst>
                <a:path w="5545074" h="2573447">
                  <a:moveTo>
                    <a:pt x="0" y="0"/>
                  </a:moveTo>
                  <a:lnTo>
                    <a:pt x="5545074" y="0"/>
                  </a:lnTo>
                  <a:lnTo>
                    <a:pt x="5545074" y="2573447"/>
                  </a:lnTo>
                  <a:lnTo>
                    <a:pt x="0" y="2573447"/>
                  </a:ln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545061" cy="257343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156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3634" y="9477518"/>
            <a:ext cx="1655388" cy="404412"/>
            <a:chOff x="0" y="0"/>
            <a:chExt cx="2207184" cy="5392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07133" cy="539242"/>
            </a:xfrm>
            <a:custGeom>
              <a:avLst/>
              <a:gdLst/>
              <a:ahLst/>
              <a:cxnLst/>
              <a:rect l="l" t="t" r="r" b="b"/>
              <a:pathLst>
                <a:path w="2207133" h="539242">
                  <a:moveTo>
                    <a:pt x="0" y="0"/>
                  </a:moveTo>
                  <a:lnTo>
                    <a:pt x="2207133" y="0"/>
                  </a:lnTo>
                  <a:lnTo>
                    <a:pt x="2207133" y="539242"/>
                  </a:lnTo>
                  <a:lnTo>
                    <a:pt x="0" y="53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6" r="-2" b="-45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10848752" y="5574500"/>
            <a:ext cx="4681158" cy="3903018"/>
          </a:xfrm>
          <a:custGeom>
            <a:avLst/>
            <a:gdLst/>
            <a:ahLst/>
            <a:cxnLst/>
            <a:rect l="l" t="t" r="r" b="b"/>
            <a:pathLst>
              <a:path w="4681158" h="3903018">
                <a:moveTo>
                  <a:pt x="0" y="0"/>
                </a:moveTo>
                <a:lnTo>
                  <a:pt x="4681158" y="0"/>
                </a:lnTo>
                <a:lnTo>
                  <a:pt x="4681158" y="3903018"/>
                </a:lnTo>
                <a:lnTo>
                  <a:pt x="0" y="3903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24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764190" y="2009476"/>
            <a:ext cx="6850282" cy="3245448"/>
          </a:xfrm>
          <a:custGeom>
            <a:avLst/>
            <a:gdLst/>
            <a:ahLst/>
            <a:cxnLst/>
            <a:rect l="l" t="t" r="r" b="b"/>
            <a:pathLst>
              <a:path w="6850282" h="3245448">
                <a:moveTo>
                  <a:pt x="0" y="0"/>
                </a:moveTo>
                <a:lnTo>
                  <a:pt x="6850281" y="0"/>
                </a:lnTo>
                <a:lnTo>
                  <a:pt x="6850281" y="3245448"/>
                </a:lnTo>
                <a:lnTo>
                  <a:pt x="0" y="3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85" b="-9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771470" y="5720045"/>
            <a:ext cx="6618344" cy="2586283"/>
          </a:xfrm>
          <a:custGeom>
            <a:avLst/>
            <a:gdLst/>
            <a:ahLst/>
            <a:cxnLst/>
            <a:rect l="l" t="t" r="r" b="b"/>
            <a:pathLst>
              <a:path w="6618344" h="2586283">
                <a:moveTo>
                  <a:pt x="0" y="0"/>
                </a:moveTo>
                <a:lnTo>
                  <a:pt x="6618344" y="0"/>
                </a:lnTo>
                <a:lnTo>
                  <a:pt x="6618344" y="2586282"/>
                </a:lnTo>
                <a:lnTo>
                  <a:pt x="0" y="25862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50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 descr="$PPTXTitle"/>
          <p:cNvSpPr txBox="1"/>
          <p:nvPr/>
        </p:nvSpPr>
        <p:spPr>
          <a:xfrm>
            <a:off x="1251328" y="660392"/>
            <a:ext cx="15834054" cy="152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5"/>
              </a:lnSpc>
            </a:pPr>
            <a:r>
              <a:rPr lang="en-US" sz="350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BENCHMARKING AGAINST SIMILAR SUCCESSFUL PARTNERSHIPS ACROSS THE GLOBE</a:t>
            </a:r>
          </a:p>
          <a:p>
            <a:pPr algn="l">
              <a:lnSpc>
                <a:spcPts val="4025"/>
              </a:lnSpc>
            </a:pPr>
            <a:endParaRPr lang="en-US" sz="3500" b="1">
              <a:solidFill>
                <a:srgbClr val="5F1937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865700" y="3237939"/>
            <a:ext cx="6426370" cy="188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  <a:spcBef>
                <a:spcPct val="0"/>
              </a:spcBef>
            </a:pPr>
            <a:r>
              <a:rPr lang="en-US" sz="1400" spc="-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benchmark the five criteria, each of the five team members independently reviewed a minimum of four globally recognised corporate–NGO partnerships, assessing how each defined and communicated success. This produced a pool of sixteen partnership reviews across the group. The team then convened in a calibration session in which each member's independent scores and interpretations were presented, cross-examined, and debated until a consensus position was reached. This process ensured that the final scores reflected collective analytical judgement rather than any single perspective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61687" y="2609289"/>
            <a:ext cx="642637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b="1" spc="-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STEPS FOR BENCHMARKING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929944" y="9691430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5814" y="411747"/>
            <a:ext cx="5833428" cy="1235264"/>
            <a:chOff x="0" y="0"/>
            <a:chExt cx="7778351" cy="1647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77816" cy="1646936"/>
            </a:xfrm>
            <a:custGeom>
              <a:avLst/>
              <a:gdLst/>
              <a:ahLst/>
              <a:cxnLst/>
              <a:rect l="l" t="t" r="r" b="b"/>
              <a:pathLst>
                <a:path w="7777816" h="1646936">
                  <a:moveTo>
                    <a:pt x="7777816" y="0"/>
                  </a:moveTo>
                  <a:lnTo>
                    <a:pt x="0" y="0"/>
                  </a:lnTo>
                  <a:lnTo>
                    <a:pt x="0" y="1646936"/>
                  </a:lnTo>
                  <a:lnTo>
                    <a:pt x="7777816" y="1646936"/>
                  </a:lnTo>
                  <a:lnTo>
                    <a:pt x="7777816" y="0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23634" y="1647011"/>
            <a:ext cx="17464107" cy="7611289"/>
            <a:chOff x="0" y="0"/>
            <a:chExt cx="23285475" cy="101483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285196" cy="10148332"/>
            </a:xfrm>
            <a:custGeom>
              <a:avLst/>
              <a:gdLst/>
              <a:ahLst/>
              <a:cxnLst/>
              <a:rect l="l" t="t" r="r" b="b"/>
              <a:pathLst>
                <a:path w="23285196" h="10148332">
                  <a:moveTo>
                    <a:pt x="23285196" y="0"/>
                  </a:moveTo>
                  <a:lnTo>
                    <a:pt x="7762621" y="0"/>
                  </a:lnTo>
                  <a:lnTo>
                    <a:pt x="7762621" y="1690041"/>
                  </a:lnTo>
                  <a:lnTo>
                    <a:pt x="0" y="1690041"/>
                  </a:lnTo>
                  <a:lnTo>
                    <a:pt x="0" y="6204991"/>
                  </a:lnTo>
                  <a:lnTo>
                    <a:pt x="0" y="10148332"/>
                  </a:lnTo>
                  <a:lnTo>
                    <a:pt x="23284180" y="10148332"/>
                  </a:lnTo>
                  <a:lnTo>
                    <a:pt x="23284180" y="6204991"/>
                  </a:lnTo>
                  <a:lnTo>
                    <a:pt x="23285069" y="6204991"/>
                  </a:lnTo>
                  <a:lnTo>
                    <a:pt x="23285069" y="1690041"/>
                  </a:lnTo>
                  <a:lnTo>
                    <a:pt x="23285069" y="0"/>
                  </a:ln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3634" y="9477518"/>
            <a:ext cx="1655388" cy="404412"/>
            <a:chOff x="0" y="0"/>
            <a:chExt cx="2207184" cy="5392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7133" cy="539242"/>
            </a:xfrm>
            <a:custGeom>
              <a:avLst/>
              <a:gdLst/>
              <a:ahLst/>
              <a:cxnLst/>
              <a:rect l="l" t="t" r="r" b="b"/>
              <a:pathLst>
                <a:path w="2207133" h="539242">
                  <a:moveTo>
                    <a:pt x="0" y="0"/>
                  </a:moveTo>
                  <a:lnTo>
                    <a:pt x="2207133" y="0"/>
                  </a:lnTo>
                  <a:lnTo>
                    <a:pt x="2207133" y="539242"/>
                  </a:lnTo>
                  <a:lnTo>
                    <a:pt x="0" y="53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6" r="-2" b="-45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76495" y="3446106"/>
            <a:ext cx="9460840" cy="450519"/>
            <a:chOff x="0" y="0"/>
            <a:chExt cx="1946675" cy="926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46675" cy="92699"/>
            </a:xfrm>
            <a:custGeom>
              <a:avLst/>
              <a:gdLst/>
              <a:ahLst/>
              <a:cxnLst/>
              <a:rect l="l" t="t" r="r" b="b"/>
              <a:pathLst>
                <a:path w="1946675" h="92699">
                  <a:moveTo>
                    <a:pt x="46350" y="0"/>
                  </a:moveTo>
                  <a:lnTo>
                    <a:pt x="1900325" y="0"/>
                  </a:lnTo>
                  <a:cubicBezTo>
                    <a:pt x="1925924" y="0"/>
                    <a:pt x="1946675" y="20751"/>
                    <a:pt x="1946675" y="46350"/>
                  </a:cubicBezTo>
                  <a:lnTo>
                    <a:pt x="1946675" y="46350"/>
                  </a:lnTo>
                  <a:cubicBezTo>
                    <a:pt x="1946675" y="58642"/>
                    <a:pt x="1941792" y="70432"/>
                    <a:pt x="1933099" y="79124"/>
                  </a:cubicBezTo>
                  <a:cubicBezTo>
                    <a:pt x="1924407" y="87816"/>
                    <a:pt x="1912618" y="92699"/>
                    <a:pt x="1900325" y="92699"/>
                  </a:cubicBezTo>
                  <a:lnTo>
                    <a:pt x="46350" y="92699"/>
                  </a:lnTo>
                  <a:cubicBezTo>
                    <a:pt x="20751" y="92699"/>
                    <a:pt x="0" y="71948"/>
                    <a:pt x="0" y="46350"/>
                  </a:cubicBezTo>
                  <a:lnTo>
                    <a:pt x="0" y="46350"/>
                  </a:lnTo>
                  <a:cubicBezTo>
                    <a:pt x="0" y="20751"/>
                    <a:pt x="20751" y="0"/>
                    <a:pt x="463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946675" cy="10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5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7630" y="4346972"/>
            <a:ext cx="2974795" cy="469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588" b="1" spc="-1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X Lazare</a:t>
            </a:r>
          </a:p>
          <a:p>
            <a:pPr algn="l">
              <a:lnSpc>
                <a:spcPts val="1810"/>
              </a:lnSpc>
            </a:pPr>
            <a:r>
              <a:rPr lang="en-US" sz="1588" b="1" spc="-1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(Current)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276495" y="3446106"/>
            <a:ext cx="5297925" cy="450519"/>
            <a:chOff x="0" y="0"/>
            <a:chExt cx="1090108" cy="926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0108" cy="92699"/>
            </a:xfrm>
            <a:custGeom>
              <a:avLst/>
              <a:gdLst/>
              <a:ahLst/>
              <a:cxnLst/>
              <a:rect l="l" t="t" r="r" b="b"/>
              <a:pathLst>
                <a:path w="1090108" h="92699">
                  <a:moveTo>
                    <a:pt x="46350" y="0"/>
                  </a:moveTo>
                  <a:lnTo>
                    <a:pt x="1043758" y="0"/>
                  </a:lnTo>
                  <a:cubicBezTo>
                    <a:pt x="1069357" y="0"/>
                    <a:pt x="1090108" y="20751"/>
                    <a:pt x="1090108" y="46350"/>
                  </a:cubicBezTo>
                  <a:lnTo>
                    <a:pt x="1090108" y="46350"/>
                  </a:lnTo>
                  <a:cubicBezTo>
                    <a:pt x="1090108" y="58642"/>
                    <a:pt x="1085225" y="70432"/>
                    <a:pt x="1076532" y="79124"/>
                  </a:cubicBezTo>
                  <a:cubicBezTo>
                    <a:pt x="1067840" y="87816"/>
                    <a:pt x="1056051" y="92699"/>
                    <a:pt x="1043758" y="92699"/>
                  </a:cubicBezTo>
                  <a:lnTo>
                    <a:pt x="46350" y="92699"/>
                  </a:lnTo>
                  <a:cubicBezTo>
                    <a:pt x="20751" y="92699"/>
                    <a:pt x="0" y="71948"/>
                    <a:pt x="0" y="46350"/>
                  </a:cubicBezTo>
                  <a:lnTo>
                    <a:pt x="0" y="46350"/>
                  </a:lnTo>
                  <a:cubicBezTo>
                    <a:pt x="0" y="20751"/>
                    <a:pt x="20751" y="0"/>
                    <a:pt x="4635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090108" cy="10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5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76495" y="4242063"/>
            <a:ext cx="9460840" cy="450519"/>
            <a:chOff x="0" y="0"/>
            <a:chExt cx="1946675" cy="926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46675" cy="92699"/>
            </a:xfrm>
            <a:custGeom>
              <a:avLst/>
              <a:gdLst/>
              <a:ahLst/>
              <a:cxnLst/>
              <a:rect l="l" t="t" r="r" b="b"/>
              <a:pathLst>
                <a:path w="1946675" h="92699">
                  <a:moveTo>
                    <a:pt x="46350" y="0"/>
                  </a:moveTo>
                  <a:lnTo>
                    <a:pt x="1900325" y="0"/>
                  </a:lnTo>
                  <a:cubicBezTo>
                    <a:pt x="1925924" y="0"/>
                    <a:pt x="1946675" y="20751"/>
                    <a:pt x="1946675" y="46350"/>
                  </a:cubicBezTo>
                  <a:lnTo>
                    <a:pt x="1946675" y="46350"/>
                  </a:lnTo>
                  <a:cubicBezTo>
                    <a:pt x="1946675" y="58642"/>
                    <a:pt x="1941792" y="70432"/>
                    <a:pt x="1933099" y="79124"/>
                  </a:cubicBezTo>
                  <a:cubicBezTo>
                    <a:pt x="1924407" y="87816"/>
                    <a:pt x="1912618" y="92699"/>
                    <a:pt x="1900325" y="92699"/>
                  </a:cubicBezTo>
                  <a:lnTo>
                    <a:pt x="46350" y="92699"/>
                  </a:lnTo>
                  <a:cubicBezTo>
                    <a:pt x="20751" y="92699"/>
                    <a:pt x="0" y="71948"/>
                    <a:pt x="0" y="46350"/>
                  </a:cubicBezTo>
                  <a:lnTo>
                    <a:pt x="0" y="46350"/>
                  </a:lnTo>
                  <a:cubicBezTo>
                    <a:pt x="0" y="20751"/>
                    <a:pt x="20751" y="0"/>
                    <a:pt x="463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946675" cy="10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5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276495" y="4242063"/>
            <a:ext cx="3449839" cy="450519"/>
            <a:chOff x="0" y="0"/>
            <a:chExt cx="709843" cy="926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09843" cy="92699"/>
            </a:xfrm>
            <a:custGeom>
              <a:avLst/>
              <a:gdLst/>
              <a:ahLst/>
              <a:cxnLst/>
              <a:rect l="l" t="t" r="r" b="b"/>
              <a:pathLst>
                <a:path w="709843" h="92699">
                  <a:moveTo>
                    <a:pt x="46350" y="0"/>
                  </a:moveTo>
                  <a:lnTo>
                    <a:pt x="663494" y="0"/>
                  </a:lnTo>
                  <a:cubicBezTo>
                    <a:pt x="689092" y="0"/>
                    <a:pt x="709843" y="20751"/>
                    <a:pt x="709843" y="46350"/>
                  </a:cubicBezTo>
                  <a:lnTo>
                    <a:pt x="709843" y="46350"/>
                  </a:lnTo>
                  <a:cubicBezTo>
                    <a:pt x="709843" y="58642"/>
                    <a:pt x="704960" y="70432"/>
                    <a:pt x="696268" y="79124"/>
                  </a:cubicBezTo>
                  <a:cubicBezTo>
                    <a:pt x="687576" y="87816"/>
                    <a:pt x="675786" y="92699"/>
                    <a:pt x="663494" y="92699"/>
                  </a:cubicBezTo>
                  <a:lnTo>
                    <a:pt x="46350" y="92699"/>
                  </a:lnTo>
                  <a:cubicBezTo>
                    <a:pt x="20751" y="92699"/>
                    <a:pt x="0" y="71948"/>
                    <a:pt x="0" y="46350"/>
                  </a:cubicBezTo>
                  <a:lnTo>
                    <a:pt x="0" y="46350"/>
                  </a:lnTo>
                  <a:cubicBezTo>
                    <a:pt x="0" y="20751"/>
                    <a:pt x="20751" y="0"/>
                    <a:pt x="46350" y="0"/>
                  </a:cubicBez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709843" cy="10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5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276495" y="5198913"/>
            <a:ext cx="4088266" cy="947833"/>
            <a:chOff x="0" y="0"/>
            <a:chExt cx="1391673" cy="32264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91673" cy="322649"/>
            </a:xfrm>
            <a:custGeom>
              <a:avLst/>
              <a:gdLst/>
              <a:ahLst/>
              <a:cxnLst/>
              <a:rect l="l" t="t" r="r" b="b"/>
              <a:pathLst>
                <a:path w="1391673" h="322649">
                  <a:moveTo>
                    <a:pt x="36986" y="0"/>
                  </a:moveTo>
                  <a:lnTo>
                    <a:pt x="1354687" y="0"/>
                  </a:lnTo>
                  <a:cubicBezTo>
                    <a:pt x="1364497" y="0"/>
                    <a:pt x="1373904" y="3897"/>
                    <a:pt x="1380840" y="10833"/>
                  </a:cubicBezTo>
                  <a:cubicBezTo>
                    <a:pt x="1387777" y="17769"/>
                    <a:pt x="1391673" y="27177"/>
                    <a:pt x="1391673" y="36986"/>
                  </a:cubicBezTo>
                  <a:lnTo>
                    <a:pt x="1391673" y="285663"/>
                  </a:lnTo>
                  <a:cubicBezTo>
                    <a:pt x="1391673" y="295472"/>
                    <a:pt x="1387777" y="304880"/>
                    <a:pt x="1380840" y="311816"/>
                  </a:cubicBezTo>
                  <a:cubicBezTo>
                    <a:pt x="1373904" y="318752"/>
                    <a:pt x="1364497" y="322649"/>
                    <a:pt x="1354687" y="322649"/>
                  </a:cubicBezTo>
                  <a:lnTo>
                    <a:pt x="36986" y="322649"/>
                  </a:lnTo>
                  <a:cubicBezTo>
                    <a:pt x="27177" y="322649"/>
                    <a:pt x="17769" y="318752"/>
                    <a:pt x="10833" y="311816"/>
                  </a:cubicBezTo>
                  <a:cubicBezTo>
                    <a:pt x="3897" y="304880"/>
                    <a:pt x="0" y="295472"/>
                    <a:pt x="0" y="285663"/>
                  </a:cubicBezTo>
                  <a:lnTo>
                    <a:pt x="0" y="36986"/>
                  </a:lnTo>
                  <a:cubicBezTo>
                    <a:pt x="0" y="27177"/>
                    <a:pt x="3897" y="17769"/>
                    <a:pt x="10833" y="10833"/>
                  </a:cubicBezTo>
                  <a:cubicBezTo>
                    <a:pt x="17769" y="3897"/>
                    <a:pt x="27177" y="0"/>
                    <a:pt x="36986" y="0"/>
                  </a:cubicBezTo>
                  <a:close/>
                </a:path>
              </a:pathLst>
            </a:custGeom>
            <a:ln w="19050" cap="rnd">
              <a:solidFill>
                <a:srgbClr val="FF575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1391673" cy="284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100" b="1">
                  <a:solidFill>
                    <a:srgbClr val="FF575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Current State</a:t>
              </a:r>
            </a:p>
            <a:p>
              <a:pPr algn="ctr">
                <a:lnSpc>
                  <a:spcPts val="2100"/>
                </a:lnSpc>
              </a:pPr>
              <a:endParaRPr lang="en-US" sz="2100" b="1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1400"/>
                </a:lnSpc>
              </a:pPr>
              <a:r>
                <a:rPr lang="en-US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Invisible to consumer, siloed CSR budget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76862" y="5198913"/>
            <a:ext cx="5260473" cy="947833"/>
            <a:chOff x="0" y="0"/>
            <a:chExt cx="1790700" cy="3226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90700" cy="322649"/>
            </a:xfrm>
            <a:custGeom>
              <a:avLst/>
              <a:gdLst/>
              <a:ahLst/>
              <a:cxnLst/>
              <a:rect l="l" t="t" r="r" b="b"/>
              <a:pathLst>
                <a:path w="1790700" h="322649">
                  <a:moveTo>
                    <a:pt x="28744" y="0"/>
                  </a:moveTo>
                  <a:lnTo>
                    <a:pt x="1761956" y="0"/>
                  </a:lnTo>
                  <a:cubicBezTo>
                    <a:pt x="1769579" y="0"/>
                    <a:pt x="1776891" y="3028"/>
                    <a:pt x="1782281" y="8419"/>
                  </a:cubicBezTo>
                  <a:cubicBezTo>
                    <a:pt x="1787672" y="13810"/>
                    <a:pt x="1790700" y="21121"/>
                    <a:pt x="1790700" y="28744"/>
                  </a:cubicBezTo>
                  <a:lnTo>
                    <a:pt x="1790700" y="293904"/>
                  </a:lnTo>
                  <a:cubicBezTo>
                    <a:pt x="1790700" y="301528"/>
                    <a:pt x="1787672" y="308839"/>
                    <a:pt x="1782281" y="314230"/>
                  </a:cubicBezTo>
                  <a:cubicBezTo>
                    <a:pt x="1776891" y="319620"/>
                    <a:pt x="1769579" y="322649"/>
                    <a:pt x="1761956" y="322649"/>
                  </a:cubicBezTo>
                  <a:lnTo>
                    <a:pt x="28744" y="322649"/>
                  </a:lnTo>
                  <a:cubicBezTo>
                    <a:pt x="21121" y="322649"/>
                    <a:pt x="13810" y="319620"/>
                    <a:pt x="8419" y="314230"/>
                  </a:cubicBezTo>
                  <a:cubicBezTo>
                    <a:pt x="3028" y="308839"/>
                    <a:pt x="0" y="301528"/>
                    <a:pt x="0" y="293904"/>
                  </a:cubicBezTo>
                  <a:lnTo>
                    <a:pt x="0" y="28744"/>
                  </a:lnTo>
                  <a:cubicBezTo>
                    <a:pt x="0" y="21121"/>
                    <a:pt x="3028" y="13810"/>
                    <a:pt x="8419" y="8419"/>
                  </a:cubicBezTo>
                  <a:cubicBezTo>
                    <a:pt x="13810" y="3028"/>
                    <a:pt x="21121" y="0"/>
                    <a:pt x="28744" y="0"/>
                  </a:cubicBezTo>
                  <a:close/>
                </a:path>
              </a:pathLst>
            </a:custGeom>
            <a:ln w="19050" cap="rnd">
              <a:solidFill>
                <a:srgbClr val="FFC82D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38100"/>
              <a:ext cx="1790700" cy="284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100" b="1">
                  <a:gradFill>
                    <a:gsLst>
                      <a:gs pos="0">
                        <a:srgbClr val="FFDA6A">
                          <a:alpha val="100000"/>
                        </a:srgbClr>
                      </a:gs>
                      <a:gs pos="100000">
                        <a:srgbClr val="FFF7DE">
                          <a:alpha val="100000"/>
                        </a:srgbClr>
                      </a:gs>
                    </a:gsLst>
                    <a:lin ang="5400000"/>
                  </a:gradFill>
                  <a:latin typeface="Montserrat Bold"/>
                  <a:ea typeface="Montserrat Bold"/>
                  <a:cs typeface="Montserrat Bold"/>
                  <a:sym typeface="Montserrat Bold"/>
                </a:rPr>
                <a:t>The Auchan Mandate</a:t>
              </a:r>
            </a:p>
            <a:p>
              <a:pPr algn="ctr">
                <a:lnSpc>
                  <a:spcPts val="2100"/>
                </a:lnSpc>
              </a:pPr>
              <a:endParaRPr lang="en-US" sz="2100" b="1">
                <a:gradFill>
                  <a:gsLst>
                    <a:gs pos="0">
                      <a:srgbClr val="FFDA6A">
                        <a:alpha val="100000"/>
                      </a:srgbClr>
                    </a:gs>
                    <a:gs pos="100000">
                      <a:srgbClr val="FFF7DE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1400"/>
                </a:lnSpc>
              </a:pPr>
              <a:r>
                <a:rPr lang="en-US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Must become a commercial &amp; Category driver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276495" y="6376189"/>
            <a:ext cx="1724920" cy="2645455"/>
            <a:chOff x="0" y="0"/>
            <a:chExt cx="587174" cy="9005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87174" cy="900531"/>
            </a:xfrm>
            <a:custGeom>
              <a:avLst/>
              <a:gdLst/>
              <a:ahLst/>
              <a:cxnLst/>
              <a:rect l="l" t="t" r="r" b="b"/>
              <a:pathLst>
                <a:path w="587174" h="900531">
                  <a:moveTo>
                    <a:pt x="87662" y="0"/>
                  </a:moveTo>
                  <a:lnTo>
                    <a:pt x="499513" y="0"/>
                  </a:lnTo>
                  <a:cubicBezTo>
                    <a:pt x="547927" y="0"/>
                    <a:pt x="587174" y="39247"/>
                    <a:pt x="587174" y="87662"/>
                  </a:cubicBezTo>
                  <a:lnTo>
                    <a:pt x="587174" y="812869"/>
                  </a:lnTo>
                  <a:cubicBezTo>
                    <a:pt x="587174" y="861283"/>
                    <a:pt x="547927" y="900531"/>
                    <a:pt x="499513" y="900531"/>
                  </a:cubicBezTo>
                  <a:lnTo>
                    <a:pt x="87662" y="900531"/>
                  </a:lnTo>
                  <a:cubicBezTo>
                    <a:pt x="39247" y="900531"/>
                    <a:pt x="0" y="861283"/>
                    <a:pt x="0" y="812869"/>
                  </a:cubicBezTo>
                  <a:lnTo>
                    <a:pt x="0" y="87662"/>
                  </a:lnTo>
                  <a:cubicBezTo>
                    <a:pt x="0" y="39247"/>
                    <a:pt x="39247" y="0"/>
                    <a:pt x="87662" y="0"/>
                  </a:cubicBezTo>
                  <a:close/>
                </a:path>
              </a:pathLst>
            </a:custGeom>
            <a:solidFill>
              <a:srgbClr val="FBF6F4"/>
            </a:solidFill>
            <a:ln w="19050" cap="rnd">
              <a:solidFill>
                <a:srgbClr val="EAE4D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38100"/>
              <a:ext cx="587174" cy="862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  <a:p>
              <a:pPr algn="ctr">
                <a:lnSpc>
                  <a:spcPts val="1900"/>
                </a:lnSpc>
              </a:pPr>
              <a:r>
                <a:rPr lang="en-US" sz="1900" b="1">
                  <a:solidFill>
                    <a:srgbClr val="FF575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-5.5 pts</a:t>
              </a:r>
            </a:p>
            <a:p>
              <a:pPr algn="ctr">
                <a:lnSpc>
                  <a:spcPts val="1700"/>
                </a:lnSpc>
              </a:pPr>
              <a:r>
                <a:rPr lang="en-US" sz="1700" b="1">
                  <a:solidFill>
                    <a:srgbClr val="5519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Measurable Impact</a:t>
              </a:r>
            </a:p>
            <a:p>
              <a:pPr algn="ctr">
                <a:lnSpc>
                  <a:spcPts val="2100"/>
                </a:lnSpc>
              </a:pPr>
              <a:endParaRPr lang="en-US" sz="17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1200"/>
                </a:lnSpc>
              </a:pPr>
              <a:r>
                <a:rPr lang="en-US" sz="1200">
                  <a:solidFill>
                    <a:srgbClr val="551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Retailers require commercial ROI. We currently have no brand equity KPIs or public social impact metrics to justify Auchan's shelf space.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10475" y="6376189"/>
            <a:ext cx="1724920" cy="2674030"/>
            <a:chOff x="0" y="0"/>
            <a:chExt cx="587174" cy="91025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87174" cy="910258"/>
            </a:xfrm>
            <a:custGeom>
              <a:avLst/>
              <a:gdLst/>
              <a:ahLst/>
              <a:cxnLst/>
              <a:rect l="l" t="t" r="r" b="b"/>
              <a:pathLst>
                <a:path w="587174" h="910258">
                  <a:moveTo>
                    <a:pt x="87662" y="0"/>
                  </a:moveTo>
                  <a:lnTo>
                    <a:pt x="499513" y="0"/>
                  </a:lnTo>
                  <a:cubicBezTo>
                    <a:pt x="547927" y="0"/>
                    <a:pt x="587174" y="39247"/>
                    <a:pt x="587174" y="87662"/>
                  </a:cubicBezTo>
                  <a:lnTo>
                    <a:pt x="587174" y="822596"/>
                  </a:lnTo>
                  <a:cubicBezTo>
                    <a:pt x="587174" y="871010"/>
                    <a:pt x="547927" y="910258"/>
                    <a:pt x="499513" y="910258"/>
                  </a:cubicBezTo>
                  <a:lnTo>
                    <a:pt x="87662" y="910258"/>
                  </a:lnTo>
                  <a:cubicBezTo>
                    <a:pt x="39247" y="910258"/>
                    <a:pt x="0" y="871010"/>
                    <a:pt x="0" y="822596"/>
                  </a:cubicBezTo>
                  <a:lnTo>
                    <a:pt x="0" y="87662"/>
                  </a:lnTo>
                  <a:cubicBezTo>
                    <a:pt x="0" y="39247"/>
                    <a:pt x="39247" y="0"/>
                    <a:pt x="87662" y="0"/>
                  </a:cubicBezTo>
                  <a:close/>
                </a:path>
              </a:pathLst>
            </a:custGeom>
            <a:solidFill>
              <a:srgbClr val="FBF6F4"/>
            </a:solidFill>
            <a:ln w="19050" cap="rnd">
              <a:solidFill>
                <a:srgbClr val="EAE4D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38100"/>
              <a:ext cx="587174" cy="872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  <a:p>
              <a:pPr algn="ctr">
                <a:lnSpc>
                  <a:spcPts val="1900"/>
                </a:lnSpc>
              </a:pPr>
              <a:r>
                <a:rPr lang="en-US" sz="1900" b="1">
                  <a:solidFill>
                    <a:srgbClr val="FF575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-3.9 pts</a:t>
              </a:r>
            </a:p>
            <a:p>
              <a:pPr algn="ctr">
                <a:lnSpc>
                  <a:spcPts val="1700"/>
                </a:lnSpc>
              </a:pPr>
              <a:r>
                <a:rPr lang="en-US" sz="1700" b="1">
                  <a:solidFill>
                    <a:srgbClr val="5C183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Operational Integration</a:t>
              </a:r>
            </a:p>
            <a:p>
              <a:pPr algn="ctr">
                <a:lnSpc>
                  <a:spcPts val="2100"/>
                </a:lnSpc>
              </a:pPr>
              <a:endParaRPr lang="en-US" sz="1700" b="1">
                <a:solidFill>
                  <a:srgbClr val="5C1837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1200"/>
                </a:lnSpc>
              </a:pPr>
              <a:r>
                <a:rPr lang="en-US" sz="1200">
                  <a:solidFill>
                    <a:srgbClr val="5C18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Partnership exists only as isolated campaign events. Lacks a permanent, hard-wired routine in the frozen food aisle.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144455" y="6376189"/>
            <a:ext cx="1724920" cy="2674030"/>
            <a:chOff x="0" y="0"/>
            <a:chExt cx="587174" cy="91025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87174" cy="910258"/>
            </a:xfrm>
            <a:custGeom>
              <a:avLst/>
              <a:gdLst/>
              <a:ahLst/>
              <a:cxnLst/>
              <a:rect l="l" t="t" r="r" b="b"/>
              <a:pathLst>
                <a:path w="587174" h="910258">
                  <a:moveTo>
                    <a:pt x="87662" y="0"/>
                  </a:moveTo>
                  <a:lnTo>
                    <a:pt x="499513" y="0"/>
                  </a:lnTo>
                  <a:cubicBezTo>
                    <a:pt x="547927" y="0"/>
                    <a:pt x="587174" y="39247"/>
                    <a:pt x="587174" y="87662"/>
                  </a:cubicBezTo>
                  <a:lnTo>
                    <a:pt x="587174" y="822596"/>
                  </a:lnTo>
                  <a:cubicBezTo>
                    <a:pt x="587174" y="871010"/>
                    <a:pt x="547927" y="910258"/>
                    <a:pt x="499513" y="910258"/>
                  </a:cubicBezTo>
                  <a:lnTo>
                    <a:pt x="87662" y="910258"/>
                  </a:lnTo>
                  <a:cubicBezTo>
                    <a:pt x="39247" y="910258"/>
                    <a:pt x="0" y="871010"/>
                    <a:pt x="0" y="822596"/>
                  </a:cubicBezTo>
                  <a:lnTo>
                    <a:pt x="0" y="87662"/>
                  </a:lnTo>
                  <a:cubicBezTo>
                    <a:pt x="0" y="39247"/>
                    <a:pt x="39247" y="0"/>
                    <a:pt x="87662" y="0"/>
                  </a:cubicBezTo>
                  <a:close/>
                </a:path>
              </a:pathLst>
            </a:custGeom>
            <a:solidFill>
              <a:srgbClr val="FBF6F4"/>
            </a:solidFill>
            <a:ln w="19050" cap="rnd">
              <a:solidFill>
                <a:srgbClr val="EAE4D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38100"/>
              <a:ext cx="587174" cy="872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  <a:p>
              <a:pPr algn="ctr">
                <a:lnSpc>
                  <a:spcPts val="1900"/>
                </a:lnSpc>
              </a:pPr>
              <a:r>
                <a:rPr lang="en-US" sz="1900" b="1">
                  <a:solidFill>
                    <a:srgbClr val="FF575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-3.9 pts</a:t>
              </a:r>
            </a:p>
            <a:p>
              <a:pPr algn="ctr">
                <a:lnSpc>
                  <a:spcPts val="1700"/>
                </a:lnSpc>
              </a:pPr>
              <a:r>
                <a:rPr lang="en-US" sz="1700" b="1">
                  <a:solidFill>
                    <a:srgbClr val="5C183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Strategic Alignment</a:t>
              </a:r>
            </a:p>
            <a:p>
              <a:pPr algn="ctr">
                <a:lnSpc>
                  <a:spcPts val="2100"/>
                </a:lnSpc>
              </a:pPr>
              <a:endParaRPr lang="en-US" sz="1700" b="1">
                <a:solidFill>
                  <a:srgbClr val="5C1837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1200"/>
                </a:lnSpc>
              </a:pPr>
              <a:r>
                <a:rPr lang="en-US" sz="1200">
                  <a:solidFill>
                    <a:srgbClr val="551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Lazare's cause-first focus has suppressed McCain's brand. The "Born to Share" link to Lazare's table remains invisible.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078435" y="6376189"/>
            <a:ext cx="1724920" cy="2674030"/>
            <a:chOff x="0" y="0"/>
            <a:chExt cx="587174" cy="91025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87174" cy="910258"/>
            </a:xfrm>
            <a:custGeom>
              <a:avLst/>
              <a:gdLst/>
              <a:ahLst/>
              <a:cxnLst/>
              <a:rect l="l" t="t" r="r" b="b"/>
              <a:pathLst>
                <a:path w="587174" h="910258">
                  <a:moveTo>
                    <a:pt x="87662" y="0"/>
                  </a:moveTo>
                  <a:lnTo>
                    <a:pt x="499513" y="0"/>
                  </a:lnTo>
                  <a:cubicBezTo>
                    <a:pt x="547927" y="0"/>
                    <a:pt x="587174" y="39247"/>
                    <a:pt x="587174" y="87662"/>
                  </a:cubicBezTo>
                  <a:lnTo>
                    <a:pt x="587174" y="822596"/>
                  </a:lnTo>
                  <a:cubicBezTo>
                    <a:pt x="587174" y="871010"/>
                    <a:pt x="547927" y="910258"/>
                    <a:pt x="499513" y="910258"/>
                  </a:cubicBezTo>
                  <a:lnTo>
                    <a:pt x="87662" y="910258"/>
                  </a:lnTo>
                  <a:cubicBezTo>
                    <a:pt x="39247" y="910258"/>
                    <a:pt x="0" y="871010"/>
                    <a:pt x="0" y="822596"/>
                  </a:cubicBezTo>
                  <a:lnTo>
                    <a:pt x="0" y="87662"/>
                  </a:lnTo>
                  <a:cubicBezTo>
                    <a:pt x="0" y="39247"/>
                    <a:pt x="39247" y="0"/>
                    <a:pt x="87662" y="0"/>
                  </a:cubicBezTo>
                  <a:close/>
                </a:path>
              </a:pathLst>
            </a:custGeom>
            <a:solidFill>
              <a:srgbClr val="FBF6F4"/>
            </a:solidFill>
            <a:ln w="19050" cap="rnd">
              <a:solidFill>
                <a:srgbClr val="EAE4D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38100"/>
              <a:ext cx="587174" cy="872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  <a:p>
              <a:pPr algn="ctr">
                <a:lnSpc>
                  <a:spcPts val="1900"/>
                </a:lnSpc>
              </a:pPr>
              <a:r>
                <a:rPr lang="en-US" sz="1900" b="1">
                  <a:solidFill>
                    <a:srgbClr val="FF313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-2.2 pts</a:t>
              </a:r>
            </a:p>
            <a:p>
              <a:pPr algn="ctr">
                <a:lnSpc>
                  <a:spcPts val="1700"/>
                </a:lnSpc>
              </a:pPr>
              <a:r>
                <a:rPr lang="en-US" sz="1700" b="1">
                  <a:solidFill>
                    <a:srgbClr val="5C183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Leadership Buy-In</a:t>
              </a:r>
            </a:p>
            <a:p>
              <a:pPr algn="ctr">
                <a:lnSpc>
                  <a:spcPts val="2100"/>
                </a:lnSpc>
              </a:pPr>
              <a:endParaRPr lang="en-US" sz="1700" b="1">
                <a:solidFill>
                  <a:srgbClr val="5C1837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1200"/>
                </a:lnSpc>
              </a:pPr>
              <a:r>
                <a:rPr lang="en-US" sz="1200">
                  <a:solidFill>
                    <a:srgbClr val="551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Historically delegated to CSR. Must be reframed as a commercial growth and retail innovation priority.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012415" y="6376189"/>
            <a:ext cx="1724920" cy="2674030"/>
            <a:chOff x="0" y="0"/>
            <a:chExt cx="587174" cy="91025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87174" cy="910258"/>
            </a:xfrm>
            <a:custGeom>
              <a:avLst/>
              <a:gdLst/>
              <a:ahLst/>
              <a:cxnLst/>
              <a:rect l="l" t="t" r="r" b="b"/>
              <a:pathLst>
                <a:path w="587174" h="910258">
                  <a:moveTo>
                    <a:pt x="87662" y="0"/>
                  </a:moveTo>
                  <a:lnTo>
                    <a:pt x="499513" y="0"/>
                  </a:lnTo>
                  <a:cubicBezTo>
                    <a:pt x="547927" y="0"/>
                    <a:pt x="587174" y="39247"/>
                    <a:pt x="587174" y="87662"/>
                  </a:cubicBezTo>
                  <a:lnTo>
                    <a:pt x="587174" y="822596"/>
                  </a:lnTo>
                  <a:cubicBezTo>
                    <a:pt x="587174" y="871010"/>
                    <a:pt x="547927" y="910258"/>
                    <a:pt x="499513" y="910258"/>
                  </a:cubicBezTo>
                  <a:lnTo>
                    <a:pt x="87662" y="910258"/>
                  </a:lnTo>
                  <a:cubicBezTo>
                    <a:pt x="39247" y="910258"/>
                    <a:pt x="0" y="871010"/>
                    <a:pt x="0" y="822596"/>
                  </a:cubicBezTo>
                  <a:lnTo>
                    <a:pt x="0" y="87662"/>
                  </a:lnTo>
                  <a:cubicBezTo>
                    <a:pt x="0" y="39247"/>
                    <a:pt x="39247" y="0"/>
                    <a:pt x="87662" y="0"/>
                  </a:cubicBezTo>
                  <a:close/>
                </a:path>
              </a:pathLst>
            </a:custGeom>
            <a:solidFill>
              <a:srgbClr val="FBF6F4"/>
            </a:solidFill>
            <a:ln w="19050" cap="rnd">
              <a:solidFill>
                <a:srgbClr val="EAE4D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28575"/>
              <a:ext cx="587174" cy="881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0"/>
                </a:lnSpc>
              </a:pPr>
              <a:endParaRPr/>
            </a:p>
            <a:p>
              <a:pPr algn="ctr">
                <a:lnSpc>
                  <a:spcPts val="1900"/>
                </a:lnSpc>
              </a:pPr>
              <a:r>
                <a:rPr lang="en-US" sz="1900" b="1">
                  <a:solidFill>
                    <a:srgbClr val="FF3131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-1.3 pts</a:t>
              </a:r>
            </a:p>
            <a:p>
              <a:pPr algn="ctr">
                <a:lnSpc>
                  <a:spcPts val="1700"/>
                </a:lnSpc>
              </a:pPr>
              <a:r>
                <a:rPr lang="en-US" sz="1700" b="1">
                  <a:solidFill>
                    <a:srgbClr val="5C183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Transparency</a:t>
              </a:r>
            </a:p>
            <a:p>
              <a:pPr algn="ctr">
                <a:lnSpc>
                  <a:spcPts val="2100"/>
                </a:lnSpc>
              </a:pPr>
              <a:endParaRPr lang="en-US" sz="1700" b="1">
                <a:solidFill>
                  <a:srgbClr val="5C1837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1200"/>
                </a:lnSpc>
              </a:pPr>
              <a:r>
                <a:rPr lang="en-US" sz="1200">
                  <a:solidFill>
                    <a:srgbClr val="551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Financial donations lack clear disclosure mechanics on-pack, risking "greenwashing" accusations from modern shoppers.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3990206" y="6451547"/>
            <a:ext cx="297496" cy="297496"/>
          </a:xfrm>
          <a:custGeom>
            <a:avLst/>
            <a:gdLst/>
            <a:ahLst/>
            <a:cxnLst/>
            <a:rect l="l" t="t" r="r" b="b"/>
            <a:pathLst>
              <a:path w="297496" h="297496">
                <a:moveTo>
                  <a:pt x="0" y="0"/>
                </a:moveTo>
                <a:lnTo>
                  <a:pt x="297497" y="0"/>
                </a:lnTo>
                <a:lnTo>
                  <a:pt x="297497" y="297496"/>
                </a:lnTo>
                <a:lnTo>
                  <a:pt x="0" y="2974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5859663" y="6428036"/>
            <a:ext cx="482714" cy="401668"/>
          </a:xfrm>
          <a:custGeom>
            <a:avLst/>
            <a:gdLst/>
            <a:ahLst/>
            <a:cxnLst/>
            <a:rect l="l" t="t" r="r" b="b"/>
            <a:pathLst>
              <a:path w="482714" h="401668">
                <a:moveTo>
                  <a:pt x="0" y="0"/>
                </a:moveTo>
                <a:lnTo>
                  <a:pt x="482714" y="0"/>
                </a:lnTo>
                <a:lnTo>
                  <a:pt x="482714" y="401668"/>
                </a:lnTo>
                <a:lnTo>
                  <a:pt x="0" y="4016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44"/>
          <p:cNvSpPr/>
          <p:nvPr/>
        </p:nvSpPr>
        <p:spPr>
          <a:xfrm>
            <a:off x="7801254" y="6455027"/>
            <a:ext cx="411322" cy="374677"/>
          </a:xfrm>
          <a:custGeom>
            <a:avLst/>
            <a:gdLst/>
            <a:ahLst/>
            <a:cxnLst/>
            <a:rect l="l" t="t" r="r" b="b"/>
            <a:pathLst>
              <a:path w="411322" h="374677">
                <a:moveTo>
                  <a:pt x="0" y="0"/>
                </a:moveTo>
                <a:lnTo>
                  <a:pt x="411322" y="0"/>
                </a:lnTo>
                <a:lnTo>
                  <a:pt x="411322" y="374677"/>
                </a:lnTo>
                <a:lnTo>
                  <a:pt x="0" y="374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45"/>
          <p:cNvSpPr/>
          <p:nvPr/>
        </p:nvSpPr>
        <p:spPr>
          <a:xfrm>
            <a:off x="9694345" y="6455027"/>
            <a:ext cx="492121" cy="451857"/>
          </a:xfrm>
          <a:custGeom>
            <a:avLst/>
            <a:gdLst/>
            <a:ahLst/>
            <a:cxnLst/>
            <a:rect l="l" t="t" r="r" b="b"/>
            <a:pathLst>
              <a:path w="492121" h="451857">
                <a:moveTo>
                  <a:pt x="0" y="0"/>
                </a:moveTo>
                <a:lnTo>
                  <a:pt x="492121" y="0"/>
                </a:lnTo>
                <a:lnTo>
                  <a:pt x="492121" y="451857"/>
                </a:lnTo>
                <a:lnTo>
                  <a:pt x="0" y="451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46"/>
          <p:cNvSpPr/>
          <p:nvPr/>
        </p:nvSpPr>
        <p:spPr>
          <a:xfrm>
            <a:off x="11689277" y="6535688"/>
            <a:ext cx="371196" cy="371196"/>
          </a:xfrm>
          <a:custGeom>
            <a:avLst/>
            <a:gdLst/>
            <a:ahLst/>
            <a:cxnLst/>
            <a:rect l="l" t="t" r="r" b="b"/>
            <a:pathLst>
              <a:path w="371196" h="371196">
                <a:moveTo>
                  <a:pt x="0" y="0"/>
                </a:moveTo>
                <a:lnTo>
                  <a:pt x="371196" y="0"/>
                </a:lnTo>
                <a:lnTo>
                  <a:pt x="371196" y="371196"/>
                </a:lnTo>
                <a:lnTo>
                  <a:pt x="0" y="371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7"/>
          <p:cNvSpPr txBox="1"/>
          <p:nvPr/>
        </p:nvSpPr>
        <p:spPr>
          <a:xfrm>
            <a:off x="1128768" y="570686"/>
            <a:ext cx="5722877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McCain-Lazare </a:t>
            </a:r>
            <a:r>
              <a:rPr lang="en-US" sz="3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Maturity Gap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7630" y="3551015"/>
            <a:ext cx="2540329" cy="240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588" b="1" spc="-1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Selective Industry Avg.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476862" y="3572641"/>
            <a:ext cx="1292819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35.6/50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910420" y="4368598"/>
            <a:ext cx="1292819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spc="-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18.8/50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183699" y="2069381"/>
            <a:ext cx="55746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576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McCain-Lazare Maturity Gap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929944" y="9691430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3337410" y="1647011"/>
            <a:ext cx="4542492" cy="7611289"/>
            <a:chOff x="0" y="0"/>
            <a:chExt cx="1196376" cy="200461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96376" cy="2004619"/>
            </a:xfrm>
            <a:custGeom>
              <a:avLst/>
              <a:gdLst/>
              <a:ahLst/>
              <a:cxnLst/>
              <a:rect l="l" t="t" r="r" b="b"/>
              <a:pathLst>
                <a:path w="1196376" h="2004619">
                  <a:moveTo>
                    <a:pt x="0" y="0"/>
                  </a:moveTo>
                  <a:lnTo>
                    <a:pt x="1196376" y="0"/>
                  </a:lnTo>
                  <a:lnTo>
                    <a:pt x="1196376" y="2004619"/>
                  </a:lnTo>
                  <a:lnTo>
                    <a:pt x="0" y="2004619"/>
                  </a:lnTo>
                  <a:close/>
                </a:path>
              </a:pathLst>
            </a:custGeom>
            <a:solidFill>
              <a:srgbClr val="000000">
                <a:alpha val="4196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1196376" cy="201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05"/>
                </a:lnSpc>
              </a:pPr>
              <a:endParaRPr/>
            </a:p>
          </p:txBody>
        </p:sp>
      </p:grpSp>
      <p:sp>
        <p:nvSpPr>
          <p:cNvPr id="56" name="Freeform 56"/>
          <p:cNvSpPr/>
          <p:nvPr/>
        </p:nvSpPr>
        <p:spPr>
          <a:xfrm rot="7637462">
            <a:off x="13839683" y="1046579"/>
            <a:ext cx="8252269" cy="7292005"/>
          </a:xfrm>
          <a:custGeom>
            <a:avLst/>
            <a:gdLst/>
            <a:ahLst/>
            <a:cxnLst/>
            <a:rect l="l" t="t" r="r" b="b"/>
            <a:pathLst>
              <a:path w="8252269" h="7292005">
                <a:moveTo>
                  <a:pt x="0" y="0"/>
                </a:moveTo>
                <a:lnTo>
                  <a:pt x="8252269" y="0"/>
                </a:lnTo>
                <a:lnTo>
                  <a:pt x="8252269" y="7292005"/>
                </a:lnTo>
                <a:lnTo>
                  <a:pt x="0" y="72920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46409" y="0"/>
            <a:ext cx="2041591" cy="797093"/>
            <a:chOff x="0" y="0"/>
            <a:chExt cx="537703" cy="2099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7703" cy="209934"/>
            </a:xfrm>
            <a:custGeom>
              <a:avLst/>
              <a:gdLst/>
              <a:ahLst/>
              <a:cxnLst/>
              <a:rect l="l" t="t" r="r" b="b"/>
              <a:pathLst>
                <a:path w="537703" h="209934">
                  <a:moveTo>
                    <a:pt x="0" y="0"/>
                  </a:moveTo>
                  <a:lnTo>
                    <a:pt x="537703" y="0"/>
                  </a:lnTo>
                  <a:lnTo>
                    <a:pt x="537703" y="209934"/>
                  </a:lnTo>
                  <a:lnTo>
                    <a:pt x="0" y="209934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37703" cy="257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49800" y="701843"/>
            <a:ext cx="923403" cy="701843"/>
            <a:chOff x="0" y="0"/>
            <a:chExt cx="243201" cy="1848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201" cy="184848"/>
            </a:xfrm>
            <a:custGeom>
              <a:avLst/>
              <a:gdLst/>
              <a:ahLst/>
              <a:cxnLst/>
              <a:rect l="l" t="t" r="r" b="b"/>
              <a:pathLst>
                <a:path w="243201" h="184848">
                  <a:moveTo>
                    <a:pt x="0" y="0"/>
                  </a:moveTo>
                  <a:lnTo>
                    <a:pt x="243201" y="0"/>
                  </a:lnTo>
                  <a:lnTo>
                    <a:pt x="243201" y="184848"/>
                  </a:lnTo>
                  <a:lnTo>
                    <a:pt x="0" y="184848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43201" cy="232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37746" y="797093"/>
            <a:ext cx="1108663" cy="606593"/>
            <a:chOff x="0" y="0"/>
            <a:chExt cx="291994" cy="1597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1994" cy="159761"/>
            </a:xfrm>
            <a:custGeom>
              <a:avLst/>
              <a:gdLst/>
              <a:ahLst/>
              <a:cxnLst/>
              <a:rect l="l" t="t" r="r" b="b"/>
              <a:pathLst>
                <a:path w="291994" h="159761">
                  <a:moveTo>
                    <a:pt x="0" y="0"/>
                  </a:moveTo>
                  <a:lnTo>
                    <a:pt x="291994" y="0"/>
                  </a:lnTo>
                  <a:lnTo>
                    <a:pt x="291994" y="159761"/>
                  </a:lnTo>
                  <a:lnTo>
                    <a:pt x="0" y="159761"/>
                  </a:ln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91994" cy="207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27097" y="2349950"/>
            <a:ext cx="2442492" cy="2851640"/>
          </a:xfrm>
          <a:custGeom>
            <a:avLst/>
            <a:gdLst/>
            <a:ahLst/>
            <a:cxnLst/>
            <a:rect l="l" t="t" r="r" b="b"/>
            <a:pathLst>
              <a:path w="2442492" h="2851640">
                <a:moveTo>
                  <a:pt x="0" y="0"/>
                </a:moveTo>
                <a:lnTo>
                  <a:pt x="2442492" y="0"/>
                </a:lnTo>
                <a:lnTo>
                  <a:pt x="2442492" y="2851640"/>
                </a:lnTo>
                <a:lnTo>
                  <a:pt x="0" y="2851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50581" y="5593401"/>
            <a:ext cx="995524" cy="878550"/>
          </a:xfrm>
          <a:custGeom>
            <a:avLst/>
            <a:gdLst/>
            <a:ahLst/>
            <a:cxnLst/>
            <a:rect l="l" t="t" r="r" b="b"/>
            <a:pathLst>
              <a:path w="995524" h="878550">
                <a:moveTo>
                  <a:pt x="0" y="0"/>
                </a:moveTo>
                <a:lnTo>
                  <a:pt x="995524" y="0"/>
                </a:lnTo>
                <a:lnTo>
                  <a:pt x="995524" y="878550"/>
                </a:lnTo>
                <a:lnTo>
                  <a:pt x="0" y="878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10290963" y="-4456713"/>
            <a:ext cx="803989" cy="14437088"/>
            <a:chOff x="0" y="0"/>
            <a:chExt cx="211750" cy="380236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1750" cy="3802361"/>
            </a:xfrm>
            <a:custGeom>
              <a:avLst/>
              <a:gdLst/>
              <a:ahLst/>
              <a:cxnLst/>
              <a:rect l="l" t="t" r="r" b="b"/>
              <a:pathLst>
                <a:path w="211750" h="3802361">
                  <a:moveTo>
                    <a:pt x="0" y="0"/>
                  </a:moveTo>
                  <a:lnTo>
                    <a:pt x="211750" y="0"/>
                  </a:lnTo>
                  <a:lnTo>
                    <a:pt x="211750" y="3802361"/>
                  </a:lnTo>
                  <a:lnTo>
                    <a:pt x="0" y="3802361"/>
                  </a:lnTo>
                  <a:close/>
                </a:path>
              </a:pathLst>
            </a:custGeom>
            <a:gradFill rotWithShape="1">
              <a:gsLst>
                <a:gs pos="0">
                  <a:srgbClr val="FF6767">
                    <a:alpha val="100000"/>
                  </a:srgbClr>
                </a:gs>
                <a:gs pos="100000">
                  <a:srgbClr val="FFD1D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11750" cy="38595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5400000">
            <a:off x="10304901" y="-3429594"/>
            <a:ext cx="776113" cy="14437088"/>
            <a:chOff x="0" y="0"/>
            <a:chExt cx="204408" cy="38023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4408" cy="3802361"/>
            </a:xfrm>
            <a:custGeom>
              <a:avLst/>
              <a:gdLst/>
              <a:ahLst/>
              <a:cxnLst/>
              <a:rect l="l" t="t" r="r" b="b"/>
              <a:pathLst>
                <a:path w="204408" h="3802361">
                  <a:moveTo>
                    <a:pt x="0" y="0"/>
                  </a:moveTo>
                  <a:lnTo>
                    <a:pt x="204408" y="0"/>
                  </a:lnTo>
                  <a:lnTo>
                    <a:pt x="204408" y="3802361"/>
                  </a:lnTo>
                  <a:lnTo>
                    <a:pt x="0" y="3802361"/>
                  </a:lnTo>
                  <a:close/>
                </a:path>
              </a:pathLst>
            </a:custGeom>
            <a:gradFill rotWithShape="1">
              <a:gsLst>
                <a:gs pos="0">
                  <a:srgbClr val="FFDA6A">
                    <a:alpha val="100000"/>
                  </a:srgbClr>
                </a:gs>
                <a:gs pos="100000">
                  <a:srgbClr val="FFF7D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04408" cy="38595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10320645" y="-2379380"/>
            <a:ext cx="744625" cy="14437088"/>
            <a:chOff x="0" y="0"/>
            <a:chExt cx="196115" cy="380236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6115" cy="3802361"/>
            </a:xfrm>
            <a:custGeom>
              <a:avLst/>
              <a:gdLst/>
              <a:ahLst/>
              <a:cxnLst/>
              <a:rect l="l" t="t" r="r" b="b"/>
              <a:pathLst>
                <a:path w="196115" h="3802361">
                  <a:moveTo>
                    <a:pt x="0" y="0"/>
                  </a:moveTo>
                  <a:lnTo>
                    <a:pt x="196115" y="0"/>
                  </a:lnTo>
                  <a:lnTo>
                    <a:pt x="196115" y="3802361"/>
                  </a:lnTo>
                  <a:lnTo>
                    <a:pt x="0" y="3802361"/>
                  </a:lnTo>
                  <a:close/>
                </a:path>
              </a:pathLst>
            </a:custGeom>
            <a:gradFill rotWithShape="1">
              <a:gsLst>
                <a:gs pos="0">
                  <a:srgbClr val="7CCE6B">
                    <a:alpha val="100000"/>
                  </a:srgbClr>
                </a:gs>
                <a:gs pos="100000">
                  <a:srgbClr val="D8FFD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96115" cy="38595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94295" y="7058063"/>
            <a:ext cx="708095" cy="1052929"/>
          </a:xfrm>
          <a:custGeom>
            <a:avLst/>
            <a:gdLst/>
            <a:ahLst/>
            <a:cxnLst/>
            <a:rect l="l" t="t" r="r" b="b"/>
            <a:pathLst>
              <a:path w="708095" h="1052929">
                <a:moveTo>
                  <a:pt x="0" y="0"/>
                </a:moveTo>
                <a:lnTo>
                  <a:pt x="708095" y="0"/>
                </a:lnTo>
                <a:lnTo>
                  <a:pt x="708095" y="1052929"/>
                </a:lnTo>
                <a:lnTo>
                  <a:pt x="0" y="10529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335510" y="121453"/>
            <a:ext cx="1711429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55193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SUCCESS CRITERIA FOR A HIGH-PARTNERSHIP BRAND X NGO PARTNERSHIP </a:t>
            </a:r>
          </a:p>
        </p:txBody>
      </p:sp>
      <p:sp>
        <p:nvSpPr>
          <p:cNvPr id="24" name="TextBox 24"/>
          <p:cNvSpPr txBox="1"/>
          <p:nvPr/>
        </p:nvSpPr>
        <p:spPr>
          <a:xfrm rot="-5400000">
            <a:off x="-1278770" y="4867866"/>
            <a:ext cx="8728706" cy="58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2"/>
              </a:lnSpc>
              <a:spcBef>
                <a:spcPct val="0"/>
              </a:spcBef>
            </a:pPr>
            <a:r>
              <a:rPr lang="en-US" sz="3444" b="1">
                <a:solidFill>
                  <a:srgbClr val="5519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_______________________________________________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6700" y="1491793"/>
            <a:ext cx="18162347" cy="580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5519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____________________________________________________________________________________________________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0856" y="6201466"/>
            <a:ext cx="18162347" cy="580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5519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____________________________________________________________________________________________________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561292" y="1587043"/>
            <a:ext cx="2342555" cy="224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🧭 Strategic Alignment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55615" y="1587043"/>
            <a:ext cx="2753599" cy="224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⚙️ Operational Integration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206305" y="1569534"/>
            <a:ext cx="2560216" cy="224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🔍 Trust &amp; Transparency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128470" y="1516519"/>
            <a:ext cx="2509062" cy="433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📊 Measurable Impact (KPIs)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097769" y="1569534"/>
            <a:ext cx="2594818" cy="24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👥 Leadership &amp; Buy-In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70406" y="2619594"/>
            <a:ext cx="2477418" cy="33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No operational roadmap for retail execution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85974" y="2619594"/>
            <a:ext cx="2477418" cy="33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Unclear communication rights and reporting structure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301541" y="2610069"/>
            <a:ext cx="2477418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No agreed success metrics or retail performance tracking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81273" y="2610068"/>
            <a:ext cx="2477418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Partnership treated as a peripheral CSR initiative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21427" y="3549716"/>
            <a:ext cx="2477418" cy="50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Strong values alignment, but weak business integration</a:t>
            </a:r>
          </a:p>
          <a:p>
            <a:pPr algn="l">
              <a:lnSpc>
                <a:spcPts val="1399"/>
              </a:lnSpc>
              <a:spcBef>
                <a:spcPct val="0"/>
              </a:spcBef>
            </a:pPr>
            <a:endParaRPr lang="en-US" sz="999">
              <a:solidFill>
                <a:srgbClr val="551933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470406" y="3512245"/>
            <a:ext cx="2477418" cy="50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Retail ambition exists, but execution feasibility remains unclear</a:t>
            </a:r>
          </a:p>
          <a:p>
            <a:pPr algn="ctr">
              <a:lnSpc>
                <a:spcPts val="1399"/>
              </a:lnSpc>
              <a:spcBef>
                <a:spcPct val="0"/>
              </a:spcBef>
            </a:pPr>
            <a:endParaRPr lang="en-US" sz="999">
              <a:solidFill>
                <a:srgbClr val="551933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9385974" y="3512245"/>
            <a:ext cx="2477418" cy="50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Informal trust exists, but governance remains undefined</a:t>
            </a:r>
          </a:p>
          <a:p>
            <a:pPr algn="l">
              <a:lnSpc>
                <a:spcPts val="1399"/>
              </a:lnSpc>
              <a:spcBef>
                <a:spcPct val="0"/>
              </a:spcBef>
            </a:pPr>
            <a:endParaRPr lang="en-US" sz="999">
              <a:solidFill>
                <a:srgbClr val="551933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2272007" y="3549716"/>
            <a:ext cx="2477418" cy="50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Partial KPI measurement focused on either brand or NGO impact</a:t>
            </a:r>
          </a:p>
          <a:p>
            <a:pPr algn="l">
              <a:lnSpc>
                <a:spcPts val="1399"/>
              </a:lnSpc>
              <a:spcBef>
                <a:spcPct val="0"/>
              </a:spcBef>
            </a:pPr>
            <a:endParaRPr lang="en-US" sz="999">
              <a:solidFill>
                <a:srgbClr val="551933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5281273" y="3567977"/>
            <a:ext cx="2477418" cy="51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Support exists, but ownership remains siloed</a:t>
            </a:r>
          </a:p>
          <a:p>
            <a:pPr algn="l">
              <a:lnSpc>
                <a:spcPts val="1400"/>
              </a:lnSpc>
              <a:spcBef>
                <a:spcPct val="0"/>
              </a:spcBef>
            </a:pPr>
            <a:endParaRPr lang="en-US" sz="1000">
              <a:solidFill>
                <a:srgbClr val="551933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3561292" y="4625975"/>
            <a:ext cx="2477418" cy="51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Clear shared purpose embedded into brand and activation strategy</a:t>
            </a:r>
          </a:p>
          <a:p>
            <a:pPr algn="l">
              <a:lnSpc>
                <a:spcPts val="1400"/>
              </a:lnSpc>
              <a:spcBef>
                <a:spcPct val="0"/>
              </a:spcBef>
            </a:pPr>
            <a:endParaRPr lang="en-US" sz="1000">
              <a:solidFill>
                <a:srgbClr val="551933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470406" y="4635500"/>
            <a:ext cx="2477418" cy="50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Partnership embedded into scalable retail activation mechanics</a:t>
            </a:r>
          </a:p>
          <a:p>
            <a:pPr algn="l">
              <a:lnSpc>
                <a:spcPts val="1399"/>
              </a:lnSpc>
              <a:spcBef>
                <a:spcPct val="0"/>
              </a:spcBef>
            </a:pPr>
            <a:endParaRPr lang="en-US" sz="999">
              <a:solidFill>
                <a:srgbClr val="551933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9385974" y="4635500"/>
            <a:ext cx="2477418" cy="33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Transparent reporting and clearly defined communication rules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292016" y="4667250"/>
            <a:ext cx="2477418" cy="33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399"/>
              </a:lnSpc>
              <a:spcBef>
                <a:spcPct val="0"/>
              </a:spcBef>
              <a:buFont typeface="Arial"/>
              <a:buChar char="•"/>
            </a:pPr>
            <a:r>
              <a:rPr lang="en-US" sz="999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Shared KPI framework across brand, retail, and social impact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5281273" y="4657726"/>
            <a:ext cx="2477418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Visible cross-functional and executive sponsorship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561292" y="5633141"/>
            <a:ext cx="247741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Purpose fatigue &amp; CSR washing perception if the partnership feels symbolic rather than structurally embedded</a:t>
            </a:r>
          </a:p>
          <a:p>
            <a:pPr algn="l">
              <a:lnSpc>
                <a:spcPts val="1400"/>
              </a:lnSpc>
              <a:spcBef>
                <a:spcPct val="0"/>
              </a:spcBef>
            </a:pPr>
            <a:endParaRPr lang="en-US" sz="1000">
              <a:solidFill>
                <a:srgbClr val="551933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6470406" y="5592476"/>
            <a:ext cx="2477418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 u="none" strike="noStrike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Activation failure due to operational complexity (Delays and Sunk costs due rom late discovery of packaging/legal limitations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289103" y="5592476"/>
            <a:ext cx="2477418" cy="51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spcBef>
                <a:spcPct val="0"/>
              </a:spcBef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Reputational tension between partners from conflicting visibility expectations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272007" y="5592476"/>
            <a:ext cx="2477418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Inability to justify continuation or scaling without agreed success metrics</a:t>
            </a:r>
          </a:p>
          <a:p>
            <a:pPr algn="l">
              <a:lnSpc>
                <a:spcPts val="1400"/>
              </a:lnSpc>
              <a:spcBef>
                <a:spcPct val="0"/>
              </a:spcBef>
            </a:pPr>
            <a:endParaRPr lang="en-US" sz="1000">
              <a:solidFill>
                <a:srgbClr val="551933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5281273" y="5592476"/>
            <a:ext cx="2477418" cy="51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High vulnerability during budget cycles if not positioned as strategic</a:t>
            </a:r>
          </a:p>
          <a:p>
            <a:pPr algn="l">
              <a:lnSpc>
                <a:spcPts val="1400"/>
              </a:lnSpc>
              <a:spcBef>
                <a:spcPct val="0"/>
              </a:spcBef>
            </a:pPr>
            <a:endParaRPr lang="en-US" sz="1000">
              <a:solidFill>
                <a:srgbClr val="551933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3778197" y="2619593"/>
            <a:ext cx="2477418" cy="33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Partnership driven mainly by donations, not shared value</a:t>
            </a:r>
          </a:p>
        </p:txBody>
      </p:sp>
      <p:sp>
        <p:nvSpPr>
          <p:cNvPr id="52" name="Freeform 52"/>
          <p:cNvSpPr/>
          <p:nvPr/>
        </p:nvSpPr>
        <p:spPr>
          <a:xfrm>
            <a:off x="771596" y="8501517"/>
            <a:ext cx="2087083" cy="1249087"/>
          </a:xfrm>
          <a:custGeom>
            <a:avLst/>
            <a:gdLst/>
            <a:ahLst/>
            <a:cxnLst/>
            <a:rect l="l" t="t" r="r" b="b"/>
            <a:pathLst>
              <a:path w="2087083" h="1249087">
                <a:moveTo>
                  <a:pt x="0" y="0"/>
                </a:moveTo>
                <a:lnTo>
                  <a:pt x="2087083" y="0"/>
                </a:lnTo>
                <a:lnTo>
                  <a:pt x="2087083" y="1249088"/>
                </a:lnTo>
                <a:lnTo>
                  <a:pt x="0" y="124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3" name="TextBox 53"/>
          <p:cNvSpPr txBox="1"/>
          <p:nvPr/>
        </p:nvSpPr>
        <p:spPr>
          <a:xfrm>
            <a:off x="3621427" y="7065592"/>
            <a:ext cx="247741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Ben &amp; Jerry’s × TERN demonstrates strong strategic alignment by embedding social activism directly into brand identity and consumer communication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470406" y="7065592"/>
            <a:ext cx="247741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Disney × Make-A-Wish embeds the partnership into permanent operational routines supported by dedicated infrastructure and measurable impact tracking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292016" y="7024927"/>
            <a:ext cx="247741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spcBef>
                <a:spcPct val="0"/>
              </a:spcBef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Starbucks × Feeding America demonstrates KPI-driven partnership governance through store-level impact tracking and transparent public reporting.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5281273" y="7065592"/>
            <a:ext cx="247741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McDonald’s × RMHC demonstrates long-term partnership continuity through strong executive sponsorship and institutional integration</a:t>
            </a:r>
          </a:p>
          <a:p>
            <a:pPr algn="l">
              <a:lnSpc>
                <a:spcPts val="1400"/>
              </a:lnSpc>
              <a:spcBef>
                <a:spcPct val="0"/>
              </a:spcBef>
            </a:pPr>
            <a:endParaRPr lang="en-US" sz="1000">
              <a:solidFill>
                <a:srgbClr val="551933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9485445" y="7024927"/>
            <a:ext cx="247741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Starbucks × Feeding America builds stakeholder trust through transparent impact reporting and clearly communicated contribution mechanisms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621427" y="8562318"/>
            <a:ext cx="247741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Establish a unified McCain × Lazare narrative with formalized communication rights across packaging, retail, and digital touchpoints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439574" y="8402267"/>
            <a:ext cx="247741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endParaRPr/>
          </a:p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Build a recurring in-store activation model with Auchan through branded shelf presence, QR storytelling, and integrated donation mechanics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370181" y="8576404"/>
            <a:ext cx="2477418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spcBef>
                <a:spcPct val="0"/>
              </a:spcBef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Implement a shared KPI framework covering social impact, brand equity, and retail performance before retailer rollout discussions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314323" y="8562318"/>
            <a:ext cx="2477418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Position McCain × Lazare as a strategic brand platform with cross-functional ownership and visible senior leadership support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423053" y="8562318"/>
            <a:ext cx="247741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551933"/>
                </a:solidFill>
                <a:latin typeface="Open Sans 1"/>
                <a:ea typeface="Open Sans 1"/>
                <a:cs typeface="Open Sans 1"/>
                <a:sym typeface="Open Sans 1"/>
              </a:rPr>
              <a:t>Implement transparent donation reporting with on-pack disclosures, live impact dashboards, and annual co-branded impact reports.</a:t>
            </a:r>
          </a:p>
          <a:p>
            <a:pPr algn="l">
              <a:lnSpc>
                <a:spcPts val="1400"/>
              </a:lnSpc>
              <a:spcBef>
                <a:spcPct val="0"/>
              </a:spcBef>
            </a:pPr>
            <a:endParaRPr lang="en-US" sz="1000">
              <a:solidFill>
                <a:srgbClr val="551933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13929944" y="9901558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413634" y="2514128"/>
            <a:ext cx="15967630" cy="0"/>
          </a:xfrm>
          <a:prstGeom prst="line">
            <a:avLst/>
          </a:prstGeom>
          <a:ln w="3810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006189" y="2374211"/>
            <a:ext cx="279835" cy="27983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734449" y="2374211"/>
            <a:ext cx="279835" cy="2798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273716" y="2374211"/>
            <a:ext cx="279835" cy="27983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2498" y="1726075"/>
            <a:ext cx="2122041" cy="514093"/>
            <a:chOff x="0" y="0"/>
            <a:chExt cx="1098171" cy="2660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8171" cy="266047"/>
            </a:xfrm>
            <a:custGeom>
              <a:avLst/>
              <a:gdLst/>
              <a:ahLst/>
              <a:cxnLst/>
              <a:rect l="l" t="t" r="r" b="b"/>
              <a:pathLst>
                <a:path w="1098171" h="266047">
                  <a:moveTo>
                    <a:pt x="0" y="0"/>
                  </a:moveTo>
                  <a:lnTo>
                    <a:pt x="894971" y="0"/>
                  </a:lnTo>
                  <a:lnTo>
                    <a:pt x="1098171" y="133023"/>
                  </a:lnTo>
                  <a:lnTo>
                    <a:pt x="894971" y="266047"/>
                  </a:lnTo>
                  <a:lnTo>
                    <a:pt x="0" y="266047"/>
                  </a:lnTo>
                  <a:lnTo>
                    <a:pt x="203200" y="133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800" y="38100"/>
              <a:ext cx="844171" cy="22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100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YEAR 1-2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082980" y="1726075"/>
            <a:ext cx="2122041" cy="514093"/>
            <a:chOff x="0" y="0"/>
            <a:chExt cx="1098171" cy="2660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8171" cy="266047"/>
            </a:xfrm>
            <a:custGeom>
              <a:avLst/>
              <a:gdLst/>
              <a:ahLst/>
              <a:cxnLst/>
              <a:rect l="l" t="t" r="r" b="b"/>
              <a:pathLst>
                <a:path w="1098171" h="266047">
                  <a:moveTo>
                    <a:pt x="0" y="0"/>
                  </a:moveTo>
                  <a:lnTo>
                    <a:pt x="894971" y="0"/>
                  </a:lnTo>
                  <a:lnTo>
                    <a:pt x="1098171" y="133023"/>
                  </a:lnTo>
                  <a:lnTo>
                    <a:pt x="894971" y="266047"/>
                  </a:lnTo>
                  <a:lnTo>
                    <a:pt x="0" y="266047"/>
                  </a:lnTo>
                  <a:lnTo>
                    <a:pt x="203200" y="133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7800" y="38100"/>
              <a:ext cx="844171" cy="22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100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YEAR 3-4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793461" y="1726075"/>
            <a:ext cx="2122041" cy="514093"/>
            <a:chOff x="0" y="0"/>
            <a:chExt cx="1098171" cy="26604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8171" cy="266047"/>
            </a:xfrm>
            <a:custGeom>
              <a:avLst/>
              <a:gdLst/>
              <a:ahLst/>
              <a:cxnLst/>
              <a:rect l="l" t="t" r="r" b="b"/>
              <a:pathLst>
                <a:path w="1098171" h="266047">
                  <a:moveTo>
                    <a:pt x="0" y="0"/>
                  </a:moveTo>
                  <a:lnTo>
                    <a:pt x="894971" y="0"/>
                  </a:lnTo>
                  <a:lnTo>
                    <a:pt x="1098171" y="133023"/>
                  </a:lnTo>
                  <a:lnTo>
                    <a:pt x="894971" y="266047"/>
                  </a:lnTo>
                  <a:lnTo>
                    <a:pt x="0" y="266047"/>
                  </a:lnTo>
                  <a:lnTo>
                    <a:pt x="203200" y="133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800" y="38100"/>
              <a:ext cx="844171" cy="22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100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YEAR 5-6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0086" y="2825495"/>
            <a:ext cx="3766865" cy="892523"/>
            <a:chOff x="0" y="0"/>
            <a:chExt cx="992096" cy="2350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92096" cy="235068"/>
            </a:xfrm>
            <a:custGeom>
              <a:avLst/>
              <a:gdLst/>
              <a:ahLst/>
              <a:cxnLst/>
              <a:rect l="l" t="t" r="r" b="b"/>
              <a:pathLst>
                <a:path w="992096" h="235068">
                  <a:moveTo>
                    <a:pt x="0" y="0"/>
                  </a:moveTo>
                  <a:lnTo>
                    <a:pt x="992096" y="0"/>
                  </a:lnTo>
                  <a:lnTo>
                    <a:pt x="992096" y="235068"/>
                  </a:lnTo>
                  <a:lnTo>
                    <a:pt x="0" y="235068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992096" cy="196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100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SET-UP PHASE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260567" y="2825495"/>
            <a:ext cx="3766865" cy="892523"/>
            <a:chOff x="0" y="0"/>
            <a:chExt cx="992096" cy="23506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92096" cy="235068"/>
            </a:xfrm>
            <a:custGeom>
              <a:avLst/>
              <a:gdLst/>
              <a:ahLst/>
              <a:cxnLst/>
              <a:rect l="l" t="t" r="r" b="b"/>
              <a:pathLst>
                <a:path w="992096" h="235068">
                  <a:moveTo>
                    <a:pt x="0" y="0"/>
                  </a:moveTo>
                  <a:lnTo>
                    <a:pt x="992096" y="0"/>
                  </a:lnTo>
                  <a:lnTo>
                    <a:pt x="992096" y="235068"/>
                  </a:lnTo>
                  <a:lnTo>
                    <a:pt x="0" y="235068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38100"/>
              <a:ext cx="992096" cy="196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100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INTEGRATION PHASE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970658" y="2825495"/>
            <a:ext cx="3766865" cy="892523"/>
            <a:chOff x="0" y="0"/>
            <a:chExt cx="992096" cy="23506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2096" cy="235068"/>
            </a:xfrm>
            <a:custGeom>
              <a:avLst/>
              <a:gdLst/>
              <a:ahLst/>
              <a:cxnLst/>
              <a:rect l="l" t="t" r="r" b="b"/>
              <a:pathLst>
                <a:path w="992096" h="235068">
                  <a:moveTo>
                    <a:pt x="0" y="0"/>
                  </a:moveTo>
                  <a:lnTo>
                    <a:pt x="992096" y="0"/>
                  </a:lnTo>
                  <a:lnTo>
                    <a:pt x="992096" y="235068"/>
                  </a:lnTo>
                  <a:lnTo>
                    <a:pt x="0" y="235068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38100"/>
              <a:ext cx="992096" cy="196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100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SCALING PHASE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50086" y="3889469"/>
            <a:ext cx="3766865" cy="3161856"/>
            <a:chOff x="0" y="0"/>
            <a:chExt cx="992096" cy="8327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92096" cy="832752"/>
            </a:xfrm>
            <a:custGeom>
              <a:avLst/>
              <a:gdLst/>
              <a:ahLst/>
              <a:cxnLst/>
              <a:rect l="l" t="t" r="r" b="b"/>
              <a:pathLst>
                <a:path w="992096" h="832752">
                  <a:moveTo>
                    <a:pt x="0" y="0"/>
                  </a:moveTo>
                  <a:lnTo>
                    <a:pt x="992096" y="0"/>
                  </a:lnTo>
                  <a:lnTo>
                    <a:pt x="992096" y="832752"/>
                  </a:lnTo>
                  <a:lnTo>
                    <a:pt x="0" y="832752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28575"/>
              <a:ext cx="992096" cy="804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50086" y="7217776"/>
            <a:ext cx="3766865" cy="2541542"/>
            <a:chOff x="0" y="0"/>
            <a:chExt cx="992096" cy="66937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92096" cy="669377"/>
            </a:xfrm>
            <a:custGeom>
              <a:avLst/>
              <a:gdLst/>
              <a:ahLst/>
              <a:cxnLst/>
              <a:rect l="l" t="t" r="r" b="b"/>
              <a:pathLst>
                <a:path w="992096" h="669377">
                  <a:moveTo>
                    <a:pt x="0" y="0"/>
                  </a:moveTo>
                  <a:lnTo>
                    <a:pt x="992096" y="0"/>
                  </a:lnTo>
                  <a:lnTo>
                    <a:pt x="992096" y="669377"/>
                  </a:lnTo>
                  <a:lnTo>
                    <a:pt x="0" y="669377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28575"/>
              <a:ext cx="992096" cy="640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260567" y="3889469"/>
            <a:ext cx="3766865" cy="3161856"/>
            <a:chOff x="0" y="0"/>
            <a:chExt cx="992096" cy="83275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92096" cy="832752"/>
            </a:xfrm>
            <a:custGeom>
              <a:avLst/>
              <a:gdLst/>
              <a:ahLst/>
              <a:cxnLst/>
              <a:rect l="l" t="t" r="r" b="b"/>
              <a:pathLst>
                <a:path w="992096" h="832752">
                  <a:moveTo>
                    <a:pt x="0" y="0"/>
                  </a:moveTo>
                  <a:lnTo>
                    <a:pt x="992096" y="0"/>
                  </a:lnTo>
                  <a:lnTo>
                    <a:pt x="992096" y="832752"/>
                  </a:lnTo>
                  <a:lnTo>
                    <a:pt x="0" y="832752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28575"/>
              <a:ext cx="992096" cy="804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260567" y="7217776"/>
            <a:ext cx="3766865" cy="2541542"/>
            <a:chOff x="0" y="0"/>
            <a:chExt cx="992096" cy="66937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92096" cy="669377"/>
            </a:xfrm>
            <a:custGeom>
              <a:avLst/>
              <a:gdLst/>
              <a:ahLst/>
              <a:cxnLst/>
              <a:rect l="l" t="t" r="r" b="b"/>
              <a:pathLst>
                <a:path w="992096" h="669377">
                  <a:moveTo>
                    <a:pt x="0" y="0"/>
                  </a:moveTo>
                  <a:lnTo>
                    <a:pt x="992096" y="0"/>
                  </a:lnTo>
                  <a:lnTo>
                    <a:pt x="992096" y="669377"/>
                  </a:lnTo>
                  <a:lnTo>
                    <a:pt x="0" y="669377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28575"/>
              <a:ext cx="992096" cy="640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971049" y="3889469"/>
            <a:ext cx="3766865" cy="3161856"/>
            <a:chOff x="0" y="0"/>
            <a:chExt cx="992096" cy="83275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92096" cy="832752"/>
            </a:xfrm>
            <a:custGeom>
              <a:avLst/>
              <a:gdLst/>
              <a:ahLst/>
              <a:cxnLst/>
              <a:rect l="l" t="t" r="r" b="b"/>
              <a:pathLst>
                <a:path w="992096" h="832752">
                  <a:moveTo>
                    <a:pt x="0" y="0"/>
                  </a:moveTo>
                  <a:lnTo>
                    <a:pt x="992096" y="0"/>
                  </a:lnTo>
                  <a:lnTo>
                    <a:pt x="992096" y="832752"/>
                  </a:lnTo>
                  <a:lnTo>
                    <a:pt x="0" y="832752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28575"/>
              <a:ext cx="992096" cy="804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971049" y="7217776"/>
            <a:ext cx="3766865" cy="2541542"/>
            <a:chOff x="0" y="0"/>
            <a:chExt cx="992096" cy="66937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92096" cy="669377"/>
            </a:xfrm>
            <a:custGeom>
              <a:avLst/>
              <a:gdLst/>
              <a:ahLst/>
              <a:cxnLst/>
              <a:rect l="l" t="t" r="r" b="b"/>
              <a:pathLst>
                <a:path w="992096" h="669377">
                  <a:moveTo>
                    <a:pt x="0" y="0"/>
                  </a:moveTo>
                  <a:lnTo>
                    <a:pt x="992096" y="0"/>
                  </a:lnTo>
                  <a:lnTo>
                    <a:pt x="992096" y="669377"/>
                  </a:lnTo>
                  <a:lnTo>
                    <a:pt x="0" y="669377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28575"/>
              <a:ext cx="992096" cy="640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017234" y="4142154"/>
            <a:ext cx="1543050" cy="1543050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017234" y="7290302"/>
            <a:ext cx="1543050" cy="1543050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732283" y="4142154"/>
            <a:ext cx="1543050" cy="1543050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732283" y="7290302"/>
            <a:ext cx="1543050" cy="1543050"/>
            <a:chOff x="0" y="0"/>
            <a:chExt cx="812800" cy="812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0" name="Freeform 60"/>
          <p:cNvSpPr/>
          <p:nvPr/>
        </p:nvSpPr>
        <p:spPr>
          <a:xfrm>
            <a:off x="5290599" y="7563666"/>
            <a:ext cx="996321" cy="996321"/>
          </a:xfrm>
          <a:custGeom>
            <a:avLst/>
            <a:gdLst/>
            <a:ahLst/>
            <a:cxnLst/>
            <a:rect l="l" t="t" r="r" b="b"/>
            <a:pathLst>
              <a:path w="996321" h="996321">
                <a:moveTo>
                  <a:pt x="0" y="0"/>
                </a:moveTo>
                <a:lnTo>
                  <a:pt x="996321" y="0"/>
                </a:lnTo>
                <a:lnTo>
                  <a:pt x="996321" y="996322"/>
                </a:lnTo>
                <a:lnTo>
                  <a:pt x="0" y="9963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1" name="Freeform 61"/>
          <p:cNvSpPr/>
          <p:nvPr/>
        </p:nvSpPr>
        <p:spPr>
          <a:xfrm>
            <a:off x="12005647" y="4415518"/>
            <a:ext cx="996321" cy="996321"/>
          </a:xfrm>
          <a:custGeom>
            <a:avLst/>
            <a:gdLst/>
            <a:ahLst/>
            <a:cxnLst/>
            <a:rect l="l" t="t" r="r" b="b"/>
            <a:pathLst>
              <a:path w="996321" h="996321">
                <a:moveTo>
                  <a:pt x="0" y="0"/>
                </a:moveTo>
                <a:lnTo>
                  <a:pt x="996321" y="0"/>
                </a:lnTo>
                <a:lnTo>
                  <a:pt x="996321" y="996321"/>
                </a:lnTo>
                <a:lnTo>
                  <a:pt x="0" y="996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2" name="Freeform 62"/>
          <p:cNvSpPr/>
          <p:nvPr/>
        </p:nvSpPr>
        <p:spPr>
          <a:xfrm>
            <a:off x="12005647" y="7571154"/>
            <a:ext cx="996380" cy="996380"/>
          </a:xfrm>
          <a:custGeom>
            <a:avLst/>
            <a:gdLst/>
            <a:ahLst/>
            <a:cxnLst/>
            <a:rect l="l" t="t" r="r" b="b"/>
            <a:pathLst>
              <a:path w="996380" h="996380">
                <a:moveTo>
                  <a:pt x="0" y="0"/>
                </a:moveTo>
                <a:lnTo>
                  <a:pt x="996380" y="0"/>
                </a:lnTo>
                <a:lnTo>
                  <a:pt x="996380" y="996379"/>
                </a:lnTo>
                <a:lnTo>
                  <a:pt x="0" y="9963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3" name="Freeform 63"/>
          <p:cNvSpPr/>
          <p:nvPr/>
        </p:nvSpPr>
        <p:spPr>
          <a:xfrm>
            <a:off x="5322089" y="4447009"/>
            <a:ext cx="933340" cy="933340"/>
          </a:xfrm>
          <a:custGeom>
            <a:avLst/>
            <a:gdLst/>
            <a:ahLst/>
            <a:cxnLst/>
            <a:rect l="l" t="t" r="r" b="b"/>
            <a:pathLst>
              <a:path w="933340" h="933340">
                <a:moveTo>
                  <a:pt x="0" y="0"/>
                </a:moveTo>
                <a:lnTo>
                  <a:pt x="933340" y="0"/>
                </a:lnTo>
                <a:lnTo>
                  <a:pt x="933340" y="933340"/>
                </a:lnTo>
                <a:lnTo>
                  <a:pt x="0" y="933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4" name="TextBox 64"/>
          <p:cNvSpPr txBox="1"/>
          <p:nvPr/>
        </p:nvSpPr>
        <p:spPr>
          <a:xfrm>
            <a:off x="550086" y="4020234"/>
            <a:ext cx="376686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1">
                <a:solidFill>
                  <a:srgbClr val="55193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CHARACTERISTICS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50086" y="4435524"/>
            <a:ext cx="3602409" cy="234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Basic monetary donations; low-complexity support (events, volunteer days).</a:t>
            </a:r>
          </a:p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Brand evaluates values alignment with NGO.</a:t>
            </a:r>
          </a:p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Pilot activations: on-pack visibility, small PR pushes, standalone campaigns.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50086" y="7348541"/>
            <a:ext cx="376686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1">
                <a:solidFill>
                  <a:srgbClr val="55193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KPIs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50086" y="7773356"/>
            <a:ext cx="3602409" cy="175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Awareness baseline of partnership.</a:t>
            </a:r>
          </a:p>
          <a:p>
            <a:pPr marL="367031" lvl="1" indent="-183515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Early NGO reach uplift (volunteers, funds).</a:t>
            </a:r>
          </a:p>
          <a:p>
            <a:pPr marL="367031" lvl="1" indent="-183515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Qualitative brand lift (purpose fit).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260567" y="4020234"/>
            <a:ext cx="376686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1">
                <a:solidFill>
                  <a:srgbClr val="55193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CHARACTERISTICS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260567" y="4540299"/>
            <a:ext cx="3602409" cy="205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Donations evolve into structured programs (training, skills volunteering).</a:t>
            </a:r>
          </a:p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Joint narrative creation (emotion-building campaigns).</a:t>
            </a:r>
          </a:p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Early retailer involvement: POS visibility, pilot cause bundling.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260567" y="7348541"/>
            <a:ext cx="376686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1">
                <a:solidFill>
                  <a:srgbClr val="55193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KPIs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260567" y="7859081"/>
            <a:ext cx="3602409" cy="1461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Reach &amp; participation.</a:t>
            </a:r>
          </a:p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Improvements in emotional brand equity.</a:t>
            </a:r>
          </a:p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NGO capacity growth (volunteer hours, program delivery).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3971049" y="4020234"/>
            <a:ext cx="376686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1">
                <a:solidFill>
                  <a:srgbClr val="55193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CHARACTERISTICS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3971049" y="4445049"/>
            <a:ext cx="3602409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2" lvl="1" indent="-161926" algn="just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Multi-stakeholder model: Brand × NGO × Retailer × Community.</a:t>
            </a:r>
          </a:p>
          <a:p>
            <a:pPr marL="323852" lvl="1" indent="-161926" algn="just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Commercial mechanics added: (Cause-related SKUs ,% of sales donations, Co-funded promotions, Customer engagement drives)</a:t>
            </a:r>
          </a:p>
          <a:p>
            <a:pPr marL="323852" lvl="1" indent="-161926" algn="just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NGO storytelling integrated across brand channels (TV, digital, CRM).</a:t>
            </a:r>
          </a:p>
          <a:p>
            <a:pPr algn="just">
              <a:lnSpc>
                <a:spcPts val="2100"/>
              </a:lnSpc>
            </a:pPr>
            <a:endParaRPr lang="en-US" sz="1500">
              <a:solidFill>
                <a:srgbClr val="545454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13971049" y="7348541"/>
            <a:ext cx="376686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1">
                <a:solidFill>
                  <a:srgbClr val="55193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KPIs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3971049" y="7773356"/>
            <a:ext cx="3602409" cy="175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Revenue from cause-related products.</a:t>
            </a:r>
          </a:p>
          <a:p>
            <a:pPr marL="367031" lvl="1" indent="-183515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Retail sell-out uplift during campaigns.</a:t>
            </a:r>
          </a:p>
          <a:p>
            <a:pPr marL="367031" lvl="1" indent="-183515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National visibility &amp; media value.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3943530" y="9892668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28700" y="424325"/>
            <a:ext cx="1828800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EVOLUTION OF SUCCESSFUL PARTNERSHIPS</a:t>
            </a:r>
          </a:p>
        </p:txBody>
      </p:sp>
      <p:sp>
        <p:nvSpPr>
          <p:cNvPr id="78" name="Freeform 78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2514128"/>
            <a:ext cx="12523339" cy="0"/>
          </a:xfrm>
          <a:prstGeom prst="line">
            <a:avLst/>
          </a:prstGeom>
          <a:ln w="3810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650949" y="2374211"/>
            <a:ext cx="279835" cy="27983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79208" y="2374211"/>
            <a:ext cx="279835" cy="2798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727739" y="1726075"/>
            <a:ext cx="2122041" cy="514093"/>
            <a:chOff x="0" y="0"/>
            <a:chExt cx="1098171" cy="2660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8171" cy="266047"/>
            </a:xfrm>
            <a:custGeom>
              <a:avLst/>
              <a:gdLst/>
              <a:ahLst/>
              <a:cxnLst/>
              <a:rect l="l" t="t" r="r" b="b"/>
              <a:pathLst>
                <a:path w="1098171" h="266047">
                  <a:moveTo>
                    <a:pt x="0" y="0"/>
                  </a:moveTo>
                  <a:lnTo>
                    <a:pt x="894971" y="0"/>
                  </a:lnTo>
                  <a:lnTo>
                    <a:pt x="1098171" y="133023"/>
                  </a:lnTo>
                  <a:lnTo>
                    <a:pt x="894971" y="266047"/>
                  </a:lnTo>
                  <a:lnTo>
                    <a:pt x="0" y="266047"/>
                  </a:lnTo>
                  <a:lnTo>
                    <a:pt x="203200" y="133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7800" y="38100"/>
              <a:ext cx="844171" cy="22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100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YEAR 7-8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438220" y="1726075"/>
            <a:ext cx="2122041" cy="514093"/>
            <a:chOff x="0" y="0"/>
            <a:chExt cx="1098171" cy="2660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8171" cy="266047"/>
            </a:xfrm>
            <a:custGeom>
              <a:avLst/>
              <a:gdLst/>
              <a:ahLst/>
              <a:cxnLst/>
              <a:rect l="l" t="t" r="r" b="b"/>
              <a:pathLst>
                <a:path w="1098171" h="266047">
                  <a:moveTo>
                    <a:pt x="0" y="0"/>
                  </a:moveTo>
                  <a:lnTo>
                    <a:pt x="894971" y="0"/>
                  </a:lnTo>
                  <a:lnTo>
                    <a:pt x="1098171" y="133023"/>
                  </a:lnTo>
                  <a:lnTo>
                    <a:pt x="894971" y="266047"/>
                  </a:lnTo>
                  <a:lnTo>
                    <a:pt x="0" y="266047"/>
                  </a:lnTo>
                  <a:lnTo>
                    <a:pt x="203200" y="133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800" y="38100"/>
              <a:ext cx="844171" cy="22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100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YEAR 9-10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905327" y="2825495"/>
            <a:ext cx="3766865" cy="892523"/>
            <a:chOff x="0" y="0"/>
            <a:chExt cx="992096" cy="2350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92096" cy="235068"/>
            </a:xfrm>
            <a:custGeom>
              <a:avLst/>
              <a:gdLst/>
              <a:ahLst/>
              <a:cxnLst/>
              <a:rect l="l" t="t" r="r" b="b"/>
              <a:pathLst>
                <a:path w="992096" h="235068">
                  <a:moveTo>
                    <a:pt x="0" y="0"/>
                  </a:moveTo>
                  <a:lnTo>
                    <a:pt x="992096" y="0"/>
                  </a:lnTo>
                  <a:lnTo>
                    <a:pt x="992096" y="235068"/>
                  </a:lnTo>
                  <a:lnTo>
                    <a:pt x="0" y="235068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38100"/>
              <a:ext cx="992096" cy="196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100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SHARED VALUE PHASE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15417" y="2825495"/>
            <a:ext cx="3766865" cy="892523"/>
            <a:chOff x="0" y="0"/>
            <a:chExt cx="992096" cy="2350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2096" cy="235068"/>
            </a:xfrm>
            <a:custGeom>
              <a:avLst/>
              <a:gdLst/>
              <a:ahLst/>
              <a:cxnLst/>
              <a:rect l="l" t="t" r="r" b="b"/>
              <a:pathLst>
                <a:path w="992096" h="235068">
                  <a:moveTo>
                    <a:pt x="0" y="0"/>
                  </a:moveTo>
                  <a:lnTo>
                    <a:pt x="992096" y="0"/>
                  </a:lnTo>
                  <a:lnTo>
                    <a:pt x="992096" y="235068"/>
                  </a:lnTo>
                  <a:lnTo>
                    <a:pt x="0" y="235068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38100"/>
              <a:ext cx="992096" cy="196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2100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MATURITY PHASE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905327" y="3889469"/>
            <a:ext cx="3766865" cy="3161856"/>
            <a:chOff x="0" y="0"/>
            <a:chExt cx="992096" cy="8327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92096" cy="832752"/>
            </a:xfrm>
            <a:custGeom>
              <a:avLst/>
              <a:gdLst/>
              <a:ahLst/>
              <a:cxnLst/>
              <a:rect l="l" t="t" r="r" b="b"/>
              <a:pathLst>
                <a:path w="992096" h="832752">
                  <a:moveTo>
                    <a:pt x="0" y="0"/>
                  </a:moveTo>
                  <a:lnTo>
                    <a:pt x="992096" y="0"/>
                  </a:lnTo>
                  <a:lnTo>
                    <a:pt x="992096" y="832752"/>
                  </a:lnTo>
                  <a:lnTo>
                    <a:pt x="0" y="832752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8575"/>
              <a:ext cx="992096" cy="804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905327" y="7217776"/>
            <a:ext cx="3766865" cy="2541542"/>
            <a:chOff x="0" y="0"/>
            <a:chExt cx="992096" cy="66937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92096" cy="669377"/>
            </a:xfrm>
            <a:custGeom>
              <a:avLst/>
              <a:gdLst/>
              <a:ahLst/>
              <a:cxnLst/>
              <a:rect l="l" t="t" r="r" b="b"/>
              <a:pathLst>
                <a:path w="992096" h="669377">
                  <a:moveTo>
                    <a:pt x="0" y="0"/>
                  </a:moveTo>
                  <a:lnTo>
                    <a:pt x="992096" y="0"/>
                  </a:lnTo>
                  <a:lnTo>
                    <a:pt x="992096" y="669377"/>
                  </a:lnTo>
                  <a:lnTo>
                    <a:pt x="0" y="669377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28575"/>
              <a:ext cx="992096" cy="640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615808" y="3889469"/>
            <a:ext cx="3766865" cy="3161856"/>
            <a:chOff x="0" y="0"/>
            <a:chExt cx="992096" cy="83275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2096" cy="832752"/>
            </a:xfrm>
            <a:custGeom>
              <a:avLst/>
              <a:gdLst/>
              <a:ahLst/>
              <a:cxnLst/>
              <a:rect l="l" t="t" r="r" b="b"/>
              <a:pathLst>
                <a:path w="992096" h="832752">
                  <a:moveTo>
                    <a:pt x="0" y="0"/>
                  </a:moveTo>
                  <a:lnTo>
                    <a:pt x="992096" y="0"/>
                  </a:lnTo>
                  <a:lnTo>
                    <a:pt x="992096" y="832752"/>
                  </a:lnTo>
                  <a:lnTo>
                    <a:pt x="0" y="832752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28575"/>
              <a:ext cx="992096" cy="804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615808" y="7217776"/>
            <a:ext cx="3766865" cy="2541542"/>
            <a:chOff x="0" y="0"/>
            <a:chExt cx="992096" cy="66937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92096" cy="669377"/>
            </a:xfrm>
            <a:custGeom>
              <a:avLst/>
              <a:gdLst/>
              <a:ahLst/>
              <a:cxnLst/>
              <a:rect l="l" t="t" r="r" b="b"/>
              <a:pathLst>
                <a:path w="992096" h="669377">
                  <a:moveTo>
                    <a:pt x="0" y="0"/>
                  </a:moveTo>
                  <a:lnTo>
                    <a:pt x="992096" y="0"/>
                  </a:lnTo>
                  <a:lnTo>
                    <a:pt x="992096" y="669377"/>
                  </a:lnTo>
                  <a:lnTo>
                    <a:pt x="0" y="669377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28575"/>
              <a:ext cx="992096" cy="640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372475" y="4142154"/>
            <a:ext cx="1543050" cy="154305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372475" y="7290302"/>
            <a:ext cx="1543050" cy="1543050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62127" y="4142154"/>
            <a:ext cx="1543050" cy="1543050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62127" y="7290302"/>
            <a:ext cx="1543050" cy="1543050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435462" y="4413550"/>
            <a:ext cx="996380" cy="996380"/>
          </a:xfrm>
          <a:custGeom>
            <a:avLst/>
            <a:gdLst/>
            <a:ahLst/>
            <a:cxnLst/>
            <a:rect l="l" t="t" r="r" b="b"/>
            <a:pathLst>
              <a:path w="996380" h="996380">
                <a:moveTo>
                  <a:pt x="0" y="0"/>
                </a:moveTo>
                <a:lnTo>
                  <a:pt x="996379" y="0"/>
                </a:lnTo>
                <a:lnTo>
                  <a:pt x="996379" y="996380"/>
                </a:lnTo>
                <a:lnTo>
                  <a:pt x="0" y="996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46"/>
          <p:cNvSpPr/>
          <p:nvPr/>
        </p:nvSpPr>
        <p:spPr>
          <a:xfrm>
            <a:off x="1418242" y="7470461"/>
            <a:ext cx="1030819" cy="1132768"/>
          </a:xfrm>
          <a:custGeom>
            <a:avLst/>
            <a:gdLst/>
            <a:ahLst/>
            <a:cxnLst/>
            <a:rect l="l" t="t" r="r" b="b"/>
            <a:pathLst>
              <a:path w="1030819" h="1132768">
                <a:moveTo>
                  <a:pt x="0" y="0"/>
                </a:moveTo>
                <a:lnTo>
                  <a:pt x="1030819" y="0"/>
                </a:lnTo>
                <a:lnTo>
                  <a:pt x="1030819" y="1132768"/>
                </a:lnTo>
                <a:lnTo>
                  <a:pt x="0" y="1132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/>
          <p:cNvSpPr/>
          <p:nvPr/>
        </p:nvSpPr>
        <p:spPr>
          <a:xfrm>
            <a:off x="8628591" y="4337629"/>
            <a:ext cx="1030819" cy="1132768"/>
          </a:xfrm>
          <a:custGeom>
            <a:avLst/>
            <a:gdLst/>
            <a:ahLst/>
            <a:cxnLst/>
            <a:rect l="l" t="t" r="r" b="b"/>
            <a:pathLst>
              <a:path w="1030819" h="1132768">
                <a:moveTo>
                  <a:pt x="0" y="0"/>
                </a:moveTo>
                <a:lnTo>
                  <a:pt x="1030818" y="0"/>
                </a:lnTo>
                <a:lnTo>
                  <a:pt x="1030818" y="1132768"/>
                </a:lnTo>
                <a:lnTo>
                  <a:pt x="0" y="1132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48"/>
          <p:cNvSpPr/>
          <p:nvPr/>
        </p:nvSpPr>
        <p:spPr>
          <a:xfrm>
            <a:off x="8710310" y="7539294"/>
            <a:ext cx="867380" cy="949253"/>
          </a:xfrm>
          <a:custGeom>
            <a:avLst/>
            <a:gdLst/>
            <a:ahLst/>
            <a:cxnLst/>
            <a:rect l="l" t="t" r="r" b="b"/>
            <a:pathLst>
              <a:path w="867380" h="949253">
                <a:moveTo>
                  <a:pt x="0" y="0"/>
                </a:moveTo>
                <a:lnTo>
                  <a:pt x="867380" y="0"/>
                </a:lnTo>
                <a:lnTo>
                  <a:pt x="867380" y="949253"/>
                </a:lnTo>
                <a:lnTo>
                  <a:pt x="0" y="949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TextBox 49"/>
          <p:cNvSpPr txBox="1"/>
          <p:nvPr/>
        </p:nvSpPr>
        <p:spPr>
          <a:xfrm>
            <a:off x="3905327" y="4020234"/>
            <a:ext cx="376686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1">
                <a:solidFill>
                  <a:srgbClr val="55193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CHARACTERISTICS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905327" y="4673649"/>
            <a:ext cx="3602409" cy="175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Partnership becomes long-term brand platform.</a:t>
            </a:r>
          </a:p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Joint ownership of impact programs (multi-city scale).</a:t>
            </a:r>
          </a:p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NGO built into ESG reporting and brand purpose.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905327" y="7348541"/>
            <a:ext cx="376686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1">
                <a:solidFill>
                  <a:srgbClr val="55193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KPIs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905327" y="7691123"/>
            <a:ext cx="3602409" cy="192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just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Strong brand equity lift vs. competitors.</a:t>
            </a:r>
          </a:p>
          <a:p>
            <a:pPr marL="345441" lvl="1" indent="-172721" algn="just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Measurable social outcomes (reintegration, redistribution, education).</a:t>
            </a:r>
          </a:p>
          <a:p>
            <a:pPr marL="345441" lvl="1" indent="-172721" algn="just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Retail KPIs: traffic, loyalty, halo effect.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615808" y="4020234"/>
            <a:ext cx="376686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1">
                <a:solidFill>
                  <a:srgbClr val="55193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CHARACTERISTICS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615808" y="4445049"/>
            <a:ext cx="3602409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2" lvl="1" indent="-161926" algn="just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Institutionalised and self-sustaining partnership model.</a:t>
            </a:r>
          </a:p>
          <a:p>
            <a:pPr marL="323852" lvl="1" indent="-161926" algn="just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Long-term funds, foundations, or permanent programs created.</a:t>
            </a:r>
          </a:p>
          <a:p>
            <a:pPr marL="323852" lvl="1" indent="-161926" algn="just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Scalable model replicated across markets.</a:t>
            </a:r>
          </a:p>
          <a:p>
            <a:pPr marL="323852" lvl="1" indent="-161926" algn="just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NGO gains stable funding; brand becomes category leader in purpose.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615808" y="7348541"/>
            <a:ext cx="3766865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1">
                <a:solidFill>
                  <a:srgbClr val="55193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KPIs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615808" y="7615876"/>
            <a:ext cx="3602409" cy="2062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73" lvl="1" indent="-140336" algn="just">
              <a:lnSpc>
                <a:spcPts val="1820"/>
              </a:lnSpc>
              <a:buFont typeface="Arial"/>
              <a:buChar char="•"/>
            </a:pPr>
            <a:r>
              <a:rPr lang="en-US" sz="13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Multi-year social impact metrics (lives improved, CO₂ reduced, food redistributed).</a:t>
            </a:r>
          </a:p>
          <a:p>
            <a:pPr marL="280673" lvl="1" indent="-140336" algn="just">
              <a:lnSpc>
                <a:spcPts val="1820"/>
              </a:lnSpc>
              <a:buFont typeface="Arial"/>
              <a:buChar char="•"/>
            </a:pPr>
            <a:r>
              <a:rPr lang="en-US" sz="13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Brand leadership in purpose &amp; trust metrics.</a:t>
            </a:r>
          </a:p>
          <a:p>
            <a:pPr marL="280673" lvl="1" indent="-140336" algn="just">
              <a:lnSpc>
                <a:spcPts val="1820"/>
              </a:lnSpc>
              <a:buFont typeface="Arial"/>
              <a:buChar char="•"/>
            </a:pPr>
            <a:r>
              <a:rPr lang="en-US" sz="13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Employer branding uplift (talent attraction/retention).</a:t>
            </a:r>
          </a:p>
          <a:p>
            <a:pPr marL="280673" lvl="1" indent="-140336" algn="just">
              <a:lnSpc>
                <a:spcPts val="1820"/>
              </a:lnSpc>
              <a:buFont typeface="Arial"/>
              <a:buChar char="•"/>
            </a:pPr>
            <a:r>
              <a:rPr lang="en-US" sz="1300">
                <a:solidFill>
                  <a:srgbClr val="545454"/>
                </a:solidFill>
                <a:latin typeface="Open Sans 2"/>
                <a:ea typeface="Open Sans 2"/>
                <a:cs typeface="Open Sans 2"/>
                <a:sym typeface="Open Sans 2"/>
              </a:rPr>
              <a:t>Program ROI: SROI, earned media, sales uplift.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948988" y="9921243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28700" y="424325"/>
            <a:ext cx="1828800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EVOLUTION OF SUCCESSFUL PARTNERSHIPS</a:t>
            </a:r>
          </a:p>
        </p:txBody>
      </p:sp>
      <p:sp>
        <p:nvSpPr>
          <p:cNvPr id="59" name="Freeform 59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5814" y="411747"/>
            <a:ext cx="5821699" cy="1235335"/>
            <a:chOff x="0" y="0"/>
            <a:chExt cx="7762265" cy="16471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61732" cy="1646936"/>
            </a:xfrm>
            <a:custGeom>
              <a:avLst/>
              <a:gdLst/>
              <a:ahLst/>
              <a:cxnLst/>
              <a:rect l="l" t="t" r="r" b="b"/>
              <a:pathLst>
                <a:path w="7761732" h="1646936">
                  <a:moveTo>
                    <a:pt x="7761732" y="0"/>
                  </a:moveTo>
                  <a:lnTo>
                    <a:pt x="0" y="0"/>
                  </a:lnTo>
                  <a:lnTo>
                    <a:pt x="0" y="1646936"/>
                  </a:lnTo>
                  <a:lnTo>
                    <a:pt x="7761732" y="1646936"/>
                  </a:lnTo>
                  <a:lnTo>
                    <a:pt x="7761732" y="0"/>
                  </a:ln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15795" y="1647158"/>
            <a:ext cx="17464107" cy="7412012"/>
            <a:chOff x="0" y="0"/>
            <a:chExt cx="23285475" cy="98826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285196" cy="9882632"/>
            </a:xfrm>
            <a:custGeom>
              <a:avLst/>
              <a:gdLst/>
              <a:ahLst/>
              <a:cxnLst/>
              <a:rect l="l" t="t" r="r" b="b"/>
              <a:pathLst>
                <a:path w="23285196" h="9882632">
                  <a:moveTo>
                    <a:pt x="23285196" y="0"/>
                  </a:moveTo>
                  <a:lnTo>
                    <a:pt x="22176360" y="0"/>
                  </a:lnTo>
                  <a:lnTo>
                    <a:pt x="22176360" y="1645793"/>
                  </a:lnTo>
                  <a:lnTo>
                    <a:pt x="22176360" y="6042533"/>
                  </a:lnTo>
                  <a:lnTo>
                    <a:pt x="14976602" y="6042533"/>
                  </a:lnTo>
                  <a:lnTo>
                    <a:pt x="14976602" y="1645793"/>
                  </a:lnTo>
                  <a:lnTo>
                    <a:pt x="22176360" y="1645793"/>
                  </a:lnTo>
                  <a:lnTo>
                    <a:pt x="22176360" y="0"/>
                  </a:lnTo>
                  <a:lnTo>
                    <a:pt x="7762621" y="0"/>
                  </a:lnTo>
                  <a:lnTo>
                    <a:pt x="7762621" y="1645793"/>
                  </a:lnTo>
                  <a:lnTo>
                    <a:pt x="0" y="1645793"/>
                  </a:lnTo>
                  <a:lnTo>
                    <a:pt x="0" y="6042533"/>
                  </a:lnTo>
                  <a:lnTo>
                    <a:pt x="0" y="9882632"/>
                  </a:lnTo>
                  <a:lnTo>
                    <a:pt x="23284180" y="9882632"/>
                  </a:lnTo>
                  <a:lnTo>
                    <a:pt x="23284180" y="6042533"/>
                  </a:lnTo>
                  <a:lnTo>
                    <a:pt x="23285069" y="6042533"/>
                  </a:lnTo>
                  <a:lnTo>
                    <a:pt x="23285069" y="1645793"/>
                  </a:lnTo>
                  <a:lnTo>
                    <a:pt x="23285069" y="0"/>
                  </a:ln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79306" y="2177598"/>
            <a:ext cx="7679994" cy="6370517"/>
            <a:chOff x="0" y="0"/>
            <a:chExt cx="7199757" cy="59721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199757" cy="5972163"/>
            </a:xfrm>
            <a:custGeom>
              <a:avLst/>
              <a:gdLst/>
              <a:ahLst/>
              <a:cxnLst/>
              <a:rect l="l" t="t" r="r" b="b"/>
              <a:pathLst>
                <a:path w="7199757" h="5972163">
                  <a:moveTo>
                    <a:pt x="0" y="0"/>
                  </a:moveTo>
                  <a:lnTo>
                    <a:pt x="7199757" y="0"/>
                  </a:lnTo>
                  <a:lnTo>
                    <a:pt x="7199757" y="5972163"/>
                  </a:lnTo>
                  <a:lnTo>
                    <a:pt x="0" y="5972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732" r="-2373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 descr="$PPTXTitle"/>
          <p:cNvSpPr txBox="1"/>
          <p:nvPr/>
        </p:nvSpPr>
        <p:spPr>
          <a:xfrm>
            <a:off x="692194" y="732758"/>
            <a:ext cx="1323775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new approach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0219" y="3347056"/>
            <a:ext cx="7188196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67"/>
              </a:lnSpc>
            </a:pPr>
            <a:r>
              <a:rPr lang="en-US" sz="2223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Invisible Impact:</a:t>
            </a:r>
            <a:r>
              <a:rPr lang="en-US" sz="222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current 3-year partnership relies strictly on financial donations, offering zero brand visibility for McCain among consumers.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940" y="4791075"/>
            <a:ext cx="7111234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67"/>
              </a:lnSpc>
              <a:spcBef>
                <a:spcPct val="0"/>
              </a:spcBef>
            </a:pPr>
            <a:r>
              <a:rPr lang="en-US" sz="2223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Communication Gap: </a:t>
            </a:r>
            <a:r>
              <a:rPr lang="en-US" sz="2223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Lazare focuses purely on its cause, masking the connection to McCain's "Born to Share" values.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162675"/>
            <a:ext cx="7111234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67"/>
              </a:lnSpc>
              <a:spcBef>
                <a:spcPct val="0"/>
              </a:spcBef>
            </a:pPr>
            <a:r>
              <a:rPr lang="en-US" sz="2223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Opportunity: </a:t>
            </a:r>
            <a:r>
              <a:rPr lang="en-US" sz="2223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Transition from isolated charitable events to a structural, commercial partnership involving retailer Auchan.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9460" y="7534275"/>
            <a:ext cx="7111234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67"/>
              </a:lnSpc>
              <a:spcBef>
                <a:spcPct val="0"/>
              </a:spcBef>
            </a:pPr>
            <a:r>
              <a:rPr lang="en-US" sz="2223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Goal:</a:t>
            </a:r>
            <a:r>
              <a:rPr lang="en-US" sz="2223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Create a highly visible, permanent CSR halo that benefits Lazare financially while building McCain's brand equity in-store.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23634" y="9477518"/>
            <a:ext cx="1655388" cy="404412"/>
            <a:chOff x="0" y="0"/>
            <a:chExt cx="2207184" cy="53921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7133" cy="539242"/>
            </a:xfrm>
            <a:custGeom>
              <a:avLst/>
              <a:gdLst/>
              <a:ahLst/>
              <a:cxnLst/>
              <a:rect l="l" t="t" r="r" b="b"/>
              <a:pathLst>
                <a:path w="2207133" h="539242">
                  <a:moveTo>
                    <a:pt x="0" y="0"/>
                  </a:moveTo>
                  <a:lnTo>
                    <a:pt x="2207133" y="0"/>
                  </a:lnTo>
                  <a:lnTo>
                    <a:pt x="2207133" y="539242"/>
                  </a:lnTo>
                  <a:lnTo>
                    <a:pt x="0" y="53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66" r="-2" b="-45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929944" y="9786680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768919"/>
            <a:ext cx="16230600" cy="6990153"/>
            <a:chOff x="0" y="0"/>
            <a:chExt cx="4274726" cy="18410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841028"/>
            </a:xfrm>
            <a:custGeom>
              <a:avLst/>
              <a:gdLst/>
              <a:ahLst/>
              <a:cxnLst/>
              <a:rect l="l" t="t" r="r" b="b"/>
              <a:pathLst>
                <a:path w="4274726" h="1841028">
                  <a:moveTo>
                    <a:pt x="0" y="0"/>
                  </a:moveTo>
                  <a:lnTo>
                    <a:pt x="4274726" y="0"/>
                  </a:lnTo>
                  <a:lnTo>
                    <a:pt x="4274726" y="1841028"/>
                  </a:lnTo>
                  <a:lnTo>
                    <a:pt x="0" y="1841028"/>
                  </a:lnTo>
                  <a:close/>
                </a:path>
              </a:pathLst>
            </a:custGeom>
            <a:solidFill>
              <a:srgbClr val="5C18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4274726" cy="1802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29625" y="3178259"/>
            <a:ext cx="1428750" cy="57150"/>
            <a:chOff x="0" y="0"/>
            <a:chExt cx="19050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05000" cy="76200"/>
            </a:xfrm>
            <a:custGeom>
              <a:avLst/>
              <a:gdLst/>
              <a:ahLst/>
              <a:cxnLst/>
              <a:rect l="l" t="t" r="r" b="b"/>
              <a:pathLst>
                <a:path w="1905000" h="762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77562" y="6014119"/>
            <a:ext cx="8932875" cy="1914066"/>
            <a:chOff x="0" y="0"/>
            <a:chExt cx="2352691" cy="5041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52691" cy="504116"/>
            </a:xfrm>
            <a:custGeom>
              <a:avLst/>
              <a:gdLst/>
              <a:ahLst/>
              <a:cxnLst/>
              <a:rect l="l" t="t" r="r" b="b"/>
              <a:pathLst>
                <a:path w="2352691" h="504116">
                  <a:moveTo>
                    <a:pt x="0" y="0"/>
                  </a:moveTo>
                  <a:lnTo>
                    <a:pt x="2352691" y="0"/>
                  </a:lnTo>
                  <a:lnTo>
                    <a:pt x="2352691" y="504116"/>
                  </a:lnTo>
                  <a:lnTo>
                    <a:pt x="0" y="504116"/>
                  </a:lnTo>
                  <a:close/>
                </a:path>
              </a:pathLst>
            </a:custGeom>
            <a:ln w="38100" cap="sq">
              <a:solidFill>
                <a:srgbClr val="FDC62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352691" cy="551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3538381"/>
            <a:ext cx="16230600" cy="2085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6"/>
              </a:lnSpc>
            </a:pPr>
            <a:r>
              <a:rPr lang="en-US" sz="63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</a:t>
            </a:r>
          </a:p>
          <a:p>
            <a:pPr algn="ctr">
              <a:lnSpc>
                <a:spcPts val="8316"/>
              </a:lnSpc>
            </a:pPr>
            <a:r>
              <a:rPr lang="en-US" sz="63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Inside a Retail Environment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77562" y="6151673"/>
            <a:ext cx="8932875" cy="157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4794" b="1">
                <a:solidFill>
                  <a:srgbClr val="FDC62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Low-Friction Engagement (Mass Market Reach)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929944" y="9691430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94157" y="1794537"/>
            <a:ext cx="13900419" cy="0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016405" y="1451842"/>
            <a:ext cx="587472" cy="612085"/>
            <a:chOff x="0" y="0"/>
            <a:chExt cx="812800" cy="8468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46853"/>
            </a:xfrm>
            <a:custGeom>
              <a:avLst/>
              <a:gdLst/>
              <a:ahLst/>
              <a:cxnLst/>
              <a:rect l="l" t="t" r="r" b="b"/>
              <a:pathLst>
                <a:path w="812800" h="846853">
                  <a:moveTo>
                    <a:pt x="406400" y="0"/>
                  </a:moveTo>
                  <a:cubicBezTo>
                    <a:pt x="181951" y="0"/>
                    <a:pt x="0" y="189575"/>
                    <a:pt x="0" y="423427"/>
                  </a:cubicBezTo>
                  <a:cubicBezTo>
                    <a:pt x="0" y="657279"/>
                    <a:pt x="181951" y="846853"/>
                    <a:pt x="406400" y="846853"/>
                  </a:cubicBezTo>
                  <a:cubicBezTo>
                    <a:pt x="630849" y="846853"/>
                    <a:pt x="812800" y="657279"/>
                    <a:pt x="812800" y="423427"/>
                  </a:cubicBezTo>
                  <a:cubicBezTo>
                    <a:pt x="812800" y="1895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17493"/>
              <a:ext cx="660400" cy="64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64532" y="1654620"/>
            <a:ext cx="279835" cy="2798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543157"/>
            <a:ext cx="11509094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MASS MARKET REACH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63860" y="2667965"/>
            <a:ext cx="10157586" cy="643370"/>
            <a:chOff x="0" y="0"/>
            <a:chExt cx="2675249" cy="16944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75249" cy="169447"/>
            </a:xfrm>
            <a:custGeom>
              <a:avLst/>
              <a:gdLst/>
              <a:ahLst/>
              <a:cxnLst/>
              <a:rect l="l" t="t" r="r" b="b"/>
              <a:pathLst>
                <a:path w="2675249" h="169447">
                  <a:moveTo>
                    <a:pt x="0" y="0"/>
                  </a:moveTo>
                  <a:lnTo>
                    <a:pt x="2675249" y="0"/>
                  </a:lnTo>
                  <a:lnTo>
                    <a:pt x="2675249" y="169447"/>
                  </a:lnTo>
                  <a:lnTo>
                    <a:pt x="0" y="169447"/>
                  </a:ln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38100"/>
              <a:ext cx="2675249" cy="13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043235" y="2215997"/>
            <a:ext cx="560642" cy="490562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7000" y="368300"/>
              <a:ext cx="5588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63860" y="3597085"/>
            <a:ext cx="8932875" cy="3743143"/>
            <a:chOff x="0" y="0"/>
            <a:chExt cx="2352691" cy="98584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52691" cy="985848"/>
            </a:xfrm>
            <a:custGeom>
              <a:avLst/>
              <a:gdLst/>
              <a:ahLst/>
              <a:cxnLst/>
              <a:rect l="l" t="t" r="r" b="b"/>
              <a:pathLst>
                <a:path w="2352691" h="985848">
                  <a:moveTo>
                    <a:pt x="0" y="0"/>
                  </a:moveTo>
                  <a:lnTo>
                    <a:pt x="2352691" y="0"/>
                  </a:lnTo>
                  <a:lnTo>
                    <a:pt x="2352691" y="985848"/>
                  </a:lnTo>
                  <a:lnTo>
                    <a:pt x="0" y="985848"/>
                  </a:lnTo>
                  <a:close/>
                </a:path>
              </a:pathLst>
            </a:custGeom>
            <a:ln w="38100" cap="sq">
              <a:solidFill>
                <a:srgbClr val="FF96D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352691" cy="1033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63860" y="8092703"/>
            <a:ext cx="8932875" cy="1004495"/>
            <a:chOff x="0" y="0"/>
            <a:chExt cx="2352691" cy="26455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52691" cy="264558"/>
            </a:xfrm>
            <a:custGeom>
              <a:avLst/>
              <a:gdLst/>
              <a:ahLst/>
              <a:cxnLst/>
              <a:rect l="l" t="t" r="r" b="b"/>
              <a:pathLst>
                <a:path w="2352691" h="264558">
                  <a:moveTo>
                    <a:pt x="0" y="0"/>
                  </a:moveTo>
                  <a:lnTo>
                    <a:pt x="2352691" y="0"/>
                  </a:lnTo>
                  <a:lnTo>
                    <a:pt x="2352691" y="264558"/>
                  </a:lnTo>
                  <a:lnTo>
                    <a:pt x="0" y="264558"/>
                  </a:lnTo>
                  <a:close/>
                </a:path>
              </a:pathLst>
            </a:custGeom>
            <a:ln w="38100" cap="sq">
              <a:solidFill>
                <a:srgbClr val="FF96D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2352691" cy="31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flipH="1">
            <a:off x="1580406" y="8430960"/>
            <a:ext cx="327982" cy="327982"/>
          </a:xfrm>
          <a:custGeom>
            <a:avLst/>
            <a:gdLst/>
            <a:ahLst/>
            <a:cxnLst/>
            <a:rect l="l" t="t" r="r" b="b"/>
            <a:pathLst>
              <a:path w="327982" h="327982">
                <a:moveTo>
                  <a:pt x="327982" y="0"/>
                </a:moveTo>
                <a:lnTo>
                  <a:pt x="0" y="0"/>
                </a:lnTo>
                <a:lnTo>
                  <a:pt x="0" y="327981"/>
                </a:lnTo>
                <a:lnTo>
                  <a:pt x="327982" y="327981"/>
                </a:lnTo>
                <a:lnTo>
                  <a:pt x="3279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363860" y="3812625"/>
            <a:ext cx="893287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it is:</a:t>
            </a:r>
          </a:p>
        </p:txBody>
      </p:sp>
      <p:sp>
        <p:nvSpPr>
          <p:cNvPr id="24" name="Freeform 24"/>
          <p:cNvSpPr/>
          <p:nvPr/>
        </p:nvSpPr>
        <p:spPr>
          <a:xfrm>
            <a:off x="4290713" y="3870828"/>
            <a:ext cx="436043" cy="436043"/>
          </a:xfrm>
          <a:custGeom>
            <a:avLst/>
            <a:gdLst/>
            <a:ahLst/>
            <a:cxnLst/>
            <a:rect l="l" t="t" r="r" b="b"/>
            <a:pathLst>
              <a:path w="436043" h="436043">
                <a:moveTo>
                  <a:pt x="0" y="0"/>
                </a:moveTo>
                <a:lnTo>
                  <a:pt x="436043" y="0"/>
                </a:lnTo>
                <a:lnTo>
                  <a:pt x="436043" y="436043"/>
                </a:lnTo>
                <a:lnTo>
                  <a:pt x="0" y="436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0892886" y="4295739"/>
            <a:ext cx="6184833" cy="2142744"/>
            <a:chOff x="0" y="0"/>
            <a:chExt cx="1628927" cy="56434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28927" cy="564344"/>
            </a:xfrm>
            <a:custGeom>
              <a:avLst/>
              <a:gdLst/>
              <a:ahLst/>
              <a:cxnLst/>
              <a:rect l="l" t="t" r="r" b="b"/>
              <a:pathLst>
                <a:path w="1628927" h="564344">
                  <a:moveTo>
                    <a:pt x="0" y="0"/>
                  </a:moveTo>
                  <a:lnTo>
                    <a:pt x="1628927" y="0"/>
                  </a:lnTo>
                  <a:lnTo>
                    <a:pt x="1628927" y="564344"/>
                  </a:lnTo>
                  <a:lnTo>
                    <a:pt x="0" y="564344"/>
                  </a:lnTo>
                  <a:close/>
                </a:path>
              </a:pathLst>
            </a:custGeom>
            <a:ln w="38100" cap="sq">
              <a:solidFill>
                <a:srgbClr val="FF96D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628927" cy="611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695783" y="4088850"/>
            <a:ext cx="2579038" cy="449580"/>
            <a:chOff x="0" y="0"/>
            <a:chExt cx="3438718" cy="59944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3438718" cy="599440"/>
              <a:chOff x="0" y="0"/>
              <a:chExt cx="679253" cy="11840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79253" cy="118408"/>
              </a:xfrm>
              <a:custGeom>
                <a:avLst/>
                <a:gdLst/>
                <a:ahLst/>
                <a:cxnLst/>
                <a:rect l="l" t="t" r="r" b="b"/>
                <a:pathLst>
                  <a:path w="679253" h="118408">
                    <a:moveTo>
                      <a:pt x="0" y="0"/>
                    </a:moveTo>
                    <a:lnTo>
                      <a:pt x="679253" y="0"/>
                    </a:lnTo>
                    <a:lnTo>
                      <a:pt x="679253" y="118408"/>
                    </a:lnTo>
                    <a:lnTo>
                      <a:pt x="0" y="118408"/>
                    </a:lnTo>
                    <a:close/>
                  </a:path>
                </a:pathLst>
              </a:custGeom>
              <a:solidFill>
                <a:srgbClr val="5F193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28575"/>
                <a:ext cx="679253" cy="89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0" y="104987"/>
              <a:ext cx="3438718" cy="446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Visibility KPIs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881992" y="6886284"/>
            <a:ext cx="6184833" cy="2243325"/>
            <a:chOff x="0" y="0"/>
            <a:chExt cx="1628927" cy="59083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628927" cy="590835"/>
            </a:xfrm>
            <a:custGeom>
              <a:avLst/>
              <a:gdLst/>
              <a:ahLst/>
              <a:cxnLst/>
              <a:rect l="l" t="t" r="r" b="b"/>
              <a:pathLst>
                <a:path w="1628927" h="590835">
                  <a:moveTo>
                    <a:pt x="0" y="0"/>
                  </a:moveTo>
                  <a:lnTo>
                    <a:pt x="1628927" y="0"/>
                  </a:lnTo>
                  <a:lnTo>
                    <a:pt x="1628927" y="590835"/>
                  </a:lnTo>
                  <a:lnTo>
                    <a:pt x="0" y="590835"/>
                  </a:lnTo>
                  <a:close/>
                </a:path>
              </a:pathLst>
            </a:custGeom>
            <a:ln w="38100" cap="sq">
              <a:solidFill>
                <a:srgbClr val="FF96D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628927" cy="63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632657" y="6679395"/>
            <a:ext cx="2825023" cy="449580"/>
            <a:chOff x="0" y="0"/>
            <a:chExt cx="744039" cy="11840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44039" cy="118408"/>
            </a:xfrm>
            <a:custGeom>
              <a:avLst/>
              <a:gdLst/>
              <a:ahLst/>
              <a:cxnLst/>
              <a:rect l="l" t="t" r="r" b="b"/>
              <a:pathLst>
                <a:path w="744039" h="118408">
                  <a:moveTo>
                    <a:pt x="0" y="0"/>
                  </a:moveTo>
                  <a:lnTo>
                    <a:pt x="744039" y="0"/>
                  </a:lnTo>
                  <a:lnTo>
                    <a:pt x="744039" y="118408"/>
                  </a:lnTo>
                  <a:lnTo>
                    <a:pt x="0" y="118408"/>
                  </a:ln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38100"/>
              <a:ext cx="744039" cy="80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63860" y="2735304"/>
            <a:ext cx="10291604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Product-Sharing &amp; Packaging (“Produit-partage”)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45095" y="4641300"/>
            <a:ext cx="8370406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Create a limited-edition co-branded McCain × Lazare pack or sleeve.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Launch seasonal or permanent McCain × Lazare products. (new potatoe shape) 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Clearly display a fixed donation per purchase (e.g., “0,50 € reversés à Lazare par paquet”).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043235" y="8254628"/>
            <a:ext cx="7991558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High retail sales volume = strong cumulative donations + visibility.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194508" y="4749683"/>
            <a:ext cx="5603376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 compliance rate (correct pack placement).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Number of packs printed &amp; distributed.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673995" y="6772422"/>
            <a:ext cx="2783686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Awareness KPIs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83614" y="7340228"/>
            <a:ext cx="5603376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% of shoppers recalling the co-branded pack.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Total € raised for Lazare.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Variation in sales. 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6154659" y="1654620"/>
            <a:ext cx="279835" cy="279835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3929944" y="9691430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49" name="Freeform 49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94157" y="1794537"/>
            <a:ext cx="13900419" cy="0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016405" y="1451842"/>
            <a:ext cx="587472" cy="612085"/>
            <a:chOff x="0" y="0"/>
            <a:chExt cx="812800" cy="8468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46853"/>
            </a:xfrm>
            <a:custGeom>
              <a:avLst/>
              <a:gdLst/>
              <a:ahLst/>
              <a:cxnLst/>
              <a:rect l="l" t="t" r="r" b="b"/>
              <a:pathLst>
                <a:path w="812800" h="846853">
                  <a:moveTo>
                    <a:pt x="406400" y="0"/>
                  </a:moveTo>
                  <a:cubicBezTo>
                    <a:pt x="181951" y="0"/>
                    <a:pt x="0" y="189575"/>
                    <a:pt x="0" y="423427"/>
                  </a:cubicBezTo>
                  <a:cubicBezTo>
                    <a:pt x="0" y="657279"/>
                    <a:pt x="181951" y="846853"/>
                    <a:pt x="406400" y="846853"/>
                  </a:cubicBezTo>
                  <a:cubicBezTo>
                    <a:pt x="630849" y="846853"/>
                    <a:pt x="812800" y="657279"/>
                    <a:pt x="812800" y="423427"/>
                  </a:cubicBezTo>
                  <a:cubicBezTo>
                    <a:pt x="812800" y="1895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17493"/>
              <a:ext cx="660400" cy="64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64532" y="1654620"/>
            <a:ext cx="279835" cy="2798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0408" y="4263835"/>
            <a:ext cx="5297895" cy="936685"/>
            <a:chOff x="0" y="0"/>
            <a:chExt cx="7063860" cy="12489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63436" cy="1248423"/>
            </a:xfrm>
            <a:custGeom>
              <a:avLst/>
              <a:gdLst/>
              <a:ahLst/>
              <a:cxnLst/>
              <a:rect l="l" t="t" r="r" b="b"/>
              <a:pathLst>
                <a:path w="7063436" h="1248423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897576"/>
                  </a:lnTo>
                  <a:cubicBezTo>
                    <a:pt x="0" y="1091344"/>
                    <a:pt x="157080" y="1248423"/>
                    <a:pt x="350848" y="1248423"/>
                  </a:cubicBezTo>
                  <a:lnTo>
                    <a:pt x="6712588" y="1248423"/>
                  </a:lnTo>
                  <a:cubicBezTo>
                    <a:pt x="6906356" y="1248423"/>
                    <a:pt x="7063436" y="1091344"/>
                    <a:pt x="7063436" y="897576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95053" y="4263835"/>
            <a:ext cx="5297895" cy="936685"/>
            <a:chOff x="0" y="0"/>
            <a:chExt cx="7063860" cy="12489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63436" cy="1248423"/>
            </a:xfrm>
            <a:custGeom>
              <a:avLst/>
              <a:gdLst/>
              <a:ahLst/>
              <a:cxnLst/>
              <a:rect l="l" t="t" r="r" b="b"/>
              <a:pathLst>
                <a:path w="7063436" h="1248423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897576"/>
                  </a:lnTo>
                  <a:cubicBezTo>
                    <a:pt x="0" y="1091344"/>
                    <a:pt x="157080" y="1248423"/>
                    <a:pt x="350848" y="1248423"/>
                  </a:cubicBezTo>
                  <a:lnTo>
                    <a:pt x="6712588" y="1248423"/>
                  </a:lnTo>
                  <a:cubicBezTo>
                    <a:pt x="6906356" y="1248423"/>
                    <a:pt x="7063436" y="1091344"/>
                    <a:pt x="7063436" y="897576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460522" y="4263835"/>
            <a:ext cx="5297895" cy="936685"/>
            <a:chOff x="0" y="0"/>
            <a:chExt cx="7063860" cy="124891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63436" cy="1248423"/>
            </a:xfrm>
            <a:custGeom>
              <a:avLst/>
              <a:gdLst/>
              <a:ahLst/>
              <a:cxnLst/>
              <a:rect l="l" t="t" r="r" b="b"/>
              <a:pathLst>
                <a:path w="7063436" h="1248423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897576"/>
                  </a:lnTo>
                  <a:cubicBezTo>
                    <a:pt x="0" y="1091344"/>
                    <a:pt x="157080" y="1248423"/>
                    <a:pt x="350848" y="1248423"/>
                  </a:cubicBezTo>
                  <a:lnTo>
                    <a:pt x="6712588" y="1248423"/>
                  </a:lnTo>
                  <a:cubicBezTo>
                    <a:pt x="6906356" y="1248423"/>
                    <a:pt x="7063436" y="1091344"/>
                    <a:pt x="7063436" y="897576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/>
          <p:cNvSpPr/>
          <p:nvPr/>
        </p:nvSpPr>
        <p:spPr>
          <a:xfrm>
            <a:off x="530408" y="5669076"/>
            <a:ext cx="5174162" cy="2949273"/>
          </a:xfrm>
          <a:custGeom>
            <a:avLst/>
            <a:gdLst/>
            <a:ahLst/>
            <a:cxnLst/>
            <a:rect l="l" t="t" r="r" b="b"/>
            <a:pathLst>
              <a:path w="5174162" h="2949273">
                <a:moveTo>
                  <a:pt x="0" y="0"/>
                </a:moveTo>
                <a:lnTo>
                  <a:pt x="5174162" y="0"/>
                </a:lnTo>
                <a:lnTo>
                  <a:pt x="5174162" y="2949272"/>
                </a:lnTo>
                <a:lnTo>
                  <a:pt x="0" y="2949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2512204" y="5667341"/>
            <a:ext cx="5317130" cy="2951007"/>
          </a:xfrm>
          <a:custGeom>
            <a:avLst/>
            <a:gdLst/>
            <a:ahLst/>
            <a:cxnLst/>
            <a:rect l="l" t="t" r="r" b="b"/>
            <a:pathLst>
              <a:path w="5317130" h="2951007">
                <a:moveTo>
                  <a:pt x="0" y="0"/>
                </a:moveTo>
                <a:lnTo>
                  <a:pt x="5317130" y="0"/>
                </a:lnTo>
                <a:lnTo>
                  <a:pt x="5317130" y="2951007"/>
                </a:lnTo>
                <a:lnTo>
                  <a:pt x="0" y="2951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6408580" y="5581520"/>
            <a:ext cx="5591738" cy="3124383"/>
          </a:xfrm>
          <a:custGeom>
            <a:avLst/>
            <a:gdLst/>
            <a:ahLst/>
            <a:cxnLst/>
            <a:rect l="l" t="t" r="r" b="b"/>
            <a:pathLst>
              <a:path w="5591738" h="3124383">
                <a:moveTo>
                  <a:pt x="0" y="0"/>
                </a:moveTo>
                <a:lnTo>
                  <a:pt x="5591738" y="0"/>
                </a:lnTo>
                <a:lnTo>
                  <a:pt x="5591738" y="3124384"/>
                </a:lnTo>
                <a:lnTo>
                  <a:pt x="0" y="3124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366549" y="4570840"/>
            <a:ext cx="3625612" cy="38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NEW PACKAGING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33124" y="4570840"/>
            <a:ext cx="3221752" cy="38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NEW PRODUCT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42556" y="4570840"/>
            <a:ext cx="5056426" cy="38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STICKER ON PACKAGING 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6154659" y="1654620"/>
            <a:ext cx="279835" cy="27983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63860" y="2667965"/>
            <a:ext cx="10157586" cy="643370"/>
            <a:chOff x="0" y="0"/>
            <a:chExt cx="2675249" cy="16944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675249" cy="169447"/>
            </a:xfrm>
            <a:custGeom>
              <a:avLst/>
              <a:gdLst/>
              <a:ahLst/>
              <a:cxnLst/>
              <a:rect l="l" t="t" r="r" b="b"/>
              <a:pathLst>
                <a:path w="2675249" h="169447">
                  <a:moveTo>
                    <a:pt x="0" y="0"/>
                  </a:moveTo>
                  <a:lnTo>
                    <a:pt x="2675249" y="0"/>
                  </a:lnTo>
                  <a:lnTo>
                    <a:pt x="2675249" y="169447"/>
                  </a:lnTo>
                  <a:lnTo>
                    <a:pt x="0" y="169447"/>
                  </a:ln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38100"/>
              <a:ext cx="2675249" cy="13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043235" y="2215997"/>
            <a:ext cx="560642" cy="490562"/>
            <a:chOff x="0" y="0"/>
            <a:chExt cx="812800" cy="711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000" y="368300"/>
              <a:ext cx="5588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363860" y="2735304"/>
            <a:ext cx="10291604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Product-Sharing &amp; Packaging (“Produit-partage”)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929944" y="9691430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543157"/>
            <a:ext cx="11509094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MASS MARKET REACH</a:t>
            </a:r>
          </a:p>
        </p:txBody>
      </p:sp>
      <p:sp>
        <p:nvSpPr>
          <p:cNvPr id="33" name="Freeform 33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56165" y="2548432"/>
            <a:ext cx="7038663" cy="643370"/>
            <a:chOff x="0" y="0"/>
            <a:chExt cx="1853804" cy="1694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53804" cy="169447"/>
            </a:xfrm>
            <a:custGeom>
              <a:avLst/>
              <a:gdLst/>
              <a:ahLst/>
              <a:cxnLst/>
              <a:rect l="l" t="t" r="r" b="b"/>
              <a:pathLst>
                <a:path w="1853804" h="169447">
                  <a:moveTo>
                    <a:pt x="0" y="0"/>
                  </a:moveTo>
                  <a:lnTo>
                    <a:pt x="1853804" y="0"/>
                  </a:lnTo>
                  <a:lnTo>
                    <a:pt x="1853804" y="169447"/>
                  </a:lnTo>
                  <a:lnTo>
                    <a:pt x="0" y="169447"/>
                  </a:ln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853804" cy="13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15002" y="2096465"/>
            <a:ext cx="560642" cy="490562"/>
            <a:chOff x="0" y="0"/>
            <a:chExt cx="812800" cy="711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7000" y="368300"/>
              <a:ext cx="5588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63860" y="3597085"/>
            <a:ext cx="8932875" cy="3747627"/>
            <a:chOff x="0" y="0"/>
            <a:chExt cx="2352691" cy="9870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52691" cy="987029"/>
            </a:xfrm>
            <a:custGeom>
              <a:avLst/>
              <a:gdLst/>
              <a:ahLst/>
              <a:cxnLst/>
              <a:rect l="l" t="t" r="r" b="b"/>
              <a:pathLst>
                <a:path w="2352691" h="987029">
                  <a:moveTo>
                    <a:pt x="0" y="0"/>
                  </a:moveTo>
                  <a:lnTo>
                    <a:pt x="2352691" y="0"/>
                  </a:lnTo>
                  <a:lnTo>
                    <a:pt x="2352691" y="987029"/>
                  </a:lnTo>
                  <a:lnTo>
                    <a:pt x="0" y="987029"/>
                  </a:lnTo>
                  <a:close/>
                </a:path>
              </a:pathLst>
            </a:custGeom>
            <a:ln w="38100" cap="sq">
              <a:solidFill>
                <a:srgbClr val="A31B1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352691" cy="1034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3860" y="7878112"/>
            <a:ext cx="8932875" cy="1004495"/>
            <a:chOff x="0" y="0"/>
            <a:chExt cx="2352691" cy="2645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52691" cy="264558"/>
            </a:xfrm>
            <a:custGeom>
              <a:avLst/>
              <a:gdLst/>
              <a:ahLst/>
              <a:cxnLst/>
              <a:rect l="l" t="t" r="r" b="b"/>
              <a:pathLst>
                <a:path w="2352691" h="264558">
                  <a:moveTo>
                    <a:pt x="0" y="0"/>
                  </a:moveTo>
                  <a:lnTo>
                    <a:pt x="2352691" y="0"/>
                  </a:lnTo>
                  <a:lnTo>
                    <a:pt x="2352691" y="264558"/>
                  </a:lnTo>
                  <a:lnTo>
                    <a:pt x="0" y="264558"/>
                  </a:lnTo>
                  <a:close/>
                </a:path>
              </a:pathLst>
            </a:custGeom>
            <a:ln w="38100" cap="sq">
              <a:solidFill>
                <a:srgbClr val="A31B1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352691" cy="31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flipH="1">
            <a:off x="1580406" y="8216368"/>
            <a:ext cx="327982" cy="327982"/>
          </a:xfrm>
          <a:custGeom>
            <a:avLst/>
            <a:gdLst/>
            <a:ahLst/>
            <a:cxnLst/>
            <a:rect l="l" t="t" r="r" b="b"/>
            <a:pathLst>
              <a:path w="327982" h="327982">
                <a:moveTo>
                  <a:pt x="327982" y="0"/>
                </a:moveTo>
                <a:lnTo>
                  <a:pt x="0" y="0"/>
                </a:lnTo>
                <a:lnTo>
                  <a:pt x="0" y="327982"/>
                </a:lnTo>
                <a:lnTo>
                  <a:pt x="327982" y="327982"/>
                </a:lnTo>
                <a:lnTo>
                  <a:pt x="3279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363860" y="3812625"/>
            <a:ext cx="893287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it is:</a:t>
            </a:r>
          </a:p>
        </p:txBody>
      </p:sp>
      <p:sp>
        <p:nvSpPr>
          <p:cNvPr id="16" name="Freeform 16"/>
          <p:cNvSpPr/>
          <p:nvPr/>
        </p:nvSpPr>
        <p:spPr>
          <a:xfrm>
            <a:off x="4290713" y="3870828"/>
            <a:ext cx="436043" cy="436043"/>
          </a:xfrm>
          <a:custGeom>
            <a:avLst/>
            <a:gdLst/>
            <a:ahLst/>
            <a:cxnLst/>
            <a:rect l="l" t="t" r="r" b="b"/>
            <a:pathLst>
              <a:path w="436043" h="436043">
                <a:moveTo>
                  <a:pt x="0" y="0"/>
                </a:moveTo>
                <a:lnTo>
                  <a:pt x="436043" y="0"/>
                </a:lnTo>
                <a:lnTo>
                  <a:pt x="436043" y="436043"/>
                </a:lnTo>
                <a:lnTo>
                  <a:pt x="0" y="436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0869330" y="3902532"/>
            <a:ext cx="6184833" cy="1996107"/>
            <a:chOff x="0" y="0"/>
            <a:chExt cx="1628927" cy="52572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28927" cy="525724"/>
            </a:xfrm>
            <a:custGeom>
              <a:avLst/>
              <a:gdLst/>
              <a:ahLst/>
              <a:cxnLst/>
              <a:rect l="l" t="t" r="r" b="b"/>
              <a:pathLst>
                <a:path w="1628927" h="525724">
                  <a:moveTo>
                    <a:pt x="0" y="0"/>
                  </a:moveTo>
                  <a:lnTo>
                    <a:pt x="1628927" y="0"/>
                  </a:lnTo>
                  <a:lnTo>
                    <a:pt x="1628927" y="525724"/>
                  </a:lnTo>
                  <a:lnTo>
                    <a:pt x="0" y="525724"/>
                  </a:lnTo>
                  <a:close/>
                </a:path>
              </a:pathLst>
            </a:custGeom>
            <a:ln w="38100" cap="sq">
              <a:solidFill>
                <a:srgbClr val="A31B1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628927" cy="573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672228" y="3695643"/>
            <a:ext cx="2579038" cy="449580"/>
            <a:chOff x="0" y="0"/>
            <a:chExt cx="3438718" cy="59944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3438718" cy="599440"/>
              <a:chOff x="0" y="0"/>
              <a:chExt cx="679253" cy="11840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79253" cy="118408"/>
              </a:xfrm>
              <a:custGeom>
                <a:avLst/>
                <a:gdLst/>
                <a:ahLst/>
                <a:cxnLst/>
                <a:rect l="l" t="t" r="r" b="b"/>
                <a:pathLst>
                  <a:path w="679253" h="118408">
                    <a:moveTo>
                      <a:pt x="0" y="0"/>
                    </a:moveTo>
                    <a:lnTo>
                      <a:pt x="679253" y="0"/>
                    </a:lnTo>
                    <a:lnTo>
                      <a:pt x="679253" y="118408"/>
                    </a:lnTo>
                    <a:lnTo>
                      <a:pt x="0" y="118408"/>
                    </a:lnTo>
                    <a:close/>
                  </a:path>
                </a:pathLst>
              </a:custGeom>
              <a:solidFill>
                <a:srgbClr val="5F193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28575"/>
                <a:ext cx="679253" cy="89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0" y="104987"/>
              <a:ext cx="3438718" cy="446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Visibility KPIs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869330" y="6315078"/>
            <a:ext cx="6184833" cy="2674559"/>
            <a:chOff x="0" y="0"/>
            <a:chExt cx="1628927" cy="70441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28927" cy="704411"/>
            </a:xfrm>
            <a:custGeom>
              <a:avLst/>
              <a:gdLst/>
              <a:ahLst/>
              <a:cxnLst/>
              <a:rect l="l" t="t" r="r" b="b"/>
              <a:pathLst>
                <a:path w="1628927" h="704411">
                  <a:moveTo>
                    <a:pt x="0" y="0"/>
                  </a:moveTo>
                  <a:lnTo>
                    <a:pt x="1628927" y="0"/>
                  </a:lnTo>
                  <a:lnTo>
                    <a:pt x="1628927" y="704411"/>
                  </a:lnTo>
                  <a:lnTo>
                    <a:pt x="0" y="704411"/>
                  </a:lnTo>
                  <a:close/>
                </a:path>
              </a:pathLst>
            </a:custGeom>
            <a:ln w="38100" cap="sq">
              <a:solidFill>
                <a:srgbClr val="A31B1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628927" cy="752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619996" y="6108189"/>
            <a:ext cx="2800094" cy="449580"/>
            <a:chOff x="0" y="0"/>
            <a:chExt cx="737473" cy="11840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7473" cy="118408"/>
            </a:xfrm>
            <a:custGeom>
              <a:avLst/>
              <a:gdLst/>
              <a:ahLst/>
              <a:cxnLst/>
              <a:rect l="l" t="t" r="r" b="b"/>
              <a:pathLst>
                <a:path w="737473" h="118408">
                  <a:moveTo>
                    <a:pt x="0" y="0"/>
                  </a:moveTo>
                  <a:lnTo>
                    <a:pt x="737473" y="0"/>
                  </a:lnTo>
                  <a:lnTo>
                    <a:pt x="737473" y="118408"/>
                  </a:lnTo>
                  <a:lnTo>
                    <a:pt x="0" y="118408"/>
                  </a:ln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38100"/>
              <a:ext cx="737473" cy="80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1" name="AutoShape 31"/>
          <p:cNvSpPr/>
          <p:nvPr/>
        </p:nvSpPr>
        <p:spPr>
          <a:xfrm>
            <a:off x="2394157" y="1794537"/>
            <a:ext cx="13900419" cy="0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>
            <a:off x="2254239" y="1654620"/>
            <a:ext cx="279835" cy="279835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3056165" y="2615772"/>
            <a:ext cx="7038663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 / PLV Materials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45095" y="4647001"/>
            <a:ext cx="8370406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Place co-branded in-store materials:</a:t>
            </a:r>
          </a:p>
          <a:p>
            <a:pPr marL="1079512" lvl="2" indent="-359837" algn="l">
              <a:lnSpc>
                <a:spcPts val="30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Shelf cards</a:t>
            </a:r>
          </a:p>
          <a:p>
            <a:pPr marL="1079512" lvl="2" indent="-359837" algn="l">
              <a:lnSpc>
                <a:spcPts val="30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Freezer-door stickers</a:t>
            </a:r>
          </a:p>
          <a:p>
            <a:pPr marL="1079512" lvl="2" indent="-359837" algn="l">
              <a:lnSpc>
                <a:spcPts val="30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Floor decals</a:t>
            </a:r>
          </a:p>
          <a:p>
            <a:pPr marL="1079512" lvl="2" indent="-359837" algn="l">
              <a:lnSpc>
                <a:spcPts val="30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Wobblers</a:t>
            </a:r>
          </a:p>
          <a:p>
            <a:pPr marL="1079512" lvl="2" indent="-359837" algn="l">
              <a:lnSpc>
                <a:spcPts val="30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Endcap displays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103269" y="8163350"/>
            <a:ext cx="799155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Communicate the donation clearly and visually.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181847" y="4240881"/>
            <a:ext cx="5603376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% of stores displaying all POS materials (compliance).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Number of POS elements installed.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61334" y="6201217"/>
            <a:ext cx="2758756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Awareness KPIs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81847" y="6565513"/>
            <a:ext cx="5872317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% of shoppers who noticed the POS materials.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Recall of the message (“What was McCain promoting in-store?”)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Variation in sales. 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8915002" y="1427229"/>
            <a:ext cx="587472" cy="612085"/>
            <a:chOff x="0" y="0"/>
            <a:chExt cx="812800" cy="84685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46853"/>
            </a:xfrm>
            <a:custGeom>
              <a:avLst/>
              <a:gdLst/>
              <a:ahLst/>
              <a:cxnLst/>
              <a:rect l="l" t="t" r="r" b="b"/>
              <a:pathLst>
                <a:path w="812800" h="846853">
                  <a:moveTo>
                    <a:pt x="406400" y="0"/>
                  </a:moveTo>
                  <a:cubicBezTo>
                    <a:pt x="181951" y="0"/>
                    <a:pt x="0" y="189575"/>
                    <a:pt x="0" y="423427"/>
                  </a:cubicBezTo>
                  <a:cubicBezTo>
                    <a:pt x="0" y="657279"/>
                    <a:pt x="181951" y="846853"/>
                    <a:pt x="406400" y="846853"/>
                  </a:cubicBezTo>
                  <a:cubicBezTo>
                    <a:pt x="630849" y="846853"/>
                    <a:pt x="812800" y="657279"/>
                    <a:pt x="812800" y="423427"/>
                  </a:cubicBezTo>
                  <a:cubicBezTo>
                    <a:pt x="812800" y="1895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117493"/>
              <a:ext cx="660400" cy="64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154659" y="1654620"/>
            <a:ext cx="279835" cy="279835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3929944" y="9691430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28700" y="543157"/>
            <a:ext cx="11509094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MASS MARKET REACH</a:t>
            </a:r>
          </a:p>
        </p:txBody>
      </p:sp>
      <p:sp>
        <p:nvSpPr>
          <p:cNvPr id="49" name="Freeform 49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94157" y="1794537"/>
            <a:ext cx="13900419" cy="0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254239" y="1654620"/>
            <a:ext cx="279835" cy="27983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056165" y="2548432"/>
            <a:ext cx="7038663" cy="643370"/>
            <a:chOff x="0" y="0"/>
            <a:chExt cx="1853804" cy="1694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53804" cy="169447"/>
            </a:xfrm>
            <a:custGeom>
              <a:avLst/>
              <a:gdLst/>
              <a:ahLst/>
              <a:cxnLst/>
              <a:rect l="l" t="t" r="r" b="b"/>
              <a:pathLst>
                <a:path w="1853804" h="169447">
                  <a:moveTo>
                    <a:pt x="0" y="0"/>
                  </a:moveTo>
                  <a:lnTo>
                    <a:pt x="1853804" y="0"/>
                  </a:lnTo>
                  <a:lnTo>
                    <a:pt x="1853804" y="169447"/>
                  </a:lnTo>
                  <a:lnTo>
                    <a:pt x="0" y="169447"/>
                  </a:ln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8100"/>
              <a:ext cx="1853804" cy="13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915002" y="2096465"/>
            <a:ext cx="560642" cy="490562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368300"/>
              <a:ext cx="5588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15002" y="1427229"/>
            <a:ext cx="587472" cy="612085"/>
            <a:chOff x="0" y="0"/>
            <a:chExt cx="812800" cy="8468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46853"/>
            </a:xfrm>
            <a:custGeom>
              <a:avLst/>
              <a:gdLst/>
              <a:ahLst/>
              <a:cxnLst/>
              <a:rect l="l" t="t" r="r" b="b"/>
              <a:pathLst>
                <a:path w="812800" h="846853">
                  <a:moveTo>
                    <a:pt x="406400" y="0"/>
                  </a:moveTo>
                  <a:cubicBezTo>
                    <a:pt x="181951" y="0"/>
                    <a:pt x="0" y="189575"/>
                    <a:pt x="0" y="423427"/>
                  </a:cubicBezTo>
                  <a:cubicBezTo>
                    <a:pt x="0" y="657279"/>
                    <a:pt x="181951" y="846853"/>
                    <a:pt x="406400" y="846853"/>
                  </a:cubicBezTo>
                  <a:cubicBezTo>
                    <a:pt x="630849" y="846853"/>
                    <a:pt x="812800" y="657279"/>
                    <a:pt x="812800" y="423427"/>
                  </a:cubicBezTo>
                  <a:cubicBezTo>
                    <a:pt x="812800" y="1895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117493"/>
              <a:ext cx="660400" cy="64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60739" y="3572803"/>
            <a:ext cx="3661819" cy="936685"/>
            <a:chOff x="0" y="0"/>
            <a:chExt cx="4882425" cy="124891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82132" cy="1248423"/>
            </a:xfrm>
            <a:custGeom>
              <a:avLst/>
              <a:gdLst/>
              <a:ahLst/>
              <a:cxnLst/>
              <a:rect l="l" t="t" r="r" b="b"/>
              <a:pathLst>
                <a:path w="4882132" h="1248423">
                  <a:moveTo>
                    <a:pt x="4374528" y="0"/>
                  </a:moveTo>
                  <a:lnTo>
                    <a:pt x="507604" y="0"/>
                  </a:lnTo>
                  <a:cubicBezTo>
                    <a:pt x="372979" y="0"/>
                    <a:pt x="243868" y="53480"/>
                    <a:pt x="148674" y="148674"/>
                  </a:cubicBezTo>
                  <a:cubicBezTo>
                    <a:pt x="53480" y="243868"/>
                    <a:pt x="0" y="372979"/>
                    <a:pt x="0" y="507604"/>
                  </a:cubicBezTo>
                  <a:lnTo>
                    <a:pt x="0" y="740820"/>
                  </a:lnTo>
                  <a:cubicBezTo>
                    <a:pt x="0" y="875444"/>
                    <a:pt x="53480" y="1004555"/>
                    <a:pt x="148674" y="1099750"/>
                  </a:cubicBezTo>
                  <a:cubicBezTo>
                    <a:pt x="243868" y="1194944"/>
                    <a:pt x="372979" y="1248423"/>
                    <a:pt x="507604" y="1248423"/>
                  </a:cubicBezTo>
                  <a:lnTo>
                    <a:pt x="4374528" y="1248423"/>
                  </a:lnTo>
                  <a:cubicBezTo>
                    <a:pt x="4654870" y="1248423"/>
                    <a:pt x="4882132" y="1021161"/>
                    <a:pt x="4882132" y="740820"/>
                  </a:cubicBezTo>
                  <a:lnTo>
                    <a:pt x="4882132" y="507604"/>
                  </a:lnTo>
                  <a:cubicBezTo>
                    <a:pt x="4882132" y="372979"/>
                    <a:pt x="4828652" y="243868"/>
                    <a:pt x="4733458" y="148674"/>
                  </a:cubicBezTo>
                  <a:cubicBezTo>
                    <a:pt x="4638264" y="53480"/>
                    <a:pt x="4509153" y="0"/>
                    <a:pt x="437452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980988" y="3572803"/>
            <a:ext cx="3661819" cy="936685"/>
            <a:chOff x="0" y="0"/>
            <a:chExt cx="4882425" cy="12489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82132" cy="1248423"/>
            </a:xfrm>
            <a:custGeom>
              <a:avLst/>
              <a:gdLst/>
              <a:ahLst/>
              <a:cxnLst/>
              <a:rect l="l" t="t" r="r" b="b"/>
              <a:pathLst>
                <a:path w="4882132" h="1248423">
                  <a:moveTo>
                    <a:pt x="4374528" y="0"/>
                  </a:moveTo>
                  <a:lnTo>
                    <a:pt x="507604" y="0"/>
                  </a:lnTo>
                  <a:cubicBezTo>
                    <a:pt x="372979" y="0"/>
                    <a:pt x="243868" y="53480"/>
                    <a:pt x="148674" y="148674"/>
                  </a:cubicBezTo>
                  <a:cubicBezTo>
                    <a:pt x="53480" y="243868"/>
                    <a:pt x="0" y="372979"/>
                    <a:pt x="0" y="507604"/>
                  </a:cubicBezTo>
                  <a:lnTo>
                    <a:pt x="0" y="740820"/>
                  </a:lnTo>
                  <a:cubicBezTo>
                    <a:pt x="0" y="875444"/>
                    <a:pt x="53480" y="1004555"/>
                    <a:pt x="148674" y="1099750"/>
                  </a:cubicBezTo>
                  <a:cubicBezTo>
                    <a:pt x="243868" y="1194944"/>
                    <a:pt x="372979" y="1248423"/>
                    <a:pt x="507604" y="1248423"/>
                  </a:cubicBezTo>
                  <a:lnTo>
                    <a:pt x="4374528" y="1248423"/>
                  </a:lnTo>
                  <a:cubicBezTo>
                    <a:pt x="4654870" y="1248423"/>
                    <a:pt x="4882132" y="1021161"/>
                    <a:pt x="4882132" y="740820"/>
                  </a:cubicBezTo>
                  <a:lnTo>
                    <a:pt x="4882132" y="507604"/>
                  </a:lnTo>
                  <a:cubicBezTo>
                    <a:pt x="4882132" y="372979"/>
                    <a:pt x="4828652" y="243868"/>
                    <a:pt x="4733458" y="148674"/>
                  </a:cubicBezTo>
                  <a:cubicBezTo>
                    <a:pt x="4638264" y="53480"/>
                    <a:pt x="4509153" y="0"/>
                    <a:pt x="437452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004844" y="3589166"/>
            <a:ext cx="3661819" cy="936685"/>
            <a:chOff x="0" y="0"/>
            <a:chExt cx="4882425" cy="124891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82132" cy="1248423"/>
            </a:xfrm>
            <a:custGeom>
              <a:avLst/>
              <a:gdLst/>
              <a:ahLst/>
              <a:cxnLst/>
              <a:rect l="l" t="t" r="r" b="b"/>
              <a:pathLst>
                <a:path w="4882132" h="1248423">
                  <a:moveTo>
                    <a:pt x="4374528" y="0"/>
                  </a:moveTo>
                  <a:lnTo>
                    <a:pt x="507604" y="0"/>
                  </a:lnTo>
                  <a:cubicBezTo>
                    <a:pt x="372979" y="0"/>
                    <a:pt x="243868" y="53480"/>
                    <a:pt x="148674" y="148674"/>
                  </a:cubicBezTo>
                  <a:cubicBezTo>
                    <a:pt x="53480" y="243868"/>
                    <a:pt x="0" y="372979"/>
                    <a:pt x="0" y="507604"/>
                  </a:cubicBezTo>
                  <a:lnTo>
                    <a:pt x="0" y="740820"/>
                  </a:lnTo>
                  <a:cubicBezTo>
                    <a:pt x="0" y="875444"/>
                    <a:pt x="53480" y="1004555"/>
                    <a:pt x="148674" y="1099750"/>
                  </a:cubicBezTo>
                  <a:cubicBezTo>
                    <a:pt x="243868" y="1194944"/>
                    <a:pt x="372979" y="1248423"/>
                    <a:pt x="507604" y="1248423"/>
                  </a:cubicBezTo>
                  <a:lnTo>
                    <a:pt x="4374528" y="1248423"/>
                  </a:lnTo>
                  <a:cubicBezTo>
                    <a:pt x="4654870" y="1248423"/>
                    <a:pt x="4882132" y="1021161"/>
                    <a:pt x="4882132" y="740820"/>
                  </a:cubicBezTo>
                  <a:lnTo>
                    <a:pt x="4882132" y="507604"/>
                  </a:lnTo>
                  <a:cubicBezTo>
                    <a:pt x="4882132" y="372979"/>
                    <a:pt x="4828652" y="243868"/>
                    <a:pt x="4733458" y="148674"/>
                  </a:cubicBezTo>
                  <a:cubicBezTo>
                    <a:pt x="4638264" y="53480"/>
                    <a:pt x="4509153" y="0"/>
                    <a:pt x="437452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3589166"/>
            <a:ext cx="3661819" cy="936685"/>
            <a:chOff x="0" y="0"/>
            <a:chExt cx="4882425" cy="124891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82132" cy="1248423"/>
            </a:xfrm>
            <a:custGeom>
              <a:avLst/>
              <a:gdLst/>
              <a:ahLst/>
              <a:cxnLst/>
              <a:rect l="l" t="t" r="r" b="b"/>
              <a:pathLst>
                <a:path w="4882132" h="1248423">
                  <a:moveTo>
                    <a:pt x="4374528" y="0"/>
                  </a:moveTo>
                  <a:lnTo>
                    <a:pt x="507604" y="0"/>
                  </a:lnTo>
                  <a:cubicBezTo>
                    <a:pt x="372979" y="0"/>
                    <a:pt x="243868" y="53480"/>
                    <a:pt x="148674" y="148674"/>
                  </a:cubicBezTo>
                  <a:cubicBezTo>
                    <a:pt x="53480" y="243868"/>
                    <a:pt x="0" y="372979"/>
                    <a:pt x="0" y="507604"/>
                  </a:cubicBezTo>
                  <a:lnTo>
                    <a:pt x="0" y="740820"/>
                  </a:lnTo>
                  <a:cubicBezTo>
                    <a:pt x="0" y="875444"/>
                    <a:pt x="53480" y="1004555"/>
                    <a:pt x="148674" y="1099750"/>
                  </a:cubicBezTo>
                  <a:cubicBezTo>
                    <a:pt x="243868" y="1194944"/>
                    <a:pt x="372979" y="1248423"/>
                    <a:pt x="507604" y="1248423"/>
                  </a:cubicBezTo>
                  <a:lnTo>
                    <a:pt x="4374528" y="1248423"/>
                  </a:lnTo>
                  <a:cubicBezTo>
                    <a:pt x="4654870" y="1248423"/>
                    <a:pt x="4882132" y="1021161"/>
                    <a:pt x="4882132" y="740820"/>
                  </a:cubicBezTo>
                  <a:lnTo>
                    <a:pt x="4882132" y="507604"/>
                  </a:lnTo>
                  <a:cubicBezTo>
                    <a:pt x="4882132" y="372979"/>
                    <a:pt x="4828652" y="243868"/>
                    <a:pt x="4733458" y="148674"/>
                  </a:cubicBezTo>
                  <a:cubicBezTo>
                    <a:pt x="4638264" y="53480"/>
                    <a:pt x="4509153" y="0"/>
                    <a:pt x="437452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4313051" y="7418216"/>
            <a:ext cx="4686987" cy="2659431"/>
          </a:xfrm>
          <a:custGeom>
            <a:avLst/>
            <a:gdLst/>
            <a:ahLst/>
            <a:cxnLst/>
            <a:rect l="l" t="t" r="r" b="b"/>
            <a:pathLst>
              <a:path w="4686987" h="2659431">
                <a:moveTo>
                  <a:pt x="0" y="0"/>
                </a:moveTo>
                <a:lnTo>
                  <a:pt x="4686987" y="0"/>
                </a:lnTo>
                <a:lnTo>
                  <a:pt x="4686987" y="2659431"/>
                </a:lnTo>
                <a:lnTo>
                  <a:pt x="0" y="2659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504557" y="4779791"/>
            <a:ext cx="4710105" cy="2699523"/>
          </a:xfrm>
          <a:custGeom>
            <a:avLst/>
            <a:gdLst/>
            <a:ahLst/>
            <a:cxnLst/>
            <a:rect l="l" t="t" r="r" b="b"/>
            <a:pathLst>
              <a:path w="4710105" h="2699523">
                <a:moveTo>
                  <a:pt x="0" y="0"/>
                </a:moveTo>
                <a:lnTo>
                  <a:pt x="4710105" y="0"/>
                </a:lnTo>
                <a:lnTo>
                  <a:pt x="4710105" y="2699523"/>
                </a:lnTo>
                <a:lnTo>
                  <a:pt x="0" y="2699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8519317" y="4838915"/>
            <a:ext cx="4585160" cy="2581275"/>
          </a:xfrm>
          <a:custGeom>
            <a:avLst/>
            <a:gdLst/>
            <a:ahLst/>
            <a:cxnLst/>
            <a:rect l="l" t="t" r="r" b="b"/>
            <a:pathLst>
              <a:path w="4585160" h="2581275">
                <a:moveTo>
                  <a:pt x="0" y="0"/>
                </a:moveTo>
                <a:lnTo>
                  <a:pt x="4585160" y="0"/>
                </a:lnTo>
                <a:lnTo>
                  <a:pt x="458516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2642807" y="7438742"/>
            <a:ext cx="4677157" cy="2618379"/>
          </a:xfrm>
          <a:custGeom>
            <a:avLst/>
            <a:gdLst/>
            <a:ahLst/>
            <a:cxnLst/>
            <a:rect l="l" t="t" r="r" b="b"/>
            <a:pathLst>
              <a:path w="4677157" h="2618379">
                <a:moveTo>
                  <a:pt x="0" y="0"/>
                </a:moveTo>
                <a:lnTo>
                  <a:pt x="4677157" y="0"/>
                </a:lnTo>
                <a:lnTo>
                  <a:pt x="4677157" y="2618379"/>
                </a:lnTo>
                <a:lnTo>
                  <a:pt x="0" y="26183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3056165" y="2615772"/>
            <a:ext cx="7038663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 / PLV Materials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07573" y="3655841"/>
            <a:ext cx="2212256" cy="112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SHELF</a:t>
            </a:r>
          </a:p>
          <a:p>
            <a:pPr algn="ctr">
              <a:lnSpc>
                <a:spcPts val="2999"/>
              </a:lnSpc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BRANDING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endParaRPr lang="en-US" sz="2999" b="1">
              <a:solidFill>
                <a:srgbClr val="551933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957132" y="3655841"/>
            <a:ext cx="3565892" cy="112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SOUND DIFFUSION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endParaRPr lang="en-US" sz="2999" b="1">
              <a:solidFill>
                <a:srgbClr val="551933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5100771" y="3751091"/>
            <a:ext cx="3565892" cy="112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FREEZER</a:t>
            </a:r>
          </a:p>
          <a:p>
            <a:pPr algn="ctr">
              <a:lnSpc>
                <a:spcPts val="2999"/>
              </a:lnSpc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BRANDING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endParaRPr lang="en-US" sz="2999" b="1">
              <a:solidFill>
                <a:srgbClr val="551933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41674" y="3698246"/>
            <a:ext cx="3035871" cy="752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 THE FLOOR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RETAIL MEDIA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6154659" y="1654620"/>
            <a:ext cx="279835" cy="279835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3948988" y="10057121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8700" y="543157"/>
            <a:ext cx="11509094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MASS MARKET REACH</a:t>
            </a:r>
          </a:p>
        </p:txBody>
      </p:sp>
      <p:sp>
        <p:nvSpPr>
          <p:cNvPr id="37" name="Freeform 37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32182" y="2444928"/>
            <a:ext cx="8932875" cy="643370"/>
            <a:chOff x="0" y="0"/>
            <a:chExt cx="2352691" cy="1694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2691" cy="169447"/>
            </a:xfrm>
            <a:custGeom>
              <a:avLst/>
              <a:gdLst/>
              <a:ahLst/>
              <a:cxnLst/>
              <a:rect l="l" t="t" r="r" b="b"/>
              <a:pathLst>
                <a:path w="2352691" h="169447">
                  <a:moveTo>
                    <a:pt x="0" y="0"/>
                  </a:moveTo>
                  <a:lnTo>
                    <a:pt x="2352691" y="0"/>
                  </a:lnTo>
                  <a:lnTo>
                    <a:pt x="2352691" y="169447"/>
                  </a:lnTo>
                  <a:lnTo>
                    <a:pt x="0" y="169447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352691" cy="13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874338" y="2028422"/>
            <a:ext cx="560642" cy="490562"/>
            <a:chOff x="0" y="0"/>
            <a:chExt cx="812800" cy="711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7000" y="368300"/>
              <a:ext cx="5588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63860" y="3707423"/>
            <a:ext cx="8932875" cy="4554027"/>
            <a:chOff x="0" y="0"/>
            <a:chExt cx="2352691" cy="1199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52691" cy="1199414"/>
            </a:xfrm>
            <a:custGeom>
              <a:avLst/>
              <a:gdLst/>
              <a:ahLst/>
              <a:cxnLst/>
              <a:rect l="l" t="t" r="r" b="b"/>
              <a:pathLst>
                <a:path w="2352691" h="1199414">
                  <a:moveTo>
                    <a:pt x="0" y="0"/>
                  </a:moveTo>
                  <a:lnTo>
                    <a:pt x="2352691" y="0"/>
                  </a:lnTo>
                  <a:lnTo>
                    <a:pt x="2352691" y="1199414"/>
                  </a:lnTo>
                  <a:lnTo>
                    <a:pt x="0" y="1199414"/>
                  </a:lnTo>
                  <a:close/>
                </a:path>
              </a:pathLst>
            </a:custGeom>
            <a:ln w="38100" cap="sq">
              <a:solidFill>
                <a:srgbClr val="FDC62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352691" cy="1247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3860" y="8541637"/>
            <a:ext cx="8932875" cy="1004495"/>
            <a:chOff x="0" y="0"/>
            <a:chExt cx="2352691" cy="2645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52691" cy="264558"/>
            </a:xfrm>
            <a:custGeom>
              <a:avLst/>
              <a:gdLst/>
              <a:ahLst/>
              <a:cxnLst/>
              <a:rect l="l" t="t" r="r" b="b"/>
              <a:pathLst>
                <a:path w="2352691" h="264558">
                  <a:moveTo>
                    <a:pt x="0" y="0"/>
                  </a:moveTo>
                  <a:lnTo>
                    <a:pt x="2352691" y="0"/>
                  </a:lnTo>
                  <a:lnTo>
                    <a:pt x="2352691" y="264558"/>
                  </a:lnTo>
                  <a:lnTo>
                    <a:pt x="0" y="264558"/>
                  </a:lnTo>
                  <a:close/>
                </a:path>
              </a:pathLst>
            </a:custGeom>
            <a:ln w="38100" cap="sq">
              <a:solidFill>
                <a:srgbClr val="FDC62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352691" cy="31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flipH="1">
            <a:off x="1580406" y="8879893"/>
            <a:ext cx="327982" cy="327982"/>
          </a:xfrm>
          <a:custGeom>
            <a:avLst/>
            <a:gdLst/>
            <a:ahLst/>
            <a:cxnLst/>
            <a:rect l="l" t="t" r="r" b="b"/>
            <a:pathLst>
              <a:path w="327982" h="327982">
                <a:moveTo>
                  <a:pt x="327982" y="0"/>
                </a:moveTo>
                <a:lnTo>
                  <a:pt x="0" y="0"/>
                </a:lnTo>
                <a:lnTo>
                  <a:pt x="0" y="327982"/>
                </a:lnTo>
                <a:lnTo>
                  <a:pt x="327982" y="327982"/>
                </a:lnTo>
                <a:lnTo>
                  <a:pt x="3279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363860" y="3922963"/>
            <a:ext cx="893287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it is:</a:t>
            </a:r>
          </a:p>
        </p:txBody>
      </p:sp>
      <p:sp>
        <p:nvSpPr>
          <p:cNvPr id="16" name="Freeform 16"/>
          <p:cNvSpPr/>
          <p:nvPr/>
        </p:nvSpPr>
        <p:spPr>
          <a:xfrm>
            <a:off x="4290713" y="3981166"/>
            <a:ext cx="436043" cy="436043"/>
          </a:xfrm>
          <a:custGeom>
            <a:avLst/>
            <a:gdLst/>
            <a:ahLst/>
            <a:cxnLst/>
            <a:rect l="l" t="t" r="r" b="b"/>
            <a:pathLst>
              <a:path w="436043" h="436043">
                <a:moveTo>
                  <a:pt x="0" y="0"/>
                </a:moveTo>
                <a:lnTo>
                  <a:pt x="436043" y="0"/>
                </a:lnTo>
                <a:lnTo>
                  <a:pt x="436043" y="436043"/>
                </a:lnTo>
                <a:lnTo>
                  <a:pt x="0" y="436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0880224" y="4102174"/>
            <a:ext cx="6184833" cy="3025035"/>
            <a:chOff x="0" y="0"/>
            <a:chExt cx="1628927" cy="7967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28927" cy="796717"/>
            </a:xfrm>
            <a:custGeom>
              <a:avLst/>
              <a:gdLst/>
              <a:ahLst/>
              <a:cxnLst/>
              <a:rect l="l" t="t" r="r" b="b"/>
              <a:pathLst>
                <a:path w="1628927" h="796717">
                  <a:moveTo>
                    <a:pt x="0" y="0"/>
                  </a:moveTo>
                  <a:lnTo>
                    <a:pt x="1628927" y="0"/>
                  </a:lnTo>
                  <a:lnTo>
                    <a:pt x="1628927" y="796717"/>
                  </a:lnTo>
                  <a:lnTo>
                    <a:pt x="0" y="796717"/>
                  </a:lnTo>
                  <a:close/>
                </a:path>
              </a:pathLst>
            </a:custGeom>
            <a:ln w="38100" cap="sq">
              <a:solidFill>
                <a:srgbClr val="FDC62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628927" cy="844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683122" y="3895285"/>
            <a:ext cx="2579038" cy="449580"/>
            <a:chOff x="0" y="0"/>
            <a:chExt cx="3438718" cy="59944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3438718" cy="599440"/>
              <a:chOff x="0" y="0"/>
              <a:chExt cx="679253" cy="11840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79253" cy="118408"/>
              </a:xfrm>
              <a:custGeom>
                <a:avLst/>
                <a:gdLst/>
                <a:ahLst/>
                <a:cxnLst/>
                <a:rect l="l" t="t" r="r" b="b"/>
                <a:pathLst>
                  <a:path w="679253" h="118408">
                    <a:moveTo>
                      <a:pt x="0" y="0"/>
                    </a:moveTo>
                    <a:lnTo>
                      <a:pt x="679253" y="0"/>
                    </a:lnTo>
                    <a:lnTo>
                      <a:pt x="679253" y="118408"/>
                    </a:lnTo>
                    <a:lnTo>
                      <a:pt x="0" y="118408"/>
                    </a:lnTo>
                    <a:close/>
                  </a:path>
                </a:pathLst>
              </a:custGeom>
              <a:solidFill>
                <a:srgbClr val="5F193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28575"/>
                <a:ext cx="679253" cy="89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0" y="104987"/>
              <a:ext cx="3438718" cy="446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Visibility KPIs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2394157" y="1794537"/>
            <a:ext cx="13900419" cy="0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9004083" y="1660268"/>
            <a:ext cx="279835" cy="27983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874338" y="1416336"/>
            <a:ext cx="587472" cy="612085"/>
            <a:chOff x="0" y="0"/>
            <a:chExt cx="812800" cy="84685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46853"/>
            </a:xfrm>
            <a:custGeom>
              <a:avLst/>
              <a:gdLst/>
              <a:ahLst/>
              <a:cxnLst/>
              <a:rect l="l" t="t" r="r" b="b"/>
              <a:pathLst>
                <a:path w="812800" h="846853">
                  <a:moveTo>
                    <a:pt x="406400" y="0"/>
                  </a:moveTo>
                  <a:cubicBezTo>
                    <a:pt x="181951" y="0"/>
                    <a:pt x="0" y="189575"/>
                    <a:pt x="0" y="423427"/>
                  </a:cubicBezTo>
                  <a:cubicBezTo>
                    <a:pt x="0" y="657279"/>
                    <a:pt x="181951" y="846853"/>
                    <a:pt x="406400" y="846853"/>
                  </a:cubicBezTo>
                  <a:cubicBezTo>
                    <a:pt x="630849" y="846853"/>
                    <a:pt x="812800" y="657279"/>
                    <a:pt x="812800" y="423427"/>
                  </a:cubicBezTo>
                  <a:cubicBezTo>
                    <a:pt x="812800" y="1895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117493"/>
              <a:ext cx="660400" cy="64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254239" y="1654620"/>
            <a:ext cx="279835" cy="279835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891118" y="7543648"/>
            <a:ext cx="6184833" cy="2384934"/>
            <a:chOff x="0" y="0"/>
            <a:chExt cx="1628927" cy="62813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628927" cy="628131"/>
            </a:xfrm>
            <a:custGeom>
              <a:avLst/>
              <a:gdLst/>
              <a:ahLst/>
              <a:cxnLst/>
              <a:rect l="l" t="t" r="r" b="b"/>
              <a:pathLst>
                <a:path w="1628927" h="628131">
                  <a:moveTo>
                    <a:pt x="0" y="0"/>
                  </a:moveTo>
                  <a:lnTo>
                    <a:pt x="1628927" y="0"/>
                  </a:lnTo>
                  <a:lnTo>
                    <a:pt x="1628927" y="628131"/>
                  </a:lnTo>
                  <a:lnTo>
                    <a:pt x="0" y="628131"/>
                  </a:lnTo>
                  <a:close/>
                </a:path>
              </a:pathLst>
            </a:custGeom>
            <a:ln w="38100" cap="sq">
              <a:solidFill>
                <a:srgbClr val="FDC62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628927" cy="675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641784" y="7336759"/>
            <a:ext cx="2901968" cy="449580"/>
            <a:chOff x="0" y="0"/>
            <a:chExt cx="764304" cy="11840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64304" cy="118408"/>
            </a:xfrm>
            <a:custGeom>
              <a:avLst/>
              <a:gdLst/>
              <a:ahLst/>
              <a:cxnLst/>
              <a:rect l="l" t="t" r="r" b="b"/>
              <a:pathLst>
                <a:path w="764304" h="118408">
                  <a:moveTo>
                    <a:pt x="0" y="0"/>
                  </a:moveTo>
                  <a:lnTo>
                    <a:pt x="764304" y="0"/>
                  </a:lnTo>
                  <a:lnTo>
                    <a:pt x="764304" y="118408"/>
                  </a:lnTo>
                  <a:lnTo>
                    <a:pt x="0" y="118408"/>
                  </a:ln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38100"/>
              <a:ext cx="764304" cy="80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8132182" y="2512267"/>
            <a:ext cx="8932875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Digital Media &amp; Flyers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45095" y="4618288"/>
            <a:ext cx="8370406" cy="342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 retailer communication channels to highlight the partnership.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Include the program in store leaflets, newsletters, digital screens, banner ads, frozen-aisle TVs, etc.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Share short branded video snippets explaining Lazare’s mission.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Add QR-enabled flyers directing shoppers to Lazare’s story.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023943" y="8826875"/>
            <a:ext cx="799155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Enhance Credibility &amp; Trust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891118" y="4460209"/>
            <a:ext cx="6173939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Total impressions (newsletter + banners + digital screens).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Newsletter open rate &amp; click-through rate.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Flyer circulation quantity.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QR scan rate from printed flyers.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683122" y="7429787"/>
            <a:ext cx="2860630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Awareness KPIs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181847" y="7900639"/>
            <a:ext cx="5603376" cy="190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% recalling the donation mechanic.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Number of clicks, likes, engagement. 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Variation in sales.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972641" y="10042882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28700" y="543157"/>
            <a:ext cx="11509094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MASS MARKET REACH</a:t>
            </a:r>
          </a:p>
        </p:txBody>
      </p:sp>
      <p:sp>
        <p:nvSpPr>
          <p:cNvPr id="49" name="Freeform 49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0408" y="4263835"/>
            <a:ext cx="5297895" cy="936685"/>
            <a:chOff x="0" y="0"/>
            <a:chExt cx="7063860" cy="1248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63436" cy="1248423"/>
            </a:xfrm>
            <a:custGeom>
              <a:avLst/>
              <a:gdLst/>
              <a:ahLst/>
              <a:cxnLst/>
              <a:rect l="l" t="t" r="r" b="b"/>
              <a:pathLst>
                <a:path w="7063436" h="1248423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897576"/>
                  </a:lnTo>
                  <a:cubicBezTo>
                    <a:pt x="0" y="1091344"/>
                    <a:pt x="157080" y="1248423"/>
                    <a:pt x="350848" y="1248423"/>
                  </a:cubicBezTo>
                  <a:lnTo>
                    <a:pt x="6712588" y="1248423"/>
                  </a:lnTo>
                  <a:cubicBezTo>
                    <a:pt x="6906356" y="1248423"/>
                    <a:pt x="7063436" y="1091344"/>
                    <a:pt x="7063436" y="897576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142215" y="4263835"/>
            <a:ext cx="5916999" cy="936685"/>
            <a:chOff x="0" y="0"/>
            <a:chExt cx="7889332" cy="12489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888858" cy="1248423"/>
            </a:xfrm>
            <a:custGeom>
              <a:avLst/>
              <a:gdLst/>
              <a:ahLst/>
              <a:cxnLst/>
              <a:rect l="l" t="t" r="r" b="b"/>
              <a:pathLst>
                <a:path w="7888858" h="1248423">
                  <a:moveTo>
                    <a:pt x="7574720" y="0"/>
                  </a:moveTo>
                  <a:lnTo>
                    <a:pt x="314138" y="0"/>
                  </a:lnTo>
                  <a:cubicBezTo>
                    <a:pt x="140644" y="0"/>
                    <a:pt x="0" y="140644"/>
                    <a:pt x="0" y="314138"/>
                  </a:cubicBezTo>
                  <a:lnTo>
                    <a:pt x="0" y="934286"/>
                  </a:lnTo>
                  <a:cubicBezTo>
                    <a:pt x="0" y="1107779"/>
                    <a:pt x="140644" y="1248423"/>
                    <a:pt x="314138" y="1248423"/>
                  </a:cubicBezTo>
                  <a:lnTo>
                    <a:pt x="7574720" y="1248423"/>
                  </a:lnTo>
                  <a:cubicBezTo>
                    <a:pt x="7748214" y="1248423"/>
                    <a:pt x="7888858" y="1107779"/>
                    <a:pt x="7888858" y="934286"/>
                  </a:cubicBezTo>
                  <a:lnTo>
                    <a:pt x="7888858" y="314138"/>
                  </a:lnTo>
                  <a:cubicBezTo>
                    <a:pt x="7888858" y="140644"/>
                    <a:pt x="7748214" y="0"/>
                    <a:pt x="7574720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64338" y="4391025"/>
            <a:ext cx="4030034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RETAILER DIGITAL COMMUNICATION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82261" y="4398803"/>
            <a:ext cx="5817857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ROOMATE COMMUNICATION CAMPAIGN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460522" y="4263835"/>
            <a:ext cx="5297895" cy="936685"/>
            <a:chOff x="0" y="0"/>
            <a:chExt cx="7063860" cy="12489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63436" cy="1248423"/>
            </a:xfrm>
            <a:custGeom>
              <a:avLst/>
              <a:gdLst/>
              <a:ahLst/>
              <a:cxnLst/>
              <a:rect l="l" t="t" r="r" b="b"/>
              <a:pathLst>
                <a:path w="7063436" h="1248423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897576"/>
                  </a:lnTo>
                  <a:cubicBezTo>
                    <a:pt x="0" y="1091344"/>
                    <a:pt x="157080" y="1248423"/>
                    <a:pt x="350848" y="1248423"/>
                  </a:cubicBezTo>
                  <a:lnTo>
                    <a:pt x="6712588" y="1248423"/>
                  </a:lnTo>
                  <a:cubicBezTo>
                    <a:pt x="6906356" y="1248423"/>
                    <a:pt x="7063436" y="1091344"/>
                    <a:pt x="7063436" y="897576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513283" y="4448046"/>
            <a:ext cx="5192371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COMMUNICATION IN POSTERS </a:t>
            </a:r>
          </a:p>
        </p:txBody>
      </p:sp>
      <p:sp>
        <p:nvSpPr>
          <p:cNvPr id="11" name="Freeform 11"/>
          <p:cNvSpPr/>
          <p:nvPr/>
        </p:nvSpPr>
        <p:spPr>
          <a:xfrm>
            <a:off x="223663" y="5886320"/>
            <a:ext cx="5604639" cy="3166621"/>
          </a:xfrm>
          <a:custGeom>
            <a:avLst/>
            <a:gdLst/>
            <a:ahLst/>
            <a:cxnLst/>
            <a:rect l="l" t="t" r="r" b="b"/>
            <a:pathLst>
              <a:path w="5604639" h="3166621">
                <a:moveTo>
                  <a:pt x="0" y="0"/>
                </a:moveTo>
                <a:lnTo>
                  <a:pt x="5604640" y="0"/>
                </a:lnTo>
                <a:lnTo>
                  <a:pt x="5604640" y="3166621"/>
                </a:lnTo>
                <a:lnTo>
                  <a:pt x="0" y="3166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6135047" y="5886320"/>
            <a:ext cx="5657900" cy="3140135"/>
          </a:xfrm>
          <a:custGeom>
            <a:avLst/>
            <a:gdLst/>
            <a:ahLst/>
            <a:cxnLst/>
            <a:rect l="l" t="t" r="r" b="b"/>
            <a:pathLst>
              <a:path w="5657900" h="3140135">
                <a:moveTo>
                  <a:pt x="0" y="0"/>
                </a:moveTo>
                <a:lnTo>
                  <a:pt x="5657900" y="0"/>
                </a:lnTo>
                <a:lnTo>
                  <a:pt x="5657900" y="3140135"/>
                </a:lnTo>
                <a:lnTo>
                  <a:pt x="0" y="31401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2412052" y="6085709"/>
            <a:ext cx="5346365" cy="2967233"/>
          </a:xfrm>
          <a:custGeom>
            <a:avLst/>
            <a:gdLst/>
            <a:ahLst/>
            <a:cxnLst/>
            <a:rect l="l" t="t" r="r" b="b"/>
            <a:pathLst>
              <a:path w="5346365" h="2967233">
                <a:moveTo>
                  <a:pt x="0" y="0"/>
                </a:moveTo>
                <a:lnTo>
                  <a:pt x="5346365" y="0"/>
                </a:lnTo>
                <a:lnTo>
                  <a:pt x="5346365" y="2967232"/>
                </a:lnTo>
                <a:lnTo>
                  <a:pt x="0" y="2967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8132182" y="2444928"/>
            <a:ext cx="8932875" cy="643370"/>
            <a:chOff x="0" y="0"/>
            <a:chExt cx="2352691" cy="1694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52691" cy="169447"/>
            </a:xfrm>
            <a:custGeom>
              <a:avLst/>
              <a:gdLst/>
              <a:ahLst/>
              <a:cxnLst/>
              <a:rect l="l" t="t" r="r" b="b"/>
              <a:pathLst>
                <a:path w="2352691" h="169447">
                  <a:moveTo>
                    <a:pt x="0" y="0"/>
                  </a:moveTo>
                  <a:lnTo>
                    <a:pt x="2352691" y="0"/>
                  </a:lnTo>
                  <a:lnTo>
                    <a:pt x="2352691" y="169447"/>
                  </a:lnTo>
                  <a:lnTo>
                    <a:pt x="0" y="169447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2352691" cy="13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874338" y="2028422"/>
            <a:ext cx="560642" cy="490562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7000" y="368300"/>
              <a:ext cx="5588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2394157" y="1794537"/>
            <a:ext cx="13900419" cy="0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2254239" y="1654620"/>
            <a:ext cx="279835" cy="27983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04083" y="1660268"/>
            <a:ext cx="279835" cy="27983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874338" y="1416336"/>
            <a:ext cx="587472" cy="612085"/>
            <a:chOff x="0" y="0"/>
            <a:chExt cx="812800" cy="84685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46853"/>
            </a:xfrm>
            <a:custGeom>
              <a:avLst/>
              <a:gdLst/>
              <a:ahLst/>
              <a:cxnLst/>
              <a:rect l="l" t="t" r="r" b="b"/>
              <a:pathLst>
                <a:path w="812800" h="846853">
                  <a:moveTo>
                    <a:pt x="406400" y="0"/>
                  </a:moveTo>
                  <a:cubicBezTo>
                    <a:pt x="181951" y="0"/>
                    <a:pt x="0" y="189575"/>
                    <a:pt x="0" y="423427"/>
                  </a:cubicBezTo>
                  <a:cubicBezTo>
                    <a:pt x="0" y="657279"/>
                    <a:pt x="181951" y="846853"/>
                    <a:pt x="406400" y="846853"/>
                  </a:cubicBezTo>
                  <a:cubicBezTo>
                    <a:pt x="630849" y="846853"/>
                    <a:pt x="812800" y="657279"/>
                    <a:pt x="812800" y="423427"/>
                  </a:cubicBezTo>
                  <a:cubicBezTo>
                    <a:pt x="812800" y="1895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117493"/>
              <a:ext cx="660400" cy="64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8132182" y="2512267"/>
            <a:ext cx="8932875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Digital Media &amp; Flyers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948988" y="9853308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543157"/>
            <a:ext cx="11509094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MASS MARKET REACH</a:t>
            </a:r>
          </a:p>
        </p:txBody>
      </p:sp>
      <p:sp>
        <p:nvSpPr>
          <p:cNvPr id="33" name="Freeform 33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44366" y="5374563"/>
            <a:ext cx="7319408" cy="4108018"/>
          </a:xfrm>
          <a:custGeom>
            <a:avLst/>
            <a:gdLst/>
            <a:ahLst/>
            <a:cxnLst/>
            <a:rect l="l" t="t" r="r" b="b"/>
            <a:pathLst>
              <a:path w="7319408" h="4108018">
                <a:moveTo>
                  <a:pt x="0" y="0"/>
                </a:moveTo>
                <a:lnTo>
                  <a:pt x="7319408" y="0"/>
                </a:lnTo>
                <a:lnTo>
                  <a:pt x="7319408" y="4108018"/>
                </a:lnTo>
                <a:lnTo>
                  <a:pt x="0" y="410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16423" y="5368179"/>
            <a:ext cx="7293427" cy="4120786"/>
          </a:xfrm>
          <a:custGeom>
            <a:avLst/>
            <a:gdLst/>
            <a:ahLst/>
            <a:cxnLst/>
            <a:rect l="l" t="t" r="r" b="b"/>
            <a:pathLst>
              <a:path w="7293427" h="4120786">
                <a:moveTo>
                  <a:pt x="0" y="0"/>
                </a:moveTo>
                <a:lnTo>
                  <a:pt x="7293427" y="0"/>
                </a:lnTo>
                <a:lnTo>
                  <a:pt x="7293427" y="4120786"/>
                </a:lnTo>
                <a:lnTo>
                  <a:pt x="0" y="4120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3949032"/>
            <a:ext cx="5297895" cy="936685"/>
            <a:chOff x="0" y="0"/>
            <a:chExt cx="7063860" cy="12489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63436" cy="1248423"/>
            </a:xfrm>
            <a:custGeom>
              <a:avLst/>
              <a:gdLst/>
              <a:ahLst/>
              <a:cxnLst/>
              <a:rect l="l" t="t" r="r" b="b"/>
              <a:pathLst>
                <a:path w="7063436" h="1248423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897576"/>
                  </a:lnTo>
                  <a:cubicBezTo>
                    <a:pt x="0" y="1091344"/>
                    <a:pt x="157080" y="1248423"/>
                    <a:pt x="350848" y="1248423"/>
                  </a:cubicBezTo>
                  <a:lnTo>
                    <a:pt x="6712588" y="1248423"/>
                  </a:lnTo>
                  <a:cubicBezTo>
                    <a:pt x="6906356" y="1248423"/>
                    <a:pt x="7063436" y="1091344"/>
                    <a:pt x="7063436" y="897576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576443" y="3949032"/>
            <a:ext cx="5297895" cy="936685"/>
            <a:chOff x="0" y="0"/>
            <a:chExt cx="7063860" cy="12489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63436" cy="1248423"/>
            </a:xfrm>
            <a:custGeom>
              <a:avLst/>
              <a:gdLst/>
              <a:ahLst/>
              <a:cxnLst/>
              <a:rect l="l" t="t" r="r" b="b"/>
              <a:pathLst>
                <a:path w="7063436" h="1248423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897576"/>
                  </a:lnTo>
                  <a:cubicBezTo>
                    <a:pt x="0" y="1091344"/>
                    <a:pt x="157080" y="1248423"/>
                    <a:pt x="350848" y="1248423"/>
                  </a:cubicBezTo>
                  <a:lnTo>
                    <a:pt x="6712588" y="1248423"/>
                  </a:lnTo>
                  <a:cubicBezTo>
                    <a:pt x="6906356" y="1248423"/>
                    <a:pt x="7063436" y="1091344"/>
                    <a:pt x="7063436" y="897576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62630" y="4074475"/>
            <a:ext cx="4030034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RETAILER DIGITAL COMMUNICATION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62153" y="4074475"/>
            <a:ext cx="4567538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 BRANDED SOCIAL CONTENT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132182" y="2444928"/>
            <a:ext cx="8932875" cy="643370"/>
            <a:chOff x="0" y="0"/>
            <a:chExt cx="2352691" cy="16944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52691" cy="169447"/>
            </a:xfrm>
            <a:custGeom>
              <a:avLst/>
              <a:gdLst/>
              <a:ahLst/>
              <a:cxnLst/>
              <a:rect l="l" t="t" r="r" b="b"/>
              <a:pathLst>
                <a:path w="2352691" h="169447">
                  <a:moveTo>
                    <a:pt x="0" y="0"/>
                  </a:moveTo>
                  <a:lnTo>
                    <a:pt x="2352691" y="0"/>
                  </a:lnTo>
                  <a:lnTo>
                    <a:pt x="2352691" y="169447"/>
                  </a:lnTo>
                  <a:lnTo>
                    <a:pt x="0" y="169447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38100"/>
              <a:ext cx="2352691" cy="13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874338" y="2028422"/>
            <a:ext cx="560642" cy="490562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7000" y="368300"/>
              <a:ext cx="5588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>
            <a:off x="2394157" y="1794537"/>
            <a:ext cx="13900419" cy="0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2254239" y="1654620"/>
            <a:ext cx="279835" cy="27983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04083" y="1660268"/>
            <a:ext cx="279835" cy="27983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874338" y="1416336"/>
            <a:ext cx="587472" cy="612085"/>
            <a:chOff x="0" y="0"/>
            <a:chExt cx="812800" cy="84685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46853"/>
            </a:xfrm>
            <a:custGeom>
              <a:avLst/>
              <a:gdLst/>
              <a:ahLst/>
              <a:cxnLst/>
              <a:rect l="l" t="t" r="r" b="b"/>
              <a:pathLst>
                <a:path w="812800" h="846853">
                  <a:moveTo>
                    <a:pt x="406400" y="0"/>
                  </a:moveTo>
                  <a:cubicBezTo>
                    <a:pt x="181951" y="0"/>
                    <a:pt x="0" y="189575"/>
                    <a:pt x="0" y="423427"/>
                  </a:cubicBezTo>
                  <a:cubicBezTo>
                    <a:pt x="0" y="657279"/>
                    <a:pt x="181951" y="846853"/>
                    <a:pt x="406400" y="846853"/>
                  </a:cubicBezTo>
                  <a:cubicBezTo>
                    <a:pt x="630849" y="846853"/>
                    <a:pt x="812800" y="657279"/>
                    <a:pt x="812800" y="423427"/>
                  </a:cubicBezTo>
                  <a:cubicBezTo>
                    <a:pt x="812800" y="1895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117493"/>
              <a:ext cx="660400" cy="64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132182" y="2512267"/>
            <a:ext cx="8932875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Digital Media &amp; Flyers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48988" y="9853308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543157"/>
            <a:ext cx="11509094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MASS MARKET REACH</a:t>
            </a:r>
          </a:p>
        </p:txBody>
      </p:sp>
      <p:sp>
        <p:nvSpPr>
          <p:cNvPr id="29" name="Freeform 29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768919"/>
            <a:ext cx="16230600" cy="6990153"/>
            <a:chOff x="0" y="0"/>
            <a:chExt cx="4274726" cy="18410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841028"/>
            </a:xfrm>
            <a:custGeom>
              <a:avLst/>
              <a:gdLst/>
              <a:ahLst/>
              <a:cxnLst/>
              <a:rect l="l" t="t" r="r" b="b"/>
              <a:pathLst>
                <a:path w="4274726" h="1841028">
                  <a:moveTo>
                    <a:pt x="0" y="0"/>
                  </a:moveTo>
                  <a:lnTo>
                    <a:pt x="4274726" y="0"/>
                  </a:lnTo>
                  <a:lnTo>
                    <a:pt x="4274726" y="1841028"/>
                  </a:lnTo>
                  <a:lnTo>
                    <a:pt x="0" y="1841028"/>
                  </a:lnTo>
                  <a:close/>
                </a:path>
              </a:pathLst>
            </a:custGeom>
            <a:solidFill>
              <a:srgbClr val="5C18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4274726" cy="1802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29625" y="3178259"/>
            <a:ext cx="1428750" cy="57150"/>
            <a:chOff x="0" y="0"/>
            <a:chExt cx="1905000" cy="7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05000" cy="76200"/>
            </a:xfrm>
            <a:custGeom>
              <a:avLst/>
              <a:gdLst/>
              <a:ahLst/>
              <a:cxnLst/>
              <a:rect l="l" t="t" r="r" b="b"/>
              <a:pathLst>
                <a:path w="1905000" h="762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FC82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73293" y="6014119"/>
            <a:ext cx="10556589" cy="2041993"/>
            <a:chOff x="0" y="0"/>
            <a:chExt cx="2780336" cy="5378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80336" cy="537809"/>
            </a:xfrm>
            <a:custGeom>
              <a:avLst/>
              <a:gdLst/>
              <a:ahLst/>
              <a:cxnLst/>
              <a:rect l="l" t="t" r="r" b="b"/>
              <a:pathLst>
                <a:path w="2780336" h="537809">
                  <a:moveTo>
                    <a:pt x="0" y="0"/>
                  </a:moveTo>
                  <a:lnTo>
                    <a:pt x="2780336" y="0"/>
                  </a:lnTo>
                  <a:lnTo>
                    <a:pt x="2780336" y="537809"/>
                  </a:lnTo>
                  <a:lnTo>
                    <a:pt x="0" y="537809"/>
                  </a:lnTo>
                  <a:close/>
                </a:path>
              </a:pathLst>
            </a:custGeom>
            <a:ln w="38100" cap="sq">
              <a:solidFill>
                <a:srgbClr val="FFC82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80336" cy="585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3538381"/>
            <a:ext cx="16230600" cy="2085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6"/>
              </a:lnSpc>
            </a:pPr>
            <a:r>
              <a:rPr lang="en-US" sz="63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</a:t>
            </a:r>
          </a:p>
          <a:p>
            <a:pPr algn="ctr">
              <a:lnSpc>
                <a:spcPts val="8316"/>
              </a:lnSpc>
            </a:pPr>
            <a:r>
              <a:rPr lang="en-US" sz="63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Inside a Retail Environment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54620" y="6227222"/>
            <a:ext cx="11178760" cy="157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4794" b="1">
                <a:solidFill>
                  <a:srgbClr val="FDC62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High-Involvement Experiences (Deep Emotional Connection)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948988" y="9853308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94157" y="1794537"/>
            <a:ext cx="13900419" cy="0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016405" y="1451842"/>
            <a:ext cx="587472" cy="612085"/>
            <a:chOff x="0" y="0"/>
            <a:chExt cx="812800" cy="8468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46853"/>
            </a:xfrm>
            <a:custGeom>
              <a:avLst/>
              <a:gdLst/>
              <a:ahLst/>
              <a:cxnLst/>
              <a:rect l="l" t="t" r="r" b="b"/>
              <a:pathLst>
                <a:path w="812800" h="846853">
                  <a:moveTo>
                    <a:pt x="406400" y="0"/>
                  </a:moveTo>
                  <a:cubicBezTo>
                    <a:pt x="181951" y="0"/>
                    <a:pt x="0" y="189575"/>
                    <a:pt x="0" y="423427"/>
                  </a:cubicBezTo>
                  <a:cubicBezTo>
                    <a:pt x="0" y="657279"/>
                    <a:pt x="181951" y="846853"/>
                    <a:pt x="406400" y="846853"/>
                  </a:cubicBezTo>
                  <a:cubicBezTo>
                    <a:pt x="630849" y="846853"/>
                    <a:pt x="812800" y="657279"/>
                    <a:pt x="812800" y="423427"/>
                  </a:cubicBezTo>
                  <a:cubicBezTo>
                    <a:pt x="812800" y="1895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17493"/>
              <a:ext cx="660400" cy="64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64532" y="1654620"/>
            <a:ext cx="279835" cy="2798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014741" y="1654620"/>
            <a:ext cx="279835" cy="27983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3860" y="2667965"/>
            <a:ext cx="8932875" cy="643370"/>
            <a:chOff x="0" y="0"/>
            <a:chExt cx="2352691" cy="1694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2691" cy="169447"/>
            </a:xfrm>
            <a:custGeom>
              <a:avLst/>
              <a:gdLst/>
              <a:ahLst/>
              <a:cxnLst/>
              <a:rect l="l" t="t" r="r" b="b"/>
              <a:pathLst>
                <a:path w="2352691" h="169447">
                  <a:moveTo>
                    <a:pt x="0" y="0"/>
                  </a:moveTo>
                  <a:lnTo>
                    <a:pt x="2352691" y="0"/>
                  </a:lnTo>
                  <a:lnTo>
                    <a:pt x="2352691" y="169447"/>
                  </a:lnTo>
                  <a:lnTo>
                    <a:pt x="0" y="169447"/>
                  </a:ln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2352691" cy="13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43235" y="2215997"/>
            <a:ext cx="560642" cy="490562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000" y="368300"/>
              <a:ext cx="5588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63860" y="3597085"/>
            <a:ext cx="8932875" cy="4000994"/>
            <a:chOff x="0" y="0"/>
            <a:chExt cx="2352691" cy="10537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52691" cy="1053760"/>
            </a:xfrm>
            <a:custGeom>
              <a:avLst/>
              <a:gdLst/>
              <a:ahLst/>
              <a:cxnLst/>
              <a:rect l="l" t="t" r="r" b="b"/>
              <a:pathLst>
                <a:path w="2352691" h="1053760">
                  <a:moveTo>
                    <a:pt x="0" y="0"/>
                  </a:moveTo>
                  <a:lnTo>
                    <a:pt x="2352691" y="0"/>
                  </a:lnTo>
                  <a:lnTo>
                    <a:pt x="2352691" y="1053760"/>
                  </a:lnTo>
                  <a:lnTo>
                    <a:pt x="0" y="1053760"/>
                  </a:lnTo>
                  <a:close/>
                </a:path>
              </a:pathLst>
            </a:custGeom>
            <a:ln w="38100" cap="sq">
              <a:solidFill>
                <a:srgbClr val="FF96D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352691" cy="110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63860" y="7883828"/>
            <a:ext cx="8932875" cy="1638300"/>
            <a:chOff x="0" y="0"/>
            <a:chExt cx="2352691" cy="4314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52691" cy="431486"/>
            </a:xfrm>
            <a:custGeom>
              <a:avLst/>
              <a:gdLst/>
              <a:ahLst/>
              <a:cxnLst/>
              <a:rect l="l" t="t" r="r" b="b"/>
              <a:pathLst>
                <a:path w="2352691" h="431486">
                  <a:moveTo>
                    <a:pt x="0" y="0"/>
                  </a:moveTo>
                  <a:lnTo>
                    <a:pt x="2352691" y="0"/>
                  </a:lnTo>
                  <a:lnTo>
                    <a:pt x="2352691" y="431486"/>
                  </a:lnTo>
                  <a:lnTo>
                    <a:pt x="0" y="431486"/>
                  </a:lnTo>
                  <a:close/>
                </a:path>
              </a:pathLst>
            </a:custGeom>
            <a:ln w="38100" cap="sq">
              <a:solidFill>
                <a:srgbClr val="FF96D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2352691" cy="479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 flipH="1">
            <a:off x="1580406" y="8222085"/>
            <a:ext cx="327982" cy="327982"/>
          </a:xfrm>
          <a:custGeom>
            <a:avLst/>
            <a:gdLst/>
            <a:ahLst/>
            <a:cxnLst/>
            <a:rect l="l" t="t" r="r" b="b"/>
            <a:pathLst>
              <a:path w="327982" h="327982">
                <a:moveTo>
                  <a:pt x="327982" y="0"/>
                </a:moveTo>
                <a:lnTo>
                  <a:pt x="0" y="0"/>
                </a:lnTo>
                <a:lnTo>
                  <a:pt x="0" y="327982"/>
                </a:lnTo>
                <a:lnTo>
                  <a:pt x="327982" y="327982"/>
                </a:lnTo>
                <a:lnTo>
                  <a:pt x="3279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363860" y="3812625"/>
            <a:ext cx="893287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it is:</a:t>
            </a:r>
          </a:p>
        </p:txBody>
      </p:sp>
      <p:sp>
        <p:nvSpPr>
          <p:cNvPr id="26" name="Freeform 26"/>
          <p:cNvSpPr/>
          <p:nvPr/>
        </p:nvSpPr>
        <p:spPr>
          <a:xfrm>
            <a:off x="4290713" y="3870828"/>
            <a:ext cx="436043" cy="436043"/>
          </a:xfrm>
          <a:custGeom>
            <a:avLst/>
            <a:gdLst/>
            <a:ahLst/>
            <a:cxnLst/>
            <a:rect l="l" t="t" r="r" b="b"/>
            <a:pathLst>
              <a:path w="436043" h="436043">
                <a:moveTo>
                  <a:pt x="0" y="0"/>
                </a:moveTo>
                <a:lnTo>
                  <a:pt x="436043" y="0"/>
                </a:lnTo>
                <a:lnTo>
                  <a:pt x="436043" y="436043"/>
                </a:lnTo>
                <a:lnTo>
                  <a:pt x="0" y="436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0860204" y="2422886"/>
            <a:ext cx="6184833" cy="2194765"/>
            <a:chOff x="0" y="0"/>
            <a:chExt cx="1628927" cy="57804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628927" cy="578045"/>
            </a:xfrm>
            <a:custGeom>
              <a:avLst/>
              <a:gdLst/>
              <a:ahLst/>
              <a:cxnLst/>
              <a:rect l="l" t="t" r="r" b="b"/>
              <a:pathLst>
                <a:path w="1628927" h="578045">
                  <a:moveTo>
                    <a:pt x="0" y="0"/>
                  </a:moveTo>
                  <a:lnTo>
                    <a:pt x="1628927" y="0"/>
                  </a:lnTo>
                  <a:lnTo>
                    <a:pt x="1628927" y="578045"/>
                  </a:lnTo>
                  <a:lnTo>
                    <a:pt x="0" y="578045"/>
                  </a:lnTo>
                  <a:close/>
                </a:path>
              </a:pathLst>
            </a:custGeom>
            <a:ln w="38100" cap="sq">
              <a:solidFill>
                <a:srgbClr val="FF96D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628927" cy="625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663102" y="2215997"/>
            <a:ext cx="2579038" cy="449580"/>
            <a:chOff x="0" y="0"/>
            <a:chExt cx="3438718" cy="59944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3438718" cy="599440"/>
              <a:chOff x="0" y="0"/>
              <a:chExt cx="679253" cy="11840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79253" cy="118408"/>
              </a:xfrm>
              <a:custGeom>
                <a:avLst/>
                <a:gdLst/>
                <a:ahLst/>
                <a:cxnLst/>
                <a:rect l="l" t="t" r="r" b="b"/>
                <a:pathLst>
                  <a:path w="679253" h="118408">
                    <a:moveTo>
                      <a:pt x="0" y="0"/>
                    </a:moveTo>
                    <a:lnTo>
                      <a:pt x="679253" y="0"/>
                    </a:lnTo>
                    <a:lnTo>
                      <a:pt x="679253" y="118408"/>
                    </a:lnTo>
                    <a:lnTo>
                      <a:pt x="0" y="118408"/>
                    </a:lnTo>
                    <a:close/>
                  </a:path>
                </a:pathLst>
              </a:custGeom>
              <a:solidFill>
                <a:srgbClr val="5F193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28575"/>
                <a:ext cx="679253" cy="89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0" y="104987"/>
              <a:ext cx="3438718" cy="446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Visibility KPIs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871098" y="5044526"/>
            <a:ext cx="6184833" cy="1810741"/>
            <a:chOff x="0" y="0"/>
            <a:chExt cx="1628927" cy="47690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628927" cy="476903"/>
            </a:xfrm>
            <a:custGeom>
              <a:avLst/>
              <a:gdLst/>
              <a:ahLst/>
              <a:cxnLst/>
              <a:rect l="l" t="t" r="r" b="b"/>
              <a:pathLst>
                <a:path w="1628927" h="476903">
                  <a:moveTo>
                    <a:pt x="0" y="0"/>
                  </a:moveTo>
                  <a:lnTo>
                    <a:pt x="1628927" y="0"/>
                  </a:lnTo>
                  <a:lnTo>
                    <a:pt x="1628927" y="476903"/>
                  </a:lnTo>
                  <a:lnTo>
                    <a:pt x="0" y="476903"/>
                  </a:lnTo>
                  <a:close/>
                </a:path>
              </a:pathLst>
            </a:custGeom>
            <a:ln w="38100" cap="sq">
              <a:solidFill>
                <a:srgbClr val="FF96D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628927" cy="524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621764" y="4837637"/>
            <a:ext cx="2877217" cy="449580"/>
            <a:chOff x="0" y="0"/>
            <a:chExt cx="757785" cy="11840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57785" cy="118408"/>
            </a:xfrm>
            <a:custGeom>
              <a:avLst/>
              <a:gdLst/>
              <a:ahLst/>
              <a:cxnLst/>
              <a:rect l="l" t="t" r="r" b="b"/>
              <a:pathLst>
                <a:path w="757785" h="118408">
                  <a:moveTo>
                    <a:pt x="0" y="0"/>
                  </a:moveTo>
                  <a:lnTo>
                    <a:pt x="757785" y="0"/>
                  </a:lnTo>
                  <a:lnTo>
                    <a:pt x="757785" y="118408"/>
                  </a:lnTo>
                  <a:lnTo>
                    <a:pt x="0" y="118408"/>
                  </a:ln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38100"/>
              <a:ext cx="757785" cy="80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363860" y="2735304"/>
            <a:ext cx="8932875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Donation Mechanic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45095" y="4412700"/>
            <a:ext cx="8370406" cy="304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Introduce donation prompts directly at checkout:</a:t>
            </a:r>
          </a:p>
          <a:p>
            <a:pPr marL="1079512" lvl="2" indent="-359837" algn="l">
              <a:lnSpc>
                <a:spcPts val="30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Round-up donations</a:t>
            </a:r>
          </a:p>
          <a:p>
            <a:pPr marL="1079512" lvl="2" indent="-359837" algn="l">
              <a:lnSpc>
                <a:spcPts val="30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Add-on micro-donations (+0,50€)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Some retailers can add matched donations upon meeting targets.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% of revenues of chosen product and period go to Lazare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103269" y="7998128"/>
            <a:ext cx="7991558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Much larger impact than a one-time corporate donation, engages shoppers by making them part of the impact</a:t>
            </a:r>
          </a:p>
          <a:p>
            <a:pPr algn="l">
              <a:lnSpc>
                <a:spcPts val="3000"/>
              </a:lnSpc>
            </a:pPr>
            <a:endParaRPr lang="en-US" sz="2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1161826" y="2840562"/>
            <a:ext cx="5603376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Number of shoppers exposed at checkout.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Number of receipts carrying Lazare messaging.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663102" y="4930664"/>
            <a:ext cx="2835879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Awareness KPIs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172720" y="5498470"/>
            <a:ext cx="5592482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% aware of the donation option.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Recall of “round-up” or “+0,50€” messaging.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0860204" y="7309806"/>
            <a:ext cx="6184833" cy="2555990"/>
            <a:chOff x="0" y="0"/>
            <a:chExt cx="1628927" cy="67318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628927" cy="673182"/>
            </a:xfrm>
            <a:custGeom>
              <a:avLst/>
              <a:gdLst/>
              <a:ahLst/>
              <a:cxnLst/>
              <a:rect l="l" t="t" r="r" b="b"/>
              <a:pathLst>
                <a:path w="1628927" h="673182">
                  <a:moveTo>
                    <a:pt x="0" y="0"/>
                  </a:moveTo>
                  <a:lnTo>
                    <a:pt x="1628927" y="0"/>
                  </a:lnTo>
                  <a:lnTo>
                    <a:pt x="1628927" y="673182"/>
                  </a:lnTo>
                  <a:lnTo>
                    <a:pt x="0" y="673182"/>
                  </a:lnTo>
                  <a:close/>
                </a:path>
              </a:pathLst>
            </a:custGeom>
            <a:ln w="38100" cap="sq">
              <a:solidFill>
                <a:srgbClr val="FF96D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1628927" cy="720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610870" y="7102917"/>
            <a:ext cx="2661714" cy="449580"/>
            <a:chOff x="0" y="0"/>
            <a:chExt cx="701028" cy="11840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01028" cy="118408"/>
            </a:xfrm>
            <a:custGeom>
              <a:avLst/>
              <a:gdLst/>
              <a:ahLst/>
              <a:cxnLst/>
              <a:rect l="l" t="t" r="r" b="b"/>
              <a:pathLst>
                <a:path w="701028" h="118408">
                  <a:moveTo>
                    <a:pt x="0" y="0"/>
                  </a:moveTo>
                  <a:lnTo>
                    <a:pt x="701028" y="0"/>
                  </a:lnTo>
                  <a:lnTo>
                    <a:pt x="701028" y="118408"/>
                  </a:lnTo>
                  <a:lnTo>
                    <a:pt x="0" y="118408"/>
                  </a:ln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38100"/>
              <a:ext cx="701028" cy="80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2652208" y="7195945"/>
            <a:ext cx="2579038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Additional KPIs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161826" y="7763751"/>
            <a:ext cx="5603376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Total € donated via checkout.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Opt-in rate (% of shoppers contributing).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Variation in sales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28700" y="453390"/>
            <a:ext cx="12071569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 EMOTIONAL CONNECTION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952621" y="9939008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57" name="Freeform 57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94157" y="1794537"/>
            <a:ext cx="13900419" cy="0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016405" y="1451842"/>
            <a:ext cx="587472" cy="612085"/>
            <a:chOff x="0" y="0"/>
            <a:chExt cx="812800" cy="8468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46853"/>
            </a:xfrm>
            <a:custGeom>
              <a:avLst/>
              <a:gdLst/>
              <a:ahLst/>
              <a:cxnLst/>
              <a:rect l="l" t="t" r="r" b="b"/>
              <a:pathLst>
                <a:path w="812800" h="846853">
                  <a:moveTo>
                    <a:pt x="406400" y="0"/>
                  </a:moveTo>
                  <a:cubicBezTo>
                    <a:pt x="181951" y="0"/>
                    <a:pt x="0" y="189575"/>
                    <a:pt x="0" y="423427"/>
                  </a:cubicBezTo>
                  <a:cubicBezTo>
                    <a:pt x="0" y="657279"/>
                    <a:pt x="181951" y="846853"/>
                    <a:pt x="406400" y="846853"/>
                  </a:cubicBezTo>
                  <a:cubicBezTo>
                    <a:pt x="630849" y="846853"/>
                    <a:pt x="812800" y="657279"/>
                    <a:pt x="812800" y="423427"/>
                  </a:cubicBezTo>
                  <a:cubicBezTo>
                    <a:pt x="812800" y="1895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17493"/>
              <a:ext cx="660400" cy="64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64532" y="1654620"/>
            <a:ext cx="279835" cy="2798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014741" y="1654620"/>
            <a:ext cx="279835" cy="27983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3860" y="2667965"/>
            <a:ext cx="8932875" cy="643370"/>
            <a:chOff x="0" y="0"/>
            <a:chExt cx="2352691" cy="1694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2691" cy="169447"/>
            </a:xfrm>
            <a:custGeom>
              <a:avLst/>
              <a:gdLst/>
              <a:ahLst/>
              <a:cxnLst/>
              <a:rect l="l" t="t" r="r" b="b"/>
              <a:pathLst>
                <a:path w="2352691" h="169447">
                  <a:moveTo>
                    <a:pt x="0" y="0"/>
                  </a:moveTo>
                  <a:lnTo>
                    <a:pt x="2352691" y="0"/>
                  </a:lnTo>
                  <a:lnTo>
                    <a:pt x="2352691" y="169447"/>
                  </a:lnTo>
                  <a:lnTo>
                    <a:pt x="0" y="169447"/>
                  </a:ln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2352691" cy="13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43235" y="2215997"/>
            <a:ext cx="560642" cy="490562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000" y="368300"/>
              <a:ext cx="5588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3210" y="5485792"/>
            <a:ext cx="7408171" cy="4204137"/>
          </a:xfrm>
          <a:custGeom>
            <a:avLst/>
            <a:gdLst/>
            <a:ahLst/>
            <a:cxnLst/>
            <a:rect l="l" t="t" r="r" b="b"/>
            <a:pathLst>
              <a:path w="7408171" h="4204137">
                <a:moveTo>
                  <a:pt x="0" y="0"/>
                </a:moveTo>
                <a:lnTo>
                  <a:pt x="7408171" y="0"/>
                </a:lnTo>
                <a:lnTo>
                  <a:pt x="7408171" y="4204137"/>
                </a:lnTo>
                <a:lnTo>
                  <a:pt x="0" y="4204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363860" y="2735304"/>
            <a:ext cx="8932875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Donation Mechanic</a:t>
            </a:r>
          </a:p>
        </p:txBody>
      </p:sp>
      <p:sp>
        <p:nvSpPr>
          <p:cNvPr id="20" name="Freeform 20"/>
          <p:cNvSpPr/>
          <p:nvPr/>
        </p:nvSpPr>
        <p:spPr>
          <a:xfrm>
            <a:off x="9423099" y="5485792"/>
            <a:ext cx="7604583" cy="4268072"/>
          </a:xfrm>
          <a:custGeom>
            <a:avLst/>
            <a:gdLst/>
            <a:ahLst/>
            <a:cxnLst/>
            <a:rect l="l" t="t" r="r" b="b"/>
            <a:pathLst>
              <a:path w="7604583" h="4268072">
                <a:moveTo>
                  <a:pt x="0" y="0"/>
                </a:moveTo>
                <a:lnTo>
                  <a:pt x="7604583" y="0"/>
                </a:lnTo>
                <a:lnTo>
                  <a:pt x="7604583" y="4268072"/>
                </a:lnTo>
                <a:lnTo>
                  <a:pt x="0" y="4268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228348" y="3949032"/>
            <a:ext cx="5297895" cy="936685"/>
            <a:chOff x="0" y="0"/>
            <a:chExt cx="7063860" cy="124891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63436" cy="1248423"/>
            </a:xfrm>
            <a:custGeom>
              <a:avLst/>
              <a:gdLst/>
              <a:ahLst/>
              <a:cxnLst/>
              <a:rect l="l" t="t" r="r" b="b"/>
              <a:pathLst>
                <a:path w="7063436" h="1248423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897576"/>
                  </a:lnTo>
                  <a:cubicBezTo>
                    <a:pt x="0" y="1091344"/>
                    <a:pt x="157080" y="1248423"/>
                    <a:pt x="350848" y="1248423"/>
                  </a:cubicBezTo>
                  <a:lnTo>
                    <a:pt x="6712588" y="1248423"/>
                  </a:lnTo>
                  <a:cubicBezTo>
                    <a:pt x="6906356" y="1248423"/>
                    <a:pt x="7063436" y="1091344"/>
                    <a:pt x="7063436" y="897576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576443" y="3949032"/>
            <a:ext cx="5297895" cy="936685"/>
            <a:chOff x="0" y="0"/>
            <a:chExt cx="7063860" cy="124891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063436" cy="1248423"/>
            </a:xfrm>
            <a:custGeom>
              <a:avLst/>
              <a:gdLst/>
              <a:ahLst/>
              <a:cxnLst/>
              <a:rect l="l" t="t" r="r" b="b"/>
              <a:pathLst>
                <a:path w="7063436" h="1248423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897576"/>
                  </a:lnTo>
                  <a:cubicBezTo>
                    <a:pt x="0" y="1091344"/>
                    <a:pt x="157080" y="1248423"/>
                    <a:pt x="350848" y="1248423"/>
                  </a:cubicBezTo>
                  <a:lnTo>
                    <a:pt x="6712588" y="1248423"/>
                  </a:lnTo>
                  <a:cubicBezTo>
                    <a:pt x="6906356" y="1248423"/>
                    <a:pt x="7063436" y="1091344"/>
                    <a:pt x="7063436" y="897576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862278" y="4074475"/>
            <a:ext cx="4030034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ROUND-UP AT CHECKOUT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62153" y="4074475"/>
            <a:ext cx="4567538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% OF SALES GO TO LAZARE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48988" y="9853308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28" name="Freeform 28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028700" y="453390"/>
            <a:ext cx="12071569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 EMOTIONAL CONNECTION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94157" y="1794537"/>
            <a:ext cx="13900419" cy="0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064532" y="1654620"/>
            <a:ext cx="279835" cy="27983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14741" y="1654620"/>
            <a:ext cx="279835" cy="2798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738011" y="2667965"/>
            <a:ext cx="8932875" cy="643370"/>
            <a:chOff x="0" y="0"/>
            <a:chExt cx="2352691" cy="1694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2691" cy="169447"/>
            </a:xfrm>
            <a:custGeom>
              <a:avLst/>
              <a:gdLst/>
              <a:ahLst/>
              <a:cxnLst/>
              <a:rect l="l" t="t" r="r" b="b"/>
              <a:pathLst>
                <a:path w="2352691" h="169447">
                  <a:moveTo>
                    <a:pt x="0" y="0"/>
                  </a:moveTo>
                  <a:lnTo>
                    <a:pt x="2352691" y="0"/>
                  </a:lnTo>
                  <a:lnTo>
                    <a:pt x="2352691" y="169447"/>
                  </a:lnTo>
                  <a:lnTo>
                    <a:pt x="0" y="169447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8100"/>
              <a:ext cx="2352691" cy="13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24128" y="2215997"/>
            <a:ext cx="560642" cy="490562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000" y="368300"/>
              <a:ext cx="5588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3860" y="3899224"/>
            <a:ext cx="8932875" cy="3615120"/>
            <a:chOff x="0" y="0"/>
            <a:chExt cx="2352691" cy="9521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2691" cy="952130"/>
            </a:xfrm>
            <a:custGeom>
              <a:avLst/>
              <a:gdLst/>
              <a:ahLst/>
              <a:cxnLst/>
              <a:rect l="l" t="t" r="r" b="b"/>
              <a:pathLst>
                <a:path w="2352691" h="952130">
                  <a:moveTo>
                    <a:pt x="0" y="0"/>
                  </a:moveTo>
                  <a:lnTo>
                    <a:pt x="2352691" y="0"/>
                  </a:lnTo>
                  <a:lnTo>
                    <a:pt x="2352691" y="952130"/>
                  </a:lnTo>
                  <a:lnTo>
                    <a:pt x="0" y="952130"/>
                  </a:lnTo>
                  <a:close/>
                </a:path>
              </a:pathLst>
            </a:custGeom>
            <a:ln w="38100" cap="sq">
              <a:solidFill>
                <a:srgbClr val="FDC62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352691" cy="999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63860" y="8036212"/>
            <a:ext cx="8932875" cy="1004495"/>
            <a:chOff x="0" y="0"/>
            <a:chExt cx="2352691" cy="26455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52691" cy="264558"/>
            </a:xfrm>
            <a:custGeom>
              <a:avLst/>
              <a:gdLst/>
              <a:ahLst/>
              <a:cxnLst/>
              <a:rect l="l" t="t" r="r" b="b"/>
              <a:pathLst>
                <a:path w="2352691" h="264558">
                  <a:moveTo>
                    <a:pt x="0" y="0"/>
                  </a:moveTo>
                  <a:lnTo>
                    <a:pt x="2352691" y="0"/>
                  </a:lnTo>
                  <a:lnTo>
                    <a:pt x="2352691" y="264558"/>
                  </a:lnTo>
                  <a:lnTo>
                    <a:pt x="0" y="264558"/>
                  </a:lnTo>
                  <a:close/>
                </a:path>
              </a:pathLst>
            </a:custGeom>
            <a:ln w="38100" cap="sq">
              <a:solidFill>
                <a:srgbClr val="FDC62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352691" cy="31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flipH="1">
            <a:off x="1580406" y="8272871"/>
            <a:ext cx="327982" cy="327982"/>
          </a:xfrm>
          <a:custGeom>
            <a:avLst/>
            <a:gdLst/>
            <a:ahLst/>
            <a:cxnLst/>
            <a:rect l="l" t="t" r="r" b="b"/>
            <a:pathLst>
              <a:path w="327982" h="327982">
                <a:moveTo>
                  <a:pt x="327982" y="0"/>
                </a:moveTo>
                <a:lnTo>
                  <a:pt x="0" y="0"/>
                </a:lnTo>
                <a:lnTo>
                  <a:pt x="0" y="327982"/>
                </a:lnTo>
                <a:lnTo>
                  <a:pt x="327982" y="327982"/>
                </a:lnTo>
                <a:lnTo>
                  <a:pt x="3279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363860" y="4114764"/>
            <a:ext cx="893287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it is:</a:t>
            </a:r>
          </a:p>
        </p:txBody>
      </p:sp>
      <p:sp>
        <p:nvSpPr>
          <p:cNvPr id="23" name="Freeform 23"/>
          <p:cNvSpPr/>
          <p:nvPr/>
        </p:nvSpPr>
        <p:spPr>
          <a:xfrm>
            <a:off x="4290713" y="4172967"/>
            <a:ext cx="436043" cy="436043"/>
          </a:xfrm>
          <a:custGeom>
            <a:avLst/>
            <a:gdLst/>
            <a:ahLst/>
            <a:cxnLst/>
            <a:rect l="l" t="t" r="r" b="b"/>
            <a:pathLst>
              <a:path w="436043" h="436043">
                <a:moveTo>
                  <a:pt x="0" y="0"/>
                </a:moveTo>
                <a:lnTo>
                  <a:pt x="436043" y="0"/>
                </a:lnTo>
                <a:lnTo>
                  <a:pt x="436043" y="436043"/>
                </a:lnTo>
                <a:lnTo>
                  <a:pt x="0" y="436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0860204" y="3899224"/>
            <a:ext cx="6184833" cy="1423392"/>
            <a:chOff x="0" y="0"/>
            <a:chExt cx="1628927" cy="37488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28927" cy="374885"/>
            </a:xfrm>
            <a:custGeom>
              <a:avLst/>
              <a:gdLst/>
              <a:ahLst/>
              <a:cxnLst/>
              <a:rect l="l" t="t" r="r" b="b"/>
              <a:pathLst>
                <a:path w="1628927" h="374885">
                  <a:moveTo>
                    <a:pt x="0" y="0"/>
                  </a:moveTo>
                  <a:lnTo>
                    <a:pt x="1628927" y="0"/>
                  </a:lnTo>
                  <a:lnTo>
                    <a:pt x="1628927" y="374885"/>
                  </a:lnTo>
                  <a:lnTo>
                    <a:pt x="0" y="374885"/>
                  </a:lnTo>
                  <a:close/>
                </a:path>
              </a:pathLst>
            </a:custGeom>
            <a:ln w="38100" cap="sq">
              <a:solidFill>
                <a:srgbClr val="FDC62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628927" cy="422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663102" y="3692335"/>
            <a:ext cx="2579038" cy="449580"/>
            <a:chOff x="0" y="0"/>
            <a:chExt cx="3438718" cy="59944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3438718" cy="599440"/>
              <a:chOff x="0" y="0"/>
              <a:chExt cx="679253" cy="11840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679253" cy="118408"/>
              </a:xfrm>
              <a:custGeom>
                <a:avLst/>
                <a:gdLst/>
                <a:ahLst/>
                <a:cxnLst/>
                <a:rect l="l" t="t" r="r" b="b"/>
                <a:pathLst>
                  <a:path w="679253" h="118408">
                    <a:moveTo>
                      <a:pt x="0" y="0"/>
                    </a:moveTo>
                    <a:lnTo>
                      <a:pt x="679253" y="0"/>
                    </a:lnTo>
                    <a:lnTo>
                      <a:pt x="679253" y="118408"/>
                    </a:lnTo>
                    <a:lnTo>
                      <a:pt x="0" y="118408"/>
                    </a:lnTo>
                    <a:close/>
                  </a:path>
                </a:pathLst>
              </a:custGeom>
              <a:solidFill>
                <a:srgbClr val="5F193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28575"/>
                <a:ext cx="679253" cy="89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0" y="104987"/>
              <a:ext cx="3438718" cy="446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Visibility KPIs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910713" y="1451842"/>
            <a:ext cx="587472" cy="612085"/>
            <a:chOff x="0" y="0"/>
            <a:chExt cx="812800" cy="84685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46853"/>
            </a:xfrm>
            <a:custGeom>
              <a:avLst/>
              <a:gdLst/>
              <a:ahLst/>
              <a:cxnLst/>
              <a:rect l="l" t="t" r="r" b="b"/>
              <a:pathLst>
                <a:path w="812800" h="846853">
                  <a:moveTo>
                    <a:pt x="406400" y="0"/>
                  </a:moveTo>
                  <a:cubicBezTo>
                    <a:pt x="181951" y="0"/>
                    <a:pt x="0" y="189575"/>
                    <a:pt x="0" y="423427"/>
                  </a:cubicBezTo>
                  <a:cubicBezTo>
                    <a:pt x="0" y="657279"/>
                    <a:pt x="181951" y="846853"/>
                    <a:pt x="406400" y="846853"/>
                  </a:cubicBezTo>
                  <a:cubicBezTo>
                    <a:pt x="630849" y="846853"/>
                    <a:pt x="812800" y="657279"/>
                    <a:pt x="812800" y="423427"/>
                  </a:cubicBezTo>
                  <a:cubicBezTo>
                    <a:pt x="812800" y="1895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117493"/>
              <a:ext cx="660400" cy="64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254239" y="1654620"/>
            <a:ext cx="279835" cy="279835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851078" y="5806781"/>
            <a:ext cx="6184833" cy="1395461"/>
            <a:chOff x="0" y="0"/>
            <a:chExt cx="1628927" cy="36752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628927" cy="367529"/>
            </a:xfrm>
            <a:custGeom>
              <a:avLst/>
              <a:gdLst/>
              <a:ahLst/>
              <a:cxnLst/>
              <a:rect l="l" t="t" r="r" b="b"/>
              <a:pathLst>
                <a:path w="1628927" h="367529">
                  <a:moveTo>
                    <a:pt x="0" y="0"/>
                  </a:moveTo>
                  <a:lnTo>
                    <a:pt x="1628927" y="0"/>
                  </a:lnTo>
                  <a:lnTo>
                    <a:pt x="1628927" y="367529"/>
                  </a:lnTo>
                  <a:lnTo>
                    <a:pt x="0" y="367529"/>
                  </a:lnTo>
                  <a:close/>
                </a:path>
              </a:pathLst>
            </a:custGeom>
            <a:ln w="38100" cap="sq">
              <a:solidFill>
                <a:srgbClr val="FDC62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1628927" cy="415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601743" y="5599892"/>
            <a:ext cx="2917898" cy="449580"/>
            <a:chOff x="0" y="0"/>
            <a:chExt cx="768500" cy="11840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68500" cy="118408"/>
            </a:xfrm>
            <a:custGeom>
              <a:avLst/>
              <a:gdLst/>
              <a:ahLst/>
              <a:cxnLst/>
              <a:rect l="l" t="t" r="r" b="b"/>
              <a:pathLst>
                <a:path w="768500" h="118408">
                  <a:moveTo>
                    <a:pt x="0" y="0"/>
                  </a:moveTo>
                  <a:lnTo>
                    <a:pt x="768500" y="0"/>
                  </a:lnTo>
                  <a:lnTo>
                    <a:pt x="768500" y="118408"/>
                  </a:lnTo>
                  <a:lnTo>
                    <a:pt x="0" y="118408"/>
                  </a:ln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38100"/>
              <a:ext cx="768500" cy="80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738011" y="2735304"/>
            <a:ext cx="8932875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In-Store Cause Sampling Events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45095" y="4971898"/>
            <a:ext cx="8370406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Host “Lazare Story” sampling corners in major retailers (Auchan).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free hot fries while McCain staff and Lazare residents volunteer together.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Have Lazare rommates storytell and call for action .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103269" y="8150512"/>
            <a:ext cx="7991558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Encourage social sharing though human connection and consumer empathy.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161826" y="4353168"/>
            <a:ext cx="5603376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Number of samples distributed.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Volunteer hours logged.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643081" y="5692920"/>
            <a:ext cx="2785956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Awareness KPIs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959835" y="6193759"/>
            <a:ext cx="600735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% of participants who can explain Lazare’s mission after visiting.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0871098" y="7685356"/>
            <a:ext cx="6184833" cy="2146372"/>
            <a:chOff x="0" y="0"/>
            <a:chExt cx="1628927" cy="5653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628927" cy="565300"/>
            </a:xfrm>
            <a:custGeom>
              <a:avLst/>
              <a:gdLst/>
              <a:ahLst/>
              <a:cxnLst/>
              <a:rect l="l" t="t" r="r" b="b"/>
              <a:pathLst>
                <a:path w="1628927" h="565300">
                  <a:moveTo>
                    <a:pt x="0" y="0"/>
                  </a:moveTo>
                  <a:lnTo>
                    <a:pt x="1628927" y="0"/>
                  </a:lnTo>
                  <a:lnTo>
                    <a:pt x="1628927" y="565300"/>
                  </a:lnTo>
                  <a:lnTo>
                    <a:pt x="0" y="565300"/>
                  </a:lnTo>
                  <a:close/>
                </a:path>
              </a:pathLst>
            </a:custGeom>
            <a:ln w="38100" cap="sq">
              <a:solidFill>
                <a:srgbClr val="FDC62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1628927" cy="612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621764" y="7478467"/>
            <a:ext cx="2661714" cy="449580"/>
            <a:chOff x="0" y="0"/>
            <a:chExt cx="701028" cy="11840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01028" cy="118408"/>
            </a:xfrm>
            <a:custGeom>
              <a:avLst/>
              <a:gdLst/>
              <a:ahLst/>
              <a:cxnLst/>
              <a:rect l="l" t="t" r="r" b="b"/>
              <a:pathLst>
                <a:path w="701028" h="118408">
                  <a:moveTo>
                    <a:pt x="0" y="0"/>
                  </a:moveTo>
                  <a:lnTo>
                    <a:pt x="701028" y="0"/>
                  </a:lnTo>
                  <a:lnTo>
                    <a:pt x="701028" y="118408"/>
                  </a:lnTo>
                  <a:lnTo>
                    <a:pt x="0" y="118408"/>
                  </a:ln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38100"/>
              <a:ext cx="701028" cy="80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2663102" y="7571494"/>
            <a:ext cx="2579038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Additional KPIs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161826" y="8137597"/>
            <a:ext cx="5603376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Social impressions from event photos and videos.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Retailer manager evaluation of event quality.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952621" y="9974603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59" name="Freeform 59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0" name="TextBox 60"/>
          <p:cNvSpPr txBox="1"/>
          <p:nvPr/>
        </p:nvSpPr>
        <p:spPr>
          <a:xfrm>
            <a:off x="1028700" y="453390"/>
            <a:ext cx="12071569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 EMOTIONAL CONNECTION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94157" y="1794537"/>
            <a:ext cx="13900419" cy="0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064532" y="1654620"/>
            <a:ext cx="279835" cy="27983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14741" y="1654620"/>
            <a:ext cx="279835" cy="2798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738011" y="2667965"/>
            <a:ext cx="8932875" cy="643370"/>
            <a:chOff x="0" y="0"/>
            <a:chExt cx="2352691" cy="1694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2691" cy="169447"/>
            </a:xfrm>
            <a:custGeom>
              <a:avLst/>
              <a:gdLst/>
              <a:ahLst/>
              <a:cxnLst/>
              <a:rect l="l" t="t" r="r" b="b"/>
              <a:pathLst>
                <a:path w="2352691" h="169447">
                  <a:moveTo>
                    <a:pt x="0" y="0"/>
                  </a:moveTo>
                  <a:lnTo>
                    <a:pt x="2352691" y="0"/>
                  </a:lnTo>
                  <a:lnTo>
                    <a:pt x="2352691" y="169447"/>
                  </a:lnTo>
                  <a:lnTo>
                    <a:pt x="0" y="169447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8100"/>
              <a:ext cx="2352691" cy="13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24128" y="2215997"/>
            <a:ext cx="560642" cy="490562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000" y="368300"/>
              <a:ext cx="5588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10713" y="1451842"/>
            <a:ext cx="587472" cy="612085"/>
            <a:chOff x="0" y="0"/>
            <a:chExt cx="812800" cy="84685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46853"/>
            </a:xfrm>
            <a:custGeom>
              <a:avLst/>
              <a:gdLst/>
              <a:ahLst/>
              <a:cxnLst/>
              <a:rect l="l" t="t" r="r" b="b"/>
              <a:pathLst>
                <a:path w="812800" h="846853">
                  <a:moveTo>
                    <a:pt x="406400" y="0"/>
                  </a:moveTo>
                  <a:cubicBezTo>
                    <a:pt x="181951" y="0"/>
                    <a:pt x="0" y="189575"/>
                    <a:pt x="0" y="423427"/>
                  </a:cubicBezTo>
                  <a:cubicBezTo>
                    <a:pt x="0" y="657279"/>
                    <a:pt x="181951" y="846853"/>
                    <a:pt x="406400" y="846853"/>
                  </a:cubicBezTo>
                  <a:cubicBezTo>
                    <a:pt x="630849" y="846853"/>
                    <a:pt x="812800" y="657279"/>
                    <a:pt x="812800" y="423427"/>
                  </a:cubicBezTo>
                  <a:cubicBezTo>
                    <a:pt x="812800" y="1895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117493"/>
              <a:ext cx="660400" cy="64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54239" y="1654620"/>
            <a:ext cx="279835" cy="27983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85725" y="5266717"/>
            <a:ext cx="7908948" cy="4448783"/>
          </a:xfrm>
          <a:custGeom>
            <a:avLst/>
            <a:gdLst/>
            <a:ahLst/>
            <a:cxnLst/>
            <a:rect l="l" t="t" r="r" b="b"/>
            <a:pathLst>
              <a:path w="7908948" h="4448783">
                <a:moveTo>
                  <a:pt x="0" y="0"/>
                </a:moveTo>
                <a:lnTo>
                  <a:pt x="7908948" y="0"/>
                </a:lnTo>
                <a:lnTo>
                  <a:pt x="7908948" y="4448783"/>
                </a:lnTo>
                <a:lnTo>
                  <a:pt x="0" y="4448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9484929" y="5285767"/>
            <a:ext cx="7652373" cy="4266198"/>
          </a:xfrm>
          <a:custGeom>
            <a:avLst/>
            <a:gdLst/>
            <a:ahLst/>
            <a:cxnLst/>
            <a:rect l="l" t="t" r="r" b="b"/>
            <a:pathLst>
              <a:path w="7652373" h="4266198">
                <a:moveTo>
                  <a:pt x="0" y="0"/>
                </a:moveTo>
                <a:lnTo>
                  <a:pt x="7652373" y="0"/>
                </a:lnTo>
                <a:lnTo>
                  <a:pt x="7652373" y="4266198"/>
                </a:lnTo>
                <a:lnTo>
                  <a:pt x="0" y="42661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4738011" y="2735304"/>
            <a:ext cx="8932875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In-Store Cause Sampling Events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28348" y="3949032"/>
            <a:ext cx="5297895" cy="936685"/>
            <a:chOff x="0" y="0"/>
            <a:chExt cx="7063860" cy="124891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63436" cy="1248423"/>
            </a:xfrm>
            <a:custGeom>
              <a:avLst/>
              <a:gdLst/>
              <a:ahLst/>
              <a:cxnLst/>
              <a:rect l="l" t="t" r="r" b="b"/>
              <a:pathLst>
                <a:path w="7063436" h="1248423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897576"/>
                  </a:lnTo>
                  <a:cubicBezTo>
                    <a:pt x="0" y="1091344"/>
                    <a:pt x="157080" y="1248423"/>
                    <a:pt x="350848" y="1248423"/>
                  </a:cubicBezTo>
                  <a:lnTo>
                    <a:pt x="6712588" y="1248423"/>
                  </a:lnTo>
                  <a:cubicBezTo>
                    <a:pt x="6906356" y="1248423"/>
                    <a:pt x="7063436" y="1091344"/>
                    <a:pt x="7063436" y="897576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576443" y="3949032"/>
            <a:ext cx="5297895" cy="936685"/>
            <a:chOff x="0" y="0"/>
            <a:chExt cx="7063860" cy="124891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63436" cy="1248423"/>
            </a:xfrm>
            <a:custGeom>
              <a:avLst/>
              <a:gdLst/>
              <a:ahLst/>
              <a:cxnLst/>
              <a:rect l="l" t="t" r="r" b="b"/>
              <a:pathLst>
                <a:path w="7063436" h="1248423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897576"/>
                  </a:lnTo>
                  <a:cubicBezTo>
                    <a:pt x="0" y="1091344"/>
                    <a:pt x="157080" y="1248423"/>
                    <a:pt x="350848" y="1248423"/>
                  </a:cubicBezTo>
                  <a:lnTo>
                    <a:pt x="6712588" y="1248423"/>
                  </a:lnTo>
                  <a:cubicBezTo>
                    <a:pt x="6906356" y="1248423"/>
                    <a:pt x="7063436" y="1091344"/>
                    <a:pt x="7063436" y="897576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862278" y="4074475"/>
            <a:ext cx="4030034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DIGITAL STORIES IN STORE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62153" y="4074475"/>
            <a:ext cx="4567538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STORE EVENT/EXPERIMENT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948988" y="9853308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31" name="Freeform 31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028700" y="453390"/>
            <a:ext cx="12071569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 EMOTIONAL CONNECTION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94157" y="1794537"/>
            <a:ext cx="13900419" cy="0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064532" y="1654620"/>
            <a:ext cx="279835" cy="27983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14741" y="1654620"/>
            <a:ext cx="279835" cy="2798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3860" y="3597085"/>
            <a:ext cx="8932875" cy="4259733"/>
            <a:chOff x="0" y="0"/>
            <a:chExt cx="2352691" cy="11219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2691" cy="1121905"/>
            </a:xfrm>
            <a:custGeom>
              <a:avLst/>
              <a:gdLst/>
              <a:ahLst/>
              <a:cxnLst/>
              <a:rect l="l" t="t" r="r" b="b"/>
              <a:pathLst>
                <a:path w="2352691" h="1121905">
                  <a:moveTo>
                    <a:pt x="0" y="0"/>
                  </a:moveTo>
                  <a:lnTo>
                    <a:pt x="2352691" y="0"/>
                  </a:lnTo>
                  <a:lnTo>
                    <a:pt x="2352691" y="1121905"/>
                  </a:lnTo>
                  <a:lnTo>
                    <a:pt x="0" y="1121905"/>
                  </a:lnTo>
                  <a:close/>
                </a:path>
              </a:pathLst>
            </a:custGeom>
            <a:ln w="38100" cap="sq">
              <a:solidFill>
                <a:srgbClr val="A31B1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352691" cy="1169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3860" y="8159061"/>
            <a:ext cx="8932875" cy="1004495"/>
            <a:chOff x="0" y="0"/>
            <a:chExt cx="2352691" cy="2645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2691" cy="264558"/>
            </a:xfrm>
            <a:custGeom>
              <a:avLst/>
              <a:gdLst/>
              <a:ahLst/>
              <a:cxnLst/>
              <a:rect l="l" t="t" r="r" b="b"/>
              <a:pathLst>
                <a:path w="2352691" h="264558">
                  <a:moveTo>
                    <a:pt x="0" y="0"/>
                  </a:moveTo>
                  <a:lnTo>
                    <a:pt x="2352691" y="0"/>
                  </a:lnTo>
                  <a:lnTo>
                    <a:pt x="2352691" y="264558"/>
                  </a:lnTo>
                  <a:lnTo>
                    <a:pt x="0" y="264558"/>
                  </a:lnTo>
                  <a:close/>
                </a:path>
              </a:pathLst>
            </a:custGeom>
            <a:ln w="38100" cap="sq">
              <a:solidFill>
                <a:srgbClr val="A31B1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352691" cy="31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flipH="1">
            <a:off x="1580406" y="8544942"/>
            <a:ext cx="327982" cy="327982"/>
          </a:xfrm>
          <a:custGeom>
            <a:avLst/>
            <a:gdLst/>
            <a:ahLst/>
            <a:cxnLst/>
            <a:rect l="l" t="t" r="r" b="b"/>
            <a:pathLst>
              <a:path w="327982" h="327982">
                <a:moveTo>
                  <a:pt x="327982" y="0"/>
                </a:moveTo>
                <a:lnTo>
                  <a:pt x="0" y="0"/>
                </a:lnTo>
                <a:lnTo>
                  <a:pt x="0" y="327982"/>
                </a:lnTo>
                <a:lnTo>
                  <a:pt x="327982" y="327982"/>
                </a:lnTo>
                <a:lnTo>
                  <a:pt x="3279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363860" y="3812625"/>
            <a:ext cx="893287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it is:</a:t>
            </a:r>
          </a:p>
        </p:txBody>
      </p:sp>
      <p:sp>
        <p:nvSpPr>
          <p:cNvPr id="17" name="Freeform 17"/>
          <p:cNvSpPr/>
          <p:nvPr/>
        </p:nvSpPr>
        <p:spPr>
          <a:xfrm>
            <a:off x="4290713" y="3870828"/>
            <a:ext cx="436043" cy="436043"/>
          </a:xfrm>
          <a:custGeom>
            <a:avLst/>
            <a:gdLst/>
            <a:ahLst/>
            <a:cxnLst/>
            <a:rect l="l" t="t" r="r" b="b"/>
            <a:pathLst>
              <a:path w="436043" h="436043">
                <a:moveTo>
                  <a:pt x="0" y="0"/>
                </a:moveTo>
                <a:lnTo>
                  <a:pt x="436043" y="0"/>
                </a:lnTo>
                <a:lnTo>
                  <a:pt x="436043" y="436043"/>
                </a:lnTo>
                <a:lnTo>
                  <a:pt x="0" y="436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0871098" y="3699199"/>
            <a:ext cx="6184833" cy="3098058"/>
            <a:chOff x="0" y="0"/>
            <a:chExt cx="1628927" cy="8159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28927" cy="815950"/>
            </a:xfrm>
            <a:custGeom>
              <a:avLst/>
              <a:gdLst/>
              <a:ahLst/>
              <a:cxnLst/>
              <a:rect l="l" t="t" r="r" b="b"/>
              <a:pathLst>
                <a:path w="1628927" h="815950">
                  <a:moveTo>
                    <a:pt x="0" y="0"/>
                  </a:moveTo>
                  <a:lnTo>
                    <a:pt x="1628927" y="0"/>
                  </a:lnTo>
                  <a:lnTo>
                    <a:pt x="1628927" y="815950"/>
                  </a:lnTo>
                  <a:lnTo>
                    <a:pt x="0" y="815950"/>
                  </a:lnTo>
                  <a:close/>
                </a:path>
              </a:pathLst>
            </a:custGeom>
            <a:ln w="38100" cap="sq">
              <a:solidFill>
                <a:srgbClr val="A31B1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628927" cy="86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673995" y="3492310"/>
            <a:ext cx="2579038" cy="449580"/>
            <a:chOff x="0" y="0"/>
            <a:chExt cx="3438718" cy="59944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3438718" cy="599440"/>
              <a:chOff x="0" y="0"/>
              <a:chExt cx="679253" cy="11840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79253" cy="118408"/>
              </a:xfrm>
              <a:custGeom>
                <a:avLst/>
                <a:gdLst/>
                <a:ahLst/>
                <a:cxnLst/>
                <a:rect l="l" t="t" r="r" b="b"/>
                <a:pathLst>
                  <a:path w="679253" h="118408">
                    <a:moveTo>
                      <a:pt x="0" y="0"/>
                    </a:moveTo>
                    <a:lnTo>
                      <a:pt x="679253" y="0"/>
                    </a:lnTo>
                    <a:lnTo>
                      <a:pt x="679253" y="118408"/>
                    </a:lnTo>
                    <a:lnTo>
                      <a:pt x="0" y="118408"/>
                    </a:lnTo>
                    <a:close/>
                  </a:path>
                </a:pathLst>
              </a:custGeom>
              <a:solidFill>
                <a:srgbClr val="5F193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28575"/>
                <a:ext cx="679253" cy="89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0" y="104987"/>
              <a:ext cx="3438718" cy="446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4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Visibility KPIs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254239" y="1654620"/>
            <a:ext cx="279835" cy="27983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869330" y="7551619"/>
            <a:ext cx="6184833" cy="1706681"/>
            <a:chOff x="0" y="0"/>
            <a:chExt cx="1628927" cy="4494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28927" cy="449496"/>
            </a:xfrm>
            <a:custGeom>
              <a:avLst/>
              <a:gdLst/>
              <a:ahLst/>
              <a:cxnLst/>
              <a:rect l="l" t="t" r="r" b="b"/>
              <a:pathLst>
                <a:path w="1628927" h="449496">
                  <a:moveTo>
                    <a:pt x="0" y="0"/>
                  </a:moveTo>
                  <a:lnTo>
                    <a:pt x="1628927" y="0"/>
                  </a:lnTo>
                  <a:lnTo>
                    <a:pt x="1628927" y="449496"/>
                  </a:lnTo>
                  <a:lnTo>
                    <a:pt x="0" y="449496"/>
                  </a:lnTo>
                  <a:close/>
                </a:path>
              </a:pathLst>
            </a:custGeom>
            <a:ln w="38100" cap="sq">
              <a:solidFill>
                <a:srgbClr val="A31B1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628927" cy="49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619996" y="7344730"/>
            <a:ext cx="2877380" cy="449580"/>
            <a:chOff x="0" y="0"/>
            <a:chExt cx="757828" cy="11840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57828" cy="118408"/>
            </a:xfrm>
            <a:custGeom>
              <a:avLst/>
              <a:gdLst/>
              <a:ahLst/>
              <a:cxnLst/>
              <a:rect l="l" t="t" r="r" b="b"/>
              <a:pathLst>
                <a:path w="757828" h="118408">
                  <a:moveTo>
                    <a:pt x="0" y="0"/>
                  </a:moveTo>
                  <a:lnTo>
                    <a:pt x="757828" y="0"/>
                  </a:lnTo>
                  <a:lnTo>
                    <a:pt x="757828" y="118408"/>
                  </a:lnTo>
                  <a:lnTo>
                    <a:pt x="0" y="118408"/>
                  </a:ln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38100"/>
              <a:ext cx="757828" cy="80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5860922" y="1451842"/>
            <a:ext cx="587472" cy="612085"/>
            <a:chOff x="0" y="0"/>
            <a:chExt cx="812800" cy="84685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46853"/>
            </a:xfrm>
            <a:custGeom>
              <a:avLst/>
              <a:gdLst/>
              <a:ahLst/>
              <a:cxnLst/>
              <a:rect l="l" t="t" r="r" b="b"/>
              <a:pathLst>
                <a:path w="812800" h="846853">
                  <a:moveTo>
                    <a:pt x="406400" y="0"/>
                  </a:moveTo>
                  <a:cubicBezTo>
                    <a:pt x="181951" y="0"/>
                    <a:pt x="0" y="189575"/>
                    <a:pt x="0" y="423427"/>
                  </a:cubicBezTo>
                  <a:cubicBezTo>
                    <a:pt x="0" y="657279"/>
                    <a:pt x="181951" y="846853"/>
                    <a:pt x="406400" y="846853"/>
                  </a:cubicBezTo>
                  <a:cubicBezTo>
                    <a:pt x="630849" y="846853"/>
                    <a:pt x="812800" y="657279"/>
                    <a:pt x="812800" y="423427"/>
                  </a:cubicBezTo>
                  <a:cubicBezTo>
                    <a:pt x="812800" y="1895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117493"/>
              <a:ext cx="660400" cy="64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744397" y="4607344"/>
            <a:ext cx="8370406" cy="304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Hidden tickets inside packs trigger experiential rewards or direct donations when scanned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disruptive in-aisle installation where pressing a button triggers a 0.10€ donation from McCain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Family-focused engagement where uploaded children's drawings of "shared meals" trigger donations, creating vast User Generated Content (UGC).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03269" y="8273361"/>
            <a:ext cx="7991558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Driving engagement and shareability throught gamification.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72720" y="4153143"/>
            <a:ext cx="5603376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Number of time the button has been pressed. 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Corelation between sales and press of button. 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Variation in sales 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Number of drawings gathered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661334" y="7437758"/>
            <a:ext cx="2836042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Awareness KPIs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181847" y="8005564"/>
            <a:ext cx="5603376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% of participants </a:t>
            </a:r>
          </a:p>
          <a:p>
            <a:pPr marL="539756" lvl="1" indent="-269878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Approval rates  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0015501" y="2667965"/>
            <a:ext cx="7038663" cy="643370"/>
            <a:chOff x="0" y="0"/>
            <a:chExt cx="1853804" cy="16944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853804" cy="169447"/>
            </a:xfrm>
            <a:custGeom>
              <a:avLst/>
              <a:gdLst/>
              <a:ahLst/>
              <a:cxnLst/>
              <a:rect l="l" t="t" r="r" b="b"/>
              <a:pathLst>
                <a:path w="1853804" h="169447">
                  <a:moveTo>
                    <a:pt x="0" y="0"/>
                  </a:moveTo>
                  <a:lnTo>
                    <a:pt x="1853804" y="0"/>
                  </a:lnTo>
                  <a:lnTo>
                    <a:pt x="1853804" y="169447"/>
                  </a:lnTo>
                  <a:lnTo>
                    <a:pt x="0" y="169447"/>
                  </a:ln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38100"/>
              <a:ext cx="1853804" cy="13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5874338" y="2215997"/>
            <a:ext cx="560642" cy="490562"/>
            <a:chOff x="0" y="0"/>
            <a:chExt cx="812800" cy="711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7000" y="368300"/>
              <a:ext cx="5588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0015501" y="2735304"/>
            <a:ext cx="7038663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Disruptive In-Store Interaction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948988" y="9853308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51" name="Freeform 51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1028700" y="453390"/>
            <a:ext cx="12071569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 EMOTIONAL CONNECTION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94157" y="1747378"/>
            <a:ext cx="13900419" cy="0"/>
          </a:xfrm>
          <a:prstGeom prst="line">
            <a:avLst/>
          </a:prstGeom>
          <a:ln w="38100" cap="flat">
            <a:solidFill>
              <a:srgbClr val="5F193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064532" y="1654620"/>
            <a:ext cx="279835" cy="27983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14741" y="1654620"/>
            <a:ext cx="279835" cy="27983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15501" y="2667965"/>
            <a:ext cx="7038663" cy="643370"/>
            <a:chOff x="0" y="0"/>
            <a:chExt cx="1853804" cy="1694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53804" cy="169447"/>
            </a:xfrm>
            <a:custGeom>
              <a:avLst/>
              <a:gdLst/>
              <a:ahLst/>
              <a:cxnLst/>
              <a:rect l="l" t="t" r="r" b="b"/>
              <a:pathLst>
                <a:path w="1853804" h="169447">
                  <a:moveTo>
                    <a:pt x="0" y="0"/>
                  </a:moveTo>
                  <a:lnTo>
                    <a:pt x="1853804" y="0"/>
                  </a:lnTo>
                  <a:lnTo>
                    <a:pt x="1853804" y="169447"/>
                  </a:lnTo>
                  <a:lnTo>
                    <a:pt x="0" y="169447"/>
                  </a:ln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8100"/>
              <a:ext cx="1853804" cy="13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874338" y="2215997"/>
            <a:ext cx="560642" cy="490562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000" y="368300"/>
              <a:ext cx="5588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54239" y="1654620"/>
            <a:ext cx="279835" cy="27983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860922" y="1451842"/>
            <a:ext cx="587472" cy="612085"/>
            <a:chOff x="0" y="0"/>
            <a:chExt cx="812800" cy="8468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46853"/>
            </a:xfrm>
            <a:custGeom>
              <a:avLst/>
              <a:gdLst/>
              <a:ahLst/>
              <a:cxnLst/>
              <a:rect l="l" t="t" r="r" b="b"/>
              <a:pathLst>
                <a:path w="812800" h="846853">
                  <a:moveTo>
                    <a:pt x="406400" y="0"/>
                  </a:moveTo>
                  <a:cubicBezTo>
                    <a:pt x="181951" y="0"/>
                    <a:pt x="0" y="189575"/>
                    <a:pt x="0" y="423427"/>
                  </a:cubicBezTo>
                  <a:cubicBezTo>
                    <a:pt x="0" y="657279"/>
                    <a:pt x="181951" y="846853"/>
                    <a:pt x="406400" y="846853"/>
                  </a:cubicBezTo>
                  <a:cubicBezTo>
                    <a:pt x="630849" y="846853"/>
                    <a:pt x="812800" y="657279"/>
                    <a:pt x="812800" y="423427"/>
                  </a:cubicBezTo>
                  <a:cubicBezTo>
                    <a:pt x="812800" y="1895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1B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117493"/>
              <a:ext cx="660400" cy="64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0408" y="4263835"/>
            <a:ext cx="5297895" cy="936685"/>
            <a:chOff x="0" y="0"/>
            <a:chExt cx="7063860" cy="124891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63436" cy="1248423"/>
            </a:xfrm>
            <a:custGeom>
              <a:avLst/>
              <a:gdLst/>
              <a:ahLst/>
              <a:cxnLst/>
              <a:rect l="l" t="t" r="r" b="b"/>
              <a:pathLst>
                <a:path w="7063436" h="1248423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897576"/>
                  </a:lnTo>
                  <a:cubicBezTo>
                    <a:pt x="0" y="1091344"/>
                    <a:pt x="157080" y="1248423"/>
                    <a:pt x="350848" y="1248423"/>
                  </a:cubicBezTo>
                  <a:lnTo>
                    <a:pt x="6712588" y="1248423"/>
                  </a:lnTo>
                  <a:cubicBezTo>
                    <a:pt x="6906356" y="1248423"/>
                    <a:pt x="7063436" y="1091344"/>
                    <a:pt x="7063436" y="897576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95053" y="4263835"/>
            <a:ext cx="5297895" cy="936685"/>
            <a:chOff x="0" y="0"/>
            <a:chExt cx="7063860" cy="124891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063436" cy="1248423"/>
            </a:xfrm>
            <a:custGeom>
              <a:avLst/>
              <a:gdLst/>
              <a:ahLst/>
              <a:cxnLst/>
              <a:rect l="l" t="t" r="r" b="b"/>
              <a:pathLst>
                <a:path w="7063436" h="1248423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897576"/>
                  </a:lnTo>
                  <a:cubicBezTo>
                    <a:pt x="0" y="1091344"/>
                    <a:pt x="157080" y="1248423"/>
                    <a:pt x="350848" y="1248423"/>
                  </a:cubicBezTo>
                  <a:lnTo>
                    <a:pt x="6712588" y="1248423"/>
                  </a:lnTo>
                  <a:cubicBezTo>
                    <a:pt x="6906356" y="1248423"/>
                    <a:pt x="7063436" y="1091344"/>
                    <a:pt x="7063436" y="897576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460522" y="4263835"/>
            <a:ext cx="5297895" cy="936685"/>
            <a:chOff x="0" y="0"/>
            <a:chExt cx="7063860" cy="124891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063436" cy="1248423"/>
            </a:xfrm>
            <a:custGeom>
              <a:avLst/>
              <a:gdLst/>
              <a:ahLst/>
              <a:cxnLst/>
              <a:rect l="l" t="t" r="r" b="b"/>
              <a:pathLst>
                <a:path w="7063436" h="1248423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897576"/>
                  </a:lnTo>
                  <a:cubicBezTo>
                    <a:pt x="0" y="1091344"/>
                    <a:pt x="157080" y="1248423"/>
                    <a:pt x="350848" y="1248423"/>
                  </a:cubicBezTo>
                  <a:lnTo>
                    <a:pt x="6712588" y="1248423"/>
                  </a:lnTo>
                  <a:cubicBezTo>
                    <a:pt x="6906356" y="1248423"/>
                    <a:pt x="7063436" y="1091344"/>
                    <a:pt x="7063436" y="897576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7"/>
          <p:cNvSpPr/>
          <p:nvPr/>
        </p:nvSpPr>
        <p:spPr>
          <a:xfrm>
            <a:off x="12764504" y="5800595"/>
            <a:ext cx="5451619" cy="3047033"/>
          </a:xfrm>
          <a:custGeom>
            <a:avLst/>
            <a:gdLst/>
            <a:ahLst/>
            <a:cxnLst/>
            <a:rect l="l" t="t" r="r" b="b"/>
            <a:pathLst>
              <a:path w="5451619" h="3047033">
                <a:moveTo>
                  <a:pt x="0" y="0"/>
                </a:moveTo>
                <a:lnTo>
                  <a:pt x="5451619" y="0"/>
                </a:lnTo>
                <a:lnTo>
                  <a:pt x="5451619" y="3047033"/>
                </a:lnTo>
                <a:lnTo>
                  <a:pt x="0" y="304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6510037" y="5800595"/>
            <a:ext cx="5455580" cy="3045189"/>
          </a:xfrm>
          <a:custGeom>
            <a:avLst/>
            <a:gdLst/>
            <a:ahLst/>
            <a:cxnLst/>
            <a:rect l="l" t="t" r="r" b="b"/>
            <a:pathLst>
              <a:path w="5455580" h="3045189">
                <a:moveTo>
                  <a:pt x="0" y="0"/>
                </a:moveTo>
                <a:lnTo>
                  <a:pt x="5455580" y="0"/>
                </a:lnTo>
                <a:lnTo>
                  <a:pt x="5455580" y="3045189"/>
                </a:lnTo>
                <a:lnTo>
                  <a:pt x="0" y="3045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92775" y="5800595"/>
            <a:ext cx="5522900" cy="3095755"/>
          </a:xfrm>
          <a:custGeom>
            <a:avLst/>
            <a:gdLst/>
            <a:ahLst/>
            <a:cxnLst/>
            <a:rect l="l" t="t" r="r" b="b"/>
            <a:pathLst>
              <a:path w="5522900" h="3095755">
                <a:moveTo>
                  <a:pt x="0" y="0"/>
                </a:moveTo>
                <a:lnTo>
                  <a:pt x="5522900" y="0"/>
                </a:lnTo>
                <a:lnTo>
                  <a:pt x="5522900" y="3095755"/>
                </a:lnTo>
                <a:lnTo>
                  <a:pt x="0" y="3095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0015501" y="2735304"/>
            <a:ext cx="7038663" cy="47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Disruptive In-Store Interaction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01385" y="4570840"/>
            <a:ext cx="4738767" cy="38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COLORING TO DONATE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64642" y="4570840"/>
            <a:ext cx="3029426" cy="38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GOLD TICKETS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19801" y="4570840"/>
            <a:ext cx="3048397" cy="38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BUTTON KIOSK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948988" y="9853308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  <p:sp>
        <p:nvSpPr>
          <p:cNvPr id="35" name="Freeform 35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729816" y="453390"/>
            <a:ext cx="12071569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500" b="1">
                <a:solidFill>
                  <a:srgbClr val="5519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 EMOTIONAL CONNECTION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3283577" y="4413777"/>
            <a:ext cx="0" cy="4900381"/>
          </a:xfrm>
          <a:prstGeom prst="line">
            <a:avLst/>
          </a:prstGeom>
          <a:ln w="28575" cap="flat">
            <a:solidFill>
              <a:srgbClr val="FFC82D"/>
            </a:solidFill>
            <a:prstDash val="solid"/>
            <a:headEnd type="none" w="sm" len="sm"/>
            <a:tailEnd type="diamond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269289" y="8376617"/>
            <a:ext cx="4368484" cy="772447"/>
            <a:chOff x="0" y="0"/>
            <a:chExt cx="1150547" cy="2034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50547" cy="203443"/>
            </a:xfrm>
            <a:custGeom>
              <a:avLst/>
              <a:gdLst/>
              <a:ahLst/>
              <a:cxnLst/>
              <a:rect l="l" t="t" r="r" b="b"/>
              <a:pathLst>
                <a:path w="1150547" h="203443">
                  <a:moveTo>
                    <a:pt x="947347" y="0"/>
                  </a:moveTo>
                  <a:lnTo>
                    <a:pt x="0" y="0"/>
                  </a:lnTo>
                  <a:lnTo>
                    <a:pt x="203200" y="203443"/>
                  </a:lnTo>
                  <a:lnTo>
                    <a:pt x="1150547" y="203443"/>
                  </a:lnTo>
                  <a:lnTo>
                    <a:pt x="947347" y="0"/>
                  </a:lnTo>
                  <a:close/>
                </a:path>
              </a:pathLst>
            </a:custGeom>
            <a:solidFill>
              <a:srgbClr val="FDC62F">
                <a:alpha val="8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57150"/>
              <a:ext cx="947347" cy="260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58076" y="7436943"/>
            <a:ext cx="4368484" cy="772447"/>
            <a:chOff x="0" y="0"/>
            <a:chExt cx="1150547" cy="2034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50547" cy="203443"/>
            </a:xfrm>
            <a:custGeom>
              <a:avLst/>
              <a:gdLst/>
              <a:ahLst/>
              <a:cxnLst/>
              <a:rect l="l" t="t" r="r" b="b"/>
              <a:pathLst>
                <a:path w="1150547" h="203443">
                  <a:moveTo>
                    <a:pt x="947347" y="0"/>
                  </a:moveTo>
                  <a:lnTo>
                    <a:pt x="0" y="0"/>
                  </a:lnTo>
                  <a:lnTo>
                    <a:pt x="203200" y="203443"/>
                  </a:lnTo>
                  <a:lnTo>
                    <a:pt x="1150547" y="203443"/>
                  </a:lnTo>
                  <a:lnTo>
                    <a:pt x="947347" y="0"/>
                  </a:lnTo>
                  <a:close/>
                </a:path>
              </a:pathLst>
            </a:custGeom>
            <a:solidFill>
              <a:srgbClr val="31B496">
                <a:alpha val="8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00" y="-57150"/>
              <a:ext cx="947347" cy="260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446863" y="6494890"/>
            <a:ext cx="4720613" cy="772447"/>
            <a:chOff x="0" y="0"/>
            <a:chExt cx="1243289" cy="2034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43289" cy="203443"/>
            </a:xfrm>
            <a:custGeom>
              <a:avLst/>
              <a:gdLst/>
              <a:ahLst/>
              <a:cxnLst/>
              <a:rect l="l" t="t" r="r" b="b"/>
              <a:pathLst>
                <a:path w="1243289" h="203443">
                  <a:moveTo>
                    <a:pt x="1040089" y="0"/>
                  </a:moveTo>
                  <a:lnTo>
                    <a:pt x="0" y="0"/>
                  </a:lnTo>
                  <a:lnTo>
                    <a:pt x="203200" y="203443"/>
                  </a:lnTo>
                  <a:lnTo>
                    <a:pt x="1243289" y="203443"/>
                  </a:lnTo>
                  <a:lnTo>
                    <a:pt x="1040089" y="0"/>
                  </a:lnTo>
                  <a:close/>
                </a:path>
              </a:pathLst>
            </a:custGeom>
            <a:solidFill>
              <a:srgbClr val="FFACDB">
                <a:alpha val="6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-57150"/>
              <a:ext cx="1040089" cy="260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2703352" y="8941366"/>
            <a:ext cx="1911572" cy="779697"/>
            <a:chOff x="0" y="0"/>
            <a:chExt cx="503459" cy="2053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3459" cy="205352"/>
            </a:xfrm>
            <a:custGeom>
              <a:avLst/>
              <a:gdLst/>
              <a:ahLst/>
              <a:cxnLst/>
              <a:rect l="l" t="t" r="r" b="b"/>
              <a:pathLst>
                <a:path w="503459" h="205352">
                  <a:moveTo>
                    <a:pt x="203200" y="0"/>
                  </a:moveTo>
                  <a:lnTo>
                    <a:pt x="503459" y="0"/>
                  </a:lnTo>
                  <a:lnTo>
                    <a:pt x="300259" y="205352"/>
                  </a:lnTo>
                  <a:lnTo>
                    <a:pt x="0" y="2053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600" y="-57150"/>
              <a:ext cx="300259" cy="262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400000">
            <a:off x="6390675" y="7901966"/>
            <a:ext cx="1714500" cy="779697"/>
            <a:chOff x="0" y="0"/>
            <a:chExt cx="451556" cy="2053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51556" cy="205352"/>
            </a:xfrm>
            <a:custGeom>
              <a:avLst/>
              <a:gdLst/>
              <a:ahLst/>
              <a:cxnLst/>
              <a:rect l="l" t="t" r="r" b="b"/>
              <a:pathLst>
                <a:path w="451556" h="205352">
                  <a:moveTo>
                    <a:pt x="203200" y="0"/>
                  </a:moveTo>
                  <a:lnTo>
                    <a:pt x="451556" y="0"/>
                  </a:lnTo>
                  <a:lnTo>
                    <a:pt x="248356" y="205352"/>
                  </a:lnTo>
                  <a:lnTo>
                    <a:pt x="0" y="2053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1B49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600" y="-57150"/>
              <a:ext cx="248356" cy="262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5400000">
            <a:off x="9979461" y="6962291"/>
            <a:ext cx="1714500" cy="779697"/>
            <a:chOff x="0" y="0"/>
            <a:chExt cx="451556" cy="20535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51556" cy="205352"/>
            </a:xfrm>
            <a:custGeom>
              <a:avLst/>
              <a:gdLst/>
              <a:ahLst/>
              <a:cxnLst/>
              <a:rect l="l" t="t" r="r" b="b"/>
              <a:pathLst>
                <a:path w="451556" h="205352">
                  <a:moveTo>
                    <a:pt x="203200" y="0"/>
                  </a:moveTo>
                  <a:lnTo>
                    <a:pt x="451556" y="0"/>
                  </a:lnTo>
                  <a:lnTo>
                    <a:pt x="248356" y="205352"/>
                  </a:lnTo>
                  <a:lnTo>
                    <a:pt x="0" y="2053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ACD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600" y="-57150"/>
              <a:ext cx="248356" cy="262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 flipV="1">
            <a:off x="6872364" y="3476236"/>
            <a:ext cx="0" cy="4900381"/>
          </a:xfrm>
          <a:prstGeom prst="line">
            <a:avLst/>
          </a:prstGeom>
          <a:ln w="28575" cap="flat">
            <a:solidFill>
              <a:srgbClr val="31B496"/>
            </a:solidFill>
            <a:prstDash val="solid"/>
            <a:headEnd type="none" w="sm" len="sm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 flipV="1">
            <a:off x="10461150" y="2536561"/>
            <a:ext cx="0" cy="4900381"/>
          </a:xfrm>
          <a:prstGeom prst="line">
            <a:avLst/>
          </a:prstGeom>
          <a:ln w="28575" cap="flat">
            <a:solidFill>
              <a:srgbClr val="FF96D2"/>
            </a:solidFill>
            <a:prstDash val="solid"/>
            <a:headEnd type="none" w="sm" len="sm"/>
            <a:tailEnd type="diamond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4534595" y="3077567"/>
            <a:ext cx="808058" cy="797338"/>
            <a:chOff x="0" y="0"/>
            <a:chExt cx="212822" cy="20999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2822" cy="209998"/>
            </a:xfrm>
            <a:custGeom>
              <a:avLst/>
              <a:gdLst/>
              <a:ahLst/>
              <a:cxnLst/>
              <a:rect l="l" t="t" r="r" b="b"/>
              <a:pathLst>
                <a:path w="212822" h="209998">
                  <a:moveTo>
                    <a:pt x="0" y="0"/>
                  </a:moveTo>
                  <a:lnTo>
                    <a:pt x="212822" y="0"/>
                  </a:lnTo>
                  <a:lnTo>
                    <a:pt x="212822" y="209998"/>
                  </a:lnTo>
                  <a:lnTo>
                    <a:pt x="0" y="209998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12822" cy="209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4642796" y="3192437"/>
            <a:ext cx="591656" cy="591656"/>
          </a:xfrm>
          <a:custGeom>
            <a:avLst/>
            <a:gdLst/>
            <a:ahLst/>
            <a:cxnLst/>
            <a:rect l="l" t="t" r="r" b="b"/>
            <a:pathLst>
              <a:path w="591656" h="591656">
                <a:moveTo>
                  <a:pt x="0" y="0"/>
                </a:moveTo>
                <a:lnTo>
                  <a:pt x="591656" y="0"/>
                </a:lnTo>
                <a:lnTo>
                  <a:pt x="591656" y="591656"/>
                </a:lnTo>
                <a:lnTo>
                  <a:pt x="0" y="5916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0" y="0"/>
            <a:ext cx="13178976" cy="1330338"/>
            <a:chOff x="0" y="0"/>
            <a:chExt cx="3471006" cy="35037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71006" cy="350377"/>
            </a:xfrm>
            <a:custGeom>
              <a:avLst/>
              <a:gdLst/>
              <a:ahLst/>
              <a:cxnLst/>
              <a:rect l="l" t="t" r="r" b="b"/>
              <a:pathLst>
                <a:path w="3471006" h="350377">
                  <a:moveTo>
                    <a:pt x="0" y="0"/>
                  </a:moveTo>
                  <a:lnTo>
                    <a:pt x="3471006" y="0"/>
                  </a:lnTo>
                  <a:lnTo>
                    <a:pt x="3471006" y="350377"/>
                  </a:lnTo>
                  <a:lnTo>
                    <a:pt x="0" y="350377"/>
                  </a:lnTo>
                  <a:close/>
                </a:path>
              </a:pathLst>
            </a:custGeom>
            <a:solidFill>
              <a:srgbClr val="5F18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3471006" cy="350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370918" y="516851"/>
            <a:ext cx="948818" cy="826823"/>
            <a:chOff x="0" y="0"/>
            <a:chExt cx="249894" cy="21776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9894" cy="217764"/>
            </a:xfrm>
            <a:custGeom>
              <a:avLst/>
              <a:gdLst/>
              <a:ahLst/>
              <a:cxnLst/>
              <a:rect l="l" t="t" r="r" b="b"/>
              <a:pathLst>
                <a:path w="249894" h="217764">
                  <a:moveTo>
                    <a:pt x="0" y="0"/>
                  </a:moveTo>
                  <a:lnTo>
                    <a:pt x="249894" y="0"/>
                  </a:lnTo>
                  <a:lnTo>
                    <a:pt x="249894" y="217764"/>
                  </a:lnTo>
                  <a:lnTo>
                    <a:pt x="0" y="217764"/>
                  </a:lnTo>
                  <a:close/>
                </a:path>
              </a:pathLst>
            </a:custGeom>
            <a:solidFill>
              <a:srgbClr val="FAF7F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249894" cy="217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326780" y="2127676"/>
            <a:ext cx="808058" cy="797338"/>
            <a:chOff x="0" y="0"/>
            <a:chExt cx="212822" cy="20999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822" cy="209998"/>
            </a:xfrm>
            <a:custGeom>
              <a:avLst/>
              <a:gdLst/>
              <a:ahLst/>
              <a:cxnLst/>
              <a:rect l="l" t="t" r="r" b="b"/>
              <a:pathLst>
                <a:path w="212822" h="209998">
                  <a:moveTo>
                    <a:pt x="0" y="0"/>
                  </a:moveTo>
                  <a:lnTo>
                    <a:pt x="212822" y="0"/>
                  </a:lnTo>
                  <a:lnTo>
                    <a:pt x="212822" y="209998"/>
                  </a:lnTo>
                  <a:lnTo>
                    <a:pt x="0" y="209998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212822" cy="209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370918" y="1330338"/>
            <a:ext cx="808058" cy="797338"/>
            <a:chOff x="0" y="0"/>
            <a:chExt cx="212822" cy="20999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2822" cy="209998"/>
            </a:xfrm>
            <a:custGeom>
              <a:avLst/>
              <a:gdLst/>
              <a:ahLst/>
              <a:cxnLst/>
              <a:rect l="l" t="t" r="r" b="b"/>
              <a:pathLst>
                <a:path w="212822" h="209998">
                  <a:moveTo>
                    <a:pt x="0" y="0"/>
                  </a:moveTo>
                  <a:lnTo>
                    <a:pt x="212822" y="0"/>
                  </a:lnTo>
                  <a:lnTo>
                    <a:pt x="212822" y="209998"/>
                  </a:lnTo>
                  <a:lnTo>
                    <a:pt x="0" y="209998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212822" cy="209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0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12465385" y="1419445"/>
            <a:ext cx="619125" cy="619125"/>
          </a:xfrm>
          <a:custGeom>
            <a:avLst/>
            <a:gdLst/>
            <a:ahLst/>
            <a:cxnLst/>
            <a:rect l="l" t="t" r="r" b="b"/>
            <a:pathLst>
              <a:path w="619125" h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 flipH="1">
            <a:off x="8419299" y="2216783"/>
            <a:ext cx="623019" cy="619125"/>
          </a:xfrm>
          <a:custGeom>
            <a:avLst/>
            <a:gdLst/>
            <a:ahLst/>
            <a:cxnLst/>
            <a:rect l="l" t="t" r="r" b="b"/>
            <a:pathLst>
              <a:path w="623019" h="619125">
                <a:moveTo>
                  <a:pt x="623019" y="0"/>
                </a:moveTo>
                <a:lnTo>
                  <a:pt x="0" y="0"/>
                </a:lnTo>
                <a:lnTo>
                  <a:pt x="0" y="619125"/>
                </a:lnTo>
                <a:lnTo>
                  <a:pt x="623019" y="619125"/>
                </a:lnTo>
                <a:lnTo>
                  <a:pt x="62301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1803476" y="295599"/>
            <a:ext cx="10109201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AF7F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3 -YEAR IMPLEMENTATION PLAN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652749" y="5380803"/>
            <a:ext cx="2571750" cy="275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551933"/>
                </a:solidFill>
                <a:latin typeface="Montserrat"/>
                <a:ea typeface="Montserrat"/>
                <a:cs typeface="Montserrat"/>
                <a:sym typeface="Montserrat"/>
              </a:rPr>
              <a:t>Launch high-visibility POS/PLV materials in Auchan.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551933"/>
                </a:solidFill>
                <a:latin typeface="Montserrat"/>
                <a:ea typeface="Montserrat"/>
                <a:cs typeface="Montserrat"/>
                <a:sym typeface="Montserrat"/>
              </a:rPr>
              <a:t>Implement commercial mechanics to replace cash donations.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551933"/>
                </a:solidFill>
                <a:latin typeface="Montserrat"/>
                <a:ea typeface="Montserrat"/>
                <a:cs typeface="Montserrat"/>
                <a:sym typeface="Montserrat"/>
              </a:rPr>
              <a:t>Pilot "Born to Share" themed in-store events.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652749" y="4912173"/>
            <a:ext cx="298182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FDC62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Plug &amp; Play Activation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252861" y="4459160"/>
            <a:ext cx="2789190" cy="275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551933"/>
                </a:solidFill>
                <a:latin typeface="Montserrat"/>
                <a:ea typeface="Montserrat"/>
                <a:cs typeface="Montserrat"/>
                <a:sym typeface="Montserrat"/>
              </a:rPr>
              <a:t>Scale the "Global Concept" across regional hypermarkets.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551933"/>
                </a:solidFill>
                <a:latin typeface="Montserrat"/>
                <a:ea typeface="Montserrat"/>
                <a:cs typeface="Montserrat"/>
                <a:sym typeface="Montserrat"/>
              </a:rPr>
              <a:t>Refine tripartite communication (McCain x Auchan x Lazare).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551933"/>
                </a:solidFill>
                <a:latin typeface="Montserrat"/>
                <a:ea typeface="Montserrat"/>
                <a:cs typeface="Montserrat"/>
                <a:sym typeface="Montserrat"/>
              </a:rPr>
              <a:t>Formalize the "CSR Halo" for the retailer to attract families.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266354" y="3909270"/>
            <a:ext cx="292891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31B4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Retail DNA Integration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247925" y="3450165"/>
            <a:ext cx="64368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31B4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916537" y="3728295"/>
            <a:ext cx="3090702" cy="247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551933"/>
                </a:solidFill>
                <a:latin typeface="Montserrat"/>
                <a:ea typeface="Montserrat"/>
                <a:cs typeface="Montserrat"/>
                <a:sym typeface="Montserrat"/>
              </a:rPr>
              <a:t>Launch long-term product innovations aligned with Lazare.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551933"/>
                </a:solidFill>
                <a:latin typeface="Montserrat"/>
                <a:ea typeface="Montserrat"/>
                <a:cs typeface="Montserrat"/>
                <a:sym typeface="Montserrat"/>
              </a:rPr>
              <a:t>Transition McCain fully from functional to emotional equity.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551933"/>
                </a:solidFill>
                <a:latin typeface="Montserrat"/>
                <a:ea typeface="Montserrat"/>
                <a:cs typeface="Montserrat"/>
                <a:sym typeface="Montserrat"/>
              </a:rPr>
              <a:t>Establish the partnership as a permanent retail standard.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3943674" y="3292744"/>
            <a:ext cx="1660569" cy="3974592"/>
            <a:chOff x="0" y="0"/>
            <a:chExt cx="761712" cy="1823167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61712" cy="1823167"/>
            </a:xfrm>
            <a:custGeom>
              <a:avLst/>
              <a:gdLst/>
              <a:ahLst/>
              <a:cxnLst/>
              <a:rect l="l" t="t" r="r" b="b"/>
              <a:pathLst>
                <a:path w="761712" h="1823167">
                  <a:moveTo>
                    <a:pt x="380856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823167"/>
                  </a:lnTo>
                  <a:lnTo>
                    <a:pt x="558512" y="1823167"/>
                  </a:lnTo>
                  <a:lnTo>
                    <a:pt x="558512" y="406400"/>
                  </a:lnTo>
                  <a:lnTo>
                    <a:pt x="761712" y="406400"/>
                  </a:lnTo>
                  <a:lnTo>
                    <a:pt x="380856" y="0"/>
                  </a:lnTo>
                  <a:close/>
                </a:path>
              </a:pathLst>
            </a:custGeom>
            <a:solidFill>
              <a:srgbClr val="FFACDB">
                <a:alpha val="7098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03200" y="44450"/>
              <a:ext cx="355312" cy="1778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916537" y="3038475"/>
            <a:ext cx="257175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FF96D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Scale Success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904720" y="2564804"/>
            <a:ext cx="64368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FF96D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652749" y="4400094"/>
            <a:ext cx="64368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FDC62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782577" y="9301464"/>
            <a:ext cx="1341909" cy="306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i="1">
                <a:solidFill>
                  <a:srgbClr val="551933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0-6 months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336054" y="8447515"/>
            <a:ext cx="1412528" cy="306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i="1">
                <a:solidFill>
                  <a:srgbClr val="551933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6-18 months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692075" y="7406136"/>
            <a:ext cx="1539627" cy="306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i="1">
                <a:solidFill>
                  <a:srgbClr val="551933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18-36 months</a:t>
            </a:r>
          </a:p>
        </p:txBody>
      </p:sp>
      <p:sp>
        <p:nvSpPr>
          <p:cNvPr id="57" name="Freeform 57"/>
          <p:cNvSpPr/>
          <p:nvPr/>
        </p:nvSpPr>
        <p:spPr>
          <a:xfrm>
            <a:off x="14576113" y="0"/>
            <a:ext cx="3711887" cy="1278760"/>
          </a:xfrm>
          <a:custGeom>
            <a:avLst/>
            <a:gdLst/>
            <a:ahLst/>
            <a:cxnLst/>
            <a:rect l="l" t="t" r="r" b="b"/>
            <a:pathLst>
              <a:path w="3711887" h="1278760">
                <a:moveTo>
                  <a:pt x="0" y="0"/>
                </a:moveTo>
                <a:lnTo>
                  <a:pt x="3711887" y="0"/>
                </a:lnTo>
                <a:lnTo>
                  <a:pt x="3711887" y="1278760"/>
                </a:lnTo>
                <a:lnTo>
                  <a:pt x="0" y="1278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8" name="TextBox 58"/>
          <p:cNvSpPr txBox="1"/>
          <p:nvPr/>
        </p:nvSpPr>
        <p:spPr>
          <a:xfrm>
            <a:off x="13948988" y="9853308"/>
            <a:ext cx="414150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McCain × Lazare × CNPB Consulting Project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3634" y="9477518"/>
            <a:ext cx="1655388" cy="404412"/>
            <a:chOff x="0" y="0"/>
            <a:chExt cx="2207184" cy="5392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7133" cy="539242"/>
            </a:xfrm>
            <a:custGeom>
              <a:avLst/>
              <a:gdLst/>
              <a:ahLst/>
              <a:cxnLst/>
              <a:rect l="l" t="t" r="r" b="b"/>
              <a:pathLst>
                <a:path w="2207133" h="539242">
                  <a:moveTo>
                    <a:pt x="0" y="0"/>
                  </a:moveTo>
                  <a:lnTo>
                    <a:pt x="2207133" y="0"/>
                  </a:lnTo>
                  <a:lnTo>
                    <a:pt x="2207133" y="539242"/>
                  </a:lnTo>
                  <a:lnTo>
                    <a:pt x="0" y="53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6" r="-2" b="-45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492995" y="3022600"/>
            <a:ext cx="5297895" cy="2132470"/>
            <a:chOff x="0" y="0"/>
            <a:chExt cx="7063860" cy="28432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63436" cy="2842178"/>
            </a:xfrm>
            <a:custGeom>
              <a:avLst/>
              <a:gdLst/>
              <a:ahLst/>
              <a:cxnLst/>
              <a:rect l="l" t="t" r="r" b="b"/>
              <a:pathLst>
                <a:path w="7063436" h="2842178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2491330"/>
                  </a:lnTo>
                  <a:cubicBezTo>
                    <a:pt x="0" y="2685098"/>
                    <a:pt x="157080" y="2842178"/>
                    <a:pt x="350848" y="2842178"/>
                  </a:cubicBezTo>
                  <a:lnTo>
                    <a:pt x="6712588" y="2842178"/>
                  </a:lnTo>
                  <a:cubicBezTo>
                    <a:pt x="6906356" y="2842178"/>
                    <a:pt x="7063436" y="2685098"/>
                    <a:pt x="7063436" y="2491330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97110" y="3022600"/>
            <a:ext cx="5297895" cy="2132470"/>
            <a:chOff x="0" y="0"/>
            <a:chExt cx="7063860" cy="28432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63436" cy="2842178"/>
            </a:xfrm>
            <a:custGeom>
              <a:avLst/>
              <a:gdLst/>
              <a:ahLst/>
              <a:cxnLst/>
              <a:rect l="l" t="t" r="r" b="b"/>
              <a:pathLst>
                <a:path w="7063436" h="2842178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2491330"/>
                  </a:lnTo>
                  <a:cubicBezTo>
                    <a:pt x="0" y="2685098"/>
                    <a:pt x="157080" y="2842178"/>
                    <a:pt x="350848" y="2842178"/>
                  </a:cubicBezTo>
                  <a:lnTo>
                    <a:pt x="6712588" y="2842178"/>
                  </a:lnTo>
                  <a:cubicBezTo>
                    <a:pt x="6906356" y="2842178"/>
                    <a:pt x="7063436" y="2685098"/>
                    <a:pt x="7063436" y="2491330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92995" y="5428625"/>
            <a:ext cx="5297895" cy="2132470"/>
            <a:chOff x="0" y="0"/>
            <a:chExt cx="7063860" cy="28432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63436" cy="2842178"/>
            </a:xfrm>
            <a:custGeom>
              <a:avLst/>
              <a:gdLst/>
              <a:ahLst/>
              <a:cxnLst/>
              <a:rect l="l" t="t" r="r" b="b"/>
              <a:pathLst>
                <a:path w="7063436" h="2842178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2491330"/>
                  </a:lnTo>
                  <a:cubicBezTo>
                    <a:pt x="0" y="2685098"/>
                    <a:pt x="157080" y="2842178"/>
                    <a:pt x="350848" y="2842178"/>
                  </a:cubicBezTo>
                  <a:lnTo>
                    <a:pt x="6712588" y="2842178"/>
                  </a:lnTo>
                  <a:cubicBezTo>
                    <a:pt x="6906356" y="2842178"/>
                    <a:pt x="7063436" y="2685098"/>
                    <a:pt x="7063436" y="2491330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497110" y="5428625"/>
            <a:ext cx="5297895" cy="2132470"/>
            <a:chOff x="0" y="0"/>
            <a:chExt cx="7063860" cy="28432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63436" cy="2842178"/>
            </a:xfrm>
            <a:custGeom>
              <a:avLst/>
              <a:gdLst/>
              <a:ahLst/>
              <a:cxnLst/>
              <a:rect l="l" t="t" r="r" b="b"/>
              <a:pathLst>
                <a:path w="7063436" h="2842178">
                  <a:moveTo>
                    <a:pt x="6712588" y="0"/>
                  </a:moveTo>
                  <a:lnTo>
                    <a:pt x="350848" y="0"/>
                  </a:lnTo>
                  <a:cubicBezTo>
                    <a:pt x="157080" y="0"/>
                    <a:pt x="0" y="157080"/>
                    <a:pt x="0" y="350848"/>
                  </a:cubicBezTo>
                  <a:lnTo>
                    <a:pt x="0" y="2491330"/>
                  </a:lnTo>
                  <a:cubicBezTo>
                    <a:pt x="0" y="2685098"/>
                    <a:pt x="157080" y="2842178"/>
                    <a:pt x="350848" y="2842178"/>
                  </a:cubicBezTo>
                  <a:lnTo>
                    <a:pt x="6712588" y="2842178"/>
                  </a:lnTo>
                  <a:cubicBezTo>
                    <a:pt x="6906356" y="2842178"/>
                    <a:pt x="7063436" y="2685098"/>
                    <a:pt x="7063436" y="2491330"/>
                  </a:cubicBezTo>
                  <a:lnTo>
                    <a:pt x="7063436" y="350848"/>
                  </a:lnTo>
                  <a:cubicBezTo>
                    <a:pt x="7063436" y="157080"/>
                    <a:pt x="6906356" y="0"/>
                    <a:pt x="6712588" y="0"/>
                  </a:cubicBezTo>
                  <a:close/>
                </a:path>
              </a:pathLst>
            </a:custGeom>
            <a:solidFill>
              <a:srgbClr val="5F193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83495" y="3421376"/>
            <a:ext cx="445856" cy="445856"/>
          </a:xfrm>
          <a:custGeom>
            <a:avLst/>
            <a:gdLst/>
            <a:ahLst/>
            <a:cxnLst/>
            <a:rect l="l" t="t" r="r" b="b"/>
            <a:pathLst>
              <a:path w="445856" h="445856">
                <a:moveTo>
                  <a:pt x="0" y="0"/>
                </a:moveTo>
                <a:lnTo>
                  <a:pt x="445856" y="0"/>
                </a:lnTo>
                <a:lnTo>
                  <a:pt x="445856" y="445855"/>
                </a:lnTo>
                <a:lnTo>
                  <a:pt x="0" y="445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9667235" y="3244326"/>
            <a:ext cx="523158" cy="523158"/>
          </a:xfrm>
          <a:custGeom>
            <a:avLst/>
            <a:gdLst/>
            <a:ahLst/>
            <a:cxnLst/>
            <a:rect l="l" t="t" r="r" b="b"/>
            <a:pathLst>
              <a:path w="523158" h="523158">
                <a:moveTo>
                  <a:pt x="0" y="0"/>
                </a:moveTo>
                <a:lnTo>
                  <a:pt x="523158" y="0"/>
                </a:lnTo>
                <a:lnTo>
                  <a:pt x="523158" y="523158"/>
                </a:lnTo>
                <a:lnTo>
                  <a:pt x="0" y="523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3702545" y="5618992"/>
            <a:ext cx="479790" cy="479790"/>
          </a:xfrm>
          <a:custGeom>
            <a:avLst/>
            <a:gdLst/>
            <a:ahLst/>
            <a:cxnLst/>
            <a:rect l="l" t="t" r="r" b="b"/>
            <a:pathLst>
              <a:path w="479790" h="479790">
                <a:moveTo>
                  <a:pt x="0" y="0"/>
                </a:moveTo>
                <a:lnTo>
                  <a:pt x="479790" y="0"/>
                </a:lnTo>
                <a:lnTo>
                  <a:pt x="479790" y="479790"/>
                </a:lnTo>
                <a:lnTo>
                  <a:pt x="0" y="4797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9685341" y="5618992"/>
            <a:ext cx="505052" cy="505052"/>
          </a:xfrm>
          <a:custGeom>
            <a:avLst/>
            <a:gdLst/>
            <a:ahLst/>
            <a:cxnLst/>
            <a:rect l="l" t="t" r="r" b="b"/>
            <a:pathLst>
              <a:path w="505052" h="505052">
                <a:moveTo>
                  <a:pt x="0" y="0"/>
                </a:moveTo>
                <a:lnTo>
                  <a:pt x="505052" y="0"/>
                </a:lnTo>
                <a:lnTo>
                  <a:pt x="505052" y="505051"/>
                </a:lnTo>
                <a:lnTo>
                  <a:pt x="0" y="50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0" y="0"/>
            <a:ext cx="15137746" cy="1403686"/>
            <a:chOff x="0" y="0"/>
            <a:chExt cx="3986896" cy="36969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986896" cy="369695"/>
            </a:xfrm>
            <a:custGeom>
              <a:avLst/>
              <a:gdLst/>
              <a:ahLst/>
              <a:cxnLst/>
              <a:rect l="l" t="t" r="r" b="b"/>
              <a:pathLst>
                <a:path w="3986896" h="369695">
                  <a:moveTo>
                    <a:pt x="0" y="0"/>
                  </a:moveTo>
                  <a:lnTo>
                    <a:pt x="3986896" y="0"/>
                  </a:lnTo>
                  <a:lnTo>
                    <a:pt x="3986896" y="369695"/>
                  </a:lnTo>
                  <a:lnTo>
                    <a:pt x="0" y="369695"/>
                  </a:lnTo>
                  <a:close/>
                </a:path>
              </a:pathLst>
            </a:custGeom>
            <a:solidFill>
              <a:srgbClr val="5F183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3986896" cy="369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80298" y="169869"/>
            <a:ext cx="7825085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 spc="-1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Takeaways</a:t>
            </a:r>
          </a:p>
          <a:p>
            <a:pPr algn="l">
              <a:lnSpc>
                <a:spcPts val="3480"/>
              </a:lnSpc>
            </a:pPr>
            <a:r>
              <a:rPr lang="en-US" sz="2900" b="1" spc="-14">
                <a:solidFill>
                  <a:srgbClr val="FDC62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Donations to Strategic Co-Creation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19243" y="9715090"/>
            <a:ext cx="3440782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"/>
              </a:lnSpc>
            </a:pPr>
            <a:r>
              <a:rPr lang="en-US" sz="1270" b="1">
                <a:solidFill>
                  <a:srgbClr val="5F19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EDHEC Business School - 2025/2026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66562" y="3394737"/>
            <a:ext cx="3349910" cy="621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Win-Win-Win Model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sz="18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131652" y="3729384"/>
            <a:ext cx="4020581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tripartite partnership where McCain, Lazare, and Auchan each gain clear, measurable value.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367082" y="3394737"/>
            <a:ext cx="3044118" cy="297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Retail-First Strategy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37867" y="3738909"/>
            <a:ext cx="4452212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Shifting from isolated charity events to embedded, visible in-store activations at the point of purchase.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91885" y="5660796"/>
            <a:ext cx="285980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Emotional Brand Equity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131652" y="6085943"/>
            <a:ext cx="4020581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Moving McCain from functional product positioning to purpose-driven storytelling through "Born to Share."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42788" y="5705625"/>
            <a:ext cx="3373212" cy="306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Modular Vision Board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190393" y="6085943"/>
            <a:ext cx="4020581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flexible toolkit of scalable concepts, ready to adapt to the direction of retailer negotiations.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92995" y="8053312"/>
            <a:ext cx="11302010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551933"/>
                </a:solidFill>
                <a:latin typeface="Montserrat"/>
                <a:ea typeface="Montserrat"/>
                <a:cs typeface="Montserrat"/>
                <a:sym typeface="Montserrat"/>
              </a:rPr>
              <a:t>The partnership is no longer about writing a cheque, it's about building something together.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5519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16246409" y="0"/>
            <a:ext cx="2041591" cy="797093"/>
            <a:chOff x="0" y="0"/>
            <a:chExt cx="537703" cy="20993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37703" cy="209934"/>
            </a:xfrm>
            <a:custGeom>
              <a:avLst/>
              <a:gdLst/>
              <a:ahLst/>
              <a:cxnLst/>
              <a:rect l="l" t="t" r="r" b="b"/>
              <a:pathLst>
                <a:path w="537703" h="209934">
                  <a:moveTo>
                    <a:pt x="0" y="0"/>
                  </a:moveTo>
                  <a:lnTo>
                    <a:pt x="537703" y="0"/>
                  </a:lnTo>
                  <a:lnTo>
                    <a:pt x="537703" y="209934"/>
                  </a:lnTo>
                  <a:lnTo>
                    <a:pt x="0" y="209934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537703" cy="257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7449800" y="701843"/>
            <a:ext cx="923403" cy="701843"/>
            <a:chOff x="0" y="0"/>
            <a:chExt cx="243201" cy="18484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43201" cy="184848"/>
            </a:xfrm>
            <a:custGeom>
              <a:avLst/>
              <a:gdLst/>
              <a:ahLst/>
              <a:cxnLst/>
              <a:rect l="l" t="t" r="r" b="b"/>
              <a:pathLst>
                <a:path w="243201" h="184848">
                  <a:moveTo>
                    <a:pt x="0" y="0"/>
                  </a:moveTo>
                  <a:lnTo>
                    <a:pt x="243201" y="0"/>
                  </a:lnTo>
                  <a:lnTo>
                    <a:pt x="243201" y="184848"/>
                  </a:lnTo>
                  <a:lnTo>
                    <a:pt x="0" y="184848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243201" cy="232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137746" y="797093"/>
            <a:ext cx="1108663" cy="606593"/>
            <a:chOff x="0" y="0"/>
            <a:chExt cx="291994" cy="15976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91994" cy="159761"/>
            </a:xfrm>
            <a:custGeom>
              <a:avLst/>
              <a:gdLst/>
              <a:ahLst/>
              <a:cxnLst/>
              <a:rect l="l" t="t" r="r" b="b"/>
              <a:pathLst>
                <a:path w="291994" h="159761">
                  <a:moveTo>
                    <a:pt x="0" y="0"/>
                  </a:moveTo>
                  <a:lnTo>
                    <a:pt x="291994" y="0"/>
                  </a:lnTo>
                  <a:lnTo>
                    <a:pt x="291994" y="159761"/>
                  </a:lnTo>
                  <a:lnTo>
                    <a:pt x="0" y="159761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291994" cy="207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667"/>
            <a:ext cx="18295058" cy="10286057"/>
            <a:chOff x="0" y="0"/>
            <a:chExt cx="24393411" cy="137147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3017" cy="13713588"/>
            </a:xfrm>
            <a:custGeom>
              <a:avLst/>
              <a:gdLst/>
              <a:ahLst/>
              <a:cxnLst/>
              <a:rect l="l" t="t" r="r" b="b"/>
              <a:pathLst>
                <a:path w="24393017" h="13713588">
                  <a:moveTo>
                    <a:pt x="24393017" y="0"/>
                  </a:moveTo>
                  <a:lnTo>
                    <a:pt x="0" y="0"/>
                  </a:lnTo>
                  <a:lnTo>
                    <a:pt x="0" y="13713588"/>
                  </a:lnTo>
                  <a:lnTo>
                    <a:pt x="24393017" y="13713588"/>
                  </a:lnTo>
                  <a:lnTo>
                    <a:pt x="24393017" y="0"/>
                  </a:lnTo>
                  <a:close/>
                </a:path>
              </a:pathLst>
            </a:custGeom>
            <a:solidFill>
              <a:srgbClr val="5C183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578276" y="5692492"/>
            <a:ext cx="198072" cy="214293"/>
            <a:chOff x="0" y="0"/>
            <a:chExt cx="264096" cy="2857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4160" cy="285750"/>
            </a:xfrm>
            <a:custGeom>
              <a:avLst/>
              <a:gdLst/>
              <a:ahLst/>
              <a:cxnLst/>
              <a:rect l="l" t="t" r="r" b="b"/>
              <a:pathLst>
                <a:path w="264160" h="285750">
                  <a:moveTo>
                    <a:pt x="0" y="0"/>
                  </a:moveTo>
                  <a:lnTo>
                    <a:pt x="264160" y="0"/>
                  </a:lnTo>
                  <a:lnTo>
                    <a:pt x="26416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0" r="-206" b="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948313" y="5692492"/>
            <a:ext cx="216932" cy="218265"/>
            <a:chOff x="0" y="0"/>
            <a:chExt cx="289242" cy="291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9306" cy="291084"/>
            </a:xfrm>
            <a:custGeom>
              <a:avLst/>
              <a:gdLst/>
              <a:ahLst/>
              <a:cxnLst/>
              <a:rect l="l" t="t" r="r" b="b"/>
              <a:pathLst>
                <a:path w="289306" h="291084">
                  <a:moveTo>
                    <a:pt x="0" y="0"/>
                  </a:moveTo>
                  <a:lnTo>
                    <a:pt x="289306" y="0"/>
                  </a:lnTo>
                  <a:lnTo>
                    <a:pt x="289306" y="291084"/>
                  </a:lnTo>
                  <a:lnTo>
                    <a:pt x="0" y="291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7" r="-285" b="2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34218" y="5688520"/>
            <a:ext cx="186842" cy="222561"/>
            <a:chOff x="0" y="0"/>
            <a:chExt cx="249123" cy="2967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9174" cy="296799"/>
            </a:xfrm>
            <a:custGeom>
              <a:avLst/>
              <a:gdLst/>
              <a:ahLst/>
              <a:cxnLst/>
              <a:rect l="l" t="t" r="r" b="b"/>
              <a:pathLst>
                <a:path w="249174" h="296799">
                  <a:moveTo>
                    <a:pt x="0" y="0"/>
                  </a:moveTo>
                  <a:lnTo>
                    <a:pt x="249174" y="0"/>
                  </a:lnTo>
                  <a:lnTo>
                    <a:pt x="249174" y="296799"/>
                  </a:lnTo>
                  <a:lnTo>
                    <a:pt x="0" y="296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72" r="20" b="-35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698625" y="5692502"/>
            <a:ext cx="38319" cy="214798"/>
            <a:chOff x="0" y="0"/>
            <a:chExt cx="51092" cy="2863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292" cy="285750"/>
            </a:xfrm>
            <a:custGeom>
              <a:avLst/>
              <a:gdLst/>
              <a:ahLst/>
              <a:cxnLst/>
              <a:rect l="l" t="t" r="r" b="b"/>
              <a:pathLst>
                <a:path w="50292" h="285750">
                  <a:moveTo>
                    <a:pt x="50292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50292" y="285750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26482" y="5692502"/>
            <a:ext cx="224218" cy="214274"/>
            <a:chOff x="0" y="0"/>
            <a:chExt cx="298958" cy="2856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8958" cy="285750"/>
            </a:xfrm>
            <a:custGeom>
              <a:avLst/>
              <a:gdLst/>
              <a:ahLst/>
              <a:cxnLst/>
              <a:rect l="l" t="t" r="r" b="b"/>
              <a:pathLst>
                <a:path w="298958" h="285750">
                  <a:moveTo>
                    <a:pt x="0" y="0"/>
                  </a:moveTo>
                  <a:lnTo>
                    <a:pt x="298958" y="0"/>
                  </a:lnTo>
                  <a:lnTo>
                    <a:pt x="298958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93" r="-1197" b="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552" y="5692502"/>
            <a:ext cx="188576" cy="213789"/>
            <a:chOff x="0" y="0"/>
            <a:chExt cx="251435" cy="2850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0952" cy="285115"/>
            </a:xfrm>
            <a:custGeom>
              <a:avLst/>
              <a:gdLst/>
              <a:ahLst/>
              <a:cxnLst/>
              <a:rect l="l" t="t" r="r" b="b"/>
              <a:pathLst>
                <a:path w="250952" h="285115">
                  <a:moveTo>
                    <a:pt x="250952" y="242062"/>
                  </a:moveTo>
                  <a:lnTo>
                    <a:pt x="50292" y="242062"/>
                  </a:lnTo>
                  <a:lnTo>
                    <a:pt x="50292" y="164084"/>
                  </a:lnTo>
                  <a:lnTo>
                    <a:pt x="214249" y="164084"/>
                  </a:lnTo>
                  <a:lnTo>
                    <a:pt x="214249" y="123698"/>
                  </a:lnTo>
                  <a:lnTo>
                    <a:pt x="50292" y="123698"/>
                  </a:lnTo>
                  <a:lnTo>
                    <a:pt x="50292" y="43053"/>
                  </a:lnTo>
                  <a:lnTo>
                    <a:pt x="250444" y="43053"/>
                  </a:lnTo>
                  <a:lnTo>
                    <a:pt x="250444" y="0"/>
                  </a:lnTo>
                  <a:lnTo>
                    <a:pt x="0" y="0"/>
                  </a:lnTo>
                  <a:lnTo>
                    <a:pt x="0" y="43053"/>
                  </a:lnTo>
                  <a:lnTo>
                    <a:pt x="0" y="123698"/>
                  </a:lnTo>
                  <a:lnTo>
                    <a:pt x="0" y="164084"/>
                  </a:lnTo>
                  <a:lnTo>
                    <a:pt x="0" y="242062"/>
                  </a:lnTo>
                  <a:lnTo>
                    <a:pt x="0" y="285115"/>
                  </a:lnTo>
                  <a:lnTo>
                    <a:pt x="250952" y="285115"/>
                  </a:lnTo>
                  <a:lnTo>
                    <a:pt x="250952" y="2420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685749" y="5688520"/>
            <a:ext cx="186823" cy="222561"/>
            <a:chOff x="0" y="0"/>
            <a:chExt cx="249098" cy="29674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9047" cy="296799"/>
            </a:xfrm>
            <a:custGeom>
              <a:avLst/>
              <a:gdLst/>
              <a:ahLst/>
              <a:cxnLst/>
              <a:rect l="l" t="t" r="r" b="b"/>
              <a:pathLst>
                <a:path w="249047" h="296799">
                  <a:moveTo>
                    <a:pt x="0" y="0"/>
                  </a:moveTo>
                  <a:lnTo>
                    <a:pt x="249047" y="0"/>
                  </a:lnTo>
                  <a:lnTo>
                    <a:pt x="249047" y="296799"/>
                  </a:lnTo>
                  <a:lnTo>
                    <a:pt x="0" y="296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464" r="-20" b="-244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80584" y="5688520"/>
            <a:ext cx="186823" cy="222561"/>
            <a:chOff x="0" y="0"/>
            <a:chExt cx="249098" cy="2967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9047" cy="296799"/>
            </a:xfrm>
            <a:custGeom>
              <a:avLst/>
              <a:gdLst/>
              <a:ahLst/>
              <a:cxnLst/>
              <a:rect l="l" t="t" r="r" b="b"/>
              <a:pathLst>
                <a:path w="249047" h="296799">
                  <a:moveTo>
                    <a:pt x="0" y="0"/>
                  </a:moveTo>
                  <a:lnTo>
                    <a:pt x="249047" y="0"/>
                  </a:lnTo>
                  <a:lnTo>
                    <a:pt x="249047" y="296799"/>
                  </a:lnTo>
                  <a:lnTo>
                    <a:pt x="0" y="296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3" r="-20" b="-35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29001" y="5688520"/>
            <a:ext cx="186823" cy="222561"/>
            <a:chOff x="0" y="0"/>
            <a:chExt cx="249098" cy="2967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9047" cy="296799"/>
            </a:xfrm>
            <a:custGeom>
              <a:avLst/>
              <a:gdLst/>
              <a:ahLst/>
              <a:cxnLst/>
              <a:rect l="l" t="t" r="r" b="b"/>
              <a:pathLst>
                <a:path w="249047" h="296799">
                  <a:moveTo>
                    <a:pt x="0" y="0"/>
                  </a:moveTo>
                  <a:lnTo>
                    <a:pt x="249047" y="0"/>
                  </a:lnTo>
                  <a:lnTo>
                    <a:pt x="249047" y="296799"/>
                  </a:lnTo>
                  <a:lnTo>
                    <a:pt x="0" y="296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63" r="-20" b="-35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930114" y="5688530"/>
            <a:ext cx="234458" cy="222218"/>
            <a:chOff x="0" y="0"/>
            <a:chExt cx="312610" cy="29629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2674" cy="296291"/>
            </a:xfrm>
            <a:custGeom>
              <a:avLst/>
              <a:gdLst/>
              <a:ahLst/>
              <a:cxnLst/>
              <a:rect l="l" t="t" r="r" b="b"/>
              <a:pathLst>
                <a:path w="312674" h="296291">
                  <a:moveTo>
                    <a:pt x="0" y="0"/>
                  </a:moveTo>
                  <a:lnTo>
                    <a:pt x="312674" y="0"/>
                  </a:lnTo>
                  <a:lnTo>
                    <a:pt x="312674" y="296291"/>
                  </a:lnTo>
                  <a:lnTo>
                    <a:pt x="0" y="296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054" r="20" b="-105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39832" y="5815708"/>
            <a:ext cx="38319" cy="90764"/>
            <a:chOff x="0" y="0"/>
            <a:chExt cx="51092" cy="12101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292" cy="121031"/>
            </a:xfrm>
            <a:custGeom>
              <a:avLst/>
              <a:gdLst/>
              <a:ahLst/>
              <a:cxnLst/>
              <a:rect l="l" t="t" r="r" b="b"/>
              <a:pathLst>
                <a:path w="50292" h="121031">
                  <a:moveTo>
                    <a:pt x="0" y="121031"/>
                  </a:moveTo>
                  <a:lnTo>
                    <a:pt x="50292" y="121031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1210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339822" y="5692683"/>
            <a:ext cx="223876" cy="213789"/>
            <a:chOff x="0" y="0"/>
            <a:chExt cx="298501" cy="28505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97180" cy="285115"/>
            </a:xfrm>
            <a:custGeom>
              <a:avLst/>
              <a:gdLst/>
              <a:ahLst/>
              <a:cxnLst/>
              <a:rect l="l" t="t" r="r" b="b"/>
              <a:pathLst>
                <a:path w="297180" h="285115">
                  <a:moveTo>
                    <a:pt x="297180" y="0"/>
                  </a:moveTo>
                  <a:lnTo>
                    <a:pt x="247396" y="0"/>
                  </a:lnTo>
                  <a:lnTo>
                    <a:pt x="247396" y="121031"/>
                  </a:lnTo>
                  <a:lnTo>
                    <a:pt x="50292" y="121031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121031"/>
                  </a:lnTo>
                  <a:lnTo>
                    <a:pt x="0" y="164084"/>
                  </a:lnTo>
                  <a:lnTo>
                    <a:pt x="247396" y="164084"/>
                  </a:lnTo>
                  <a:lnTo>
                    <a:pt x="247396" y="285115"/>
                  </a:lnTo>
                  <a:lnTo>
                    <a:pt x="297180" y="285115"/>
                  </a:lnTo>
                  <a:lnTo>
                    <a:pt x="297180" y="164084"/>
                  </a:lnTo>
                  <a:lnTo>
                    <a:pt x="297180" y="121031"/>
                  </a:lnTo>
                  <a:lnTo>
                    <a:pt x="2971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7977" y="5688520"/>
            <a:ext cx="248679" cy="222237"/>
            <a:chOff x="0" y="0"/>
            <a:chExt cx="331572" cy="29631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31597" cy="296291"/>
            </a:xfrm>
            <a:custGeom>
              <a:avLst/>
              <a:gdLst/>
              <a:ahLst/>
              <a:cxnLst/>
              <a:rect l="l" t="t" r="r" b="b"/>
              <a:pathLst>
                <a:path w="331597" h="296291">
                  <a:moveTo>
                    <a:pt x="0" y="0"/>
                  </a:moveTo>
                  <a:lnTo>
                    <a:pt x="331597" y="0"/>
                  </a:lnTo>
                  <a:lnTo>
                    <a:pt x="331597" y="296291"/>
                  </a:lnTo>
                  <a:lnTo>
                    <a:pt x="0" y="296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861" r="7" b="-87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153324" y="5688520"/>
            <a:ext cx="248679" cy="222237"/>
            <a:chOff x="0" y="0"/>
            <a:chExt cx="331572" cy="29631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31597" cy="296291"/>
            </a:xfrm>
            <a:custGeom>
              <a:avLst/>
              <a:gdLst/>
              <a:ahLst/>
              <a:cxnLst/>
              <a:rect l="l" t="t" r="r" b="b"/>
              <a:pathLst>
                <a:path w="331597" h="296291">
                  <a:moveTo>
                    <a:pt x="0" y="0"/>
                  </a:moveTo>
                  <a:lnTo>
                    <a:pt x="331597" y="0"/>
                  </a:lnTo>
                  <a:lnTo>
                    <a:pt x="331597" y="296291"/>
                  </a:lnTo>
                  <a:lnTo>
                    <a:pt x="0" y="296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861" r="7" b="-87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577262" y="5692864"/>
            <a:ext cx="171431" cy="213789"/>
            <a:chOff x="0" y="0"/>
            <a:chExt cx="228575" cy="28505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8346" cy="285115"/>
            </a:xfrm>
            <a:custGeom>
              <a:avLst/>
              <a:gdLst/>
              <a:ahLst/>
              <a:cxnLst/>
              <a:rect l="l" t="t" r="r" b="b"/>
              <a:pathLst>
                <a:path w="228346" h="285115">
                  <a:moveTo>
                    <a:pt x="228346" y="242062"/>
                  </a:moveTo>
                  <a:lnTo>
                    <a:pt x="50292" y="242062"/>
                  </a:lnTo>
                  <a:lnTo>
                    <a:pt x="50292" y="0"/>
                  </a:lnTo>
                  <a:lnTo>
                    <a:pt x="0" y="0"/>
                  </a:lnTo>
                  <a:lnTo>
                    <a:pt x="0" y="242062"/>
                  </a:lnTo>
                  <a:lnTo>
                    <a:pt x="0" y="285115"/>
                  </a:lnTo>
                  <a:lnTo>
                    <a:pt x="228346" y="285115"/>
                  </a:lnTo>
                  <a:lnTo>
                    <a:pt x="228346" y="2420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Freeform 34"/>
          <p:cNvSpPr/>
          <p:nvPr/>
        </p:nvSpPr>
        <p:spPr>
          <a:xfrm>
            <a:off x="4539482" y="4598689"/>
            <a:ext cx="1006421" cy="880367"/>
          </a:xfrm>
          <a:custGeom>
            <a:avLst/>
            <a:gdLst/>
            <a:ahLst/>
            <a:cxnLst/>
            <a:rect l="l" t="t" r="r" b="b"/>
            <a:pathLst>
              <a:path w="1006421" h="880367">
                <a:moveTo>
                  <a:pt x="0" y="0"/>
                </a:moveTo>
                <a:lnTo>
                  <a:pt x="1006421" y="0"/>
                </a:lnTo>
                <a:lnTo>
                  <a:pt x="1006421" y="880367"/>
                </a:lnTo>
                <a:lnTo>
                  <a:pt x="0" y="880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3578257" y="4599261"/>
            <a:ext cx="781536" cy="879358"/>
            <a:chOff x="0" y="0"/>
            <a:chExt cx="1042048" cy="117247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40892" cy="1172464"/>
            </a:xfrm>
            <a:custGeom>
              <a:avLst/>
              <a:gdLst/>
              <a:ahLst/>
              <a:cxnLst/>
              <a:rect l="l" t="t" r="r" b="b"/>
              <a:pathLst>
                <a:path w="1040892" h="1172464">
                  <a:moveTo>
                    <a:pt x="1040892" y="919734"/>
                  </a:moveTo>
                  <a:lnTo>
                    <a:pt x="293751" y="919734"/>
                  </a:lnTo>
                  <a:lnTo>
                    <a:pt x="293751" y="680339"/>
                  </a:lnTo>
                  <a:lnTo>
                    <a:pt x="792226" y="680339"/>
                  </a:lnTo>
                  <a:lnTo>
                    <a:pt x="792226" y="478663"/>
                  </a:lnTo>
                  <a:lnTo>
                    <a:pt x="293751" y="478663"/>
                  </a:lnTo>
                  <a:lnTo>
                    <a:pt x="293751" y="244729"/>
                  </a:lnTo>
                  <a:lnTo>
                    <a:pt x="1032129" y="244729"/>
                  </a:lnTo>
                  <a:lnTo>
                    <a:pt x="1032129" y="0"/>
                  </a:lnTo>
                  <a:lnTo>
                    <a:pt x="0" y="0"/>
                  </a:lnTo>
                  <a:lnTo>
                    <a:pt x="0" y="244729"/>
                  </a:lnTo>
                  <a:lnTo>
                    <a:pt x="0" y="478663"/>
                  </a:lnTo>
                  <a:lnTo>
                    <a:pt x="0" y="680339"/>
                  </a:lnTo>
                  <a:lnTo>
                    <a:pt x="0" y="919734"/>
                  </a:lnTo>
                  <a:lnTo>
                    <a:pt x="0" y="1172464"/>
                  </a:lnTo>
                  <a:lnTo>
                    <a:pt x="1040892" y="1172464"/>
                  </a:lnTo>
                  <a:lnTo>
                    <a:pt x="1040892" y="919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27577" y="4599261"/>
            <a:ext cx="781536" cy="879358"/>
            <a:chOff x="0" y="0"/>
            <a:chExt cx="1042048" cy="117247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40892" cy="1172464"/>
            </a:xfrm>
            <a:custGeom>
              <a:avLst/>
              <a:gdLst/>
              <a:ahLst/>
              <a:cxnLst/>
              <a:rect l="l" t="t" r="r" b="b"/>
              <a:pathLst>
                <a:path w="1040892" h="1172464">
                  <a:moveTo>
                    <a:pt x="1040892" y="919734"/>
                  </a:moveTo>
                  <a:lnTo>
                    <a:pt x="293751" y="919734"/>
                  </a:lnTo>
                  <a:lnTo>
                    <a:pt x="293751" y="680339"/>
                  </a:lnTo>
                  <a:lnTo>
                    <a:pt x="792226" y="680339"/>
                  </a:lnTo>
                  <a:lnTo>
                    <a:pt x="792226" y="478663"/>
                  </a:lnTo>
                  <a:lnTo>
                    <a:pt x="293751" y="478663"/>
                  </a:lnTo>
                  <a:lnTo>
                    <a:pt x="293751" y="244729"/>
                  </a:lnTo>
                  <a:lnTo>
                    <a:pt x="1032129" y="244729"/>
                  </a:lnTo>
                  <a:lnTo>
                    <a:pt x="1032129" y="0"/>
                  </a:lnTo>
                  <a:lnTo>
                    <a:pt x="0" y="0"/>
                  </a:lnTo>
                  <a:lnTo>
                    <a:pt x="0" y="244729"/>
                  </a:lnTo>
                  <a:lnTo>
                    <a:pt x="0" y="478663"/>
                  </a:lnTo>
                  <a:lnTo>
                    <a:pt x="0" y="680339"/>
                  </a:lnTo>
                  <a:lnTo>
                    <a:pt x="0" y="919734"/>
                  </a:lnTo>
                  <a:lnTo>
                    <a:pt x="0" y="1172464"/>
                  </a:lnTo>
                  <a:lnTo>
                    <a:pt x="1040892" y="1172464"/>
                  </a:lnTo>
                  <a:lnTo>
                    <a:pt x="1040892" y="919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679415" y="5129089"/>
            <a:ext cx="236982" cy="348920"/>
            <a:chOff x="0" y="0"/>
            <a:chExt cx="315976" cy="46522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14706" cy="465201"/>
            </a:xfrm>
            <a:custGeom>
              <a:avLst/>
              <a:gdLst/>
              <a:ahLst/>
              <a:cxnLst/>
              <a:rect l="l" t="t" r="r" b="b"/>
              <a:pathLst>
                <a:path w="314706" h="465201">
                  <a:moveTo>
                    <a:pt x="0" y="465201"/>
                  </a:moveTo>
                  <a:lnTo>
                    <a:pt x="314706" y="465201"/>
                  </a:lnTo>
                  <a:lnTo>
                    <a:pt x="314706" y="0"/>
                  </a:lnTo>
                  <a:lnTo>
                    <a:pt x="0" y="0"/>
                  </a:lnTo>
                  <a:lnTo>
                    <a:pt x="0" y="4652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679396" y="4598651"/>
            <a:ext cx="970112" cy="879358"/>
            <a:chOff x="0" y="0"/>
            <a:chExt cx="1293482" cy="117247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92733" cy="1172464"/>
            </a:xfrm>
            <a:custGeom>
              <a:avLst/>
              <a:gdLst/>
              <a:ahLst/>
              <a:cxnLst/>
              <a:rect l="l" t="t" r="r" b="b"/>
              <a:pathLst>
                <a:path w="1292733" h="1172464">
                  <a:moveTo>
                    <a:pt x="1292733" y="0"/>
                  </a:moveTo>
                  <a:lnTo>
                    <a:pt x="978027" y="0"/>
                  </a:lnTo>
                  <a:lnTo>
                    <a:pt x="978027" y="449072"/>
                  </a:lnTo>
                  <a:lnTo>
                    <a:pt x="314706" y="449072"/>
                  </a:lnTo>
                  <a:lnTo>
                    <a:pt x="314706" y="0"/>
                  </a:lnTo>
                  <a:lnTo>
                    <a:pt x="0" y="0"/>
                  </a:lnTo>
                  <a:lnTo>
                    <a:pt x="0" y="449072"/>
                  </a:lnTo>
                  <a:lnTo>
                    <a:pt x="0" y="707263"/>
                  </a:lnTo>
                  <a:lnTo>
                    <a:pt x="978027" y="707263"/>
                  </a:lnTo>
                  <a:lnTo>
                    <a:pt x="978027" y="1172464"/>
                  </a:lnTo>
                  <a:lnTo>
                    <a:pt x="1292733" y="1172464"/>
                  </a:lnTo>
                  <a:lnTo>
                    <a:pt x="1292733" y="707263"/>
                  </a:lnTo>
                  <a:lnTo>
                    <a:pt x="1292733" y="449072"/>
                  </a:lnTo>
                  <a:lnTo>
                    <a:pt x="12927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Freeform 43"/>
          <p:cNvSpPr/>
          <p:nvPr/>
        </p:nvSpPr>
        <p:spPr>
          <a:xfrm>
            <a:off x="7718060" y="4565523"/>
            <a:ext cx="1034653" cy="946918"/>
          </a:xfrm>
          <a:custGeom>
            <a:avLst/>
            <a:gdLst/>
            <a:ahLst/>
            <a:cxnLst/>
            <a:rect l="l" t="t" r="r" b="b"/>
            <a:pathLst>
              <a:path w="1034653" h="946918">
                <a:moveTo>
                  <a:pt x="0" y="0"/>
                </a:moveTo>
                <a:lnTo>
                  <a:pt x="1034653" y="0"/>
                </a:lnTo>
                <a:lnTo>
                  <a:pt x="1034653" y="946918"/>
                </a:lnTo>
                <a:lnTo>
                  <a:pt x="0" y="9469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/>
          <p:cNvGrpSpPr/>
          <p:nvPr/>
        </p:nvGrpSpPr>
        <p:grpSpPr>
          <a:xfrm>
            <a:off x="2013128" y="5515413"/>
            <a:ext cx="663264" cy="603133"/>
            <a:chOff x="0" y="0"/>
            <a:chExt cx="884352" cy="80417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84301" cy="804164"/>
            </a:xfrm>
            <a:custGeom>
              <a:avLst/>
              <a:gdLst/>
              <a:ahLst/>
              <a:cxnLst/>
              <a:rect l="l" t="t" r="r" b="b"/>
              <a:pathLst>
                <a:path w="884301" h="804164">
                  <a:moveTo>
                    <a:pt x="0" y="0"/>
                  </a:moveTo>
                  <a:lnTo>
                    <a:pt x="884301" y="0"/>
                  </a:lnTo>
                  <a:lnTo>
                    <a:pt x="884301" y="804164"/>
                  </a:lnTo>
                  <a:lnTo>
                    <a:pt x="0" y="804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646" r="-653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027320" y="4358078"/>
            <a:ext cx="663264" cy="603104"/>
            <a:chOff x="0" y="0"/>
            <a:chExt cx="884352" cy="80413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84301" cy="804164"/>
            </a:xfrm>
            <a:custGeom>
              <a:avLst/>
              <a:gdLst/>
              <a:ahLst/>
              <a:cxnLst/>
              <a:rect l="l" t="t" r="r" b="b"/>
              <a:pathLst>
                <a:path w="884301" h="804164">
                  <a:moveTo>
                    <a:pt x="0" y="0"/>
                  </a:moveTo>
                  <a:lnTo>
                    <a:pt x="884301" y="0"/>
                  </a:lnTo>
                  <a:lnTo>
                    <a:pt x="884301" y="804164"/>
                  </a:lnTo>
                  <a:lnTo>
                    <a:pt x="0" y="804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644" r="-650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851090" y="5302482"/>
            <a:ext cx="298275" cy="515464"/>
            <a:chOff x="0" y="0"/>
            <a:chExt cx="397700" cy="68728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97637" cy="687324"/>
            </a:xfrm>
            <a:custGeom>
              <a:avLst/>
              <a:gdLst/>
              <a:ahLst/>
              <a:cxnLst/>
              <a:rect l="l" t="t" r="r" b="b"/>
              <a:pathLst>
                <a:path w="397637" h="687324">
                  <a:moveTo>
                    <a:pt x="0" y="0"/>
                  </a:moveTo>
                  <a:lnTo>
                    <a:pt x="397637" y="0"/>
                  </a:lnTo>
                  <a:lnTo>
                    <a:pt x="397637" y="687324"/>
                  </a:lnTo>
                  <a:lnTo>
                    <a:pt x="0" y="687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1188" r="-15" b="-118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431399" y="5446405"/>
            <a:ext cx="420519" cy="270262"/>
            <a:chOff x="0" y="0"/>
            <a:chExt cx="560692" cy="36035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59562" cy="359664"/>
            </a:xfrm>
            <a:custGeom>
              <a:avLst/>
              <a:gdLst/>
              <a:ahLst/>
              <a:cxnLst/>
              <a:rect l="l" t="t" r="r" b="b"/>
              <a:pathLst>
                <a:path w="559562" h="359664">
                  <a:moveTo>
                    <a:pt x="378333" y="0"/>
                  </a:moveTo>
                  <a:lnTo>
                    <a:pt x="338455" y="69088"/>
                  </a:lnTo>
                  <a:lnTo>
                    <a:pt x="295783" y="117348"/>
                  </a:lnTo>
                  <a:lnTo>
                    <a:pt x="239776" y="144653"/>
                  </a:lnTo>
                  <a:lnTo>
                    <a:pt x="177546" y="148971"/>
                  </a:lnTo>
                  <a:lnTo>
                    <a:pt x="116459" y="128397"/>
                  </a:lnTo>
                  <a:lnTo>
                    <a:pt x="104775" y="121666"/>
                  </a:lnTo>
                  <a:lnTo>
                    <a:pt x="0" y="303022"/>
                  </a:lnTo>
                  <a:lnTo>
                    <a:pt x="11811" y="309753"/>
                  </a:lnTo>
                  <a:lnTo>
                    <a:pt x="104013" y="347726"/>
                  </a:lnTo>
                  <a:lnTo>
                    <a:pt x="199644" y="359664"/>
                  </a:lnTo>
                  <a:lnTo>
                    <a:pt x="293878" y="346964"/>
                  </a:lnTo>
                  <a:lnTo>
                    <a:pt x="381889" y="310896"/>
                  </a:lnTo>
                  <a:lnTo>
                    <a:pt x="458724" y="252730"/>
                  </a:lnTo>
                  <a:lnTo>
                    <a:pt x="519684" y="173736"/>
                  </a:lnTo>
                  <a:lnTo>
                    <a:pt x="559562" y="104648"/>
                  </a:lnTo>
                  <a:lnTo>
                    <a:pt x="3783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734532" y="4599803"/>
            <a:ext cx="454142" cy="417071"/>
            <a:chOff x="0" y="0"/>
            <a:chExt cx="605523" cy="55609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05536" cy="556133"/>
            </a:xfrm>
            <a:custGeom>
              <a:avLst/>
              <a:gdLst/>
              <a:ahLst/>
              <a:cxnLst/>
              <a:rect l="l" t="t" r="r" b="b"/>
              <a:pathLst>
                <a:path w="605536" h="556133">
                  <a:moveTo>
                    <a:pt x="0" y="0"/>
                  </a:moveTo>
                  <a:lnTo>
                    <a:pt x="605536" y="0"/>
                  </a:lnTo>
                  <a:lnTo>
                    <a:pt x="605536" y="556133"/>
                  </a:lnTo>
                  <a:lnTo>
                    <a:pt x="0" y="556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92" r="-90" b="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511123" y="4959391"/>
            <a:ext cx="395307" cy="487070"/>
            <a:chOff x="0" y="0"/>
            <a:chExt cx="527075" cy="64942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25780" cy="649351"/>
            </a:xfrm>
            <a:custGeom>
              <a:avLst/>
              <a:gdLst/>
              <a:ahLst/>
              <a:cxnLst/>
              <a:rect l="l" t="t" r="r" b="b"/>
              <a:pathLst>
                <a:path w="525780" h="649351">
                  <a:moveTo>
                    <a:pt x="435991" y="0"/>
                  </a:moveTo>
                  <a:lnTo>
                    <a:pt x="254762" y="104648"/>
                  </a:lnTo>
                  <a:lnTo>
                    <a:pt x="294640" y="173736"/>
                  </a:lnTo>
                  <a:lnTo>
                    <a:pt x="314833" y="232664"/>
                  </a:lnTo>
                  <a:lnTo>
                    <a:pt x="311785" y="292862"/>
                  </a:lnTo>
                  <a:lnTo>
                    <a:pt x="287274" y="347726"/>
                  </a:lnTo>
                  <a:lnTo>
                    <a:pt x="242951" y="390906"/>
                  </a:lnTo>
                  <a:lnTo>
                    <a:pt x="104648" y="311023"/>
                  </a:lnTo>
                  <a:lnTo>
                    <a:pt x="0" y="492379"/>
                  </a:lnTo>
                  <a:lnTo>
                    <a:pt x="272034" y="649351"/>
                  </a:lnTo>
                  <a:lnTo>
                    <a:pt x="302895" y="595884"/>
                  </a:lnTo>
                  <a:lnTo>
                    <a:pt x="393065" y="539877"/>
                  </a:lnTo>
                  <a:lnTo>
                    <a:pt x="463550" y="461137"/>
                  </a:lnTo>
                  <a:lnTo>
                    <a:pt x="509397" y="364617"/>
                  </a:lnTo>
                  <a:lnTo>
                    <a:pt x="525780" y="255143"/>
                  </a:lnTo>
                  <a:lnTo>
                    <a:pt x="522478" y="205105"/>
                  </a:lnTo>
                  <a:lnTo>
                    <a:pt x="512826" y="157099"/>
                  </a:lnTo>
                  <a:lnTo>
                    <a:pt x="497205" y="111633"/>
                  </a:lnTo>
                  <a:lnTo>
                    <a:pt x="475996" y="68961"/>
                  </a:lnTo>
                  <a:lnTo>
                    <a:pt x="435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556223" y="4656506"/>
            <a:ext cx="298275" cy="515464"/>
            <a:chOff x="0" y="0"/>
            <a:chExt cx="397700" cy="68728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97637" cy="687324"/>
            </a:xfrm>
            <a:custGeom>
              <a:avLst/>
              <a:gdLst/>
              <a:ahLst/>
              <a:cxnLst/>
              <a:rect l="l" t="t" r="r" b="b"/>
              <a:pathLst>
                <a:path w="397637" h="687324">
                  <a:moveTo>
                    <a:pt x="0" y="0"/>
                  </a:moveTo>
                  <a:lnTo>
                    <a:pt x="397637" y="0"/>
                  </a:lnTo>
                  <a:lnTo>
                    <a:pt x="397637" y="687324"/>
                  </a:lnTo>
                  <a:lnTo>
                    <a:pt x="0" y="687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t="-447" r="-15" b="-43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854498" y="4758242"/>
            <a:ext cx="420519" cy="270262"/>
            <a:chOff x="0" y="0"/>
            <a:chExt cx="560692" cy="36035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59562" cy="359664"/>
            </a:xfrm>
            <a:custGeom>
              <a:avLst/>
              <a:gdLst/>
              <a:ahLst/>
              <a:cxnLst/>
              <a:rect l="l" t="t" r="r" b="b"/>
              <a:pathLst>
                <a:path w="559562" h="359664">
                  <a:moveTo>
                    <a:pt x="359918" y="0"/>
                  </a:moveTo>
                  <a:lnTo>
                    <a:pt x="265684" y="12700"/>
                  </a:lnTo>
                  <a:lnTo>
                    <a:pt x="177673" y="48768"/>
                  </a:lnTo>
                  <a:lnTo>
                    <a:pt x="100838" y="107061"/>
                  </a:lnTo>
                  <a:lnTo>
                    <a:pt x="39878" y="186055"/>
                  </a:lnTo>
                  <a:lnTo>
                    <a:pt x="0" y="255016"/>
                  </a:lnTo>
                  <a:lnTo>
                    <a:pt x="181356" y="359664"/>
                  </a:lnTo>
                  <a:lnTo>
                    <a:pt x="221234" y="290576"/>
                  </a:lnTo>
                  <a:lnTo>
                    <a:pt x="263906" y="242189"/>
                  </a:lnTo>
                  <a:lnTo>
                    <a:pt x="319913" y="214884"/>
                  </a:lnTo>
                  <a:lnTo>
                    <a:pt x="382143" y="210566"/>
                  </a:lnTo>
                  <a:lnTo>
                    <a:pt x="443230" y="231140"/>
                  </a:lnTo>
                  <a:lnTo>
                    <a:pt x="454914" y="237871"/>
                  </a:lnTo>
                  <a:lnTo>
                    <a:pt x="559562" y="56642"/>
                  </a:lnTo>
                  <a:lnTo>
                    <a:pt x="547751" y="49911"/>
                  </a:lnTo>
                  <a:lnTo>
                    <a:pt x="455549" y="11938"/>
                  </a:lnTo>
                  <a:lnTo>
                    <a:pt x="3599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16913" y="5457568"/>
            <a:ext cx="454142" cy="417071"/>
            <a:chOff x="0" y="0"/>
            <a:chExt cx="605523" cy="55609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05536" cy="556133"/>
            </a:xfrm>
            <a:custGeom>
              <a:avLst/>
              <a:gdLst/>
              <a:ahLst/>
              <a:cxnLst/>
              <a:rect l="l" t="t" r="r" b="b"/>
              <a:pathLst>
                <a:path w="605536" h="556133">
                  <a:moveTo>
                    <a:pt x="0" y="0"/>
                  </a:moveTo>
                  <a:lnTo>
                    <a:pt x="605536" y="0"/>
                  </a:lnTo>
                  <a:lnTo>
                    <a:pt x="605536" y="556133"/>
                  </a:lnTo>
                  <a:lnTo>
                    <a:pt x="0" y="556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92" r="-90" b="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800101" y="5028038"/>
            <a:ext cx="395307" cy="487070"/>
            <a:chOff x="0" y="0"/>
            <a:chExt cx="527075" cy="649427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25780" cy="649478"/>
            </a:xfrm>
            <a:custGeom>
              <a:avLst/>
              <a:gdLst/>
              <a:ahLst/>
              <a:cxnLst/>
              <a:rect l="l" t="t" r="r" b="b"/>
              <a:pathLst>
                <a:path w="525780" h="649478">
                  <a:moveTo>
                    <a:pt x="253873" y="0"/>
                  </a:moveTo>
                  <a:lnTo>
                    <a:pt x="223012" y="53467"/>
                  </a:lnTo>
                  <a:lnTo>
                    <a:pt x="132842" y="109474"/>
                  </a:lnTo>
                  <a:lnTo>
                    <a:pt x="62357" y="188214"/>
                  </a:lnTo>
                  <a:lnTo>
                    <a:pt x="16510" y="284734"/>
                  </a:lnTo>
                  <a:lnTo>
                    <a:pt x="0" y="394208"/>
                  </a:lnTo>
                  <a:lnTo>
                    <a:pt x="3302" y="444246"/>
                  </a:lnTo>
                  <a:lnTo>
                    <a:pt x="12954" y="492252"/>
                  </a:lnTo>
                  <a:lnTo>
                    <a:pt x="28575" y="537718"/>
                  </a:lnTo>
                  <a:lnTo>
                    <a:pt x="49784" y="580390"/>
                  </a:lnTo>
                  <a:lnTo>
                    <a:pt x="89662" y="649478"/>
                  </a:lnTo>
                  <a:lnTo>
                    <a:pt x="271018" y="544830"/>
                  </a:lnTo>
                  <a:lnTo>
                    <a:pt x="231140" y="475742"/>
                  </a:lnTo>
                  <a:lnTo>
                    <a:pt x="210947" y="416814"/>
                  </a:lnTo>
                  <a:lnTo>
                    <a:pt x="213995" y="356616"/>
                  </a:lnTo>
                  <a:lnTo>
                    <a:pt x="238506" y="301752"/>
                  </a:lnTo>
                  <a:lnTo>
                    <a:pt x="282829" y="258572"/>
                  </a:lnTo>
                  <a:lnTo>
                    <a:pt x="421132" y="338455"/>
                  </a:lnTo>
                  <a:lnTo>
                    <a:pt x="525780" y="156972"/>
                  </a:lnTo>
                  <a:lnTo>
                    <a:pt x="2538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544002" y="4354554"/>
            <a:ext cx="10087" cy="1767792"/>
            <a:chOff x="0" y="0"/>
            <a:chExt cx="13449" cy="235705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3462" cy="2356739"/>
            </a:xfrm>
            <a:custGeom>
              <a:avLst/>
              <a:gdLst/>
              <a:ahLst/>
              <a:cxnLst/>
              <a:rect l="l" t="t" r="r" b="b"/>
              <a:pathLst>
                <a:path w="13462" h="2356739">
                  <a:moveTo>
                    <a:pt x="13462" y="0"/>
                  </a:moveTo>
                  <a:lnTo>
                    <a:pt x="0" y="0"/>
                  </a:lnTo>
                  <a:lnTo>
                    <a:pt x="0" y="2356739"/>
                  </a:lnTo>
                  <a:lnTo>
                    <a:pt x="13462" y="2356739"/>
                  </a:lnTo>
                  <a:lnTo>
                    <a:pt x="134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342426" y="4625502"/>
            <a:ext cx="453800" cy="557670"/>
            <a:chOff x="0" y="0"/>
            <a:chExt cx="605066" cy="74356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04647" cy="743204"/>
            </a:xfrm>
            <a:custGeom>
              <a:avLst/>
              <a:gdLst/>
              <a:ahLst/>
              <a:cxnLst/>
              <a:rect l="l" t="t" r="r" b="b"/>
              <a:pathLst>
                <a:path w="604647" h="743204">
                  <a:moveTo>
                    <a:pt x="604520" y="0"/>
                  </a:moveTo>
                  <a:lnTo>
                    <a:pt x="514223" y="0"/>
                  </a:lnTo>
                  <a:lnTo>
                    <a:pt x="514223" y="450469"/>
                  </a:lnTo>
                  <a:lnTo>
                    <a:pt x="512445" y="490220"/>
                  </a:lnTo>
                  <a:lnTo>
                    <a:pt x="484886" y="580009"/>
                  </a:lnTo>
                  <a:lnTo>
                    <a:pt x="408051" y="641985"/>
                  </a:lnTo>
                  <a:lnTo>
                    <a:pt x="304038" y="658876"/>
                  </a:lnTo>
                  <a:lnTo>
                    <a:pt x="275844" y="657860"/>
                  </a:lnTo>
                  <a:lnTo>
                    <a:pt x="174752" y="631825"/>
                  </a:lnTo>
                  <a:lnTo>
                    <a:pt x="106934" y="554990"/>
                  </a:lnTo>
                  <a:lnTo>
                    <a:pt x="90424" y="450469"/>
                  </a:lnTo>
                  <a:lnTo>
                    <a:pt x="90424" y="0"/>
                  </a:lnTo>
                  <a:lnTo>
                    <a:pt x="0" y="0"/>
                  </a:lnTo>
                  <a:lnTo>
                    <a:pt x="0" y="450469"/>
                  </a:lnTo>
                  <a:lnTo>
                    <a:pt x="889" y="480568"/>
                  </a:lnTo>
                  <a:lnTo>
                    <a:pt x="14605" y="560324"/>
                  </a:lnTo>
                  <a:lnTo>
                    <a:pt x="55880" y="643001"/>
                  </a:lnTo>
                  <a:lnTo>
                    <a:pt x="120269" y="699897"/>
                  </a:lnTo>
                  <a:lnTo>
                    <a:pt x="204470" y="732536"/>
                  </a:lnTo>
                  <a:lnTo>
                    <a:pt x="303911" y="743204"/>
                  </a:lnTo>
                  <a:lnTo>
                    <a:pt x="329565" y="742569"/>
                  </a:lnTo>
                  <a:lnTo>
                    <a:pt x="424053" y="726440"/>
                  </a:lnTo>
                  <a:lnTo>
                    <a:pt x="502793" y="688086"/>
                  </a:lnTo>
                  <a:lnTo>
                    <a:pt x="561213" y="624713"/>
                  </a:lnTo>
                  <a:lnTo>
                    <a:pt x="596392" y="535432"/>
                  </a:lnTo>
                  <a:lnTo>
                    <a:pt x="604647" y="450469"/>
                  </a:lnTo>
                  <a:lnTo>
                    <a:pt x="6046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931462" y="4625445"/>
            <a:ext cx="474974" cy="549602"/>
            <a:chOff x="0" y="0"/>
            <a:chExt cx="633298" cy="732803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32841" cy="732155"/>
            </a:xfrm>
            <a:custGeom>
              <a:avLst/>
              <a:gdLst/>
              <a:ahLst/>
              <a:cxnLst/>
              <a:rect l="l" t="t" r="r" b="b"/>
              <a:pathLst>
                <a:path w="632841" h="732155">
                  <a:moveTo>
                    <a:pt x="632841" y="0"/>
                  </a:moveTo>
                  <a:lnTo>
                    <a:pt x="542417" y="0"/>
                  </a:lnTo>
                  <a:lnTo>
                    <a:pt x="542417" y="592455"/>
                  </a:lnTo>
                  <a:lnTo>
                    <a:pt x="90424" y="0"/>
                  </a:lnTo>
                  <a:lnTo>
                    <a:pt x="0" y="0"/>
                  </a:lnTo>
                  <a:lnTo>
                    <a:pt x="0" y="732155"/>
                  </a:lnTo>
                  <a:lnTo>
                    <a:pt x="90424" y="732155"/>
                  </a:lnTo>
                  <a:lnTo>
                    <a:pt x="90424" y="140716"/>
                  </a:lnTo>
                  <a:lnTo>
                    <a:pt x="542417" y="732155"/>
                  </a:lnTo>
                  <a:lnTo>
                    <a:pt x="632841" y="732155"/>
                  </a:lnTo>
                  <a:lnTo>
                    <a:pt x="632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1546100" y="4625292"/>
            <a:ext cx="405394" cy="548592"/>
            <a:chOff x="0" y="0"/>
            <a:chExt cx="540525" cy="73145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40131" cy="731393"/>
            </a:xfrm>
            <a:custGeom>
              <a:avLst/>
              <a:gdLst/>
              <a:ahLst/>
              <a:cxnLst/>
              <a:rect l="l" t="t" r="r" b="b"/>
              <a:pathLst>
                <a:path w="540131" h="731393">
                  <a:moveTo>
                    <a:pt x="540131" y="637286"/>
                  </a:moveTo>
                  <a:lnTo>
                    <a:pt x="108458" y="637286"/>
                  </a:lnTo>
                  <a:lnTo>
                    <a:pt x="108458" y="0"/>
                  </a:lnTo>
                  <a:lnTo>
                    <a:pt x="0" y="0"/>
                  </a:lnTo>
                  <a:lnTo>
                    <a:pt x="0" y="637286"/>
                  </a:lnTo>
                  <a:lnTo>
                    <a:pt x="0" y="731393"/>
                  </a:lnTo>
                  <a:lnTo>
                    <a:pt x="540131" y="731393"/>
                  </a:lnTo>
                  <a:lnTo>
                    <a:pt x="540131" y="637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" name="Freeform 72"/>
          <p:cNvSpPr/>
          <p:nvPr/>
        </p:nvSpPr>
        <p:spPr>
          <a:xfrm>
            <a:off x="12045248" y="4617063"/>
            <a:ext cx="1711319" cy="569766"/>
          </a:xfrm>
          <a:custGeom>
            <a:avLst/>
            <a:gdLst/>
            <a:ahLst/>
            <a:cxnLst/>
            <a:rect l="l" t="t" r="r" b="b"/>
            <a:pathLst>
              <a:path w="1711319" h="569766">
                <a:moveTo>
                  <a:pt x="0" y="0"/>
                </a:moveTo>
                <a:lnTo>
                  <a:pt x="1711319" y="0"/>
                </a:lnTo>
                <a:lnTo>
                  <a:pt x="1711319" y="569766"/>
                </a:lnTo>
                <a:lnTo>
                  <a:pt x="0" y="5697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3" name="Group 73"/>
          <p:cNvGrpSpPr/>
          <p:nvPr/>
        </p:nvGrpSpPr>
        <p:grpSpPr>
          <a:xfrm>
            <a:off x="13847531" y="4955343"/>
            <a:ext cx="129083" cy="219837"/>
            <a:chOff x="0" y="0"/>
            <a:chExt cx="172110" cy="29311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71577" cy="293116"/>
            </a:xfrm>
            <a:custGeom>
              <a:avLst/>
              <a:gdLst/>
              <a:ahLst/>
              <a:cxnLst/>
              <a:rect l="l" t="t" r="r" b="b"/>
              <a:pathLst>
                <a:path w="171577" h="293116">
                  <a:moveTo>
                    <a:pt x="0" y="293116"/>
                  </a:moveTo>
                  <a:lnTo>
                    <a:pt x="171577" y="293116"/>
                  </a:lnTo>
                  <a:lnTo>
                    <a:pt x="171577" y="0"/>
                  </a:lnTo>
                  <a:lnTo>
                    <a:pt x="0" y="0"/>
                  </a:lnTo>
                  <a:lnTo>
                    <a:pt x="0" y="2931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3847531" y="4628626"/>
            <a:ext cx="644395" cy="546573"/>
            <a:chOff x="0" y="0"/>
            <a:chExt cx="859193" cy="728764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58774" cy="728726"/>
            </a:xfrm>
            <a:custGeom>
              <a:avLst/>
              <a:gdLst/>
              <a:ahLst/>
              <a:cxnLst/>
              <a:rect l="l" t="t" r="r" b="b"/>
              <a:pathLst>
                <a:path w="858774" h="728726">
                  <a:moveTo>
                    <a:pt x="858774" y="0"/>
                  </a:moveTo>
                  <a:lnTo>
                    <a:pt x="686943" y="0"/>
                  </a:lnTo>
                  <a:lnTo>
                    <a:pt x="686943" y="290449"/>
                  </a:lnTo>
                  <a:lnTo>
                    <a:pt x="171577" y="290449"/>
                  </a:lnTo>
                  <a:lnTo>
                    <a:pt x="171577" y="0"/>
                  </a:lnTo>
                  <a:lnTo>
                    <a:pt x="0" y="0"/>
                  </a:lnTo>
                  <a:lnTo>
                    <a:pt x="0" y="290449"/>
                  </a:lnTo>
                  <a:lnTo>
                    <a:pt x="0" y="435610"/>
                  </a:lnTo>
                  <a:lnTo>
                    <a:pt x="686943" y="435610"/>
                  </a:lnTo>
                  <a:lnTo>
                    <a:pt x="686943" y="728726"/>
                  </a:lnTo>
                  <a:lnTo>
                    <a:pt x="858774" y="728726"/>
                  </a:lnTo>
                  <a:lnTo>
                    <a:pt x="858774" y="435610"/>
                  </a:lnTo>
                  <a:lnTo>
                    <a:pt x="858774" y="290449"/>
                  </a:lnTo>
                  <a:lnTo>
                    <a:pt x="8587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7" name="Freeform 77"/>
          <p:cNvSpPr/>
          <p:nvPr/>
        </p:nvSpPr>
        <p:spPr>
          <a:xfrm>
            <a:off x="10946844" y="5283117"/>
            <a:ext cx="996334" cy="566738"/>
          </a:xfrm>
          <a:custGeom>
            <a:avLst/>
            <a:gdLst/>
            <a:ahLst/>
            <a:cxnLst/>
            <a:rect l="l" t="t" r="r" b="b"/>
            <a:pathLst>
              <a:path w="996334" h="566738">
                <a:moveTo>
                  <a:pt x="0" y="0"/>
                </a:moveTo>
                <a:lnTo>
                  <a:pt x="996334" y="0"/>
                </a:lnTo>
                <a:lnTo>
                  <a:pt x="996334" y="566738"/>
                </a:lnTo>
                <a:lnTo>
                  <a:pt x="0" y="5667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8" name="Group 78"/>
          <p:cNvGrpSpPr/>
          <p:nvPr/>
        </p:nvGrpSpPr>
        <p:grpSpPr>
          <a:xfrm>
            <a:off x="12052059" y="5292395"/>
            <a:ext cx="669598" cy="548592"/>
            <a:chOff x="0" y="0"/>
            <a:chExt cx="892797" cy="731456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91667" cy="730758"/>
            </a:xfrm>
            <a:custGeom>
              <a:avLst/>
              <a:gdLst/>
              <a:ahLst/>
              <a:cxnLst/>
              <a:rect l="l" t="t" r="r" b="b"/>
              <a:pathLst>
                <a:path w="891667" h="730758">
                  <a:moveTo>
                    <a:pt x="891667" y="0"/>
                  </a:moveTo>
                  <a:lnTo>
                    <a:pt x="783082" y="0"/>
                  </a:lnTo>
                  <a:lnTo>
                    <a:pt x="445897" y="626999"/>
                  </a:lnTo>
                  <a:lnTo>
                    <a:pt x="108585" y="0"/>
                  </a:lnTo>
                  <a:lnTo>
                    <a:pt x="0" y="0"/>
                  </a:lnTo>
                  <a:lnTo>
                    <a:pt x="0" y="730758"/>
                  </a:lnTo>
                  <a:lnTo>
                    <a:pt x="108585" y="730758"/>
                  </a:lnTo>
                  <a:lnTo>
                    <a:pt x="108585" y="220218"/>
                  </a:lnTo>
                  <a:lnTo>
                    <a:pt x="388874" y="730758"/>
                  </a:lnTo>
                  <a:lnTo>
                    <a:pt x="502920" y="730758"/>
                  </a:lnTo>
                  <a:lnTo>
                    <a:pt x="783082" y="218948"/>
                  </a:lnTo>
                  <a:lnTo>
                    <a:pt x="783082" y="730758"/>
                  </a:lnTo>
                  <a:lnTo>
                    <a:pt x="891667" y="730758"/>
                  </a:lnTo>
                  <a:lnTo>
                    <a:pt x="8916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" name="Freeform 80"/>
          <p:cNvSpPr/>
          <p:nvPr/>
        </p:nvSpPr>
        <p:spPr>
          <a:xfrm>
            <a:off x="12831794" y="5283108"/>
            <a:ext cx="638337" cy="567747"/>
          </a:xfrm>
          <a:custGeom>
            <a:avLst/>
            <a:gdLst/>
            <a:ahLst/>
            <a:cxnLst/>
            <a:rect l="l" t="t" r="r" b="b"/>
            <a:pathLst>
              <a:path w="638337" h="567747">
                <a:moveTo>
                  <a:pt x="0" y="0"/>
                </a:moveTo>
                <a:lnTo>
                  <a:pt x="638337" y="0"/>
                </a:lnTo>
                <a:lnTo>
                  <a:pt x="638337" y="567747"/>
                </a:lnTo>
                <a:lnTo>
                  <a:pt x="0" y="567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1" name="Freeform 81"/>
          <p:cNvSpPr/>
          <p:nvPr/>
        </p:nvSpPr>
        <p:spPr>
          <a:xfrm>
            <a:off x="13578497" y="5294109"/>
            <a:ext cx="582873" cy="546573"/>
          </a:xfrm>
          <a:custGeom>
            <a:avLst/>
            <a:gdLst/>
            <a:ahLst/>
            <a:cxnLst/>
            <a:rect l="l" t="t" r="r" b="b"/>
            <a:pathLst>
              <a:path w="582873" h="546573">
                <a:moveTo>
                  <a:pt x="0" y="0"/>
                </a:moveTo>
                <a:lnTo>
                  <a:pt x="582873" y="0"/>
                </a:lnTo>
                <a:lnTo>
                  <a:pt x="582873" y="546573"/>
                </a:lnTo>
                <a:lnTo>
                  <a:pt x="0" y="5465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2" name="Freeform 82"/>
          <p:cNvSpPr/>
          <p:nvPr/>
        </p:nvSpPr>
        <p:spPr>
          <a:xfrm>
            <a:off x="14277565" y="5294109"/>
            <a:ext cx="590941" cy="546573"/>
          </a:xfrm>
          <a:custGeom>
            <a:avLst/>
            <a:gdLst/>
            <a:ahLst/>
            <a:cxnLst/>
            <a:rect l="l" t="t" r="r" b="b"/>
            <a:pathLst>
              <a:path w="590941" h="546573">
                <a:moveTo>
                  <a:pt x="0" y="0"/>
                </a:moveTo>
                <a:lnTo>
                  <a:pt x="590941" y="0"/>
                </a:lnTo>
                <a:lnTo>
                  <a:pt x="590941" y="546573"/>
                </a:lnTo>
                <a:lnTo>
                  <a:pt x="0" y="5465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3" name="Freeform 83"/>
          <p:cNvSpPr/>
          <p:nvPr/>
        </p:nvSpPr>
        <p:spPr>
          <a:xfrm>
            <a:off x="14953278" y="5275069"/>
            <a:ext cx="1825266" cy="584892"/>
          </a:xfrm>
          <a:custGeom>
            <a:avLst/>
            <a:gdLst/>
            <a:ahLst/>
            <a:cxnLst/>
            <a:rect l="l" t="t" r="r" b="b"/>
            <a:pathLst>
              <a:path w="1825266" h="584892">
                <a:moveTo>
                  <a:pt x="0" y="0"/>
                </a:moveTo>
                <a:lnTo>
                  <a:pt x="1825267" y="0"/>
                </a:lnTo>
                <a:lnTo>
                  <a:pt x="1825267" y="584892"/>
                </a:lnTo>
                <a:lnTo>
                  <a:pt x="0" y="584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4" name="Group 84"/>
          <p:cNvGrpSpPr/>
          <p:nvPr/>
        </p:nvGrpSpPr>
        <p:grpSpPr>
          <a:xfrm>
            <a:off x="10123713" y="9081583"/>
            <a:ext cx="1795110" cy="528256"/>
            <a:chOff x="0" y="0"/>
            <a:chExt cx="2393480" cy="70434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393442" cy="704342"/>
            </a:xfrm>
            <a:custGeom>
              <a:avLst/>
              <a:gdLst/>
              <a:ahLst/>
              <a:cxnLst/>
              <a:rect l="l" t="t" r="r" b="b"/>
              <a:pathLst>
                <a:path w="2393442" h="704342">
                  <a:moveTo>
                    <a:pt x="0" y="0"/>
                  </a:moveTo>
                  <a:lnTo>
                    <a:pt x="2393442" y="0"/>
                  </a:lnTo>
                  <a:lnTo>
                    <a:pt x="2393442" y="704342"/>
                  </a:lnTo>
                  <a:lnTo>
                    <a:pt x="0" y="704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t="-183" r="-1" b="-1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017257" y="8901274"/>
            <a:ext cx="1141085" cy="703497"/>
            <a:chOff x="0" y="0"/>
            <a:chExt cx="1521447" cy="937997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521460" cy="938022"/>
            </a:xfrm>
            <a:custGeom>
              <a:avLst/>
              <a:gdLst/>
              <a:ahLst/>
              <a:cxnLst/>
              <a:rect l="l" t="t" r="r" b="b"/>
              <a:pathLst>
                <a:path w="1521460" h="938022">
                  <a:moveTo>
                    <a:pt x="0" y="0"/>
                  </a:moveTo>
                  <a:lnTo>
                    <a:pt x="1521460" y="0"/>
                  </a:lnTo>
                  <a:lnTo>
                    <a:pt x="1521460" y="938022"/>
                  </a:lnTo>
                  <a:lnTo>
                    <a:pt x="0" y="9380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t="-282" b="-2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8" name="Freeform 88"/>
          <p:cNvSpPr/>
          <p:nvPr/>
        </p:nvSpPr>
        <p:spPr>
          <a:xfrm>
            <a:off x="8526151" y="9477089"/>
            <a:ext cx="1031634" cy="118996"/>
          </a:xfrm>
          <a:custGeom>
            <a:avLst/>
            <a:gdLst/>
            <a:ahLst/>
            <a:cxnLst/>
            <a:rect l="l" t="t" r="r" b="b"/>
            <a:pathLst>
              <a:path w="1031634" h="118996">
                <a:moveTo>
                  <a:pt x="0" y="0"/>
                </a:moveTo>
                <a:lnTo>
                  <a:pt x="1031634" y="0"/>
                </a:lnTo>
                <a:lnTo>
                  <a:pt x="1031634" y="118996"/>
                </a:lnTo>
                <a:lnTo>
                  <a:pt x="0" y="118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9" name="Group 89"/>
          <p:cNvGrpSpPr/>
          <p:nvPr/>
        </p:nvGrpSpPr>
        <p:grpSpPr>
          <a:xfrm>
            <a:off x="7805938" y="9002125"/>
            <a:ext cx="598103" cy="598094"/>
            <a:chOff x="0" y="0"/>
            <a:chExt cx="797471" cy="79745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797433" cy="797433"/>
            </a:xfrm>
            <a:custGeom>
              <a:avLst/>
              <a:gdLst/>
              <a:ahLst/>
              <a:cxnLst/>
              <a:rect l="l" t="t" r="r" b="b"/>
              <a:pathLst>
                <a:path w="797433" h="797433">
                  <a:moveTo>
                    <a:pt x="0" y="0"/>
                  </a:moveTo>
                  <a:lnTo>
                    <a:pt x="797433" y="0"/>
                  </a:lnTo>
                  <a:lnTo>
                    <a:pt x="797433" y="797433"/>
                  </a:lnTo>
                  <a:lnTo>
                    <a:pt x="0" y="797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t="-1" r="-4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1" name="Freeform 91"/>
          <p:cNvSpPr/>
          <p:nvPr/>
        </p:nvSpPr>
        <p:spPr>
          <a:xfrm>
            <a:off x="8514636" y="9194016"/>
            <a:ext cx="451780" cy="239001"/>
          </a:xfrm>
          <a:custGeom>
            <a:avLst/>
            <a:gdLst/>
            <a:ahLst/>
            <a:cxnLst/>
            <a:rect l="l" t="t" r="r" b="b"/>
            <a:pathLst>
              <a:path w="451780" h="239001">
                <a:moveTo>
                  <a:pt x="0" y="0"/>
                </a:moveTo>
                <a:lnTo>
                  <a:pt x="451780" y="0"/>
                </a:lnTo>
                <a:lnTo>
                  <a:pt x="451780" y="239001"/>
                </a:lnTo>
                <a:lnTo>
                  <a:pt x="0" y="2390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2" name="Freeform 92"/>
          <p:cNvSpPr/>
          <p:nvPr/>
        </p:nvSpPr>
        <p:spPr>
          <a:xfrm>
            <a:off x="8951090" y="9188996"/>
            <a:ext cx="624221" cy="248079"/>
          </a:xfrm>
          <a:custGeom>
            <a:avLst/>
            <a:gdLst/>
            <a:ahLst/>
            <a:cxnLst/>
            <a:rect l="l" t="t" r="r" b="b"/>
            <a:pathLst>
              <a:path w="624221" h="248079">
                <a:moveTo>
                  <a:pt x="0" y="0"/>
                </a:moveTo>
                <a:lnTo>
                  <a:pt x="624221" y="0"/>
                </a:lnTo>
                <a:lnTo>
                  <a:pt x="624221" y="248079"/>
                </a:lnTo>
                <a:lnTo>
                  <a:pt x="0" y="248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6651" y="4572000"/>
            <a:ext cx="4574699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55193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Appendices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46409" y="0"/>
            <a:ext cx="2041591" cy="797093"/>
            <a:chOff x="0" y="0"/>
            <a:chExt cx="537703" cy="2099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7703" cy="209934"/>
            </a:xfrm>
            <a:custGeom>
              <a:avLst/>
              <a:gdLst/>
              <a:ahLst/>
              <a:cxnLst/>
              <a:rect l="l" t="t" r="r" b="b"/>
              <a:pathLst>
                <a:path w="537703" h="209934">
                  <a:moveTo>
                    <a:pt x="0" y="0"/>
                  </a:moveTo>
                  <a:lnTo>
                    <a:pt x="537703" y="0"/>
                  </a:lnTo>
                  <a:lnTo>
                    <a:pt x="537703" y="209934"/>
                  </a:lnTo>
                  <a:lnTo>
                    <a:pt x="0" y="209934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37703" cy="257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449800" y="701843"/>
            <a:ext cx="923403" cy="701843"/>
            <a:chOff x="0" y="0"/>
            <a:chExt cx="243201" cy="1848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201" cy="184848"/>
            </a:xfrm>
            <a:custGeom>
              <a:avLst/>
              <a:gdLst/>
              <a:ahLst/>
              <a:cxnLst/>
              <a:rect l="l" t="t" r="r" b="b"/>
              <a:pathLst>
                <a:path w="243201" h="184848">
                  <a:moveTo>
                    <a:pt x="0" y="0"/>
                  </a:moveTo>
                  <a:lnTo>
                    <a:pt x="243201" y="0"/>
                  </a:lnTo>
                  <a:lnTo>
                    <a:pt x="243201" y="184848"/>
                  </a:lnTo>
                  <a:lnTo>
                    <a:pt x="0" y="184848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3201" cy="232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137746" y="797093"/>
            <a:ext cx="1108663" cy="606593"/>
            <a:chOff x="0" y="0"/>
            <a:chExt cx="291994" cy="1597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1994" cy="159761"/>
            </a:xfrm>
            <a:custGeom>
              <a:avLst/>
              <a:gdLst/>
              <a:ahLst/>
              <a:cxnLst/>
              <a:rect l="l" t="t" r="r" b="b"/>
              <a:pathLst>
                <a:path w="291994" h="159761">
                  <a:moveTo>
                    <a:pt x="0" y="0"/>
                  </a:moveTo>
                  <a:lnTo>
                    <a:pt x="291994" y="0"/>
                  </a:lnTo>
                  <a:lnTo>
                    <a:pt x="291994" y="159761"/>
                  </a:lnTo>
                  <a:lnTo>
                    <a:pt x="0" y="159761"/>
                  </a:lnTo>
                  <a:close/>
                </a:path>
              </a:pathLst>
            </a:custGeom>
            <a:solidFill>
              <a:srgbClr val="FDC6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91994" cy="207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46409" y="0"/>
            <a:ext cx="2041591" cy="797093"/>
            <a:chOff x="0" y="0"/>
            <a:chExt cx="537703" cy="2099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7703" cy="209934"/>
            </a:xfrm>
            <a:custGeom>
              <a:avLst/>
              <a:gdLst/>
              <a:ahLst/>
              <a:cxnLst/>
              <a:rect l="l" t="t" r="r" b="b"/>
              <a:pathLst>
                <a:path w="537703" h="209934">
                  <a:moveTo>
                    <a:pt x="0" y="0"/>
                  </a:moveTo>
                  <a:lnTo>
                    <a:pt x="537703" y="0"/>
                  </a:lnTo>
                  <a:lnTo>
                    <a:pt x="537703" y="209934"/>
                  </a:lnTo>
                  <a:lnTo>
                    <a:pt x="0" y="209934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37703" cy="257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49800" y="701843"/>
            <a:ext cx="923403" cy="701843"/>
            <a:chOff x="0" y="0"/>
            <a:chExt cx="243201" cy="1848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201" cy="184848"/>
            </a:xfrm>
            <a:custGeom>
              <a:avLst/>
              <a:gdLst/>
              <a:ahLst/>
              <a:cxnLst/>
              <a:rect l="l" t="t" r="r" b="b"/>
              <a:pathLst>
                <a:path w="243201" h="184848">
                  <a:moveTo>
                    <a:pt x="0" y="0"/>
                  </a:moveTo>
                  <a:lnTo>
                    <a:pt x="243201" y="0"/>
                  </a:lnTo>
                  <a:lnTo>
                    <a:pt x="243201" y="184848"/>
                  </a:lnTo>
                  <a:lnTo>
                    <a:pt x="0" y="184848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43201" cy="232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37746" y="797093"/>
            <a:ext cx="1108663" cy="606593"/>
            <a:chOff x="0" y="0"/>
            <a:chExt cx="291994" cy="1597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1994" cy="159761"/>
            </a:xfrm>
            <a:custGeom>
              <a:avLst/>
              <a:gdLst/>
              <a:ahLst/>
              <a:cxnLst/>
              <a:rect l="l" t="t" r="r" b="b"/>
              <a:pathLst>
                <a:path w="291994" h="159761">
                  <a:moveTo>
                    <a:pt x="0" y="0"/>
                  </a:moveTo>
                  <a:lnTo>
                    <a:pt x="291994" y="0"/>
                  </a:lnTo>
                  <a:lnTo>
                    <a:pt x="291994" y="159761"/>
                  </a:lnTo>
                  <a:lnTo>
                    <a:pt x="0" y="159761"/>
                  </a:ln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91994" cy="207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19957" y="3238428"/>
            <a:ext cx="3920597" cy="473400"/>
            <a:chOff x="0" y="0"/>
            <a:chExt cx="1032585" cy="1246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32585" cy="124681"/>
            </a:xfrm>
            <a:custGeom>
              <a:avLst/>
              <a:gdLst/>
              <a:ahLst/>
              <a:cxnLst/>
              <a:rect l="l" t="t" r="r" b="b"/>
              <a:pathLst>
                <a:path w="1032585" h="124681">
                  <a:moveTo>
                    <a:pt x="0" y="0"/>
                  </a:moveTo>
                  <a:lnTo>
                    <a:pt x="1032585" y="0"/>
                  </a:lnTo>
                  <a:lnTo>
                    <a:pt x="1032585" y="124681"/>
                  </a:lnTo>
                  <a:lnTo>
                    <a:pt x="0" y="124681"/>
                  </a:ln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032585" cy="181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5315" y="1726960"/>
            <a:ext cx="3829699" cy="542548"/>
            <a:chOff x="0" y="0"/>
            <a:chExt cx="1008645" cy="1428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8645" cy="142893"/>
            </a:xfrm>
            <a:custGeom>
              <a:avLst/>
              <a:gdLst/>
              <a:ahLst/>
              <a:cxnLst/>
              <a:rect l="l" t="t" r="r" b="b"/>
              <a:pathLst>
                <a:path w="1008645" h="142893">
                  <a:moveTo>
                    <a:pt x="0" y="0"/>
                  </a:moveTo>
                  <a:lnTo>
                    <a:pt x="1008645" y="0"/>
                  </a:lnTo>
                  <a:lnTo>
                    <a:pt x="1008645" y="142893"/>
                  </a:lnTo>
                  <a:lnTo>
                    <a:pt x="0" y="142893"/>
                  </a:lnTo>
                  <a:close/>
                </a:path>
              </a:pathLst>
            </a:custGeom>
            <a:solidFill>
              <a:srgbClr val="C5777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008645" cy="20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99085" y="3298572"/>
            <a:ext cx="2962340" cy="32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3"/>
              </a:lnSpc>
              <a:spcBef>
                <a:spcPct val="0"/>
              </a:spcBef>
            </a:pPr>
            <a:r>
              <a:rPr lang="en-US" sz="2199" b="1" spc="8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ISSUE TREE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9381" y="5370359"/>
            <a:ext cx="2388046" cy="213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4"/>
              </a:lnSpc>
              <a:spcBef>
                <a:spcPct val="0"/>
              </a:spcBef>
            </a:pPr>
            <a:endParaRPr/>
          </a:p>
        </p:txBody>
      </p:sp>
      <p:grpSp>
        <p:nvGrpSpPr>
          <p:cNvPr id="19" name="Group 19"/>
          <p:cNvGrpSpPr/>
          <p:nvPr/>
        </p:nvGrpSpPr>
        <p:grpSpPr>
          <a:xfrm>
            <a:off x="6665315" y="3203854"/>
            <a:ext cx="3923157" cy="542548"/>
            <a:chOff x="0" y="0"/>
            <a:chExt cx="1033259" cy="14289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33260" cy="142893"/>
            </a:xfrm>
            <a:custGeom>
              <a:avLst/>
              <a:gdLst/>
              <a:ahLst/>
              <a:cxnLst/>
              <a:rect l="l" t="t" r="r" b="b"/>
              <a:pathLst>
                <a:path w="1033260" h="142893">
                  <a:moveTo>
                    <a:pt x="0" y="0"/>
                  </a:moveTo>
                  <a:lnTo>
                    <a:pt x="1033260" y="0"/>
                  </a:lnTo>
                  <a:lnTo>
                    <a:pt x="1033260" y="142893"/>
                  </a:lnTo>
                  <a:lnTo>
                    <a:pt x="0" y="142893"/>
                  </a:lnTo>
                  <a:close/>
                </a:path>
              </a:pathLst>
            </a:custGeom>
            <a:solidFill>
              <a:srgbClr val="EAE4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033259" cy="20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019668" y="1812969"/>
            <a:ext cx="492324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1drv.ms/x/c/5fbd5c8b7a3a7265/IQC2St6M3A7MToezv9tNFra3AfPchBeUnPqJeKycBh0Prk8?e=jkNSz0"/>
              </a:rPr>
              <a:t>Benchmarking_McCain Lazare</a:t>
            </a:r>
          </a:p>
        </p:txBody>
      </p:sp>
      <p:sp>
        <p:nvSpPr>
          <p:cNvPr id="23" name="AutoShape 23"/>
          <p:cNvSpPr/>
          <p:nvPr/>
        </p:nvSpPr>
        <p:spPr>
          <a:xfrm>
            <a:off x="4349080" y="1998234"/>
            <a:ext cx="231623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428484" y="331872"/>
            <a:ext cx="7411690" cy="580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5519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Sources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9957" y="378319"/>
            <a:ext cx="5269893" cy="580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55193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___________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28484" y="1761534"/>
            <a:ext cx="3920597" cy="473400"/>
            <a:chOff x="0" y="0"/>
            <a:chExt cx="1032585" cy="12468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32585" cy="124681"/>
            </a:xfrm>
            <a:custGeom>
              <a:avLst/>
              <a:gdLst/>
              <a:ahLst/>
              <a:cxnLst/>
              <a:rect l="l" t="t" r="r" b="b"/>
              <a:pathLst>
                <a:path w="1032585" h="124681">
                  <a:moveTo>
                    <a:pt x="0" y="0"/>
                  </a:moveTo>
                  <a:lnTo>
                    <a:pt x="1032585" y="0"/>
                  </a:lnTo>
                  <a:lnTo>
                    <a:pt x="1032585" y="124681"/>
                  </a:lnTo>
                  <a:lnTo>
                    <a:pt x="0" y="124681"/>
                  </a:lnTo>
                  <a:close/>
                </a:path>
              </a:pathLst>
            </a:custGeom>
            <a:solidFill>
              <a:srgbClr val="5519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032585" cy="181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13181" y="1851069"/>
            <a:ext cx="2951202" cy="646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73"/>
              </a:lnSpc>
              <a:spcBef>
                <a:spcPct val="0"/>
              </a:spcBef>
            </a:pPr>
            <a:r>
              <a:rPr lang="en-US" sz="2199" b="1" spc="8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BENCHMARKING </a:t>
            </a:r>
          </a:p>
          <a:p>
            <a:pPr marL="0" lvl="0" indent="0" algn="ctr">
              <a:lnSpc>
                <a:spcPts val="2573"/>
              </a:lnSpc>
              <a:spcBef>
                <a:spcPct val="0"/>
              </a:spcBef>
            </a:pPr>
            <a:endParaRPr lang="en-US" sz="2199" b="1" spc="81">
              <a:solidFill>
                <a:srgbClr val="FFFFFF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30" name="AutoShape 30"/>
          <p:cNvSpPr/>
          <p:nvPr/>
        </p:nvSpPr>
        <p:spPr>
          <a:xfrm flipV="1">
            <a:off x="4340553" y="3475128"/>
            <a:ext cx="232476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6566441" y="3312251"/>
            <a:ext cx="382969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edheccom-my.sharepoint.com/:x:/g/personal/raviteja_sekhar_edhec_com/IQBPiHPCM6KLQIune8KSAiZ8Advr5rbN2jK2MuMAQemPqbQ?e=BoO5FJ"/>
              </a:rPr>
              <a:t> Issue Tree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93347" y="9492748"/>
            <a:ext cx="4501307" cy="580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u="sng">
                <a:solidFill>
                  <a:srgbClr val="551933"/>
                </a:solidFill>
                <a:latin typeface="Open Sans 2"/>
                <a:ea typeface="Open Sans 2"/>
                <a:cs typeface="Open Sans 2"/>
                <a:sym typeface="Open Sans 2"/>
                <a:hlinkClick r:id="rId2" tooltip="https://www.canva.com/design/DAG5KONXzdg/cRe5KLV2drXc9UoYlQD_bQ/edit?utm_content=DAG5KONXzdg&amp;utm_campaign=designshare&amp;utm_medium=link2&amp;utm_source=sharebutton"/>
              </a:rPr>
              <a:t>Link to the above slide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48310"/>
            <a:ext cx="554265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u="sng">
                <a:solidFill>
                  <a:srgbClr val="551933"/>
                </a:solidFill>
                <a:latin typeface="Open Sans 2"/>
                <a:ea typeface="Open Sans 2"/>
                <a:cs typeface="Open Sans 2"/>
                <a:sym typeface="Open Sans 2"/>
              </a:rPr>
              <a:t>Benchmarking - Deliverable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97982" y="448236"/>
            <a:ext cx="502711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u="sng">
                <a:solidFill>
                  <a:srgbClr val="551933"/>
                </a:solidFill>
                <a:latin typeface="Open Sans 2"/>
                <a:ea typeface="Open Sans 2"/>
                <a:cs typeface="Open Sans 2"/>
                <a:sym typeface="Open Sans 2"/>
              </a:rPr>
              <a:t>MoodBoard - Deliverable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93347" y="9302248"/>
            <a:ext cx="4501307" cy="580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u="sng">
                <a:solidFill>
                  <a:srgbClr val="551933"/>
                </a:solidFill>
                <a:latin typeface="Open Sans 2"/>
                <a:ea typeface="Open Sans 2"/>
                <a:cs typeface="Open Sans 2"/>
                <a:sym typeface="Open Sans 2"/>
                <a:hlinkClick r:id="rId2" tooltip="https://www.canva.com/design/DAG6Y1-_0aM/-ko_HKEpl5fmy5r94XsU3w/edit?utm_content=DAG6Y1-_0aM&amp;utm_campaign=designshare&amp;utm_medium=link2&amp;utm_source=sharebutton"/>
              </a:rPr>
              <a:t>Link to the above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2901</Words>
  <Application>Microsoft Office PowerPoint</Application>
  <PresentationFormat>Custom</PresentationFormat>
  <Paragraphs>475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1" baseType="lpstr">
      <vt:lpstr>Montserrat Bold</vt:lpstr>
      <vt:lpstr>Canva Sans Bold</vt:lpstr>
      <vt:lpstr>Gordita Bold</vt:lpstr>
      <vt:lpstr>Montserrat Italics</vt:lpstr>
      <vt:lpstr>Open Sans 2</vt:lpstr>
      <vt:lpstr>Arial</vt:lpstr>
      <vt:lpstr>Open Sans 2 Bold</vt:lpstr>
      <vt:lpstr>Open Sans 1 Bold</vt:lpstr>
      <vt:lpstr>Open Sans 1</vt:lpstr>
      <vt:lpstr>Montserrat</vt:lpstr>
      <vt:lpstr>Cy Grotesk Wide Bold</vt:lpstr>
      <vt:lpstr>Canva Sans</vt:lpstr>
      <vt:lpstr>Montserrat Bold Italics</vt:lpstr>
      <vt:lpstr>DM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McCain X lazare PPT</dc:title>
  <cp:lastModifiedBy>vinayak singh</cp:lastModifiedBy>
  <cp:revision>2</cp:revision>
  <dcterms:created xsi:type="dcterms:W3CDTF">2006-08-16T00:00:00Z</dcterms:created>
  <dcterms:modified xsi:type="dcterms:W3CDTF">2026-05-30T08:42:23Z</dcterms:modified>
  <dc:identifier>DAHJAadRlzA</dc:identifier>
</cp:coreProperties>
</file>