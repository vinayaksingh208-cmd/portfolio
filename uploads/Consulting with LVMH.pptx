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Montserrat" panose="00000500000000000000" pitchFamily="2" charset="0"/>
      <p:regular r:id="rId18"/>
    </p:embeddedFont>
    <p:embeddedFont>
      <p:font typeface="Montserrat Bold" panose="00000800000000000000" charset="0"/>
      <p:regular r:id="rId19"/>
    </p:embeddedFont>
    <p:embeddedFont>
      <p:font typeface="Noto Serif Display" panose="020B0604020202020204"/>
      <p:regular r:id="rId20"/>
    </p:embeddedFont>
    <p:embeddedFont>
      <p:font typeface="Noto Serif Display Bold" panose="020B0604020202020204"/>
      <p:regular r:id="rId21"/>
    </p:embeddedFont>
    <p:embeddedFont>
      <p:font typeface="Noto Serif Ethiopic" panose="020B0604020202020204" charset="0"/>
      <p:regular r:id="rId22"/>
    </p:embeddedFont>
    <p:embeddedFont>
      <p:font typeface="Noto Serif Ethiopic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4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919" b="-1079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963174" y="2390775"/>
            <a:ext cx="8361651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>
                <a:solidFill>
                  <a:srgbClr val="F8EDE3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MUSEACO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41122" y="6300514"/>
            <a:ext cx="13405756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9"/>
              </a:lnSpc>
            </a:pPr>
            <a:r>
              <a:rPr lang="en-US" sz="3999" b="1" spc="335">
                <a:solidFill>
                  <a:srgbClr val="F8EDE3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DATA-DRIVEN SYNERGY FOR PERFECT BRAND-ARTIST COLLABORATIONS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94571" y="8982119"/>
            <a:ext cx="18677142" cy="870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5"/>
              </a:lnSpc>
            </a:pPr>
            <a:r>
              <a:rPr lang="en-US" sz="2989" spc="448">
                <a:solidFill>
                  <a:srgbClr val="F8EDE3"/>
                </a:solidFill>
                <a:latin typeface="Montserrat"/>
                <a:ea typeface="Montserrat"/>
                <a:cs typeface="Montserrat"/>
                <a:sym typeface="Montserrat"/>
              </a:rPr>
              <a:t>TEAM 03</a:t>
            </a:r>
          </a:p>
          <a:p>
            <a:pPr algn="ctr">
              <a:lnSpc>
                <a:spcPts val="2785"/>
              </a:lnSpc>
            </a:pPr>
            <a:r>
              <a:rPr lang="en-US" sz="1989" spc="298">
                <a:solidFill>
                  <a:srgbClr val="F8EDE3"/>
                </a:solidFill>
                <a:latin typeface="Montserrat"/>
                <a:ea typeface="Montserrat"/>
                <a:cs typeface="Montserrat"/>
                <a:sym typeface="Montserrat"/>
              </a:rPr>
              <a:t>Vinayak SINGH,  Sai PAWAR,  Sakshi THOKE,  Jaturaporn NUSATI,  Daniel DE PAULA,  Haotian ZHENG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28661" y="1958975"/>
            <a:ext cx="483067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8EDE3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LVMH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49900" y="4546600"/>
            <a:ext cx="6788200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spc="430">
                <a:solidFill>
                  <a:srgbClr val="F8EDE3"/>
                </a:solidFill>
                <a:latin typeface="Noto Serif Ethiopic"/>
                <a:ea typeface="Noto Serif Ethiopic"/>
                <a:cs typeface="Noto Serif Ethiopic"/>
                <a:sym typeface="Noto Serif Ethiopic"/>
              </a:rPr>
              <a:t>MUSIC  x  EASY x COLLAB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104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-17146" t="-141544" b="-12844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31043"/>
            <a:ext cx="18775750" cy="10318043"/>
            <a:chOff x="0" y="0"/>
            <a:chExt cx="25034333" cy="13757391"/>
          </a:xfrm>
        </p:grpSpPr>
        <p:sp>
          <p:nvSpPr>
            <p:cNvPr id="4" name="Freeform 4"/>
            <p:cNvSpPr/>
            <p:nvPr/>
          </p:nvSpPr>
          <p:spPr>
            <a:xfrm>
              <a:off x="0" y="41391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3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144000" y="41391"/>
              <a:ext cx="8064363" cy="13716000"/>
            </a:xfrm>
            <a:custGeom>
              <a:avLst/>
              <a:gdLst/>
              <a:ahLst/>
              <a:cxnLst/>
              <a:rect l="l" t="t" r="r" b="b"/>
              <a:pathLst>
                <a:path w="8064363" h="13716000">
                  <a:moveTo>
                    <a:pt x="0" y="0"/>
                  </a:moveTo>
                  <a:lnTo>
                    <a:pt x="8064363" y="0"/>
                  </a:lnTo>
                  <a:lnTo>
                    <a:pt x="806436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3000"/>
              </a:blip>
              <a:stretch>
                <a:fillRect l="-133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6969970" y="0"/>
              <a:ext cx="8064363" cy="13716000"/>
            </a:xfrm>
            <a:custGeom>
              <a:avLst/>
              <a:gdLst/>
              <a:ahLst/>
              <a:cxnLst/>
              <a:rect l="l" t="t" r="r" b="b"/>
              <a:pathLst>
                <a:path w="8064363" h="13716000">
                  <a:moveTo>
                    <a:pt x="0" y="0"/>
                  </a:moveTo>
                  <a:lnTo>
                    <a:pt x="8064363" y="0"/>
                  </a:lnTo>
                  <a:lnTo>
                    <a:pt x="806436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3000"/>
              </a:blip>
              <a:stretch>
                <a:fillRect l="-133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73277" y="3980153"/>
            <a:ext cx="5647946" cy="1517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460"/>
              </a:lnSpc>
            </a:pPr>
            <a:r>
              <a:rPr lang="en-US" sz="8900" b="1" dirty="0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VINAYAK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73277" y="5574672"/>
            <a:ext cx="10368490" cy="870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5" b="1" spc="139">
                <a:solidFill>
                  <a:srgbClr val="F8ED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brand communication manager at Louis Vuitton </a:t>
            </a:r>
          </a:p>
          <a:p>
            <a:pPr algn="l">
              <a:lnSpc>
                <a:spcPts val="3079"/>
              </a:lnSpc>
            </a:pPr>
            <a:r>
              <a:rPr lang="en-US" sz="2199" b="1" spc="109">
                <a:solidFill>
                  <a:srgbClr val="F8ED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wants to find a musical artist to collaborate with the brand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73277" y="3305970"/>
            <a:ext cx="1956936" cy="83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5"/>
              </a:lnSpc>
            </a:pPr>
            <a:r>
              <a:rPr lang="en-US" sz="4861">
                <a:solidFill>
                  <a:srgbClr val="F8EDE3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LVMH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8286DC-1248-2A8C-0BF7-A07EAF4C3F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7599" y="398541"/>
            <a:ext cx="7431549" cy="99030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0132" y="-296166"/>
            <a:ext cx="21527811" cy="10879332"/>
            <a:chOff x="0" y="0"/>
            <a:chExt cx="28703747" cy="14505776"/>
          </a:xfrm>
        </p:grpSpPr>
        <p:sp>
          <p:nvSpPr>
            <p:cNvPr id="3" name="Freeform 3"/>
            <p:cNvSpPr/>
            <p:nvPr/>
          </p:nvSpPr>
          <p:spPr>
            <a:xfrm>
              <a:off x="0" y="2947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740564" y="2947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4789445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4740564" y="4789445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8853" y="9548312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4749417" y="9548312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9495771" y="0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4236334" y="0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5" y="0"/>
                  </a:lnTo>
                  <a:lnTo>
                    <a:pt x="4970545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9495771" y="4759974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4236334" y="4759974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5" y="0"/>
                  </a:lnTo>
                  <a:lnTo>
                    <a:pt x="4970545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504624" y="951884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4245188" y="951884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983786" y="0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5" y="0"/>
                  </a:lnTo>
                  <a:lnTo>
                    <a:pt x="4970545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3724350" y="0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983786" y="4759974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5" y="0"/>
                  </a:lnTo>
                  <a:lnTo>
                    <a:pt x="4970545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3724350" y="4759974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992640" y="951884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3733203" y="951884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-17146" t="-141544" b="-12844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852758" y="3360265"/>
            <a:ext cx="13861681" cy="4532754"/>
            <a:chOff x="0" y="0"/>
            <a:chExt cx="3650813" cy="11938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50813" cy="1193812"/>
            </a:xfrm>
            <a:custGeom>
              <a:avLst/>
              <a:gdLst/>
              <a:ahLst/>
              <a:cxnLst/>
              <a:rect l="l" t="t" r="r" b="b"/>
              <a:pathLst>
                <a:path w="3650813" h="1193812">
                  <a:moveTo>
                    <a:pt x="0" y="0"/>
                  </a:moveTo>
                  <a:lnTo>
                    <a:pt x="3650813" y="0"/>
                  </a:lnTo>
                  <a:lnTo>
                    <a:pt x="3650813" y="1193812"/>
                  </a:lnTo>
                  <a:lnTo>
                    <a:pt x="0" y="1193812"/>
                  </a:lnTo>
                  <a:close/>
                </a:path>
              </a:pathLst>
            </a:custGeom>
            <a:solidFill>
              <a:srgbClr val="1222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650813" cy="123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118698" y="2326639"/>
            <a:ext cx="1205060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150">
                <a:solidFill>
                  <a:srgbClr val="F8EDE3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What hinders him from achieving maximum efficiency: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81558" y="4055643"/>
            <a:ext cx="12004081" cy="96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just">
              <a:lnSpc>
                <a:spcPts val="3919"/>
              </a:lnSpc>
              <a:buFont typeface="Arial"/>
              <a:buChar char="•"/>
            </a:pPr>
            <a:r>
              <a:rPr lang="en-US" sz="2799" b="1" u="sng" spc="139">
                <a:solidFill>
                  <a:srgbClr val="E6E6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Lack of a centralized system</a:t>
            </a:r>
            <a:r>
              <a:rPr lang="en-US" sz="2799" b="1" spc="139">
                <a:solidFill>
                  <a:srgbClr val="E6E6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that maps the artists and celebrities to suitable maisons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81558" y="5440771"/>
            <a:ext cx="12004081" cy="146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just">
              <a:lnSpc>
                <a:spcPts val="3919"/>
              </a:lnSpc>
              <a:buFont typeface="Arial"/>
              <a:buChar char="•"/>
            </a:pPr>
            <a:r>
              <a:rPr lang="en-US" sz="2799" b="1" u="sng" spc="139">
                <a:solidFill>
                  <a:srgbClr val="E6E6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Wrong identification of the target segment</a:t>
            </a:r>
            <a:r>
              <a:rPr lang="en-US" sz="2799" b="1" spc="139">
                <a:solidFill>
                  <a:srgbClr val="E6E6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making the collaboration doesn’t create an effective image in the minds of consumers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05785" y="866775"/>
            <a:ext cx="5909965" cy="1517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460"/>
              </a:lnSpc>
            </a:pPr>
            <a:r>
              <a:rPr lang="en-US" sz="8900" b="1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BARRIERS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-17146" t="-141544" b="-12844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680132" y="-296166"/>
            <a:ext cx="21527811" cy="10879332"/>
            <a:chOff x="0" y="0"/>
            <a:chExt cx="28703747" cy="14505776"/>
          </a:xfrm>
        </p:grpSpPr>
        <p:sp>
          <p:nvSpPr>
            <p:cNvPr id="4" name="Freeform 4"/>
            <p:cNvSpPr/>
            <p:nvPr/>
          </p:nvSpPr>
          <p:spPr>
            <a:xfrm>
              <a:off x="0" y="2947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4740564" y="2947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4789445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4740564" y="4789445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853" y="9548312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4749417" y="9548312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9495771" y="0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4236334" y="0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5" y="0"/>
                  </a:lnTo>
                  <a:lnTo>
                    <a:pt x="4970545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9495771" y="4759974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4236334" y="4759974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5" y="0"/>
                  </a:lnTo>
                  <a:lnTo>
                    <a:pt x="4970545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9504624" y="951884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4245188" y="951884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983786" y="0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5" y="0"/>
                  </a:lnTo>
                  <a:lnTo>
                    <a:pt x="4970545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3724350" y="0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8983786" y="4759974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5" y="0"/>
                  </a:lnTo>
                  <a:lnTo>
                    <a:pt x="4970545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3724350" y="4759974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992640" y="951884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3733203" y="9518841"/>
              <a:ext cx="4970544" cy="4957464"/>
            </a:xfrm>
            <a:custGeom>
              <a:avLst/>
              <a:gdLst/>
              <a:ahLst/>
              <a:cxnLst/>
              <a:rect l="l" t="t" r="r" b="b"/>
              <a:pathLst>
                <a:path w="4970544" h="4957464">
                  <a:moveTo>
                    <a:pt x="0" y="0"/>
                  </a:moveTo>
                  <a:lnTo>
                    <a:pt x="4970544" y="0"/>
                  </a:lnTo>
                  <a:lnTo>
                    <a:pt x="4970544" y="4957464"/>
                  </a:lnTo>
                  <a:lnTo>
                    <a:pt x="0" y="49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94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394252" y="876300"/>
            <a:ext cx="5499497" cy="136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200"/>
              </a:lnSpc>
            </a:pPr>
            <a:r>
              <a:rPr lang="en-US" sz="8000" b="1">
                <a:solidFill>
                  <a:srgbClr val="000000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SOLUTION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4101" y="8819515"/>
            <a:ext cx="1563979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13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platform for artist selection and a webpage for sending collaboration requests.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91389" y="3117448"/>
            <a:ext cx="14305223" cy="364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5"/>
              </a:lnSpc>
            </a:pPr>
            <a:r>
              <a:rPr lang="en-US" sz="21218" b="1">
                <a:solidFill>
                  <a:srgbClr val="122227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MUSEACO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25409" y="6262642"/>
            <a:ext cx="10837182" cy="899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9"/>
              </a:lnSpc>
              <a:spcBef>
                <a:spcPct val="0"/>
              </a:spcBef>
            </a:pPr>
            <a:r>
              <a:rPr lang="en-US" sz="5342" b="1" spc="657">
                <a:solidFill>
                  <a:srgbClr val="122227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MUSIC  x  EASY x COLLAB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66394" y="2187569"/>
            <a:ext cx="1375521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150">
                <a:solidFill>
                  <a:srgbClr val="122227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Data-driven synergy for perfect brand-artist collaborations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8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t="-99159" b="-1166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3576089" y="3160276"/>
            <a:ext cx="2999005" cy="0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1095914" y="8341951"/>
            <a:ext cx="2644922" cy="0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01574" y="2914590"/>
            <a:ext cx="166732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Selected Artist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80111" y="5813008"/>
            <a:ext cx="40226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Maturity Development Request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10892" y="8532451"/>
            <a:ext cx="33860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Corrective Action Plan (CAP)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00509" y="3245965"/>
            <a:ext cx="355751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Artist as a Recommendation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7879" y="4168003"/>
            <a:ext cx="3646831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Develop a pool of artists 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Optimize artist pool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81293" y="6019335"/>
            <a:ext cx="3583474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Artist Contract Request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Contract Negotiation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E6E6E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60791" y="7253700"/>
            <a:ext cx="2169914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Market Returns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KPI Metrics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Staistical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95583" y="4297840"/>
            <a:ext cx="2500331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6E6E6"/>
                </a:solidFill>
                <a:latin typeface="Canva Sans"/>
                <a:ea typeface="Canva Sans"/>
                <a:cs typeface="Canva Sans"/>
                <a:sym typeface="Canva Sans"/>
              </a:rPr>
              <a:t>Authorized Contract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67760" y="381183"/>
            <a:ext cx="6343905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</a:pPr>
            <a:r>
              <a:rPr lang="en-US" sz="6500" b="1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FRAMEWORK</a:t>
            </a:r>
          </a:p>
        </p:txBody>
      </p:sp>
      <p:sp>
        <p:nvSpPr>
          <p:cNvPr id="14" name="AutoShape 14"/>
          <p:cNvSpPr/>
          <p:nvPr/>
        </p:nvSpPr>
        <p:spPr>
          <a:xfrm flipH="1">
            <a:off x="6570966" y="3141691"/>
            <a:ext cx="4464" cy="778623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096786" y="4744996"/>
            <a:ext cx="2979744" cy="0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H="1">
            <a:off x="11076530" y="4726412"/>
            <a:ext cx="334" cy="704233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2658580" y="6286521"/>
            <a:ext cx="2999005" cy="0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 flipH="1">
            <a:off x="15657559" y="6257302"/>
            <a:ext cx="362" cy="1181744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flipH="1" flipV="1">
            <a:off x="11076530" y="7082494"/>
            <a:ext cx="19384" cy="1259456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547879" y="2386569"/>
            <a:ext cx="3646831" cy="1578053"/>
            <a:chOff x="0" y="0"/>
            <a:chExt cx="1191551" cy="5156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91551" cy="515607"/>
            </a:xfrm>
            <a:custGeom>
              <a:avLst/>
              <a:gdLst/>
              <a:ahLst/>
              <a:cxnLst/>
              <a:rect l="l" t="t" r="r" b="b"/>
              <a:pathLst>
                <a:path w="1191551" h="515607">
                  <a:moveTo>
                    <a:pt x="1112133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436188"/>
                  </a:lnTo>
                  <a:cubicBezTo>
                    <a:pt x="43699" y="436188"/>
                    <a:pt x="79418" y="471528"/>
                    <a:pt x="79418" y="515607"/>
                  </a:cubicBezTo>
                  <a:lnTo>
                    <a:pt x="1112133" y="515607"/>
                  </a:lnTo>
                  <a:cubicBezTo>
                    <a:pt x="1112133" y="471907"/>
                    <a:pt x="1147472" y="436188"/>
                    <a:pt x="1191551" y="436188"/>
                  </a:cubicBezTo>
                  <a:lnTo>
                    <a:pt x="1191551" y="79418"/>
                  </a:lnTo>
                  <a:cubicBezTo>
                    <a:pt x="1147852" y="79418"/>
                    <a:pt x="1112133" y="44079"/>
                    <a:pt x="1112133" y="0"/>
                  </a:cubicBezTo>
                  <a:close/>
                </a:path>
              </a:pathLst>
            </a:custGeom>
            <a:solidFill>
              <a:srgbClr val="C8C8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100" y="0"/>
              <a:ext cx="1115351" cy="4775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222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Artist 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222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Selection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77165" y="3920315"/>
            <a:ext cx="3587602" cy="1578053"/>
            <a:chOff x="0" y="0"/>
            <a:chExt cx="1012657" cy="44543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2657" cy="445430"/>
            </a:xfrm>
            <a:custGeom>
              <a:avLst/>
              <a:gdLst/>
              <a:ahLst/>
              <a:cxnLst/>
              <a:rect l="l" t="t" r="r" b="b"/>
              <a:pathLst>
                <a:path w="1012657" h="445430">
                  <a:moveTo>
                    <a:pt x="93323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366012"/>
                  </a:lnTo>
                  <a:cubicBezTo>
                    <a:pt x="43699" y="366012"/>
                    <a:pt x="79418" y="401351"/>
                    <a:pt x="79418" y="445430"/>
                  </a:cubicBezTo>
                  <a:lnTo>
                    <a:pt x="933239" y="445430"/>
                  </a:lnTo>
                  <a:cubicBezTo>
                    <a:pt x="933239" y="401731"/>
                    <a:pt x="968578" y="366012"/>
                    <a:pt x="1012657" y="366012"/>
                  </a:cubicBezTo>
                  <a:lnTo>
                    <a:pt x="1012657" y="79418"/>
                  </a:lnTo>
                  <a:cubicBezTo>
                    <a:pt x="968958" y="79418"/>
                    <a:pt x="933239" y="44079"/>
                    <a:pt x="933239" y="0"/>
                  </a:cubicBezTo>
                  <a:close/>
                </a:path>
              </a:pathLst>
            </a:custGeom>
            <a:solidFill>
              <a:srgbClr val="C8C8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100" y="0"/>
              <a:ext cx="936457" cy="407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222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Artist Contract Management 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59807" y="5430645"/>
            <a:ext cx="3833446" cy="1651849"/>
            <a:chOff x="0" y="0"/>
            <a:chExt cx="1053175" cy="45381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53175" cy="453818"/>
            </a:xfrm>
            <a:custGeom>
              <a:avLst/>
              <a:gdLst/>
              <a:ahLst/>
              <a:cxnLst/>
              <a:rect l="l" t="t" r="r" b="b"/>
              <a:pathLst>
                <a:path w="1053175" h="453818">
                  <a:moveTo>
                    <a:pt x="973757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374400"/>
                  </a:lnTo>
                  <a:cubicBezTo>
                    <a:pt x="43699" y="374400"/>
                    <a:pt x="79418" y="409739"/>
                    <a:pt x="79418" y="453818"/>
                  </a:cubicBezTo>
                  <a:lnTo>
                    <a:pt x="973757" y="453818"/>
                  </a:lnTo>
                  <a:cubicBezTo>
                    <a:pt x="973757" y="410119"/>
                    <a:pt x="1009096" y="374400"/>
                    <a:pt x="1053175" y="374400"/>
                  </a:cubicBezTo>
                  <a:lnTo>
                    <a:pt x="1053175" y="79418"/>
                  </a:lnTo>
                  <a:cubicBezTo>
                    <a:pt x="1009476" y="79418"/>
                    <a:pt x="973757" y="44079"/>
                    <a:pt x="973757" y="0"/>
                  </a:cubicBezTo>
                  <a:close/>
                </a:path>
              </a:pathLst>
            </a:custGeom>
            <a:solidFill>
              <a:srgbClr val="C8C8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100" y="0"/>
              <a:ext cx="976975" cy="415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222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Manage Artist Performance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740836" y="7439046"/>
            <a:ext cx="3833446" cy="1651849"/>
            <a:chOff x="0" y="0"/>
            <a:chExt cx="1053175" cy="45381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53175" cy="453818"/>
            </a:xfrm>
            <a:custGeom>
              <a:avLst/>
              <a:gdLst/>
              <a:ahLst/>
              <a:cxnLst/>
              <a:rect l="l" t="t" r="r" b="b"/>
              <a:pathLst>
                <a:path w="1053175" h="453818">
                  <a:moveTo>
                    <a:pt x="973757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374400"/>
                  </a:lnTo>
                  <a:cubicBezTo>
                    <a:pt x="43699" y="374400"/>
                    <a:pt x="79418" y="409739"/>
                    <a:pt x="79418" y="453818"/>
                  </a:cubicBezTo>
                  <a:lnTo>
                    <a:pt x="973757" y="453818"/>
                  </a:lnTo>
                  <a:cubicBezTo>
                    <a:pt x="973757" y="410119"/>
                    <a:pt x="1009096" y="374400"/>
                    <a:pt x="1053175" y="374400"/>
                  </a:cubicBezTo>
                  <a:lnTo>
                    <a:pt x="1053175" y="79418"/>
                  </a:lnTo>
                  <a:cubicBezTo>
                    <a:pt x="1009476" y="79418"/>
                    <a:pt x="973757" y="44079"/>
                    <a:pt x="973757" y="0"/>
                  </a:cubicBezTo>
                  <a:close/>
                </a:path>
              </a:pathLst>
            </a:custGeom>
            <a:solidFill>
              <a:srgbClr val="C8C8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100" y="0"/>
              <a:ext cx="976975" cy="415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222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Manage Artist Maturity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6575518" y="3402270"/>
            <a:ext cx="7021440" cy="32608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2758296" y="1396548"/>
            <a:ext cx="1205060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130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A framework that will facilitate the manager: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t="-119999" b="-958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16231" y="610925"/>
            <a:ext cx="899137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4EEEA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ARTIST SELECTION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27469" y="8257922"/>
            <a:ext cx="6272957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FFFFFF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Past collaboration Artists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26595" y="2716040"/>
            <a:ext cx="6585325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FFFFFF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New-to-the-maison Artists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25907" y="5462027"/>
            <a:ext cx="6373416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FFFFFF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Artist with specific values</a:t>
            </a:r>
          </a:p>
        </p:txBody>
      </p:sp>
      <p:sp>
        <p:nvSpPr>
          <p:cNvPr id="7" name="AutoShape 7"/>
          <p:cNvSpPr/>
          <p:nvPr/>
        </p:nvSpPr>
        <p:spPr>
          <a:xfrm>
            <a:off x="563935" y="4453082"/>
            <a:ext cx="17141079" cy="0"/>
          </a:xfrm>
          <a:prstGeom prst="line">
            <a:avLst/>
          </a:prstGeom>
          <a:ln w="9525" cap="rnd">
            <a:solidFill>
              <a:srgbClr val="E6E6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82985" y="7366207"/>
            <a:ext cx="17141079" cy="0"/>
          </a:xfrm>
          <a:prstGeom prst="line">
            <a:avLst/>
          </a:prstGeom>
          <a:ln w="9525" cap="rnd">
            <a:solidFill>
              <a:srgbClr val="E6E6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44838" y="1933719"/>
            <a:ext cx="861120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  <a:spcBef>
                <a:spcPct val="0"/>
              </a:spcBef>
            </a:pPr>
            <a:r>
              <a:rPr lang="en-US" sz="12000" b="1">
                <a:solidFill>
                  <a:srgbClr val="FFFFFF">
                    <a:alpha val="33725"/>
                  </a:srgbClr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88677" y="4679453"/>
            <a:ext cx="721110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  <a:spcBef>
                <a:spcPct val="0"/>
              </a:spcBef>
            </a:pPr>
            <a:r>
              <a:rPr lang="en-US" sz="12000" b="1">
                <a:solidFill>
                  <a:srgbClr val="FFFFFF">
                    <a:alpha val="33725"/>
                  </a:srgbClr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1978" y="7476236"/>
            <a:ext cx="861120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  <a:spcBef>
                <a:spcPct val="0"/>
              </a:spcBef>
            </a:pPr>
            <a:r>
              <a:rPr lang="en-US" sz="12000" b="1">
                <a:solidFill>
                  <a:srgbClr val="FFFFFF">
                    <a:alpha val="33725"/>
                  </a:srgbClr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t="-114621" b="-1012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777711" y="416747"/>
            <a:ext cx="15125611" cy="9453507"/>
          </a:xfrm>
          <a:custGeom>
            <a:avLst/>
            <a:gdLst/>
            <a:ahLst/>
            <a:cxnLst/>
            <a:rect l="l" t="t" r="r" b="b"/>
            <a:pathLst>
              <a:path w="15125611" h="9453507">
                <a:moveTo>
                  <a:pt x="0" y="0"/>
                </a:moveTo>
                <a:lnTo>
                  <a:pt x="15125611" y="0"/>
                </a:lnTo>
                <a:lnTo>
                  <a:pt x="15125611" y="9453506"/>
                </a:lnTo>
                <a:lnTo>
                  <a:pt x="0" y="9453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99316" y="4455846"/>
            <a:ext cx="2177442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New-to-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the-maison Artists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t="-160335" b="-555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777711" y="416747"/>
            <a:ext cx="15125611" cy="9453507"/>
          </a:xfrm>
          <a:custGeom>
            <a:avLst/>
            <a:gdLst/>
            <a:ahLst/>
            <a:cxnLst/>
            <a:rect l="l" t="t" r="r" b="b"/>
            <a:pathLst>
              <a:path w="15125611" h="9453507">
                <a:moveTo>
                  <a:pt x="0" y="0"/>
                </a:moveTo>
                <a:lnTo>
                  <a:pt x="15125611" y="0"/>
                </a:lnTo>
                <a:lnTo>
                  <a:pt x="15125611" y="9453506"/>
                </a:lnTo>
                <a:lnTo>
                  <a:pt x="0" y="9453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99316" y="4455846"/>
            <a:ext cx="2177442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Artist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with specific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</a:blip>
            <a:stretch>
              <a:fillRect t="-133444" b="-8239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861" r="4861"/>
          <a:stretch>
            <a:fillRect/>
          </a:stretch>
        </p:blipFill>
        <p:spPr>
          <a:xfrm>
            <a:off x="2777711" y="416747"/>
            <a:ext cx="15125611" cy="942439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99316" y="4455846"/>
            <a:ext cx="228925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Past collaboration Artists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8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t="-118807" b="-970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3658995" y="3610513"/>
            <a:ext cx="2999005" cy="0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331697" y="745014"/>
            <a:ext cx="7851889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</a:pPr>
            <a:r>
              <a:rPr lang="en-US" sz="6500" b="1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CONTRACT STAGE</a:t>
            </a:r>
          </a:p>
        </p:txBody>
      </p:sp>
      <p:sp>
        <p:nvSpPr>
          <p:cNvPr id="5" name="AutoShape 5"/>
          <p:cNvSpPr/>
          <p:nvPr/>
        </p:nvSpPr>
        <p:spPr>
          <a:xfrm>
            <a:off x="6658168" y="3593748"/>
            <a:ext cx="168" cy="615449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179814" y="5054998"/>
            <a:ext cx="2979744" cy="0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>
            <a:off x="11159559" y="5026347"/>
            <a:ext cx="334" cy="567259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2741486" y="6467577"/>
            <a:ext cx="2999005" cy="0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>
            <a:off x="15740491" y="6447304"/>
            <a:ext cx="336" cy="584676"/>
          </a:xfrm>
          <a:prstGeom prst="line">
            <a:avLst/>
          </a:prstGeom>
          <a:ln w="38100" cap="flat">
            <a:solidFill>
              <a:srgbClr val="E6E6E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630786" y="2810797"/>
            <a:ext cx="3646831" cy="1631099"/>
            <a:chOff x="0" y="0"/>
            <a:chExt cx="1191551" cy="5329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1551" cy="532939"/>
            </a:xfrm>
            <a:custGeom>
              <a:avLst/>
              <a:gdLst/>
              <a:ahLst/>
              <a:cxnLst/>
              <a:rect l="l" t="t" r="r" b="b"/>
              <a:pathLst>
                <a:path w="1191551" h="532939">
                  <a:moveTo>
                    <a:pt x="1112133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453521"/>
                  </a:lnTo>
                  <a:cubicBezTo>
                    <a:pt x="43699" y="453521"/>
                    <a:pt x="79418" y="488860"/>
                    <a:pt x="79418" y="532939"/>
                  </a:cubicBezTo>
                  <a:lnTo>
                    <a:pt x="1112133" y="532939"/>
                  </a:lnTo>
                  <a:cubicBezTo>
                    <a:pt x="1112133" y="489240"/>
                    <a:pt x="1147472" y="453521"/>
                    <a:pt x="1191551" y="453521"/>
                  </a:cubicBezTo>
                  <a:lnTo>
                    <a:pt x="1191551" y="79418"/>
                  </a:lnTo>
                  <a:cubicBezTo>
                    <a:pt x="1147852" y="79418"/>
                    <a:pt x="1112133" y="44079"/>
                    <a:pt x="1112133" y="0"/>
                  </a:cubicBezTo>
                  <a:close/>
                </a:path>
              </a:pathLst>
            </a:custGeom>
            <a:solidFill>
              <a:srgbClr val="C8C8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00" y="0"/>
              <a:ext cx="1115351" cy="494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222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Artist Identification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864535" y="4209197"/>
            <a:ext cx="3587602" cy="1631099"/>
            <a:chOff x="0" y="0"/>
            <a:chExt cx="1012657" cy="4604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2657" cy="460403"/>
            </a:xfrm>
            <a:custGeom>
              <a:avLst/>
              <a:gdLst/>
              <a:ahLst/>
              <a:cxnLst/>
              <a:rect l="l" t="t" r="r" b="b"/>
              <a:pathLst>
                <a:path w="1012657" h="460403">
                  <a:moveTo>
                    <a:pt x="933239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380985"/>
                  </a:lnTo>
                  <a:cubicBezTo>
                    <a:pt x="43699" y="380985"/>
                    <a:pt x="79418" y="416324"/>
                    <a:pt x="79418" y="460403"/>
                  </a:cubicBezTo>
                  <a:lnTo>
                    <a:pt x="933239" y="460403"/>
                  </a:lnTo>
                  <a:cubicBezTo>
                    <a:pt x="933239" y="416704"/>
                    <a:pt x="968578" y="380985"/>
                    <a:pt x="1012657" y="380985"/>
                  </a:cubicBezTo>
                  <a:lnTo>
                    <a:pt x="1012657" y="79418"/>
                  </a:lnTo>
                  <a:cubicBezTo>
                    <a:pt x="968958" y="79418"/>
                    <a:pt x="933239" y="44079"/>
                    <a:pt x="933239" y="0"/>
                  </a:cubicBezTo>
                  <a:close/>
                </a:path>
              </a:pathLst>
            </a:custGeom>
            <a:solidFill>
              <a:srgbClr val="C8C8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00" y="0"/>
              <a:ext cx="936457" cy="422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222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LVMH House Identification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42836" y="5593606"/>
            <a:ext cx="3833446" cy="1707377"/>
            <a:chOff x="0" y="0"/>
            <a:chExt cx="1053175" cy="4690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3175" cy="469073"/>
            </a:xfrm>
            <a:custGeom>
              <a:avLst/>
              <a:gdLst/>
              <a:ahLst/>
              <a:cxnLst/>
              <a:rect l="l" t="t" r="r" b="b"/>
              <a:pathLst>
                <a:path w="1053175" h="469073">
                  <a:moveTo>
                    <a:pt x="973757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389655"/>
                  </a:lnTo>
                  <a:cubicBezTo>
                    <a:pt x="43699" y="389655"/>
                    <a:pt x="79418" y="424994"/>
                    <a:pt x="79418" y="469073"/>
                  </a:cubicBezTo>
                  <a:lnTo>
                    <a:pt x="973757" y="469073"/>
                  </a:lnTo>
                  <a:cubicBezTo>
                    <a:pt x="973757" y="425374"/>
                    <a:pt x="1009096" y="389655"/>
                    <a:pt x="1053175" y="389655"/>
                  </a:cubicBezTo>
                  <a:lnTo>
                    <a:pt x="1053175" y="79418"/>
                  </a:lnTo>
                  <a:cubicBezTo>
                    <a:pt x="1009476" y="79418"/>
                    <a:pt x="973757" y="44079"/>
                    <a:pt x="973757" y="0"/>
                  </a:cubicBezTo>
                  <a:close/>
                </a:path>
              </a:pathLst>
            </a:custGeom>
            <a:solidFill>
              <a:srgbClr val="C8C8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100" y="0"/>
              <a:ext cx="976975" cy="430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222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Scope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823768" y="7031979"/>
            <a:ext cx="3833446" cy="1707377"/>
            <a:chOff x="0" y="0"/>
            <a:chExt cx="1053175" cy="4690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3175" cy="469073"/>
            </a:xfrm>
            <a:custGeom>
              <a:avLst/>
              <a:gdLst/>
              <a:ahLst/>
              <a:cxnLst/>
              <a:rect l="l" t="t" r="r" b="b"/>
              <a:pathLst>
                <a:path w="1053175" h="469073">
                  <a:moveTo>
                    <a:pt x="973757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389655"/>
                  </a:lnTo>
                  <a:cubicBezTo>
                    <a:pt x="43699" y="389655"/>
                    <a:pt x="79418" y="424994"/>
                    <a:pt x="79418" y="469073"/>
                  </a:cubicBezTo>
                  <a:lnTo>
                    <a:pt x="973757" y="469073"/>
                  </a:lnTo>
                  <a:cubicBezTo>
                    <a:pt x="973757" y="425374"/>
                    <a:pt x="1009096" y="389655"/>
                    <a:pt x="1053175" y="389655"/>
                  </a:cubicBezTo>
                  <a:lnTo>
                    <a:pt x="1053175" y="79418"/>
                  </a:lnTo>
                  <a:cubicBezTo>
                    <a:pt x="1009476" y="79418"/>
                    <a:pt x="973757" y="44079"/>
                    <a:pt x="973757" y="0"/>
                  </a:cubicBezTo>
                  <a:close/>
                </a:path>
              </a:pathLst>
            </a:custGeom>
            <a:solidFill>
              <a:srgbClr val="C8C8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100" y="0"/>
              <a:ext cx="976975" cy="430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222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Compensation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114411" y="1799114"/>
            <a:ext cx="1205060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130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How the process works: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0891" y="4537075"/>
            <a:ext cx="17561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E6E6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99612" y="5963515"/>
            <a:ext cx="2641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E6E6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77691" y="7432010"/>
            <a:ext cx="26506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E6E6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39213" y="8916988"/>
            <a:ext cx="30852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E6E6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t="-138486" b="-773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144000" y="9234487"/>
            <a:ext cx="8115300" cy="0"/>
          </a:xfrm>
          <a:prstGeom prst="line">
            <a:avLst/>
          </a:prstGeom>
          <a:ln w="38100" cap="rnd">
            <a:solidFill>
              <a:srgbClr val="CAC4C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8133219" cy="10287000"/>
          </a:xfrm>
          <a:prstGeom prst="rect">
            <a:avLst/>
          </a:prstGeom>
          <a:solidFill>
            <a:srgbClr val="122227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70981" y="3019468"/>
            <a:ext cx="5284010" cy="5743489"/>
          </a:xfrm>
          <a:custGeom>
            <a:avLst/>
            <a:gdLst/>
            <a:ahLst/>
            <a:cxnLst/>
            <a:rect l="l" t="t" r="r" b="b"/>
            <a:pathLst>
              <a:path w="5284010" h="5743489">
                <a:moveTo>
                  <a:pt x="0" y="0"/>
                </a:moveTo>
                <a:lnTo>
                  <a:pt x="5284010" y="0"/>
                </a:lnTo>
                <a:lnTo>
                  <a:pt x="5284010" y="5743489"/>
                </a:lnTo>
                <a:lnTo>
                  <a:pt x="0" y="5743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037894" y="1997138"/>
            <a:ext cx="6486552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79"/>
              </a:lnSpc>
            </a:pPr>
            <a:r>
              <a:rPr lang="en-US" sz="4199" b="1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Maturity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37894" y="3031595"/>
            <a:ext cx="6486552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</a:pPr>
            <a:r>
              <a:rPr lang="en-US" sz="2700" b="1">
                <a:solidFill>
                  <a:srgbClr val="1222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Upon successful completion of the project and fulfillment of all obligations, the contract naturally terminates.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37894" y="5742835"/>
            <a:ext cx="6486552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</a:pPr>
            <a:r>
              <a:rPr lang="en-US" sz="4200" b="1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Termination for Cause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37894" y="6777291"/>
            <a:ext cx="6486552" cy="1417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</a:pPr>
            <a:r>
              <a:rPr lang="en-US" sz="2699" b="1">
                <a:solidFill>
                  <a:srgbClr val="1222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contract can be terminated if either party breaches its obligations and fails to rectify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019175"/>
            <a:ext cx="6331980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5000" b="1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Contract Termination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9144000" y="1033462"/>
            <a:ext cx="8115300" cy="0"/>
          </a:xfrm>
          <a:prstGeom prst="line">
            <a:avLst/>
          </a:prstGeom>
          <a:ln w="38100" cap="rnd">
            <a:solidFill>
              <a:srgbClr val="CAC4C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4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919" b="-1079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85949" y="4508760"/>
            <a:ext cx="8999659" cy="4749540"/>
          </a:xfrm>
          <a:custGeom>
            <a:avLst/>
            <a:gdLst/>
            <a:ahLst/>
            <a:cxnLst/>
            <a:rect l="l" t="t" r="r" b="b"/>
            <a:pathLst>
              <a:path w="8999659" h="4749540">
                <a:moveTo>
                  <a:pt x="0" y="0"/>
                </a:moveTo>
                <a:lnTo>
                  <a:pt x="8999659" y="0"/>
                </a:lnTo>
                <a:lnTo>
                  <a:pt x="8999659" y="4749540"/>
                </a:lnTo>
                <a:lnTo>
                  <a:pt x="0" y="4749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6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85608" y="-786732"/>
            <a:ext cx="8702392" cy="11860463"/>
          </a:xfrm>
          <a:custGeom>
            <a:avLst/>
            <a:gdLst/>
            <a:ahLst/>
            <a:cxnLst/>
            <a:rect l="l" t="t" r="r" b="b"/>
            <a:pathLst>
              <a:path w="8702392" h="11860463">
                <a:moveTo>
                  <a:pt x="0" y="0"/>
                </a:moveTo>
                <a:lnTo>
                  <a:pt x="8702392" y="0"/>
                </a:lnTo>
                <a:lnTo>
                  <a:pt x="8702392" y="11860464"/>
                </a:lnTo>
                <a:lnTo>
                  <a:pt x="0" y="1186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78168" y="1108195"/>
            <a:ext cx="8999659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8EDE3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PROBLEM SOLVED!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5181" y="2133720"/>
            <a:ext cx="10265633" cy="52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1"/>
              </a:lnSpc>
            </a:pPr>
            <a:r>
              <a:rPr lang="en-US" sz="2953" spc="389">
                <a:solidFill>
                  <a:srgbClr val="F8EDE3"/>
                </a:solidFill>
                <a:latin typeface="Noto Serif Ethiopic"/>
                <a:ea typeface="Noto Serif Ethiopic"/>
                <a:cs typeface="Noto Serif Ethiopic"/>
                <a:sym typeface="Noto Serif Ethiopic"/>
              </a:rPr>
              <a:t>BTS X LOUIS VUITTON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0918" y="3218612"/>
            <a:ext cx="7683252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130">
                <a:solidFill>
                  <a:srgbClr val="E6E6E6"/>
                </a:solidFill>
                <a:latin typeface="Noto Serif Ethiopic Bold"/>
                <a:ea typeface="Noto Serif Ethiopic Bold"/>
                <a:cs typeface="Noto Serif Ethiopic Bold"/>
                <a:sym typeface="Noto Serif Ethiopic Bold"/>
              </a:rPr>
              <a:t>DANIEL saved time and created an impactful collaboration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4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919" b="-1079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01797" y="1889075"/>
            <a:ext cx="7296607" cy="8696143"/>
          </a:xfrm>
          <a:custGeom>
            <a:avLst/>
            <a:gdLst/>
            <a:ahLst/>
            <a:cxnLst/>
            <a:rect l="l" t="t" r="r" b="b"/>
            <a:pathLst>
              <a:path w="7296607" h="8696143">
                <a:moveTo>
                  <a:pt x="0" y="0"/>
                </a:moveTo>
                <a:lnTo>
                  <a:pt x="7296608" y="0"/>
                </a:lnTo>
                <a:lnTo>
                  <a:pt x="7296608" y="8696143"/>
                </a:lnTo>
                <a:lnTo>
                  <a:pt x="0" y="8696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459321" y="2130773"/>
            <a:ext cx="8806189" cy="8806189"/>
          </a:xfrm>
          <a:custGeom>
            <a:avLst/>
            <a:gdLst/>
            <a:ahLst/>
            <a:cxnLst/>
            <a:rect l="l" t="t" r="r" b="b"/>
            <a:pathLst>
              <a:path w="8806189" h="8806189">
                <a:moveTo>
                  <a:pt x="0" y="0"/>
                </a:moveTo>
                <a:lnTo>
                  <a:pt x="8806189" y="0"/>
                </a:lnTo>
                <a:lnTo>
                  <a:pt x="8806189" y="8806188"/>
                </a:lnTo>
                <a:lnTo>
                  <a:pt x="0" y="8806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266548" y="3225865"/>
            <a:ext cx="5582327" cy="8508039"/>
          </a:xfrm>
          <a:custGeom>
            <a:avLst/>
            <a:gdLst/>
            <a:ahLst/>
            <a:cxnLst/>
            <a:rect l="l" t="t" r="r" b="b"/>
            <a:pathLst>
              <a:path w="5582327" h="8508039">
                <a:moveTo>
                  <a:pt x="0" y="0"/>
                </a:moveTo>
                <a:lnTo>
                  <a:pt x="5582327" y="0"/>
                </a:lnTo>
                <a:lnTo>
                  <a:pt x="5582327" y="8508038"/>
                </a:lnTo>
                <a:lnTo>
                  <a:pt x="0" y="8508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46817" y="3016225"/>
            <a:ext cx="10073068" cy="15137985"/>
          </a:xfrm>
          <a:custGeom>
            <a:avLst/>
            <a:gdLst/>
            <a:ahLst/>
            <a:cxnLst/>
            <a:rect l="l" t="t" r="r" b="b"/>
            <a:pathLst>
              <a:path w="10073068" h="15137985">
                <a:moveTo>
                  <a:pt x="0" y="0"/>
                </a:moveTo>
                <a:lnTo>
                  <a:pt x="10073068" y="0"/>
                </a:lnTo>
                <a:lnTo>
                  <a:pt x="10073068" y="15137985"/>
                </a:lnTo>
                <a:lnTo>
                  <a:pt x="0" y="151379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342983" y="3225865"/>
            <a:ext cx="7096619" cy="7711097"/>
          </a:xfrm>
          <a:custGeom>
            <a:avLst/>
            <a:gdLst/>
            <a:ahLst/>
            <a:cxnLst/>
            <a:rect l="l" t="t" r="r" b="b"/>
            <a:pathLst>
              <a:path w="7096619" h="7711097">
                <a:moveTo>
                  <a:pt x="0" y="0"/>
                </a:moveTo>
                <a:lnTo>
                  <a:pt x="7096619" y="0"/>
                </a:lnTo>
                <a:lnTo>
                  <a:pt x="7096619" y="7711096"/>
                </a:lnTo>
                <a:lnTo>
                  <a:pt x="0" y="77110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236347" y="445460"/>
            <a:ext cx="5815307" cy="144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4"/>
              </a:lnSpc>
            </a:pPr>
            <a:r>
              <a:rPr lang="en-US" sz="8410">
                <a:solidFill>
                  <a:srgbClr val="F8EDE3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MUSEACO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11184" y="1806066"/>
            <a:ext cx="10265633" cy="56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3153" spc="416">
                <a:solidFill>
                  <a:srgbClr val="F8EDE3"/>
                </a:solidFill>
                <a:latin typeface="Noto Serif Ethiopic"/>
                <a:ea typeface="Noto Serif Ethiopic"/>
                <a:cs typeface="Noto Serif Ethiopic"/>
                <a:sym typeface="Noto Serif Ethiopic"/>
              </a:rPr>
              <a:t>FOR EVERY MANAGER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4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919" b="-1079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451242" y="866775"/>
            <a:ext cx="3385517" cy="144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4"/>
              </a:lnSpc>
            </a:pPr>
            <a:r>
              <a:rPr lang="en-US" sz="8410">
                <a:solidFill>
                  <a:srgbClr val="F8EDE3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LVMH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11184" y="2224665"/>
            <a:ext cx="10265633" cy="56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3153" spc="416">
                <a:solidFill>
                  <a:srgbClr val="F8EDE3"/>
                </a:solidFill>
                <a:latin typeface="Noto Serif Ethiopic"/>
                <a:ea typeface="Noto Serif Ethiopic"/>
                <a:cs typeface="Noto Serif Ethiopic"/>
                <a:sym typeface="Noto Serif Ethiopic"/>
              </a:rPr>
              <a:t>MUSIC X LUXURY COLLABORATIONS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2209" y="3661430"/>
            <a:ext cx="5883582" cy="36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79"/>
              </a:lnSpc>
            </a:pPr>
            <a:r>
              <a:rPr lang="en-US" sz="12000">
                <a:solidFill>
                  <a:srgbClr val="F8EDE3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287</Words>
  <Application>Microsoft Office PowerPoint</Application>
  <PresentationFormat>Custom</PresentationFormat>
  <Paragraphs>73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Canva Sans</vt:lpstr>
      <vt:lpstr>Canva Sans Bold</vt:lpstr>
      <vt:lpstr>Montserrat Bold</vt:lpstr>
      <vt:lpstr>Arial</vt:lpstr>
      <vt:lpstr>Noto Serif Display Bold</vt:lpstr>
      <vt:lpstr>Noto Serif Ethiopic</vt:lpstr>
      <vt:lpstr>Calibri</vt:lpstr>
      <vt:lpstr>Noto Serif Display</vt:lpstr>
      <vt:lpstr>Montserrat</vt:lpstr>
      <vt:lpstr>Noto Serif Ethiopic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LVMH</dc:title>
  <cp:lastModifiedBy>vinayak singh</cp:lastModifiedBy>
  <cp:revision>2</cp:revision>
  <dcterms:created xsi:type="dcterms:W3CDTF">2006-08-16T00:00:00Z</dcterms:created>
  <dcterms:modified xsi:type="dcterms:W3CDTF">2026-05-30T08:31:48Z</dcterms:modified>
  <dc:identifier>DAF8BD-6SVs</dc:identifier>
</cp:coreProperties>
</file>