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Canva Sans" panose="020B0604020202020204" charset="0"/>
      <p:regular r:id="rId27"/>
    </p:embeddedFont>
    <p:embeddedFont>
      <p:font typeface="Canva Sans Bold" panose="020B0604020202020204" charset="0"/>
      <p:regular r:id="rId28"/>
    </p:embeddedFont>
    <p:embeddedFont>
      <p:font typeface="Canva Sans Italics" panose="020B0604020202020204" charset="0"/>
      <p:regular r:id="rId29"/>
    </p:embeddedFont>
    <p:embeddedFont>
      <p:font typeface="Halimum" panose="020B0604020202020204" charset="0"/>
      <p:regular r:id="rId30"/>
    </p:embeddedFont>
    <p:embeddedFont>
      <p:font typeface="Montserrat Bold" panose="020B0604020202020204" charset="0"/>
      <p:regular r:id="rId31"/>
    </p:embeddedFont>
    <p:embeddedFont>
      <p:font typeface="Open Sans 1" panose="020B0604020202020204" charset="0"/>
      <p:regular r:id="rId32"/>
    </p:embeddedFont>
    <p:embeddedFont>
      <p:font typeface="Open Sans 1 Bold" panose="020B0604020202020204" charset="0"/>
      <p:regular r:id="rId33"/>
    </p:embeddedFont>
    <p:embeddedFont>
      <p:font typeface="Open Sans 1 Bold Italics" panose="020B0604020202020204" charset="0"/>
      <p:regular r:id="rId34"/>
    </p:embeddedFont>
    <p:embeddedFont>
      <p:font typeface="Open Sans 1 Italics" panose="020B0604020202020204" charset="0"/>
      <p:regular r:id="rId35"/>
    </p:embeddedFont>
    <p:embeddedFont>
      <p:font typeface="Open Sans 2" panose="020B0604020202020204" charset="0"/>
      <p:regular r:id="rId36"/>
    </p:embeddedFont>
    <p:embeddedFont>
      <p:font typeface="Open Sans 2 Bold" panose="020B0604020202020204" charset="0"/>
      <p:regular r:id="rId37"/>
    </p:embeddedFont>
    <p:embeddedFont>
      <p:font typeface="Proxima Nova" panose="020B0604020202020204" charset="0"/>
      <p:regular r:id="rId38"/>
    </p:embeddedFont>
    <p:embeddedFont>
      <p:font typeface="Proxima Nova Bold"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acquisition of Industrious is a great indicator towards the viability of this model, in fact we observ the fair value of the company estimated to be only $270M, in other terms, CBRE paid an extra $574M to acquire this coworking business. </a:t>
            </a:r>
          </a:p>
          <a:p>
            <a:endParaRPr lang="en-US"/>
          </a:p>
          <a:p>
            <a:r>
              <a:rPr lang="en-US"/>
              <a:t>Thanks to CBRE they can now rely on a great backup as they show on their balance sheet a total of assets nearing $26.4 bn.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4.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ir.cbre.com/press-releases/detail/245/cbre-group-to-acquire-industrious-create-new-business?utm_source=chatgpt.com"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www.ubigreen.com/en/2022/05/30/flex-office-in-company/" TargetMode="External"/><Relationship Id="rId13" Type="http://schemas.openxmlformats.org/officeDocument/2006/relationships/hyperlink" Target="https://www.500sixth.com/blog/coworking-space-vs-home-office-which-is-better-for-productivity" TargetMode="External"/><Relationship Id="rId3" Type="http://schemas.openxmlformats.org/officeDocument/2006/relationships/hyperlink" Target="https://www.theinstantgroup.com/en-us/breakthrough-insights/research-articles/leased-offices-create-158-more-emissions-per-occupier-than-flex-space/" TargetMode="External"/><Relationship Id="rId7" Type="http://schemas.openxmlformats.org/officeDocument/2006/relationships/hyperlink" Target="https://www.telelogos.com/en/news/6-compelling-reasons-to-implement-flex-office/" TargetMode="External"/><Relationship Id="rId12" Type="http://schemas.openxmlformats.org/officeDocument/2006/relationships/hyperlink" Target="https://www.havn-co.com/journal/how-coworking-spaces-boost-productivity-and-focus" TargetMode="External"/><Relationship Id="rId2" Type="http://schemas.openxmlformats.org/officeDocument/2006/relationships/hyperlink" Target="https://archieapp.co/blog/largest-coworking-companies/" TargetMode="External"/><Relationship Id="rId1" Type="http://schemas.openxmlformats.org/officeDocument/2006/relationships/slideLayout" Target="../slideLayouts/slideLayout7.xml"/><Relationship Id="rId6" Type="http://schemas.openxmlformats.org/officeDocument/2006/relationships/hyperlink" Target="https://www.researchgate.net/publication/335081030_Impact_of_occupants%27_behaviour_on_energy_consumption_and_corresponding_strategies_in_office_buildings?utm_source=chatgpt.com" TargetMode="External"/><Relationship Id="rId11" Type="http://schemas.openxmlformats.org/officeDocument/2006/relationships/hyperlink" Target="https://nexudus.com/blog/10-environmentally-conscious-coworking-spaces/?utm_source=chatgpt.com" TargetMode="External"/><Relationship Id="rId5" Type="http://schemas.openxmlformats.org/officeDocument/2006/relationships/hyperlink" Target="https://arxiv.org/abs/2006.08225?utm_source=chatgpt.com" TargetMode="External"/><Relationship Id="rId10" Type="http://schemas.openxmlformats.org/officeDocument/2006/relationships/hyperlink" Target="https://allwork.space/2023/10/5-powerful-sustainability-strategies-to-help-coworking-centers-go-green/?utm_source=chatgpt.com" TargetMode="External"/><Relationship Id="rId4" Type="http://schemas.openxmlformats.org/officeDocument/2006/relationships/hyperlink" Target="https://www.researchgate.net/publication/347228697_ACCEPTED_MANUSCRIPT_OPEN_ACCESS_Relationships_between_Coworking_Spaces_and_CO_2_emissions_in_work-_related_commuting_first_empirical_insights_for_the_case_of_Switzerland_with_regard_to_urban-rural_dif" TargetMode="External"/><Relationship Id="rId9" Type="http://schemas.openxmlformats.org/officeDocument/2006/relationships/hyperlink" Target="https://www.theinstantgroup.com/en-gb/breakthrough-insights/research-articles/how-to-operate-a-sustainable-flexible-workspace/" TargetMode="External"/><Relationship Id="rId14" Type="http://schemas.openxmlformats.org/officeDocument/2006/relationships/hyperlink" Target="https://hbr.org/2023/02/research-how-coworking-spaces-impact-employee-well-being?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D344"/>
        </a:solidFill>
        <a:effectLst/>
      </p:bgPr>
    </p:bg>
    <p:spTree>
      <p:nvGrpSpPr>
        <p:cNvPr id="1" name=""/>
        <p:cNvGrpSpPr/>
        <p:nvPr/>
      </p:nvGrpSpPr>
      <p:grpSpPr>
        <a:xfrm>
          <a:off x="0" y="0"/>
          <a:ext cx="0" cy="0"/>
          <a:chOff x="0" y="0"/>
          <a:chExt cx="0" cy="0"/>
        </a:xfrm>
      </p:grpSpPr>
      <p:grpSp>
        <p:nvGrpSpPr>
          <p:cNvPr id="2" name="Group 2"/>
          <p:cNvGrpSpPr/>
          <p:nvPr/>
        </p:nvGrpSpPr>
        <p:grpSpPr>
          <a:xfrm>
            <a:off x="457085" y="444203"/>
            <a:ext cx="17373829" cy="9398593"/>
            <a:chOff x="0" y="0"/>
            <a:chExt cx="4575823" cy="2475350"/>
          </a:xfrm>
        </p:grpSpPr>
        <p:sp>
          <p:nvSpPr>
            <p:cNvPr id="3" name="Freeform 3"/>
            <p:cNvSpPr/>
            <p:nvPr/>
          </p:nvSpPr>
          <p:spPr>
            <a:xfrm>
              <a:off x="0" y="0"/>
              <a:ext cx="4575823" cy="2475350"/>
            </a:xfrm>
            <a:custGeom>
              <a:avLst/>
              <a:gdLst/>
              <a:ahLst/>
              <a:cxnLst/>
              <a:rect l="l" t="t" r="r" b="b"/>
              <a:pathLst>
                <a:path w="4575823" h="2475350">
                  <a:moveTo>
                    <a:pt x="0" y="0"/>
                  </a:moveTo>
                  <a:lnTo>
                    <a:pt x="4575823" y="0"/>
                  </a:lnTo>
                  <a:lnTo>
                    <a:pt x="4575823" y="2475350"/>
                  </a:lnTo>
                  <a:lnTo>
                    <a:pt x="0" y="2475350"/>
                  </a:lnTo>
                  <a:close/>
                </a:path>
              </a:pathLst>
            </a:custGeom>
            <a:solidFill>
              <a:srgbClr val="FFFFFF"/>
            </a:solidFill>
          </p:spPr>
          <p:txBody>
            <a:bodyPr/>
            <a:lstStyle/>
            <a:p>
              <a:endParaRPr lang="en-US"/>
            </a:p>
          </p:txBody>
        </p:sp>
        <p:sp>
          <p:nvSpPr>
            <p:cNvPr id="4" name="TextBox 4"/>
            <p:cNvSpPr txBox="1"/>
            <p:nvPr/>
          </p:nvSpPr>
          <p:spPr>
            <a:xfrm>
              <a:off x="0" y="-57150"/>
              <a:ext cx="4575823" cy="2532500"/>
            </a:xfrm>
            <a:prstGeom prst="rect">
              <a:avLst/>
            </a:prstGeom>
          </p:spPr>
          <p:txBody>
            <a:bodyPr lIns="50800" tIns="50800" rIns="50800" bIns="50800" rtlCol="0" anchor="ctr"/>
            <a:lstStyle/>
            <a:p>
              <a:pPr algn="ctr">
                <a:lnSpc>
                  <a:spcPts val="3150"/>
                </a:lnSpc>
              </a:pPr>
              <a:endParaRPr/>
            </a:p>
          </p:txBody>
        </p:sp>
      </p:grpSp>
      <p:sp>
        <p:nvSpPr>
          <p:cNvPr id="5" name="Freeform 5"/>
          <p:cNvSpPr/>
          <p:nvPr/>
        </p:nvSpPr>
        <p:spPr>
          <a:xfrm>
            <a:off x="7592103" y="4221495"/>
            <a:ext cx="9033463" cy="2234082"/>
          </a:xfrm>
          <a:custGeom>
            <a:avLst/>
            <a:gdLst/>
            <a:ahLst/>
            <a:cxnLst/>
            <a:rect l="l" t="t" r="r" b="b"/>
            <a:pathLst>
              <a:path w="9033463" h="2234082">
                <a:moveTo>
                  <a:pt x="0" y="0"/>
                </a:moveTo>
                <a:lnTo>
                  <a:pt x="9033463" y="0"/>
                </a:lnTo>
                <a:lnTo>
                  <a:pt x="9033463" y="2234082"/>
                </a:lnTo>
                <a:lnTo>
                  <a:pt x="0" y="2234082"/>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a:off x="1512667" y="4158509"/>
            <a:ext cx="5647764" cy="4638814"/>
            <a:chOff x="0" y="0"/>
            <a:chExt cx="989585" cy="812800"/>
          </a:xfrm>
        </p:grpSpPr>
        <p:sp>
          <p:nvSpPr>
            <p:cNvPr id="7" name="Freeform 7"/>
            <p:cNvSpPr/>
            <p:nvPr/>
          </p:nvSpPr>
          <p:spPr>
            <a:xfrm>
              <a:off x="0" y="0"/>
              <a:ext cx="989585" cy="812800"/>
            </a:xfrm>
            <a:custGeom>
              <a:avLst/>
              <a:gdLst/>
              <a:ahLst/>
              <a:cxnLst/>
              <a:rect l="l" t="t" r="r" b="b"/>
              <a:pathLst>
                <a:path w="989585" h="812800">
                  <a:moveTo>
                    <a:pt x="0" y="0"/>
                  </a:moveTo>
                  <a:lnTo>
                    <a:pt x="989585" y="0"/>
                  </a:lnTo>
                  <a:lnTo>
                    <a:pt x="989585" y="812800"/>
                  </a:lnTo>
                  <a:lnTo>
                    <a:pt x="0" y="812800"/>
                  </a:lnTo>
                  <a:close/>
                </a:path>
              </a:pathLst>
            </a:custGeom>
            <a:blipFill>
              <a:blip r:embed="rId3"/>
              <a:stretch>
                <a:fillRect t="-6879" r="-14565"/>
              </a:stretch>
            </a:blipFill>
          </p:spPr>
          <p:txBody>
            <a:bodyPr/>
            <a:lstStyle/>
            <a:p>
              <a:endParaRPr lang="en-US"/>
            </a:p>
          </p:txBody>
        </p:sp>
      </p:grpSp>
      <p:grpSp>
        <p:nvGrpSpPr>
          <p:cNvPr id="8" name="Group 8"/>
          <p:cNvGrpSpPr/>
          <p:nvPr/>
        </p:nvGrpSpPr>
        <p:grpSpPr>
          <a:xfrm>
            <a:off x="1512667" y="1489677"/>
            <a:ext cx="5647764" cy="2371990"/>
            <a:chOff x="0" y="0"/>
            <a:chExt cx="1935296" cy="812800"/>
          </a:xfrm>
        </p:grpSpPr>
        <p:sp>
          <p:nvSpPr>
            <p:cNvPr id="9" name="Freeform 9"/>
            <p:cNvSpPr/>
            <p:nvPr/>
          </p:nvSpPr>
          <p:spPr>
            <a:xfrm>
              <a:off x="0" y="0"/>
              <a:ext cx="1935296" cy="812800"/>
            </a:xfrm>
            <a:custGeom>
              <a:avLst/>
              <a:gdLst/>
              <a:ahLst/>
              <a:cxnLst/>
              <a:rect l="l" t="t" r="r" b="b"/>
              <a:pathLst>
                <a:path w="1935296" h="812800">
                  <a:moveTo>
                    <a:pt x="0" y="0"/>
                  </a:moveTo>
                  <a:lnTo>
                    <a:pt x="1935296" y="0"/>
                  </a:lnTo>
                  <a:lnTo>
                    <a:pt x="1935296" y="812800"/>
                  </a:lnTo>
                  <a:lnTo>
                    <a:pt x="0" y="812800"/>
                  </a:lnTo>
                  <a:close/>
                </a:path>
              </a:pathLst>
            </a:custGeom>
            <a:blipFill>
              <a:blip r:embed="rId4"/>
              <a:stretch>
                <a:fillRect t="-29317" b="-29317"/>
              </a:stretch>
            </a:blipFill>
          </p:spPr>
          <p:txBody>
            <a:bodyPr/>
            <a:lstStyle/>
            <a:p>
              <a:endParaRPr lang="en-US"/>
            </a:p>
          </p:txBody>
        </p:sp>
      </p:grpSp>
      <p:sp>
        <p:nvSpPr>
          <p:cNvPr id="10" name="TextBox 10"/>
          <p:cNvSpPr txBox="1"/>
          <p:nvPr/>
        </p:nvSpPr>
        <p:spPr>
          <a:xfrm>
            <a:off x="7592103" y="1880189"/>
            <a:ext cx="9248236" cy="1647114"/>
          </a:xfrm>
          <a:prstGeom prst="rect">
            <a:avLst/>
          </a:prstGeom>
        </p:spPr>
        <p:txBody>
          <a:bodyPr lIns="0" tIns="0" rIns="0" bIns="0" rtlCol="0" anchor="t">
            <a:spAutoFit/>
          </a:bodyPr>
          <a:lstStyle/>
          <a:p>
            <a:pPr marL="0" lvl="0" indent="0" algn="l">
              <a:lnSpc>
                <a:spcPts val="6283"/>
              </a:lnSpc>
              <a:spcBef>
                <a:spcPct val="0"/>
              </a:spcBef>
            </a:pPr>
            <a:r>
              <a:rPr lang="en-US" sz="6981" b="1">
                <a:solidFill>
                  <a:srgbClr val="FDD344"/>
                </a:solidFill>
                <a:latin typeface="Montserrat Bold"/>
                <a:ea typeface="Montserrat Bold"/>
                <a:cs typeface="Montserrat Bold"/>
                <a:sym typeface="Montserrat Bold"/>
              </a:rPr>
              <a:t>FORESIGHT &amp; STRATEGIC DESIGN</a:t>
            </a:r>
          </a:p>
        </p:txBody>
      </p:sp>
      <p:sp>
        <p:nvSpPr>
          <p:cNvPr id="13" name="TextBox 13"/>
          <p:cNvSpPr txBox="1"/>
          <p:nvPr/>
        </p:nvSpPr>
        <p:spPr>
          <a:xfrm>
            <a:off x="12954000" y="8582232"/>
            <a:ext cx="3993124" cy="430182"/>
          </a:xfrm>
          <a:prstGeom prst="rect">
            <a:avLst/>
          </a:prstGeom>
        </p:spPr>
        <p:txBody>
          <a:bodyPr lIns="0" tIns="0" rIns="0" bIns="0" rtlCol="0" anchor="t">
            <a:spAutoFit/>
          </a:bodyPr>
          <a:lstStyle/>
          <a:p>
            <a:pPr marL="0" lvl="0" indent="0" algn="r">
              <a:lnSpc>
                <a:spcPts val="3550"/>
              </a:lnSpc>
            </a:pPr>
            <a:r>
              <a:rPr lang="en-US" sz="2536" dirty="0">
                <a:solidFill>
                  <a:srgbClr val="A0A0A0"/>
                </a:solidFill>
                <a:latin typeface="Open Sans 1"/>
                <a:ea typeface="Open Sans 1"/>
                <a:cs typeface="Open Sans 1"/>
                <a:sym typeface="Open Sans 1"/>
              </a:rPr>
              <a:t>By Vinayak Singh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77002" y="1414049"/>
            <a:ext cx="15751452" cy="985204"/>
            <a:chOff x="0" y="0"/>
            <a:chExt cx="4148530" cy="259477"/>
          </a:xfrm>
        </p:grpSpPr>
        <p:sp>
          <p:nvSpPr>
            <p:cNvPr id="3" name="Freeform 3"/>
            <p:cNvSpPr/>
            <p:nvPr/>
          </p:nvSpPr>
          <p:spPr>
            <a:xfrm>
              <a:off x="0" y="0"/>
              <a:ext cx="4148530" cy="259477"/>
            </a:xfrm>
            <a:custGeom>
              <a:avLst/>
              <a:gdLst/>
              <a:ahLst/>
              <a:cxnLst/>
              <a:rect l="l" t="t" r="r" b="b"/>
              <a:pathLst>
                <a:path w="4148530" h="259477">
                  <a:moveTo>
                    <a:pt x="0" y="0"/>
                  </a:moveTo>
                  <a:lnTo>
                    <a:pt x="4148530" y="0"/>
                  </a:lnTo>
                  <a:lnTo>
                    <a:pt x="4148530" y="259477"/>
                  </a:lnTo>
                  <a:lnTo>
                    <a:pt x="0" y="259477"/>
                  </a:lnTo>
                  <a:close/>
                </a:path>
              </a:pathLst>
            </a:custGeom>
            <a:solidFill>
              <a:srgbClr val="FFF3C2"/>
            </a:solidFill>
          </p:spPr>
          <p:txBody>
            <a:bodyPr/>
            <a:lstStyle/>
            <a:p>
              <a:endParaRPr lang="en-US"/>
            </a:p>
          </p:txBody>
        </p:sp>
        <p:sp>
          <p:nvSpPr>
            <p:cNvPr id="4" name="TextBox 4"/>
            <p:cNvSpPr txBox="1"/>
            <p:nvPr/>
          </p:nvSpPr>
          <p:spPr>
            <a:xfrm>
              <a:off x="0" y="-38100"/>
              <a:ext cx="4148530" cy="297577"/>
            </a:xfrm>
            <a:prstGeom prst="rect">
              <a:avLst/>
            </a:prstGeom>
          </p:spPr>
          <p:txBody>
            <a:bodyPr lIns="50800" tIns="50800" rIns="50800" bIns="50800" rtlCol="0" anchor="ctr"/>
            <a:lstStyle/>
            <a:p>
              <a:pPr algn="l">
                <a:lnSpc>
                  <a:spcPts val="2399"/>
                </a:lnSpc>
              </a:pPr>
              <a:r>
                <a:rPr lang="en-US" sz="1599" b="1">
                  <a:solidFill>
                    <a:srgbClr val="000000"/>
                  </a:solidFill>
                  <a:latin typeface="Open Sans 1 Bold"/>
                  <a:ea typeface="Open Sans 1 Bold"/>
                  <a:cs typeface="Open Sans 1 Bold"/>
                  <a:sym typeface="Open Sans 1 Bold"/>
                </a:rPr>
                <a:t>FLEXIBLE AND HOSPITALITY-DRIVEN WORKSPACES :</a:t>
              </a:r>
              <a:r>
                <a:rPr lang="en-US" sz="1599">
                  <a:solidFill>
                    <a:srgbClr val="000000"/>
                  </a:solidFill>
                  <a:latin typeface="Open Sans 1"/>
                  <a:ea typeface="Open Sans 1"/>
                  <a:cs typeface="Open Sans 1"/>
                  <a:sym typeface="Open Sans 1"/>
                </a:rPr>
                <a:t> Creating employee-centered, service-oriented workplaces that combine the flexibility of coworking with the consistency and professionalism of hospitality operations.</a:t>
              </a:r>
            </a:p>
          </p:txBody>
        </p:sp>
      </p:grpSp>
      <p:sp>
        <p:nvSpPr>
          <p:cNvPr id="5" name="TextBox 5"/>
          <p:cNvSpPr txBox="1"/>
          <p:nvPr/>
        </p:nvSpPr>
        <p:spPr>
          <a:xfrm>
            <a:off x="327304" y="424218"/>
            <a:ext cx="9930402"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Executive Summary</a:t>
            </a:r>
          </a:p>
        </p:txBody>
      </p:sp>
      <p:grpSp>
        <p:nvGrpSpPr>
          <p:cNvPr id="6" name="Group 6"/>
          <p:cNvGrpSpPr/>
          <p:nvPr/>
        </p:nvGrpSpPr>
        <p:grpSpPr>
          <a:xfrm>
            <a:off x="327304" y="1414049"/>
            <a:ext cx="1752654" cy="985204"/>
            <a:chOff x="0" y="0"/>
            <a:chExt cx="461604" cy="259477"/>
          </a:xfrm>
        </p:grpSpPr>
        <p:sp>
          <p:nvSpPr>
            <p:cNvPr id="7" name="Freeform 7"/>
            <p:cNvSpPr/>
            <p:nvPr/>
          </p:nvSpPr>
          <p:spPr>
            <a:xfrm>
              <a:off x="0" y="0"/>
              <a:ext cx="461604" cy="259477"/>
            </a:xfrm>
            <a:custGeom>
              <a:avLst/>
              <a:gdLst/>
              <a:ahLst/>
              <a:cxnLst/>
              <a:rect l="l" t="t" r="r" b="b"/>
              <a:pathLst>
                <a:path w="461604" h="259477">
                  <a:moveTo>
                    <a:pt x="0" y="0"/>
                  </a:moveTo>
                  <a:lnTo>
                    <a:pt x="461604" y="0"/>
                  </a:lnTo>
                  <a:lnTo>
                    <a:pt x="461604" y="259477"/>
                  </a:lnTo>
                  <a:lnTo>
                    <a:pt x="0" y="259477"/>
                  </a:lnTo>
                  <a:close/>
                </a:path>
              </a:pathLst>
            </a:custGeom>
            <a:solidFill>
              <a:srgbClr val="FEDD6B"/>
            </a:solidFill>
          </p:spPr>
          <p:txBody>
            <a:bodyPr/>
            <a:lstStyle/>
            <a:p>
              <a:endParaRPr lang="en-US"/>
            </a:p>
          </p:txBody>
        </p:sp>
        <p:sp>
          <p:nvSpPr>
            <p:cNvPr id="8" name="TextBox 8"/>
            <p:cNvSpPr txBox="1"/>
            <p:nvPr/>
          </p:nvSpPr>
          <p:spPr>
            <a:xfrm>
              <a:off x="0" y="-47625"/>
              <a:ext cx="461604" cy="307102"/>
            </a:xfrm>
            <a:prstGeom prst="rect">
              <a:avLst/>
            </a:prstGeom>
          </p:spPr>
          <p:txBody>
            <a:bodyPr lIns="50800" tIns="50800" rIns="50800" bIns="50800" rtlCol="0" anchor="ctr"/>
            <a:lstStyle/>
            <a:p>
              <a:pPr algn="l">
                <a:lnSpc>
                  <a:spcPts val="2400"/>
                </a:lnSpc>
              </a:pPr>
              <a:r>
                <a:rPr lang="en-US" sz="1600" b="1">
                  <a:solidFill>
                    <a:srgbClr val="000000"/>
                  </a:solidFill>
                  <a:latin typeface="Open Sans 1 Bold"/>
                  <a:ea typeface="Open Sans 1 Bold"/>
                  <a:cs typeface="Open Sans 1 Bold"/>
                  <a:sym typeface="Open Sans 1 Bold"/>
                </a:rPr>
                <a:t>Business Model Archetype</a:t>
              </a:r>
            </a:p>
          </p:txBody>
        </p:sp>
      </p:grpSp>
      <p:grpSp>
        <p:nvGrpSpPr>
          <p:cNvPr id="9" name="Group 9"/>
          <p:cNvGrpSpPr/>
          <p:nvPr/>
        </p:nvGrpSpPr>
        <p:grpSpPr>
          <a:xfrm>
            <a:off x="2277002" y="2548767"/>
            <a:ext cx="15751452" cy="990858"/>
            <a:chOff x="0" y="0"/>
            <a:chExt cx="4148530" cy="260967"/>
          </a:xfrm>
        </p:grpSpPr>
        <p:sp>
          <p:nvSpPr>
            <p:cNvPr id="10" name="Freeform 10"/>
            <p:cNvSpPr/>
            <p:nvPr/>
          </p:nvSpPr>
          <p:spPr>
            <a:xfrm>
              <a:off x="0" y="0"/>
              <a:ext cx="4148530" cy="260967"/>
            </a:xfrm>
            <a:custGeom>
              <a:avLst/>
              <a:gdLst/>
              <a:ahLst/>
              <a:cxnLst/>
              <a:rect l="l" t="t" r="r" b="b"/>
              <a:pathLst>
                <a:path w="4148530" h="260967">
                  <a:moveTo>
                    <a:pt x="0" y="0"/>
                  </a:moveTo>
                  <a:lnTo>
                    <a:pt x="4148530" y="0"/>
                  </a:lnTo>
                  <a:lnTo>
                    <a:pt x="4148530" y="260967"/>
                  </a:lnTo>
                  <a:lnTo>
                    <a:pt x="0" y="260967"/>
                  </a:lnTo>
                  <a:close/>
                </a:path>
              </a:pathLst>
            </a:custGeom>
            <a:solidFill>
              <a:srgbClr val="FFF3C2"/>
            </a:solidFill>
          </p:spPr>
          <p:txBody>
            <a:bodyPr/>
            <a:lstStyle/>
            <a:p>
              <a:endParaRPr lang="en-US"/>
            </a:p>
          </p:txBody>
        </p:sp>
        <p:sp>
          <p:nvSpPr>
            <p:cNvPr id="11" name="TextBox 11"/>
            <p:cNvSpPr txBox="1"/>
            <p:nvPr/>
          </p:nvSpPr>
          <p:spPr>
            <a:xfrm>
              <a:off x="0" y="-38100"/>
              <a:ext cx="4148530" cy="299067"/>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Industrious, founded in 2012 by Jamie Hodari and Justin Stewart, is a leading global coworking operator providing premium, flexible offices through partnerships with landlords.The company operates 160+ locations across 65+ cities worldwide and was acquired by CBRE for nearly $1 billion in 2025, validating its strategic and financial strength.</a:t>
              </a:r>
            </a:p>
          </p:txBody>
        </p:sp>
      </p:grpSp>
      <p:grpSp>
        <p:nvGrpSpPr>
          <p:cNvPr id="12" name="Group 12"/>
          <p:cNvGrpSpPr/>
          <p:nvPr/>
        </p:nvGrpSpPr>
        <p:grpSpPr>
          <a:xfrm>
            <a:off x="327304" y="2548767"/>
            <a:ext cx="1752654" cy="985204"/>
            <a:chOff x="0" y="0"/>
            <a:chExt cx="461604" cy="259477"/>
          </a:xfrm>
        </p:grpSpPr>
        <p:sp>
          <p:nvSpPr>
            <p:cNvPr id="13" name="Freeform 13"/>
            <p:cNvSpPr/>
            <p:nvPr/>
          </p:nvSpPr>
          <p:spPr>
            <a:xfrm>
              <a:off x="0" y="0"/>
              <a:ext cx="461604" cy="259477"/>
            </a:xfrm>
            <a:custGeom>
              <a:avLst/>
              <a:gdLst/>
              <a:ahLst/>
              <a:cxnLst/>
              <a:rect l="l" t="t" r="r" b="b"/>
              <a:pathLst>
                <a:path w="461604" h="259477">
                  <a:moveTo>
                    <a:pt x="0" y="0"/>
                  </a:moveTo>
                  <a:lnTo>
                    <a:pt x="461604" y="0"/>
                  </a:lnTo>
                  <a:lnTo>
                    <a:pt x="461604" y="259477"/>
                  </a:lnTo>
                  <a:lnTo>
                    <a:pt x="0" y="259477"/>
                  </a:lnTo>
                  <a:close/>
                </a:path>
              </a:pathLst>
            </a:custGeom>
            <a:solidFill>
              <a:srgbClr val="FEDD6B"/>
            </a:solidFill>
          </p:spPr>
          <p:txBody>
            <a:bodyPr/>
            <a:lstStyle/>
            <a:p>
              <a:endParaRPr lang="en-US"/>
            </a:p>
          </p:txBody>
        </p:sp>
        <p:sp>
          <p:nvSpPr>
            <p:cNvPr id="14" name="TextBox 14"/>
            <p:cNvSpPr txBox="1"/>
            <p:nvPr/>
          </p:nvSpPr>
          <p:spPr>
            <a:xfrm>
              <a:off x="0" y="-47625"/>
              <a:ext cx="461604" cy="307102"/>
            </a:xfrm>
            <a:prstGeom prst="rect">
              <a:avLst/>
            </a:prstGeom>
          </p:spPr>
          <p:txBody>
            <a:bodyPr lIns="50800" tIns="50800" rIns="50800" bIns="50800" rtlCol="0" anchor="ctr"/>
            <a:lstStyle/>
            <a:p>
              <a:pPr algn="l">
                <a:lnSpc>
                  <a:spcPts val="2400"/>
                </a:lnSpc>
              </a:pPr>
              <a:r>
                <a:rPr lang="en-US" sz="1600" b="1">
                  <a:solidFill>
                    <a:srgbClr val="000000"/>
                  </a:solidFill>
                  <a:latin typeface="Open Sans 1 Bold"/>
                  <a:ea typeface="Open Sans 1 Bold"/>
                  <a:cs typeface="Open Sans 1 Bold"/>
                  <a:sym typeface="Open Sans 1 Bold"/>
                </a:rPr>
                <a:t>Company</a:t>
              </a:r>
            </a:p>
          </p:txBody>
        </p:sp>
      </p:grpSp>
      <p:grpSp>
        <p:nvGrpSpPr>
          <p:cNvPr id="15" name="Group 15"/>
          <p:cNvGrpSpPr/>
          <p:nvPr/>
        </p:nvGrpSpPr>
        <p:grpSpPr>
          <a:xfrm>
            <a:off x="327304" y="3686370"/>
            <a:ext cx="1752654" cy="2874923"/>
            <a:chOff x="0" y="0"/>
            <a:chExt cx="461604" cy="757181"/>
          </a:xfrm>
        </p:grpSpPr>
        <p:sp>
          <p:nvSpPr>
            <p:cNvPr id="16" name="Freeform 16"/>
            <p:cNvSpPr/>
            <p:nvPr/>
          </p:nvSpPr>
          <p:spPr>
            <a:xfrm>
              <a:off x="0" y="0"/>
              <a:ext cx="461604" cy="757181"/>
            </a:xfrm>
            <a:custGeom>
              <a:avLst/>
              <a:gdLst/>
              <a:ahLst/>
              <a:cxnLst/>
              <a:rect l="l" t="t" r="r" b="b"/>
              <a:pathLst>
                <a:path w="461604" h="757181">
                  <a:moveTo>
                    <a:pt x="0" y="0"/>
                  </a:moveTo>
                  <a:lnTo>
                    <a:pt x="461604" y="0"/>
                  </a:lnTo>
                  <a:lnTo>
                    <a:pt x="461604" y="757181"/>
                  </a:lnTo>
                  <a:lnTo>
                    <a:pt x="0" y="757181"/>
                  </a:lnTo>
                  <a:close/>
                </a:path>
              </a:pathLst>
            </a:custGeom>
            <a:solidFill>
              <a:srgbClr val="FEDD6B"/>
            </a:solidFill>
          </p:spPr>
          <p:txBody>
            <a:bodyPr/>
            <a:lstStyle/>
            <a:p>
              <a:endParaRPr lang="en-US"/>
            </a:p>
          </p:txBody>
        </p:sp>
        <p:sp>
          <p:nvSpPr>
            <p:cNvPr id="17" name="TextBox 17"/>
            <p:cNvSpPr txBox="1"/>
            <p:nvPr/>
          </p:nvSpPr>
          <p:spPr>
            <a:xfrm>
              <a:off x="0" y="-47625"/>
              <a:ext cx="461604" cy="804806"/>
            </a:xfrm>
            <a:prstGeom prst="rect">
              <a:avLst/>
            </a:prstGeom>
          </p:spPr>
          <p:txBody>
            <a:bodyPr lIns="50800" tIns="50800" rIns="50800" bIns="50800" rtlCol="0" anchor="ctr"/>
            <a:lstStyle/>
            <a:p>
              <a:pPr algn="l">
                <a:lnSpc>
                  <a:spcPts val="2400"/>
                </a:lnSpc>
              </a:pPr>
              <a:r>
                <a:rPr lang="en-US" sz="1600" b="1">
                  <a:solidFill>
                    <a:srgbClr val="000000"/>
                  </a:solidFill>
                  <a:latin typeface="Open Sans 1 Bold"/>
                  <a:ea typeface="Open Sans 1 Bold"/>
                  <a:cs typeface="Open Sans 1 Bold"/>
                  <a:sym typeface="Open Sans 1 Bold"/>
                </a:rPr>
                <a:t>Is the business model financially viable and scalable ?</a:t>
              </a:r>
            </a:p>
          </p:txBody>
        </p:sp>
      </p:grpSp>
      <p:grpSp>
        <p:nvGrpSpPr>
          <p:cNvPr id="18" name="Group 18"/>
          <p:cNvGrpSpPr/>
          <p:nvPr/>
        </p:nvGrpSpPr>
        <p:grpSpPr>
          <a:xfrm>
            <a:off x="327304" y="6713693"/>
            <a:ext cx="1752654" cy="3333222"/>
            <a:chOff x="0" y="0"/>
            <a:chExt cx="461604" cy="877886"/>
          </a:xfrm>
        </p:grpSpPr>
        <p:sp>
          <p:nvSpPr>
            <p:cNvPr id="19" name="Freeform 19"/>
            <p:cNvSpPr/>
            <p:nvPr/>
          </p:nvSpPr>
          <p:spPr>
            <a:xfrm>
              <a:off x="0" y="0"/>
              <a:ext cx="461604" cy="877886"/>
            </a:xfrm>
            <a:custGeom>
              <a:avLst/>
              <a:gdLst/>
              <a:ahLst/>
              <a:cxnLst/>
              <a:rect l="l" t="t" r="r" b="b"/>
              <a:pathLst>
                <a:path w="461604" h="877886">
                  <a:moveTo>
                    <a:pt x="0" y="0"/>
                  </a:moveTo>
                  <a:lnTo>
                    <a:pt x="461604" y="0"/>
                  </a:lnTo>
                  <a:lnTo>
                    <a:pt x="461604" y="877886"/>
                  </a:lnTo>
                  <a:lnTo>
                    <a:pt x="0" y="877886"/>
                  </a:lnTo>
                  <a:close/>
                </a:path>
              </a:pathLst>
            </a:custGeom>
            <a:solidFill>
              <a:srgbClr val="FEDD6B"/>
            </a:solidFill>
          </p:spPr>
          <p:txBody>
            <a:bodyPr/>
            <a:lstStyle/>
            <a:p>
              <a:endParaRPr lang="en-US"/>
            </a:p>
          </p:txBody>
        </p:sp>
        <p:sp>
          <p:nvSpPr>
            <p:cNvPr id="20" name="TextBox 20"/>
            <p:cNvSpPr txBox="1"/>
            <p:nvPr/>
          </p:nvSpPr>
          <p:spPr>
            <a:xfrm>
              <a:off x="0" y="-47625"/>
              <a:ext cx="461604" cy="925511"/>
            </a:xfrm>
            <a:prstGeom prst="rect">
              <a:avLst/>
            </a:prstGeom>
          </p:spPr>
          <p:txBody>
            <a:bodyPr lIns="50800" tIns="50800" rIns="50800" bIns="50800" rtlCol="0" anchor="ctr"/>
            <a:lstStyle/>
            <a:p>
              <a:pPr algn="l">
                <a:lnSpc>
                  <a:spcPts val="2400"/>
                </a:lnSpc>
              </a:pPr>
              <a:r>
                <a:rPr lang="en-US" sz="1600" b="1">
                  <a:solidFill>
                    <a:srgbClr val="000000"/>
                  </a:solidFill>
                  <a:latin typeface="Open Sans 1 Bold"/>
                  <a:ea typeface="Open Sans 1 Bold"/>
                  <a:cs typeface="Open Sans 1 Bold"/>
                  <a:sym typeface="Open Sans 1 Bold"/>
                </a:rPr>
                <a:t>Does it qualify as a net positive catalyst ?</a:t>
              </a:r>
            </a:p>
          </p:txBody>
        </p:sp>
      </p:grpSp>
      <p:grpSp>
        <p:nvGrpSpPr>
          <p:cNvPr id="21" name="Group 21"/>
          <p:cNvGrpSpPr/>
          <p:nvPr/>
        </p:nvGrpSpPr>
        <p:grpSpPr>
          <a:xfrm>
            <a:off x="14008866" y="3692025"/>
            <a:ext cx="4019587" cy="6354890"/>
            <a:chOff x="0" y="0"/>
            <a:chExt cx="1058657" cy="1673716"/>
          </a:xfrm>
        </p:grpSpPr>
        <p:sp>
          <p:nvSpPr>
            <p:cNvPr id="22" name="Freeform 22"/>
            <p:cNvSpPr/>
            <p:nvPr/>
          </p:nvSpPr>
          <p:spPr>
            <a:xfrm>
              <a:off x="0" y="0"/>
              <a:ext cx="1058657" cy="1673716"/>
            </a:xfrm>
            <a:custGeom>
              <a:avLst/>
              <a:gdLst/>
              <a:ahLst/>
              <a:cxnLst/>
              <a:rect l="l" t="t" r="r" b="b"/>
              <a:pathLst>
                <a:path w="1058657" h="1673716">
                  <a:moveTo>
                    <a:pt x="0" y="0"/>
                  </a:moveTo>
                  <a:lnTo>
                    <a:pt x="1058657" y="0"/>
                  </a:lnTo>
                  <a:lnTo>
                    <a:pt x="1058657" y="1673716"/>
                  </a:lnTo>
                  <a:lnTo>
                    <a:pt x="0" y="1673716"/>
                  </a:lnTo>
                  <a:close/>
                </a:path>
              </a:pathLst>
            </a:custGeom>
            <a:solidFill>
              <a:srgbClr val="FFF3C2"/>
            </a:solidFill>
          </p:spPr>
          <p:txBody>
            <a:bodyPr/>
            <a:lstStyle/>
            <a:p>
              <a:endParaRPr lang="en-US"/>
            </a:p>
          </p:txBody>
        </p:sp>
        <p:sp>
          <p:nvSpPr>
            <p:cNvPr id="23" name="TextBox 23"/>
            <p:cNvSpPr txBox="1"/>
            <p:nvPr/>
          </p:nvSpPr>
          <p:spPr>
            <a:xfrm>
              <a:off x="0" y="-38100"/>
              <a:ext cx="1058657" cy="1711816"/>
            </a:xfrm>
            <a:prstGeom prst="rect">
              <a:avLst/>
            </a:prstGeom>
          </p:spPr>
          <p:txBody>
            <a:bodyPr lIns="254000" tIns="254000" rIns="254000" bIns="254000" rtlCol="0" anchor="ctr"/>
            <a:lstStyle/>
            <a:p>
              <a:pPr algn="l">
                <a:lnSpc>
                  <a:spcPts val="2399"/>
                </a:lnSpc>
              </a:pPr>
              <a:r>
                <a:rPr lang="en-US" sz="1599" b="1">
                  <a:solidFill>
                    <a:srgbClr val="000000"/>
                  </a:solidFill>
                  <a:latin typeface="Open Sans 1 Bold"/>
                  <a:ea typeface="Open Sans 1 Bold"/>
                  <a:cs typeface="Open Sans 1 Bold"/>
                  <a:sym typeface="Open Sans 1 Bold"/>
                </a:rPr>
                <a:t>Answer to Hypothesis</a:t>
              </a:r>
            </a:p>
            <a:p>
              <a:pPr algn="l">
                <a:lnSpc>
                  <a:spcPts val="2399"/>
                </a:lnSpc>
              </a:pPr>
              <a:endParaRPr lang="en-US" sz="1599" b="1">
                <a:solidFill>
                  <a:srgbClr val="000000"/>
                </a:solidFill>
                <a:latin typeface="Open Sans 1 Bold"/>
                <a:ea typeface="Open Sans 1 Bold"/>
                <a:cs typeface="Open Sans 1 Bold"/>
                <a:sym typeface="Open Sans 1 Bold"/>
              </a:endParaRPr>
            </a:p>
            <a:p>
              <a:pPr algn="l">
                <a:lnSpc>
                  <a:spcPts val="2399"/>
                </a:lnSpc>
              </a:pPr>
              <a:r>
                <a:rPr lang="en-US" sz="1599">
                  <a:solidFill>
                    <a:srgbClr val="000000"/>
                  </a:solidFill>
                  <a:latin typeface="Open Sans 1"/>
                  <a:ea typeface="Open Sans 1"/>
                  <a:cs typeface="Open Sans 1"/>
                  <a:sym typeface="Open Sans 1"/>
                </a:rPr>
                <a:t>Industrious shows that a hospitality-driven, asset-light coworking model can scale profitably while maintaining lower per-user environmental impact. Its partnership approach supports high occupancy, stable retention, and reduced reliance on new construction. At the same time, its focus on design quality and wellbeing contributes to positive social outcomes for members. Overall, Industrious provides evidence that flexible workspace operators can balance </a:t>
              </a:r>
              <a:r>
                <a:rPr lang="en-US" sz="1599" b="1">
                  <a:solidFill>
                    <a:srgbClr val="000000"/>
                  </a:solidFill>
                  <a:latin typeface="Open Sans 1 Bold"/>
                  <a:ea typeface="Open Sans 1 Bold"/>
                  <a:cs typeface="Open Sans 1 Bold"/>
                  <a:sym typeface="Open Sans 1 Bold"/>
                </a:rPr>
                <a:t>profitability</a:t>
              </a:r>
              <a:r>
                <a:rPr lang="en-US" sz="1599">
                  <a:solidFill>
                    <a:srgbClr val="000000"/>
                  </a:solidFill>
                  <a:latin typeface="Open Sans 1"/>
                  <a:ea typeface="Open Sans 1"/>
                  <a:cs typeface="Open Sans 1"/>
                  <a:sym typeface="Open Sans 1"/>
                </a:rPr>
                <a:t>, </a:t>
              </a:r>
              <a:r>
                <a:rPr lang="en-US" sz="1599" b="1">
                  <a:solidFill>
                    <a:srgbClr val="000000"/>
                  </a:solidFill>
                  <a:latin typeface="Open Sans 1 Bold"/>
                  <a:ea typeface="Open Sans 1 Bold"/>
                  <a:cs typeface="Open Sans 1 Bold"/>
                  <a:sym typeface="Open Sans 1 Bold"/>
                </a:rPr>
                <a:t>resource efficiency</a:t>
              </a:r>
              <a:r>
                <a:rPr lang="en-US" sz="1599">
                  <a:solidFill>
                    <a:srgbClr val="000000"/>
                  </a:solidFill>
                  <a:latin typeface="Open Sans 1"/>
                  <a:ea typeface="Open Sans 1"/>
                  <a:cs typeface="Open Sans 1"/>
                  <a:sym typeface="Open Sans 1"/>
                </a:rPr>
                <a:t>, and </a:t>
              </a:r>
              <a:r>
                <a:rPr lang="en-US" sz="1599" b="1">
                  <a:solidFill>
                    <a:srgbClr val="000000"/>
                  </a:solidFill>
                  <a:latin typeface="Open Sans 1 Bold"/>
                  <a:ea typeface="Open Sans 1 Bold"/>
                  <a:cs typeface="Open Sans 1 Bold"/>
                  <a:sym typeface="Open Sans 1 Bold"/>
                </a:rPr>
                <a:t>employee wellbeing</a:t>
              </a:r>
              <a:r>
                <a:rPr lang="en-US" sz="1599">
                  <a:solidFill>
                    <a:srgbClr val="000000"/>
                  </a:solidFill>
                  <a:latin typeface="Open Sans 1"/>
                  <a:ea typeface="Open Sans 1"/>
                  <a:cs typeface="Open Sans 1"/>
                  <a:sym typeface="Open Sans 1"/>
                </a:rPr>
                <a:t> as they grow through management agreements rather than fixed leases.</a:t>
              </a:r>
            </a:p>
          </p:txBody>
        </p:sp>
      </p:grpSp>
      <p:grpSp>
        <p:nvGrpSpPr>
          <p:cNvPr id="24" name="Group 24"/>
          <p:cNvGrpSpPr/>
          <p:nvPr/>
        </p:nvGrpSpPr>
        <p:grpSpPr>
          <a:xfrm>
            <a:off x="2277002" y="3686370"/>
            <a:ext cx="11531839" cy="2867541"/>
            <a:chOff x="0" y="0"/>
            <a:chExt cx="15375786" cy="3823388"/>
          </a:xfrm>
        </p:grpSpPr>
        <p:grpSp>
          <p:nvGrpSpPr>
            <p:cNvPr id="25" name="Group 25"/>
            <p:cNvGrpSpPr/>
            <p:nvPr/>
          </p:nvGrpSpPr>
          <p:grpSpPr>
            <a:xfrm>
              <a:off x="0" y="0"/>
              <a:ext cx="3342494" cy="1714844"/>
              <a:chOff x="0" y="0"/>
              <a:chExt cx="660246" cy="338735"/>
            </a:xfrm>
          </p:grpSpPr>
          <p:sp>
            <p:nvSpPr>
              <p:cNvPr id="26" name="Freeform 26"/>
              <p:cNvSpPr/>
              <p:nvPr/>
            </p:nvSpPr>
            <p:spPr>
              <a:xfrm>
                <a:off x="0" y="0"/>
                <a:ext cx="660246" cy="338735"/>
              </a:xfrm>
              <a:custGeom>
                <a:avLst/>
                <a:gdLst/>
                <a:ahLst/>
                <a:cxnLst/>
                <a:rect l="l" t="t" r="r" b="b"/>
                <a:pathLst>
                  <a:path w="660246" h="338735">
                    <a:moveTo>
                      <a:pt x="0" y="0"/>
                    </a:moveTo>
                    <a:lnTo>
                      <a:pt x="660246" y="0"/>
                    </a:lnTo>
                    <a:lnTo>
                      <a:pt x="660246" y="338735"/>
                    </a:lnTo>
                    <a:lnTo>
                      <a:pt x="0" y="338735"/>
                    </a:lnTo>
                    <a:close/>
                  </a:path>
                </a:pathLst>
              </a:custGeom>
              <a:solidFill>
                <a:srgbClr val="FFF3C2"/>
              </a:solidFill>
            </p:spPr>
            <p:txBody>
              <a:bodyPr/>
              <a:lstStyle/>
              <a:p>
                <a:endParaRPr lang="en-US"/>
              </a:p>
            </p:txBody>
          </p:sp>
          <p:sp>
            <p:nvSpPr>
              <p:cNvPr id="27" name="TextBox 27"/>
              <p:cNvSpPr txBox="1"/>
              <p:nvPr/>
            </p:nvSpPr>
            <p:spPr>
              <a:xfrm>
                <a:off x="0" y="-38100"/>
                <a:ext cx="660246" cy="376835"/>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Is Industrious operating in a favorable and growing external environment ?</a:t>
                </a:r>
              </a:p>
            </p:txBody>
          </p:sp>
        </p:grpSp>
        <p:grpSp>
          <p:nvGrpSpPr>
            <p:cNvPr id="28" name="Group 28"/>
            <p:cNvGrpSpPr/>
            <p:nvPr/>
          </p:nvGrpSpPr>
          <p:grpSpPr>
            <a:xfrm>
              <a:off x="0" y="1714844"/>
              <a:ext cx="3342494" cy="2108544"/>
              <a:chOff x="0" y="0"/>
              <a:chExt cx="660246" cy="416502"/>
            </a:xfrm>
          </p:grpSpPr>
          <p:sp>
            <p:nvSpPr>
              <p:cNvPr id="29" name="Freeform 29"/>
              <p:cNvSpPr/>
              <p:nvPr/>
            </p:nvSpPr>
            <p:spPr>
              <a:xfrm>
                <a:off x="0" y="0"/>
                <a:ext cx="660246" cy="416502"/>
              </a:xfrm>
              <a:custGeom>
                <a:avLst/>
                <a:gdLst/>
                <a:ahLst/>
                <a:cxnLst/>
                <a:rect l="l" t="t" r="r" b="b"/>
                <a:pathLst>
                  <a:path w="660246" h="416502">
                    <a:moveTo>
                      <a:pt x="0" y="0"/>
                    </a:moveTo>
                    <a:lnTo>
                      <a:pt x="660246" y="0"/>
                    </a:lnTo>
                    <a:lnTo>
                      <a:pt x="660246" y="416502"/>
                    </a:lnTo>
                    <a:lnTo>
                      <a:pt x="0" y="416502"/>
                    </a:lnTo>
                    <a:close/>
                  </a:path>
                </a:pathLst>
              </a:custGeom>
              <a:solidFill>
                <a:srgbClr val="FFF3C2"/>
              </a:solidFill>
            </p:spPr>
            <p:txBody>
              <a:bodyPr/>
              <a:lstStyle/>
              <a:p>
                <a:endParaRPr lang="en-US"/>
              </a:p>
            </p:txBody>
          </p:sp>
          <p:sp>
            <p:nvSpPr>
              <p:cNvPr id="30" name="TextBox 30"/>
              <p:cNvSpPr txBox="1"/>
              <p:nvPr/>
            </p:nvSpPr>
            <p:spPr>
              <a:xfrm>
                <a:off x="0" y="-38100"/>
                <a:ext cx="660246" cy="454602"/>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Does Industrious have the internal model and performance to deliver viable and scalable growth?</a:t>
                </a:r>
              </a:p>
            </p:txBody>
          </p:sp>
        </p:grpSp>
        <p:grpSp>
          <p:nvGrpSpPr>
            <p:cNvPr id="31" name="Group 31"/>
            <p:cNvGrpSpPr/>
            <p:nvPr/>
          </p:nvGrpSpPr>
          <p:grpSpPr>
            <a:xfrm>
              <a:off x="3342494" y="0"/>
              <a:ext cx="12033292" cy="1714844"/>
              <a:chOff x="0" y="0"/>
              <a:chExt cx="2376947" cy="338735"/>
            </a:xfrm>
          </p:grpSpPr>
          <p:sp>
            <p:nvSpPr>
              <p:cNvPr id="32" name="Freeform 32"/>
              <p:cNvSpPr/>
              <p:nvPr/>
            </p:nvSpPr>
            <p:spPr>
              <a:xfrm>
                <a:off x="0" y="0"/>
                <a:ext cx="2376947" cy="338735"/>
              </a:xfrm>
              <a:custGeom>
                <a:avLst/>
                <a:gdLst/>
                <a:ahLst/>
                <a:cxnLst/>
                <a:rect l="l" t="t" r="r" b="b"/>
                <a:pathLst>
                  <a:path w="2376947" h="338735">
                    <a:moveTo>
                      <a:pt x="0" y="0"/>
                    </a:moveTo>
                    <a:lnTo>
                      <a:pt x="2376947" y="0"/>
                    </a:lnTo>
                    <a:lnTo>
                      <a:pt x="2376947" y="338735"/>
                    </a:lnTo>
                    <a:lnTo>
                      <a:pt x="0" y="338735"/>
                    </a:lnTo>
                    <a:close/>
                  </a:path>
                </a:pathLst>
              </a:custGeom>
              <a:solidFill>
                <a:srgbClr val="FFF3C2"/>
              </a:solidFill>
            </p:spPr>
            <p:txBody>
              <a:bodyPr/>
              <a:lstStyle/>
              <a:p>
                <a:endParaRPr lang="en-US"/>
              </a:p>
            </p:txBody>
          </p:sp>
          <p:sp>
            <p:nvSpPr>
              <p:cNvPr id="33" name="TextBox 33"/>
              <p:cNvSpPr txBox="1"/>
              <p:nvPr/>
            </p:nvSpPr>
            <p:spPr>
              <a:xfrm>
                <a:off x="0" y="-38100"/>
                <a:ext cx="2376947" cy="376835"/>
              </a:xfrm>
              <a:prstGeom prst="rect">
                <a:avLst/>
              </a:prstGeom>
            </p:spPr>
            <p:txBody>
              <a:bodyPr lIns="50800" tIns="50800" rIns="50800" bIns="50800" rtlCol="0" anchor="ctr"/>
              <a:lstStyle/>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Global coworking market projected to grow from $45B (2025) to $136B by 2032.</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55% of large occupiers use flexible offices; 17% plan to increase usage.</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Supportive regulations: recovery funds, hybrid work policies, and ESG-driven workplace goals.</a:t>
                </a:r>
              </a:p>
            </p:txBody>
          </p:sp>
        </p:grpSp>
        <p:grpSp>
          <p:nvGrpSpPr>
            <p:cNvPr id="34" name="Group 34"/>
            <p:cNvGrpSpPr/>
            <p:nvPr/>
          </p:nvGrpSpPr>
          <p:grpSpPr>
            <a:xfrm>
              <a:off x="3342494" y="1714844"/>
              <a:ext cx="12033292" cy="2108544"/>
              <a:chOff x="0" y="0"/>
              <a:chExt cx="2376947" cy="416502"/>
            </a:xfrm>
          </p:grpSpPr>
          <p:sp>
            <p:nvSpPr>
              <p:cNvPr id="35" name="Freeform 35"/>
              <p:cNvSpPr/>
              <p:nvPr/>
            </p:nvSpPr>
            <p:spPr>
              <a:xfrm>
                <a:off x="0" y="0"/>
                <a:ext cx="2376947" cy="416502"/>
              </a:xfrm>
              <a:custGeom>
                <a:avLst/>
                <a:gdLst/>
                <a:ahLst/>
                <a:cxnLst/>
                <a:rect l="l" t="t" r="r" b="b"/>
                <a:pathLst>
                  <a:path w="2376947" h="416502">
                    <a:moveTo>
                      <a:pt x="0" y="0"/>
                    </a:moveTo>
                    <a:lnTo>
                      <a:pt x="2376947" y="0"/>
                    </a:lnTo>
                    <a:lnTo>
                      <a:pt x="2376947" y="416502"/>
                    </a:lnTo>
                    <a:lnTo>
                      <a:pt x="0" y="416502"/>
                    </a:lnTo>
                    <a:close/>
                  </a:path>
                </a:pathLst>
              </a:custGeom>
              <a:solidFill>
                <a:srgbClr val="FFF3C2"/>
              </a:solidFill>
            </p:spPr>
            <p:txBody>
              <a:bodyPr/>
              <a:lstStyle/>
              <a:p>
                <a:endParaRPr lang="en-US"/>
              </a:p>
            </p:txBody>
          </p:sp>
          <p:sp>
            <p:nvSpPr>
              <p:cNvPr id="36" name="TextBox 36"/>
              <p:cNvSpPr txBox="1"/>
              <p:nvPr/>
            </p:nvSpPr>
            <p:spPr>
              <a:xfrm>
                <a:off x="0" y="-38100"/>
                <a:ext cx="2376947" cy="454602"/>
              </a:xfrm>
              <a:prstGeom prst="rect">
                <a:avLst/>
              </a:prstGeom>
            </p:spPr>
            <p:txBody>
              <a:bodyPr lIns="50800" tIns="50800" rIns="50800" bIns="50800" rtlCol="0" anchor="ctr"/>
              <a:lstStyle/>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~90% occupancy for mature units (vs. industry benchmark 70–85%).</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25% higher revenue than main competitor; NPS 74–82%, indicating top satisfaction levels.</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Management agreements with landlords lower fixed costs and enable fast replication.</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60–80% annual retention rate, stable occupancy despite monthly volatility.</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Backed by CBRE acquisition, providing capital, due diligence, and global scaling leverage.</a:t>
                </a:r>
              </a:p>
            </p:txBody>
          </p:sp>
        </p:grpSp>
      </p:grpSp>
      <p:grpSp>
        <p:nvGrpSpPr>
          <p:cNvPr id="37" name="Group 37"/>
          <p:cNvGrpSpPr/>
          <p:nvPr/>
        </p:nvGrpSpPr>
        <p:grpSpPr>
          <a:xfrm>
            <a:off x="2277002" y="6713693"/>
            <a:ext cx="11531839" cy="3333222"/>
            <a:chOff x="0" y="0"/>
            <a:chExt cx="15375786" cy="4444295"/>
          </a:xfrm>
        </p:grpSpPr>
        <p:grpSp>
          <p:nvGrpSpPr>
            <p:cNvPr id="38" name="Group 38"/>
            <p:cNvGrpSpPr/>
            <p:nvPr/>
          </p:nvGrpSpPr>
          <p:grpSpPr>
            <a:xfrm>
              <a:off x="0" y="0"/>
              <a:ext cx="3342494" cy="1486735"/>
              <a:chOff x="0" y="0"/>
              <a:chExt cx="660246" cy="293676"/>
            </a:xfrm>
          </p:grpSpPr>
          <p:sp>
            <p:nvSpPr>
              <p:cNvPr id="39" name="Freeform 39"/>
              <p:cNvSpPr/>
              <p:nvPr/>
            </p:nvSpPr>
            <p:spPr>
              <a:xfrm>
                <a:off x="0" y="0"/>
                <a:ext cx="660246" cy="293676"/>
              </a:xfrm>
              <a:custGeom>
                <a:avLst/>
                <a:gdLst/>
                <a:ahLst/>
                <a:cxnLst/>
                <a:rect l="l" t="t" r="r" b="b"/>
                <a:pathLst>
                  <a:path w="660246" h="293676">
                    <a:moveTo>
                      <a:pt x="0" y="0"/>
                    </a:moveTo>
                    <a:lnTo>
                      <a:pt x="660246" y="0"/>
                    </a:lnTo>
                    <a:lnTo>
                      <a:pt x="660246" y="293676"/>
                    </a:lnTo>
                    <a:lnTo>
                      <a:pt x="0" y="293676"/>
                    </a:lnTo>
                    <a:close/>
                  </a:path>
                </a:pathLst>
              </a:custGeom>
              <a:solidFill>
                <a:srgbClr val="FFF3C2"/>
              </a:solidFill>
            </p:spPr>
            <p:txBody>
              <a:bodyPr/>
              <a:lstStyle/>
              <a:p>
                <a:endParaRPr lang="en-US"/>
              </a:p>
            </p:txBody>
          </p:sp>
          <p:sp>
            <p:nvSpPr>
              <p:cNvPr id="40" name="TextBox 40"/>
              <p:cNvSpPr txBox="1"/>
              <p:nvPr/>
            </p:nvSpPr>
            <p:spPr>
              <a:xfrm>
                <a:off x="0" y="-38100"/>
                <a:ext cx="660246" cy="331776"/>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How does Industrious reduce its environmental footprint?</a:t>
                </a:r>
              </a:p>
            </p:txBody>
          </p:sp>
        </p:grpSp>
        <p:grpSp>
          <p:nvGrpSpPr>
            <p:cNvPr id="41" name="Group 41"/>
            <p:cNvGrpSpPr/>
            <p:nvPr/>
          </p:nvGrpSpPr>
          <p:grpSpPr>
            <a:xfrm>
              <a:off x="0" y="1408308"/>
              <a:ext cx="3342494" cy="1714844"/>
              <a:chOff x="0" y="0"/>
              <a:chExt cx="660246" cy="338735"/>
            </a:xfrm>
          </p:grpSpPr>
          <p:sp>
            <p:nvSpPr>
              <p:cNvPr id="42" name="Freeform 42"/>
              <p:cNvSpPr/>
              <p:nvPr/>
            </p:nvSpPr>
            <p:spPr>
              <a:xfrm>
                <a:off x="0" y="0"/>
                <a:ext cx="660246" cy="338735"/>
              </a:xfrm>
              <a:custGeom>
                <a:avLst/>
                <a:gdLst/>
                <a:ahLst/>
                <a:cxnLst/>
                <a:rect l="l" t="t" r="r" b="b"/>
                <a:pathLst>
                  <a:path w="660246" h="338735">
                    <a:moveTo>
                      <a:pt x="0" y="0"/>
                    </a:moveTo>
                    <a:lnTo>
                      <a:pt x="660246" y="0"/>
                    </a:lnTo>
                    <a:lnTo>
                      <a:pt x="660246" y="338735"/>
                    </a:lnTo>
                    <a:lnTo>
                      <a:pt x="0" y="338735"/>
                    </a:lnTo>
                    <a:close/>
                  </a:path>
                </a:pathLst>
              </a:custGeom>
              <a:solidFill>
                <a:srgbClr val="FFF3C2"/>
              </a:solidFill>
            </p:spPr>
            <p:txBody>
              <a:bodyPr/>
              <a:lstStyle/>
              <a:p>
                <a:endParaRPr lang="en-US"/>
              </a:p>
            </p:txBody>
          </p:sp>
          <p:sp>
            <p:nvSpPr>
              <p:cNvPr id="43" name="TextBox 43"/>
              <p:cNvSpPr txBox="1"/>
              <p:nvPr/>
            </p:nvSpPr>
            <p:spPr>
              <a:xfrm>
                <a:off x="0" y="-38100"/>
                <a:ext cx="660246" cy="376835"/>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How does Industrious embed sustainability into its operations and culture?</a:t>
                </a:r>
              </a:p>
            </p:txBody>
          </p:sp>
        </p:grpSp>
        <p:grpSp>
          <p:nvGrpSpPr>
            <p:cNvPr id="44" name="Group 44"/>
            <p:cNvGrpSpPr/>
            <p:nvPr/>
          </p:nvGrpSpPr>
          <p:grpSpPr>
            <a:xfrm>
              <a:off x="0" y="3123152"/>
              <a:ext cx="3342494" cy="1321144"/>
              <a:chOff x="0" y="0"/>
              <a:chExt cx="660246" cy="260967"/>
            </a:xfrm>
          </p:grpSpPr>
          <p:sp>
            <p:nvSpPr>
              <p:cNvPr id="45" name="Freeform 45"/>
              <p:cNvSpPr/>
              <p:nvPr/>
            </p:nvSpPr>
            <p:spPr>
              <a:xfrm>
                <a:off x="0" y="0"/>
                <a:ext cx="660246" cy="260967"/>
              </a:xfrm>
              <a:custGeom>
                <a:avLst/>
                <a:gdLst/>
                <a:ahLst/>
                <a:cxnLst/>
                <a:rect l="l" t="t" r="r" b="b"/>
                <a:pathLst>
                  <a:path w="660246" h="260967">
                    <a:moveTo>
                      <a:pt x="0" y="0"/>
                    </a:moveTo>
                    <a:lnTo>
                      <a:pt x="660246" y="0"/>
                    </a:lnTo>
                    <a:lnTo>
                      <a:pt x="660246" y="260967"/>
                    </a:lnTo>
                    <a:lnTo>
                      <a:pt x="0" y="260967"/>
                    </a:lnTo>
                    <a:close/>
                  </a:path>
                </a:pathLst>
              </a:custGeom>
              <a:solidFill>
                <a:srgbClr val="FFF3C2"/>
              </a:solidFill>
            </p:spPr>
            <p:txBody>
              <a:bodyPr/>
              <a:lstStyle/>
              <a:p>
                <a:endParaRPr lang="en-US"/>
              </a:p>
            </p:txBody>
          </p:sp>
          <p:sp>
            <p:nvSpPr>
              <p:cNvPr id="46" name="TextBox 46"/>
              <p:cNvSpPr txBox="1"/>
              <p:nvPr/>
            </p:nvSpPr>
            <p:spPr>
              <a:xfrm>
                <a:off x="0" y="-38100"/>
                <a:ext cx="660246" cy="299067"/>
              </a:xfrm>
              <a:prstGeom prst="rect">
                <a:avLst/>
              </a:prstGeom>
            </p:spPr>
            <p:txBody>
              <a:bodyPr lIns="50800" tIns="50800" rIns="50800" bIns="50800" rtlCol="0" anchor="ctr"/>
              <a:lstStyle/>
              <a:p>
                <a:pPr algn="l">
                  <a:lnSpc>
                    <a:spcPts val="2399"/>
                  </a:lnSpc>
                </a:pPr>
                <a:r>
                  <a:rPr lang="en-US" sz="1599">
                    <a:solidFill>
                      <a:srgbClr val="000000"/>
                    </a:solidFill>
                    <a:latin typeface="Open Sans 1"/>
                    <a:ea typeface="Open Sans 1"/>
                    <a:cs typeface="Open Sans 1"/>
                    <a:sym typeface="Open Sans 1"/>
                  </a:rPr>
                  <a:t>How does Industrious act as a systemic catalyst for a net positive future?</a:t>
                </a:r>
              </a:p>
            </p:txBody>
          </p:sp>
        </p:grpSp>
        <p:grpSp>
          <p:nvGrpSpPr>
            <p:cNvPr id="47" name="Group 47"/>
            <p:cNvGrpSpPr/>
            <p:nvPr/>
          </p:nvGrpSpPr>
          <p:grpSpPr>
            <a:xfrm>
              <a:off x="3342494" y="0"/>
              <a:ext cx="12033292" cy="1486735"/>
              <a:chOff x="0" y="0"/>
              <a:chExt cx="2376947" cy="293676"/>
            </a:xfrm>
          </p:grpSpPr>
          <p:sp>
            <p:nvSpPr>
              <p:cNvPr id="48" name="Freeform 48"/>
              <p:cNvSpPr/>
              <p:nvPr/>
            </p:nvSpPr>
            <p:spPr>
              <a:xfrm>
                <a:off x="0" y="0"/>
                <a:ext cx="2376947" cy="293676"/>
              </a:xfrm>
              <a:custGeom>
                <a:avLst/>
                <a:gdLst/>
                <a:ahLst/>
                <a:cxnLst/>
                <a:rect l="l" t="t" r="r" b="b"/>
                <a:pathLst>
                  <a:path w="2376947" h="293676">
                    <a:moveTo>
                      <a:pt x="0" y="0"/>
                    </a:moveTo>
                    <a:lnTo>
                      <a:pt x="2376947" y="0"/>
                    </a:lnTo>
                    <a:lnTo>
                      <a:pt x="2376947" y="293676"/>
                    </a:lnTo>
                    <a:lnTo>
                      <a:pt x="0" y="293676"/>
                    </a:lnTo>
                    <a:close/>
                  </a:path>
                </a:pathLst>
              </a:custGeom>
              <a:solidFill>
                <a:srgbClr val="FFF3C2"/>
              </a:solidFill>
            </p:spPr>
            <p:txBody>
              <a:bodyPr/>
              <a:lstStyle/>
              <a:p>
                <a:endParaRPr lang="en-US"/>
              </a:p>
            </p:txBody>
          </p:sp>
          <p:sp>
            <p:nvSpPr>
              <p:cNvPr id="49" name="TextBox 49"/>
              <p:cNvSpPr txBox="1"/>
              <p:nvPr/>
            </p:nvSpPr>
            <p:spPr>
              <a:xfrm>
                <a:off x="0" y="-38100"/>
                <a:ext cx="2376947" cy="331776"/>
              </a:xfrm>
              <a:prstGeom prst="rect">
                <a:avLst/>
              </a:prstGeom>
            </p:spPr>
            <p:txBody>
              <a:bodyPr lIns="50800" tIns="50800" rIns="50800" bIns="50800" rtlCol="0" anchor="ctr"/>
              <a:lstStyle/>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49 kg CO₂e/m² (traditional) vs. 11 kg CO₂e/m² (flex) —shared spaces cut emissions per user.</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70% of sites in green-certified buildings; retrofit preferred over new build.</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Use of low-carbon materials, LED, bamboo, and recycled furniture.</a:t>
                </a:r>
              </a:p>
            </p:txBody>
          </p:sp>
        </p:grpSp>
        <p:grpSp>
          <p:nvGrpSpPr>
            <p:cNvPr id="50" name="Group 50"/>
            <p:cNvGrpSpPr/>
            <p:nvPr/>
          </p:nvGrpSpPr>
          <p:grpSpPr>
            <a:xfrm>
              <a:off x="3342494" y="1486735"/>
              <a:ext cx="12033292" cy="1486735"/>
              <a:chOff x="0" y="0"/>
              <a:chExt cx="2376947" cy="293676"/>
            </a:xfrm>
          </p:grpSpPr>
          <p:sp>
            <p:nvSpPr>
              <p:cNvPr id="51" name="Freeform 51"/>
              <p:cNvSpPr/>
              <p:nvPr/>
            </p:nvSpPr>
            <p:spPr>
              <a:xfrm>
                <a:off x="0" y="0"/>
                <a:ext cx="2376947" cy="293676"/>
              </a:xfrm>
              <a:custGeom>
                <a:avLst/>
                <a:gdLst/>
                <a:ahLst/>
                <a:cxnLst/>
                <a:rect l="l" t="t" r="r" b="b"/>
                <a:pathLst>
                  <a:path w="2376947" h="293676">
                    <a:moveTo>
                      <a:pt x="0" y="0"/>
                    </a:moveTo>
                    <a:lnTo>
                      <a:pt x="2376947" y="0"/>
                    </a:lnTo>
                    <a:lnTo>
                      <a:pt x="2376947" y="293676"/>
                    </a:lnTo>
                    <a:lnTo>
                      <a:pt x="0" y="293676"/>
                    </a:lnTo>
                    <a:close/>
                  </a:path>
                </a:pathLst>
              </a:custGeom>
              <a:solidFill>
                <a:srgbClr val="FFF3C2"/>
              </a:solidFill>
            </p:spPr>
            <p:txBody>
              <a:bodyPr/>
              <a:lstStyle/>
              <a:p>
                <a:endParaRPr lang="en-US"/>
              </a:p>
            </p:txBody>
          </p:sp>
          <p:sp>
            <p:nvSpPr>
              <p:cNvPr id="52" name="TextBox 52"/>
              <p:cNvSpPr txBox="1"/>
              <p:nvPr/>
            </p:nvSpPr>
            <p:spPr>
              <a:xfrm>
                <a:off x="0" y="-38100"/>
                <a:ext cx="2376947" cy="331776"/>
              </a:xfrm>
              <a:prstGeom prst="rect">
                <a:avLst/>
              </a:prstGeom>
            </p:spPr>
            <p:txBody>
              <a:bodyPr lIns="50800" tIns="50800" rIns="50800" bIns="50800" rtlCol="0" anchor="ctr"/>
              <a:lstStyle/>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First coworking provider with the WELL Coworking Rating (London &amp; Manchester).</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0.71 correlation between atmosphere and satisfaction; +79% service quality impact.</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Enhanced wellbeing, autonomy, and belonging compared to traditional offices.</a:t>
                </a:r>
              </a:p>
            </p:txBody>
          </p:sp>
        </p:grpSp>
        <p:grpSp>
          <p:nvGrpSpPr>
            <p:cNvPr id="53" name="Group 53"/>
            <p:cNvGrpSpPr/>
            <p:nvPr/>
          </p:nvGrpSpPr>
          <p:grpSpPr>
            <a:xfrm>
              <a:off x="3342494" y="2957560"/>
              <a:ext cx="12033292" cy="1486735"/>
              <a:chOff x="0" y="0"/>
              <a:chExt cx="2376947" cy="293676"/>
            </a:xfrm>
          </p:grpSpPr>
          <p:sp>
            <p:nvSpPr>
              <p:cNvPr id="54" name="Freeform 54"/>
              <p:cNvSpPr/>
              <p:nvPr/>
            </p:nvSpPr>
            <p:spPr>
              <a:xfrm>
                <a:off x="0" y="0"/>
                <a:ext cx="2376947" cy="293676"/>
              </a:xfrm>
              <a:custGeom>
                <a:avLst/>
                <a:gdLst/>
                <a:ahLst/>
                <a:cxnLst/>
                <a:rect l="l" t="t" r="r" b="b"/>
                <a:pathLst>
                  <a:path w="2376947" h="293676">
                    <a:moveTo>
                      <a:pt x="0" y="0"/>
                    </a:moveTo>
                    <a:lnTo>
                      <a:pt x="2376947" y="0"/>
                    </a:lnTo>
                    <a:lnTo>
                      <a:pt x="2376947" y="293676"/>
                    </a:lnTo>
                    <a:lnTo>
                      <a:pt x="0" y="293676"/>
                    </a:lnTo>
                    <a:close/>
                  </a:path>
                </a:pathLst>
              </a:custGeom>
              <a:solidFill>
                <a:srgbClr val="FFF3C2"/>
              </a:solidFill>
            </p:spPr>
            <p:txBody>
              <a:bodyPr/>
              <a:lstStyle/>
              <a:p>
                <a:endParaRPr lang="en-US"/>
              </a:p>
            </p:txBody>
          </p:sp>
          <p:sp>
            <p:nvSpPr>
              <p:cNvPr id="55" name="TextBox 55"/>
              <p:cNvSpPr txBox="1"/>
              <p:nvPr/>
            </p:nvSpPr>
            <p:spPr>
              <a:xfrm>
                <a:off x="0" y="-38100"/>
                <a:ext cx="2376947" cy="331776"/>
              </a:xfrm>
              <a:prstGeom prst="rect">
                <a:avLst/>
              </a:prstGeom>
            </p:spPr>
            <p:txBody>
              <a:bodyPr lIns="50800" tIns="50800" rIns="50800" bIns="50800" rtlCol="0" anchor="ctr"/>
              <a:lstStyle/>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Shared model enables ~40% cost savings per company vs. traditional leases.</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20% lower operational costs via technology and centralized management.</a:t>
                </a:r>
              </a:p>
              <a:p>
                <a:pPr marL="345439" lvl="1" indent="-172720" algn="l">
                  <a:lnSpc>
                    <a:spcPts val="2399"/>
                  </a:lnSpc>
                  <a:buFont typeface="Arial"/>
                  <a:buChar char="•"/>
                </a:pPr>
                <a:r>
                  <a:rPr lang="en-US" sz="1599">
                    <a:solidFill>
                      <a:srgbClr val="000000"/>
                    </a:solidFill>
                    <a:latin typeface="Open Sans 1"/>
                    <a:ea typeface="Open Sans 1"/>
                    <a:cs typeface="Open Sans 1"/>
                    <a:sym typeface="Open Sans 1"/>
                  </a:rPr>
                  <a:t>NPS 82% across 40,000 members and campaigns like “Industrious You”</a:t>
                </a:r>
              </a:p>
            </p:txBody>
          </p:sp>
        </p:grpSp>
      </p:grpSp>
      <p:sp>
        <p:nvSpPr>
          <p:cNvPr id="56" name="Freeform 56"/>
          <p:cNvSpPr/>
          <p:nvPr/>
        </p:nvSpPr>
        <p:spPr>
          <a:xfrm>
            <a:off x="16666366" y="247850"/>
            <a:ext cx="859436" cy="1070948"/>
          </a:xfrm>
          <a:custGeom>
            <a:avLst/>
            <a:gdLst/>
            <a:ahLst/>
            <a:cxnLst/>
            <a:rect l="l" t="t" r="r" b="b"/>
            <a:pathLst>
              <a:path w="859436" h="1070948">
                <a:moveTo>
                  <a:pt x="0" y="0"/>
                </a:moveTo>
                <a:lnTo>
                  <a:pt x="859436" y="0"/>
                </a:lnTo>
                <a:lnTo>
                  <a:pt x="859436" y="1070949"/>
                </a:lnTo>
                <a:lnTo>
                  <a:pt x="0" y="1070949"/>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432436" y="5315334"/>
            <a:ext cx="14440966" cy="2294095"/>
            <a:chOff x="0" y="0"/>
            <a:chExt cx="3803382" cy="604206"/>
          </a:xfrm>
        </p:grpSpPr>
        <p:sp>
          <p:nvSpPr>
            <p:cNvPr id="3" name="Freeform 3"/>
            <p:cNvSpPr/>
            <p:nvPr/>
          </p:nvSpPr>
          <p:spPr>
            <a:xfrm>
              <a:off x="0" y="0"/>
              <a:ext cx="3803382" cy="604206"/>
            </a:xfrm>
            <a:custGeom>
              <a:avLst/>
              <a:gdLst/>
              <a:ahLst/>
              <a:cxnLst/>
              <a:rect l="l" t="t" r="r" b="b"/>
              <a:pathLst>
                <a:path w="3803382" h="604206">
                  <a:moveTo>
                    <a:pt x="0" y="0"/>
                  </a:moveTo>
                  <a:lnTo>
                    <a:pt x="3803382" y="0"/>
                  </a:lnTo>
                  <a:lnTo>
                    <a:pt x="3803382" y="604206"/>
                  </a:lnTo>
                  <a:lnTo>
                    <a:pt x="0" y="604206"/>
                  </a:lnTo>
                  <a:close/>
                </a:path>
              </a:pathLst>
            </a:custGeom>
            <a:solidFill>
              <a:srgbClr val="FFF3C2"/>
            </a:solidFill>
          </p:spPr>
          <p:txBody>
            <a:bodyPr/>
            <a:lstStyle/>
            <a:p>
              <a:endParaRPr lang="en-US"/>
            </a:p>
          </p:txBody>
        </p:sp>
        <p:sp>
          <p:nvSpPr>
            <p:cNvPr id="4" name="TextBox 4"/>
            <p:cNvSpPr txBox="1"/>
            <p:nvPr/>
          </p:nvSpPr>
          <p:spPr>
            <a:xfrm>
              <a:off x="0" y="-76200"/>
              <a:ext cx="3803382" cy="680406"/>
            </a:xfrm>
            <a:prstGeom prst="rect">
              <a:avLst/>
            </a:prstGeom>
          </p:spPr>
          <p:txBody>
            <a:bodyPr lIns="50800" tIns="50800" rIns="50800" bIns="50800" rtlCol="0" anchor="ctr"/>
            <a:lstStyle/>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Create a new kind of workplace centered on employee’s needs.</a:t>
              </a:r>
            </a:p>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Empower people to choose where and how they work.</a:t>
              </a:r>
            </a:p>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Provide spaces that help businesses move forward by enabling focus, collaboration, and pride in the workplace.</a:t>
              </a:r>
            </a:p>
          </p:txBody>
        </p:sp>
      </p:grpSp>
      <p:grpSp>
        <p:nvGrpSpPr>
          <p:cNvPr id="5" name="Group 5"/>
          <p:cNvGrpSpPr/>
          <p:nvPr/>
        </p:nvGrpSpPr>
        <p:grpSpPr>
          <a:xfrm>
            <a:off x="5432436" y="8071710"/>
            <a:ext cx="14315074" cy="1862396"/>
            <a:chOff x="0" y="0"/>
            <a:chExt cx="3770225" cy="490508"/>
          </a:xfrm>
        </p:grpSpPr>
        <p:sp>
          <p:nvSpPr>
            <p:cNvPr id="6" name="Freeform 6"/>
            <p:cNvSpPr/>
            <p:nvPr/>
          </p:nvSpPr>
          <p:spPr>
            <a:xfrm>
              <a:off x="0" y="0"/>
              <a:ext cx="3770225" cy="490508"/>
            </a:xfrm>
            <a:custGeom>
              <a:avLst/>
              <a:gdLst/>
              <a:ahLst/>
              <a:cxnLst/>
              <a:rect l="l" t="t" r="r" b="b"/>
              <a:pathLst>
                <a:path w="3770225" h="490508">
                  <a:moveTo>
                    <a:pt x="0" y="0"/>
                  </a:moveTo>
                  <a:lnTo>
                    <a:pt x="3770225" y="0"/>
                  </a:lnTo>
                  <a:lnTo>
                    <a:pt x="3770225" y="490508"/>
                  </a:lnTo>
                  <a:lnTo>
                    <a:pt x="0" y="490508"/>
                  </a:lnTo>
                  <a:close/>
                </a:path>
              </a:pathLst>
            </a:custGeom>
            <a:solidFill>
              <a:srgbClr val="FFF3C2"/>
            </a:solidFill>
          </p:spPr>
          <p:txBody>
            <a:bodyPr/>
            <a:lstStyle/>
            <a:p>
              <a:endParaRPr lang="en-US"/>
            </a:p>
          </p:txBody>
        </p:sp>
        <p:sp>
          <p:nvSpPr>
            <p:cNvPr id="7" name="TextBox 7"/>
            <p:cNvSpPr txBox="1"/>
            <p:nvPr/>
          </p:nvSpPr>
          <p:spPr>
            <a:xfrm>
              <a:off x="0" y="-76200"/>
              <a:ext cx="3770225" cy="566708"/>
            </a:xfrm>
            <a:prstGeom prst="rect">
              <a:avLst/>
            </a:prstGeom>
          </p:spPr>
          <p:txBody>
            <a:bodyPr lIns="50800" tIns="50800" rIns="50800" bIns="50800" rtlCol="0" anchor="ctr"/>
            <a:lstStyle/>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Flexible workspaces for companies of all sizes and stages.</a:t>
              </a:r>
            </a:p>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Adaptable spaces to meet evolving business needs.</a:t>
              </a:r>
            </a:p>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Seamless service that removes distractions from everyday operations.</a:t>
              </a:r>
            </a:p>
          </p:txBody>
        </p:sp>
      </p:grpSp>
      <p:sp>
        <p:nvSpPr>
          <p:cNvPr id="8" name="TextBox 8"/>
          <p:cNvSpPr txBox="1"/>
          <p:nvPr/>
        </p:nvSpPr>
        <p:spPr>
          <a:xfrm>
            <a:off x="6083132" y="7754845"/>
            <a:ext cx="8816696" cy="424180"/>
          </a:xfrm>
          <a:prstGeom prst="rect">
            <a:avLst/>
          </a:prstGeom>
        </p:spPr>
        <p:txBody>
          <a:bodyPr lIns="0" tIns="0" rIns="0" bIns="0" rtlCol="0" anchor="t">
            <a:spAutoFit/>
          </a:bodyPr>
          <a:lstStyle/>
          <a:p>
            <a:pPr marL="0" lvl="0" indent="0" algn="just">
              <a:lnSpc>
                <a:spcPts val="3200"/>
              </a:lnSpc>
            </a:pPr>
            <a:r>
              <a:rPr lang="en-US" sz="3200" b="1">
                <a:solidFill>
                  <a:srgbClr val="000000"/>
                </a:solidFill>
                <a:latin typeface="Open Sans 1 Bold"/>
                <a:ea typeface="Open Sans 1 Bold"/>
                <a:cs typeface="Open Sans 1 Bold"/>
                <a:sym typeface="Open Sans 1 Bold"/>
              </a:rPr>
              <a:t>CORE CONCEPTS</a:t>
            </a:r>
          </a:p>
        </p:txBody>
      </p:sp>
      <p:sp>
        <p:nvSpPr>
          <p:cNvPr id="9" name="Freeform 9"/>
          <p:cNvSpPr/>
          <p:nvPr/>
        </p:nvSpPr>
        <p:spPr>
          <a:xfrm>
            <a:off x="327304" y="4028531"/>
            <a:ext cx="5157972" cy="5905575"/>
          </a:xfrm>
          <a:custGeom>
            <a:avLst/>
            <a:gdLst/>
            <a:ahLst/>
            <a:cxnLst/>
            <a:rect l="l" t="t" r="r" b="b"/>
            <a:pathLst>
              <a:path w="5157972" h="5905575">
                <a:moveTo>
                  <a:pt x="0" y="0"/>
                </a:moveTo>
                <a:lnTo>
                  <a:pt x="5157972" y="0"/>
                </a:lnTo>
                <a:lnTo>
                  <a:pt x="5157972" y="5905575"/>
                </a:lnTo>
                <a:lnTo>
                  <a:pt x="0" y="5905575"/>
                </a:lnTo>
                <a:lnTo>
                  <a:pt x="0" y="0"/>
                </a:lnTo>
                <a:close/>
              </a:path>
            </a:pathLst>
          </a:custGeom>
          <a:blipFill>
            <a:blip r:embed="rId2"/>
            <a:stretch>
              <a:fillRect l="-73785" t="-1190"/>
            </a:stretch>
          </a:blipFill>
        </p:spPr>
        <p:txBody>
          <a:bodyPr/>
          <a:lstStyle/>
          <a:p>
            <a:endParaRPr lang="en-US"/>
          </a:p>
        </p:txBody>
      </p:sp>
      <p:sp>
        <p:nvSpPr>
          <p:cNvPr id="10" name="TextBox 10"/>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FOUNDERS’ STORY</a:t>
            </a:r>
          </a:p>
        </p:txBody>
      </p:sp>
      <p:sp>
        <p:nvSpPr>
          <p:cNvPr id="11" name="TextBox 11"/>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Jamie Hodari &amp; Justin Stewart</a:t>
            </a:r>
          </a:p>
        </p:txBody>
      </p:sp>
      <p:grpSp>
        <p:nvGrpSpPr>
          <p:cNvPr id="12" name="Group 12"/>
          <p:cNvGrpSpPr/>
          <p:nvPr/>
        </p:nvGrpSpPr>
        <p:grpSpPr>
          <a:xfrm>
            <a:off x="0" y="1771649"/>
            <a:ext cx="12937374" cy="2336457"/>
            <a:chOff x="0" y="0"/>
            <a:chExt cx="3407374" cy="615363"/>
          </a:xfrm>
        </p:grpSpPr>
        <p:sp>
          <p:nvSpPr>
            <p:cNvPr id="13" name="Freeform 13"/>
            <p:cNvSpPr/>
            <p:nvPr/>
          </p:nvSpPr>
          <p:spPr>
            <a:xfrm>
              <a:off x="0" y="0"/>
              <a:ext cx="3407374" cy="615363"/>
            </a:xfrm>
            <a:custGeom>
              <a:avLst/>
              <a:gdLst/>
              <a:ahLst/>
              <a:cxnLst/>
              <a:rect l="l" t="t" r="r" b="b"/>
              <a:pathLst>
                <a:path w="3407374" h="615363">
                  <a:moveTo>
                    <a:pt x="0" y="0"/>
                  </a:moveTo>
                  <a:lnTo>
                    <a:pt x="3407374" y="0"/>
                  </a:lnTo>
                  <a:lnTo>
                    <a:pt x="3407374" y="615363"/>
                  </a:lnTo>
                  <a:lnTo>
                    <a:pt x="0" y="615363"/>
                  </a:lnTo>
                  <a:close/>
                </a:path>
              </a:pathLst>
            </a:custGeom>
            <a:solidFill>
              <a:srgbClr val="FDD344"/>
            </a:solidFill>
          </p:spPr>
          <p:txBody>
            <a:bodyPr/>
            <a:lstStyle/>
            <a:p>
              <a:endParaRPr lang="en-US"/>
            </a:p>
          </p:txBody>
        </p:sp>
        <p:sp>
          <p:nvSpPr>
            <p:cNvPr id="14" name="TextBox 14"/>
            <p:cNvSpPr txBox="1"/>
            <p:nvPr/>
          </p:nvSpPr>
          <p:spPr>
            <a:xfrm>
              <a:off x="0" y="-76200"/>
              <a:ext cx="3407374" cy="691563"/>
            </a:xfrm>
            <a:prstGeom prst="rect">
              <a:avLst/>
            </a:prstGeom>
          </p:spPr>
          <p:txBody>
            <a:bodyPr lIns="50800" tIns="50800" rIns="50800" bIns="50800" rtlCol="0" anchor="ctr"/>
            <a:lstStyle/>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Founded in 2012 by childhood friends Jamie Hodari and Justin Stewart.</a:t>
              </a:r>
            </a:p>
            <a:p>
              <a:pPr algn="l">
                <a:lnSpc>
                  <a:spcPts val="900"/>
                </a:lnSpc>
              </a:pPr>
              <a:endParaRPr lang="en-US" sz="2799">
                <a:solidFill>
                  <a:srgbClr val="000000"/>
                </a:solidFill>
                <a:latin typeface="Open Sans 1"/>
                <a:ea typeface="Open Sans 1"/>
                <a:cs typeface="Open Sans 1"/>
                <a:sym typeface="Open Sans 1"/>
              </a:endParaRPr>
            </a:p>
            <a:p>
              <a:pPr marL="604516" lvl="1" indent="-302258" algn="l">
                <a:lnSpc>
                  <a:spcPts val="4199"/>
                </a:lnSpc>
                <a:buFont typeface="Arial"/>
                <a:buChar char="•"/>
              </a:pPr>
              <a:r>
                <a:rPr lang="en-US" sz="2799">
                  <a:solidFill>
                    <a:srgbClr val="000000"/>
                  </a:solidFill>
                  <a:latin typeface="Open Sans 1"/>
                  <a:ea typeface="Open Sans 1"/>
                  <a:cs typeface="Open Sans 1"/>
                  <a:sym typeface="Open Sans 1"/>
                </a:rPr>
                <a:t>Motivated by frustration with coworking spaces where client meetings went better in hotel lobbies and coffee shops rather than in their own coworking offices.</a:t>
              </a:r>
            </a:p>
          </p:txBody>
        </p:sp>
      </p:grpSp>
      <p:sp>
        <p:nvSpPr>
          <p:cNvPr id="15" name="TextBox 15"/>
          <p:cNvSpPr txBox="1"/>
          <p:nvPr/>
        </p:nvSpPr>
        <p:spPr>
          <a:xfrm>
            <a:off x="6083132" y="4959985"/>
            <a:ext cx="12358287" cy="424180"/>
          </a:xfrm>
          <a:prstGeom prst="rect">
            <a:avLst/>
          </a:prstGeom>
        </p:spPr>
        <p:txBody>
          <a:bodyPr lIns="0" tIns="0" rIns="0" bIns="0" rtlCol="0" anchor="t">
            <a:spAutoFit/>
          </a:bodyPr>
          <a:lstStyle/>
          <a:p>
            <a:pPr marL="0" lvl="0" indent="0" algn="just">
              <a:lnSpc>
                <a:spcPts val="3200"/>
              </a:lnSpc>
            </a:pPr>
            <a:r>
              <a:rPr lang="en-US" sz="3200" b="1">
                <a:solidFill>
                  <a:srgbClr val="000000"/>
                </a:solidFill>
                <a:latin typeface="Open Sans 1 Bold"/>
                <a:ea typeface="Open Sans 1 Bold"/>
                <a:cs typeface="Open Sans 1 Bold"/>
                <a:sym typeface="Open Sans 1 Bold"/>
              </a:rPr>
              <a:t>MISSION</a:t>
            </a:r>
          </a:p>
        </p:txBody>
      </p:sp>
      <p:sp>
        <p:nvSpPr>
          <p:cNvPr id="16" name="Freeform 16"/>
          <p:cNvSpPr/>
          <p:nvPr/>
        </p:nvSpPr>
        <p:spPr>
          <a:xfrm>
            <a:off x="12724436" y="386794"/>
            <a:ext cx="5242608" cy="4928540"/>
          </a:xfrm>
          <a:custGeom>
            <a:avLst/>
            <a:gdLst/>
            <a:ahLst/>
            <a:cxnLst/>
            <a:rect l="l" t="t" r="r" b="b"/>
            <a:pathLst>
              <a:path w="5242608" h="4928540">
                <a:moveTo>
                  <a:pt x="0" y="0"/>
                </a:moveTo>
                <a:lnTo>
                  <a:pt x="5242608" y="0"/>
                </a:lnTo>
                <a:lnTo>
                  <a:pt x="5242608" y="4928540"/>
                </a:lnTo>
                <a:lnTo>
                  <a:pt x="0" y="4928540"/>
                </a:lnTo>
                <a:lnTo>
                  <a:pt x="0" y="0"/>
                </a:lnTo>
                <a:close/>
              </a:path>
            </a:pathLst>
          </a:custGeom>
          <a:blipFill>
            <a:blip r:embed="rId3"/>
            <a:stretch>
              <a:fillRect l="-30599" t="-4413" r="-35267" b="-17768"/>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D344"/>
        </a:solidFill>
        <a:effectLst/>
      </p:bgPr>
    </p:bg>
    <p:spTree>
      <p:nvGrpSpPr>
        <p:cNvPr id="1" name=""/>
        <p:cNvGrpSpPr/>
        <p:nvPr/>
      </p:nvGrpSpPr>
      <p:grpSpPr>
        <a:xfrm>
          <a:off x="0" y="0"/>
          <a:ext cx="0" cy="0"/>
          <a:chOff x="0" y="0"/>
          <a:chExt cx="0" cy="0"/>
        </a:xfrm>
      </p:grpSpPr>
      <p:grpSp>
        <p:nvGrpSpPr>
          <p:cNvPr id="2" name="Group 2"/>
          <p:cNvGrpSpPr/>
          <p:nvPr/>
        </p:nvGrpSpPr>
        <p:grpSpPr>
          <a:xfrm>
            <a:off x="9777864" y="0"/>
            <a:ext cx="8510136" cy="10287000"/>
            <a:chOff x="0" y="0"/>
            <a:chExt cx="2241353" cy="2709333"/>
          </a:xfrm>
        </p:grpSpPr>
        <p:sp>
          <p:nvSpPr>
            <p:cNvPr id="3" name="Freeform 3"/>
            <p:cNvSpPr/>
            <p:nvPr/>
          </p:nvSpPr>
          <p:spPr>
            <a:xfrm>
              <a:off x="0" y="0"/>
              <a:ext cx="2241353" cy="2709333"/>
            </a:xfrm>
            <a:custGeom>
              <a:avLst/>
              <a:gdLst/>
              <a:ahLst/>
              <a:cxnLst/>
              <a:rect l="l" t="t" r="r" b="b"/>
              <a:pathLst>
                <a:path w="2241353" h="2709333">
                  <a:moveTo>
                    <a:pt x="0" y="0"/>
                  </a:moveTo>
                  <a:lnTo>
                    <a:pt x="2241353" y="0"/>
                  </a:lnTo>
                  <a:lnTo>
                    <a:pt x="2241353" y="2709333"/>
                  </a:lnTo>
                  <a:lnTo>
                    <a:pt x="0" y="2709333"/>
                  </a:lnTo>
                  <a:close/>
                </a:path>
              </a:pathLst>
            </a:custGeom>
            <a:solidFill>
              <a:srgbClr val="FFF3C2"/>
            </a:solidFill>
          </p:spPr>
          <p:txBody>
            <a:bodyPr/>
            <a:lstStyle/>
            <a:p>
              <a:endParaRPr lang="en-US"/>
            </a:p>
          </p:txBody>
        </p:sp>
        <p:sp>
          <p:nvSpPr>
            <p:cNvPr id="4" name="TextBox 4"/>
            <p:cNvSpPr txBox="1"/>
            <p:nvPr/>
          </p:nvSpPr>
          <p:spPr>
            <a:xfrm>
              <a:off x="0" y="-38100"/>
              <a:ext cx="2241353" cy="2747433"/>
            </a:xfrm>
            <a:prstGeom prst="rect">
              <a:avLst/>
            </a:prstGeom>
          </p:spPr>
          <p:txBody>
            <a:bodyPr lIns="50800" tIns="50800" rIns="50800" bIns="50800" rtlCol="0" anchor="ctr"/>
            <a:lstStyle/>
            <a:p>
              <a:pPr algn="l">
                <a:lnSpc>
                  <a:spcPts val="2399"/>
                </a:lnSpc>
              </a:pPr>
              <a:endParaRPr/>
            </a:p>
          </p:txBody>
        </p:sp>
      </p:grpSp>
      <p:grpSp>
        <p:nvGrpSpPr>
          <p:cNvPr id="5" name="Group 5"/>
          <p:cNvGrpSpPr/>
          <p:nvPr/>
        </p:nvGrpSpPr>
        <p:grpSpPr>
          <a:xfrm>
            <a:off x="457085" y="444203"/>
            <a:ext cx="17373829" cy="9398593"/>
            <a:chOff x="0" y="0"/>
            <a:chExt cx="4575823" cy="2475350"/>
          </a:xfrm>
        </p:grpSpPr>
        <p:sp>
          <p:nvSpPr>
            <p:cNvPr id="6" name="Freeform 6"/>
            <p:cNvSpPr/>
            <p:nvPr/>
          </p:nvSpPr>
          <p:spPr>
            <a:xfrm>
              <a:off x="0" y="0"/>
              <a:ext cx="4575823" cy="2475350"/>
            </a:xfrm>
            <a:custGeom>
              <a:avLst/>
              <a:gdLst/>
              <a:ahLst/>
              <a:cxnLst/>
              <a:rect l="l" t="t" r="r" b="b"/>
              <a:pathLst>
                <a:path w="4575823" h="2475350">
                  <a:moveTo>
                    <a:pt x="0" y="0"/>
                  </a:moveTo>
                  <a:lnTo>
                    <a:pt x="4575823" y="0"/>
                  </a:lnTo>
                  <a:lnTo>
                    <a:pt x="4575823" y="2475350"/>
                  </a:lnTo>
                  <a:lnTo>
                    <a:pt x="0" y="2475350"/>
                  </a:lnTo>
                  <a:close/>
                </a:path>
              </a:pathLst>
            </a:custGeom>
            <a:solidFill>
              <a:srgbClr val="FFFFFF"/>
            </a:solidFill>
          </p:spPr>
          <p:txBody>
            <a:bodyPr/>
            <a:lstStyle/>
            <a:p>
              <a:endParaRPr lang="en-US"/>
            </a:p>
          </p:txBody>
        </p:sp>
        <p:sp>
          <p:nvSpPr>
            <p:cNvPr id="7" name="TextBox 7"/>
            <p:cNvSpPr txBox="1"/>
            <p:nvPr/>
          </p:nvSpPr>
          <p:spPr>
            <a:xfrm>
              <a:off x="0" y="-57150"/>
              <a:ext cx="4575823" cy="2532500"/>
            </a:xfrm>
            <a:prstGeom prst="rect">
              <a:avLst/>
            </a:prstGeom>
          </p:spPr>
          <p:txBody>
            <a:bodyPr lIns="50800" tIns="50800" rIns="50800" bIns="50800" rtlCol="0" anchor="ctr"/>
            <a:lstStyle/>
            <a:p>
              <a:pPr algn="ctr">
                <a:lnSpc>
                  <a:spcPts val="3150"/>
                </a:lnSpc>
              </a:pPr>
              <a:endParaRPr/>
            </a:p>
          </p:txBody>
        </p:sp>
      </p:grpSp>
      <p:sp>
        <p:nvSpPr>
          <p:cNvPr id="8" name="Freeform 8"/>
          <p:cNvSpPr/>
          <p:nvPr/>
        </p:nvSpPr>
        <p:spPr>
          <a:xfrm>
            <a:off x="457085" y="444203"/>
            <a:ext cx="14506110" cy="9398593"/>
          </a:xfrm>
          <a:custGeom>
            <a:avLst/>
            <a:gdLst/>
            <a:ahLst/>
            <a:cxnLst/>
            <a:rect l="l" t="t" r="r" b="b"/>
            <a:pathLst>
              <a:path w="14506110" h="9398593">
                <a:moveTo>
                  <a:pt x="0" y="0"/>
                </a:moveTo>
                <a:lnTo>
                  <a:pt x="14506110" y="0"/>
                </a:lnTo>
                <a:lnTo>
                  <a:pt x="14506110" y="9398594"/>
                </a:lnTo>
                <a:lnTo>
                  <a:pt x="0" y="9398594"/>
                </a:lnTo>
                <a:lnTo>
                  <a:pt x="0" y="0"/>
                </a:lnTo>
                <a:close/>
              </a:path>
            </a:pathLst>
          </a:custGeom>
          <a:blipFill>
            <a:blip r:embed="rId2">
              <a:alphaModFix amt="39000"/>
            </a:blip>
            <a:stretch>
              <a:fillRect t="-22872" r="-553" b="-32325"/>
            </a:stretch>
          </a:blipFill>
        </p:spPr>
        <p:txBody>
          <a:bodyPr/>
          <a:lstStyle/>
          <a:p>
            <a:endParaRPr lang="en-US"/>
          </a:p>
        </p:txBody>
      </p:sp>
      <p:sp>
        <p:nvSpPr>
          <p:cNvPr id="9" name="Freeform 9"/>
          <p:cNvSpPr/>
          <p:nvPr/>
        </p:nvSpPr>
        <p:spPr>
          <a:xfrm>
            <a:off x="2461118" y="3117402"/>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4083341" y="4021909"/>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2855714" y="4582705"/>
            <a:ext cx="789192" cy="1121591"/>
          </a:xfrm>
          <a:custGeom>
            <a:avLst/>
            <a:gdLst/>
            <a:ahLst/>
            <a:cxnLst/>
            <a:rect l="l" t="t" r="r" b="b"/>
            <a:pathLst>
              <a:path w="789192" h="1121591">
                <a:moveTo>
                  <a:pt x="0" y="0"/>
                </a:moveTo>
                <a:lnTo>
                  <a:pt x="789192" y="0"/>
                </a:lnTo>
                <a:lnTo>
                  <a:pt x="789192" y="1121590"/>
                </a:lnTo>
                <a:lnTo>
                  <a:pt x="0" y="1121590"/>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6958533" y="3508739"/>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7844346" y="3678198"/>
            <a:ext cx="789192" cy="1121591"/>
          </a:xfrm>
          <a:custGeom>
            <a:avLst/>
            <a:gdLst/>
            <a:ahLst/>
            <a:cxnLst/>
            <a:rect l="l" t="t" r="r" b="b"/>
            <a:pathLst>
              <a:path w="789192" h="1121591">
                <a:moveTo>
                  <a:pt x="0" y="0"/>
                </a:moveTo>
                <a:lnTo>
                  <a:pt x="789192" y="0"/>
                </a:lnTo>
                <a:lnTo>
                  <a:pt x="789192" y="1121590"/>
                </a:lnTo>
                <a:lnTo>
                  <a:pt x="0" y="1121590"/>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a:off x="11780008" y="4238993"/>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12018996" y="7072127"/>
            <a:ext cx="789192" cy="1121591"/>
          </a:xfrm>
          <a:custGeom>
            <a:avLst/>
            <a:gdLst/>
            <a:ahLst/>
            <a:cxnLst/>
            <a:rect l="l" t="t" r="r" b="b"/>
            <a:pathLst>
              <a:path w="789192" h="1121591">
                <a:moveTo>
                  <a:pt x="0" y="0"/>
                </a:moveTo>
                <a:lnTo>
                  <a:pt x="789192" y="0"/>
                </a:lnTo>
                <a:lnTo>
                  <a:pt x="789192" y="1121590"/>
                </a:lnTo>
                <a:lnTo>
                  <a:pt x="0" y="1121590"/>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10990816" y="6236788"/>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Freeform 17"/>
          <p:cNvSpPr/>
          <p:nvPr/>
        </p:nvSpPr>
        <p:spPr>
          <a:xfrm>
            <a:off x="6958533" y="4238993"/>
            <a:ext cx="789192" cy="1121591"/>
          </a:xfrm>
          <a:custGeom>
            <a:avLst/>
            <a:gdLst/>
            <a:ahLst/>
            <a:cxnLst/>
            <a:rect l="l" t="t" r="r" b="b"/>
            <a:pathLst>
              <a:path w="789192" h="1121591">
                <a:moveTo>
                  <a:pt x="0" y="0"/>
                </a:moveTo>
                <a:lnTo>
                  <a:pt x="789192" y="0"/>
                </a:lnTo>
                <a:lnTo>
                  <a:pt x="789192" y="1121591"/>
                </a:lnTo>
                <a:lnTo>
                  <a:pt x="0" y="1121591"/>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8" name="Group 18"/>
          <p:cNvGrpSpPr>
            <a:grpSpLocks noChangeAspect="1"/>
          </p:cNvGrpSpPr>
          <p:nvPr/>
        </p:nvGrpSpPr>
        <p:grpSpPr>
          <a:xfrm rot="-5400000">
            <a:off x="5809514" y="3696891"/>
            <a:ext cx="10287000" cy="2893219"/>
            <a:chOff x="0" y="0"/>
            <a:chExt cx="5960393" cy="1676361"/>
          </a:xfrm>
        </p:grpSpPr>
        <p:sp>
          <p:nvSpPr>
            <p:cNvPr id="19" name="Freeform 19"/>
            <p:cNvSpPr/>
            <p:nvPr/>
          </p:nvSpPr>
          <p:spPr>
            <a:xfrm>
              <a:off x="0" y="0"/>
              <a:ext cx="5960393" cy="1676361"/>
            </a:xfrm>
            <a:custGeom>
              <a:avLst/>
              <a:gdLst/>
              <a:ahLst/>
              <a:cxnLst/>
              <a:rect l="l" t="t" r="r" b="b"/>
              <a:pathLst>
                <a:path w="5960393" h="1676361">
                  <a:moveTo>
                    <a:pt x="2980197" y="1676361"/>
                  </a:moveTo>
                  <a:lnTo>
                    <a:pt x="0" y="625998"/>
                  </a:lnTo>
                  <a:cubicBezTo>
                    <a:pt x="0" y="417332"/>
                    <a:pt x="0" y="208666"/>
                    <a:pt x="0" y="0"/>
                  </a:cubicBezTo>
                  <a:cubicBezTo>
                    <a:pt x="1986798" y="0"/>
                    <a:pt x="3973595" y="0"/>
                    <a:pt x="5960393" y="0"/>
                  </a:cubicBezTo>
                  <a:cubicBezTo>
                    <a:pt x="5960393" y="208666"/>
                    <a:pt x="5960393" y="417332"/>
                    <a:pt x="5960393" y="625998"/>
                  </a:cubicBezTo>
                  <a:cubicBezTo>
                    <a:pt x="4966994" y="976119"/>
                    <a:pt x="3973595" y="1326240"/>
                    <a:pt x="2980197" y="1676361"/>
                  </a:cubicBezTo>
                  <a:close/>
                </a:path>
              </a:pathLst>
            </a:custGeom>
            <a:solidFill>
              <a:srgbClr val="377D3F"/>
            </a:solidFill>
          </p:spPr>
          <p:txBody>
            <a:bodyPr/>
            <a:lstStyle/>
            <a:p>
              <a:endParaRPr lang="en-US"/>
            </a:p>
          </p:txBody>
        </p:sp>
        <p:sp>
          <p:nvSpPr>
            <p:cNvPr id="20" name="Freeform 20"/>
            <p:cNvSpPr/>
            <p:nvPr/>
          </p:nvSpPr>
          <p:spPr>
            <a:xfrm rot="5400000">
              <a:off x="2142016" y="-2142016"/>
              <a:ext cx="1676361" cy="5960393"/>
            </a:xfrm>
            <a:custGeom>
              <a:avLst/>
              <a:gdLst/>
              <a:ahLst/>
              <a:cxnLst/>
              <a:rect l="l" t="t" r="r" b="b"/>
              <a:pathLst>
                <a:path w="1676361" h="5960393">
                  <a:moveTo>
                    <a:pt x="1676361" y="2980196"/>
                  </a:moveTo>
                  <a:lnTo>
                    <a:pt x="625998" y="5960393"/>
                  </a:lnTo>
                  <a:cubicBezTo>
                    <a:pt x="417332" y="5960393"/>
                    <a:pt x="208666" y="5960393"/>
                    <a:pt x="0" y="5960393"/>
                  </a:cubicBezTo>
                  <a:cubicBezTo>
                    <a:pt x="0" y="3973595"/>
                    <a:pt x="0" y="1986797"/>
                    <a:pt x="0" y="0"/>
                  </a:cubicBezTo>
                  <a:cubicBezTo>
                    <a:pt x="208666" y="0"/>
                    <a:pt x="417332" y="0"/>
                    <a:pt x="625998" y="0"/>
                  </a:cubicBezTo>
                  <a:cubicBezTo>
                    <a:pt x="976119" y="993399"/>
                    <a:pt x="1326240" y="1986797"/>
                    <a:pt x="1676361" y="2980196"/>
                  </a:cubicBezTo>
                  <a:close/>
                </a:path>
              </a:pathLst>
            </a:custGeom>
            <a:blipFill>
              <a:blip r:embed="rId4"/>
              <a:stretch>
                <a:fillRect l="-178043" r="-254623"/>
              </a:stretch>
            </a:blipFill>
          </p:spPr>
          <p:txBody>
            <a:bodyPr/>
            <a:lstStyle/>
            <a:p>
              <a:endParaRPr lang="en-US"/>
            </a:p>
          </p:txBody>
        </p:sp>
      </p:grpSp>
      <p:grpSp>
        <p:nvGrpSpPr>
          <p:cNvPr id="21" name="Group 21"/>
          <p:cNvGrpSpPr/>
          <p:nvPr/>
        </p:nvGrpSpPr>
        <p:grpSpPr>
          <a:xfrm>
            <a:off x="1927405" y="2155722"/>
            <a:ext cx="14433190" cy="5975556"/>
            <a:chOff x="0" y="0"/>
            <a:chExt cx="19244254" cy="7967408"/>
          </a:xfrm>
        </p:grpSpPr>
        <p:sp>
          <p:nvSpPr>
            <p:cNvPr id="22" name="Freeform 22"/>
            <p:cNvSpPr/>
            <p:nvPr/>
          </p:nvSpPr>
          <p:spPr>
            <a:xfrm>
              <a:off x="915640" y="4269436"/>
              <a:ext cx="1795197" cy="3697972"/>
            </a:xfrm>
            <a:custGeom>
              <a:avLst/>
              <a:gdLst/>
              <a:ahLst/>
              <a:cxnLst/>
              <a:rect l="l" t="t" r="r" b="b"/>
              <a:pathLst>
                <a:path w="1795197" h="3697972">
                  <a:moveTo>
                    <a:pt x="0" y="0"/>
                  </a:moveTo>
                  <a:lnTo>
                    <a:pt x="1795198" y="0"/>
                  </a:lnTo>
                  <a:lnTo>
                    <a:pt x="1795198" y="3697972"/>
                  </a:lnTo>
                  <a:lnTo>
                    <a:pt x="0" y="369797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3" name="TextBox 23"/>
            <p:cNvSpPr txBox="1"/>
            <p:nvPr/>
          </p:nvSpPr>
          <p:spPr>
            <a:xfrm>
              <a:off x="13940720" y="2159271"/>
              <a:ext cx="5303534" cy="5808137"/>
            </a:xfrm>
            <a:prstGeom prst="rect">
              <a:avLst/>
            </a:prstGeom>
          </p:spPr>
          <p:txBody>
            <a:bodyPr lIns="0" tIns="0" rIns="0" bIns="0" rtlCol="0" anchor="t">
              <a:spAutoFit/>
            </a:bodyPr>
            <a:lstStyle/>
            <a:p>
              <a:pPr algn="ctr">
                <a:lnSpc>
                  <a:spcPts val="4176"/>
                </a:lnSpc>
              </a:pPr>
              <a:r>
                <a:rPr lang="en-US" sz="3796" b="1">
                  <a:solidFill>
                    <a:srgbClr val="000000"/>
                  </a:solidFill>
                  <a:latin typeface="Open Sans 2 Bold"/>
                  <a:ea typeface="Open Sans 2 Bold"/>
                  <a:cs typeface="Open Sans 2 Bold"/>
                  <a:sym typeface="Open Sans 2 Bold"/>
                </a:rPr>
                <a:t>160+</a:t>
              </a:r>
            </a:p>
            <a:p>
              <a:pPr algn="ctr">
                <a:lnSpc>
                  <a:spcPts val="3654"/>
                </a:lnSpc>
              </a:pPr>
              <a:r>
                <a:rPr lang="en-US" sz="3321">
                  <a:solidFill>
                    <a:srgbClr val="000000"/>
                  </a:solidFill>
                  <a:latin typeface="Open Sans 2"/>
                  <a:ea typeface="Open Sans 2"/>
                  <a:cs typeface="Open Sans 2"/>
                  <a:sym typeface="Open Sans 2"/>
                </a:rPr>
                <a:t>locations</a:t>
              </a:r>
            </a:p>
            <a:p>
              <a:pPr algn="ctr">
                <a:lnSpc>
                  <a:spcPts val="3654"/>
                </a:lnSpc>
              </a:pPr>
              <a:endParaRPr lang="en-US" sz="3321">
                <a:solidFill>
                  <a:srgbClr val="000000"/>
                </a:solidFill>
                <a:latin typeface="Open Sans 2"/>
                <a:ea typeface="Open Sans 2"/>
                <a:cs typeface="Open Sans 2"/>
                <a:sym typeface="Open Sans 2"/>
              </a:endParaRPr>
            </a:p>
            <a:p>
              <a:pPr algn="ctr">
                <a:lnSpc>
                  <a:spcPts val="4176"/>
                </a:lnSpc>
              </a:pPr>
              <a:r>
                <a:rPr lang="en-US" sz="3796" b="1">
                  <a:solidFill>
                    <a:srgbClr val="000000"/>
                  </a:solidFill>
                  <a:latin typeface="Open Sans 2 Bold"/>
                  <a:ea typeface="Open Sans 2 Bold"/>
                  <a:cs typeface="Open Sans 2 Bold"/>
                  <a:sym typeface="Open Sans 2 Bold"/>
                </a:rPr>
                <a:t>65+</a:t>
              </a:r>
            </a:p>
            <a:p>
              <a:pPr algn="ctr">
                <a:lnSpc>
                  <a:spcPts val="3654"/>
                </a:lnSpc>
              </a:pPr>
              <a:r>
                <a:rPr lang="en-US" sz="3321">
                  <a:solidFill>
                    <a:srgbClr val="000000"/>
                  </a:solidFill>
                  <a:latin typeface="Open Sans 2"/>
                  <a:ea typeface="Open Sans 2"/>
                  <a:cs typeface="Open Sans 2"/>
                  <a:sym typeface="Open Sans 2"/>
                </a:rPr>
                <a:t>cities globally</a:t>
              </a:r>
            </a:p>
            <a:p>
              <a:pPr algn="ctr">
                <a:lnSpc>
                  <a:spcPts val="3654"/>
                </a:lnSpc>
              </a:pPr>
              <a:endParaRPr lang="en-US" sz="3321">
                <a:solidFill>
                  <a:srgbClr val="000000"/>
                </a:solidFill>
                <a:latin typeface="Open Sans 2"/>
                <a:ea typeface="Open Sans 2"/>
                <a:cs typeface="Open Sans 2"/>
                <a:sym typeface="Open Sans 2"/>
              </a:endParaRPr>
            </a:p>
            <a:p>
              <a:pPr algn="ctr">
                <a:lnSpc>
                  <a:spcPts val="4176"/>
                </a:lnSpc>
              </a:pPr>
              <a:r>
                <a:rPr lang="en-US" sz="3796" b="1">
                  <a:solidFill>
                    <a:srgbClr val="000000"/>
                  </a:solidFill>
                  <a:latin typeface="Open Sans 2 Bold"/>
                  <a:ea typeface="Open Sans 2 Bold"/>
                  <a:cs typeface="Open Sans 2 Bold"/>
                  <a:sym typeface="Open Sans 2 Bold"/>
                </a:rPr>
                <a:t>#1</a:t>
              </a:r>
            </a:p>
            <a:p>
              <a:pPr algn="ctr">
                <a:lnSpc>
                  <a:spcPts val="3654"/>
                </a:lnSpc>
              </a:pPr>
              <a:r>
                <a:rPr lang="en-US" sz="3321">
                  <a:solidFill>
                    <a:srgbClr val="000000"/>
                  </a:solidFill>
                  <a:latin typeface="Open Sans 2"/>
                  <a:ea typeface="Open Sans 2"/>
                  <a:cs typeface="Open Sans 2"/>
                  <a:sym typeface="Open Sans 2"/>
                </a:rPr>
                <a:t>customer satisfaction</a:t>
              </a:r>
            </a:p>
          </p:txBody>
        </p:sp>
        <p:sp>
          <p:nvSpPr>
            <p:cNvPr id="24" name="TextBox 24"/>
            <p:cNvSpPr txBox="1"/>
            <p:nvPr/>
          </p:nvSpPr>
          <p:spPr>
            <a:xfrm>
              <a:off x="113824" y="209550"/>
              <a:ext cx="3242809" cy="1248410"/>
            </a:xfrm>
            <a:prstGeom prst="rect">
              <a:avLst/>
            </a:prstGeom>
          </p:spPr>
          <p:txBody>
            <a:bodyPr lIns="0" tIns="0" rIns="0" bIns="0" rtlCol="0" anchor="t">
              <a:spAutoFit/>
            </a:bodyPr>
            <a:lstStyle/>
            <a:p>
              <a:pPr marL="0" lvl="0" indent="0" algn="ctr">
                <a:lnSpc>
                  <a:spcPts val="6480"/>
                </a:lnSpc>
                <a:spcBef>
                  <a:spcPct val="0"/>
                </a:spcBef>
              </a:pPr>
              <a:r>
                <a:rPr lang="en-US" sz="7200" b="1">
                  <a:solidFill>
                    <a:srgbClr val="FDD344"/>
                  </a:solidFill>
                  <a:latin typeface="Montserrat Bold"/>
                  <a:ea typeface="Montserrat Bold"/>
                  <a:cs typeface="Montserrat Bold"/>
                  <a:sym typeface="Montserrat Bold"/>
                </a:rPr>
                <a:t>2012</a:t>
              </a:r>
            </a:p>
          </p:txBody>
        </p:sp>
        <p:sp>
          <p:nvSpPr>
            <p:cNvPr id="25" name="TextBox 25"/>
            <p:cNvSpPr txBox="1"/>
            <p:nvPr/>
          </p:nvSpPr>
          <p:spPr>
            <a:xfrm>
              <a:off x="5066243" y="209550"/>
              <a:ext cx="3242809" cy="1248410"/>
            </a:xfrm>
            <a:prstGeom prst="rect">
              <a:avLst/>
            </a:prstGeom>
          </p:spPr>
          <p:txBody>
            <a:bodyPr lIns="0" tIns="0" rIns="0" bIns="0" rtlCol="0" anchor="t">
              <a:spAutoFit/>
            </a:bodyPr>
            <a:lstStyle/>
            <a:p>
              <a:pPr marL="0" lvl="0" indent="0" algn="ctr">
                <a:lnSpc>
                  <a:spcPts val="6480"/>
                </a:lnSpc>
                <a:spcBef>
                  <a:spcPct val="0"/>
                </a:spcBef>
              </a:pPr>
              <a:r>
                <a:rPr lang="en-US" sz="7200" b="1">
                  <a:solidFill>
                    <a:srgbClr val="FDD344"/>
                  </a:solidFill>
                  <a:latin typeface="Montserrat Bold"/>
                  <a:ea typeface="Montserrat Bold"/>
                  <a:cs typeface="Montserrat Bold"/>
                  <a:sym typeface="Montserrat Bold"/>
                </a:rPr>
                <a:t>2013</a:t>
              </a:r>
            </a:p>
          </p:txBody>
        </p:sp>
        <p:sp>
          <p:nvSpPr>
            <p:cNvPr id="26" name="TextBox 26"/>
            <p:cNvSpPr txBox="1"/>
            <p:nvPr/>
          </p:nvSpPr>
          <p:spPr>
            <a:xfrm>
              <a:off x="14971083" y="209550"/>
              <a:ext cx="3242809" cy="1248410"/>
            </a:xfrm>
            <a:prstGeom prst="rect">
              <a:avLst/>
            </a:prstGeom>
          </p:spPr>
          <p:txBody>
            <a:bodyPr lIns="0" tIns="0" rIns="0" bIns="0" rtlCol="0" anchor="t">
              <a:spAutoFit/>
            </a:bodyPr>
            <a:lstStyle/>
            <a:p>
              <a:pPr marL="0" lvl="0" indent="0" algn="ctr">
                <a:lnSpc>
                  <a:spcPts val="6480"/>
                </a:lnSpc>
                <a:spcBef>
                  <a:spcPct val="0"/>
                </a:spcBef>
              </a:pPr>
              <a:r>
                <a:rPr lang="en-US" sz="7200" b="1">
                  <a:solidFill>
                    <a:srgbClr val="FDD344"/>
                  </a:solidFill>
                  <a:latin typeface="Montserrat Bold"/>
                  <a:ea typeface="Montserrat Bold"/>
                  <a:cs typeface="Montserrat Bold"/>
                  <a:sym typeface="Montserrat Bold"/>
                </a:rPr>
                <a:t>2025</a:t>
              </a:r>
            </a:p>
          </p:txBody>
        </p:sp>
        <p:sp>
          <p:nvSpPr>
            <p:cNvPr id="27" name="TextBox 27"/>
            <p:cNvSpPr txBox="1"/>
            <p:nvPr/>
          </p:nvSpPr>
          <p:spPr>
            <a:xfrm>
              <a:off x="0" y="2054496"/>
              <a:ext cx="3626478" cy="1551730"/>
            </a:xfrm>
            <a:prstGeom prst="rect">
              <a:avLst/>
            </a:prstGeom>
          </p:spPr>
          <p:txBody>
            <a:bodyPr lIns="0" tIns="0" rIns="0" bIns="0" rtlCol="0" anchor="t">
              <a:spAutoFit/>
            </a:bodyPr>
            <a:lstStyle/>
            <a:p>
              <a:pPr algn="ctr">
                <a:lnSpc>
                  <a:spcPts val="4759"/>
                </a:lnSpc>
              </a:pPr>
              <a:r>
                <a:rPr lang="en-US" sz="3399" b="1">
                  <a:solidFill>
                    <a:srgbClr val="000000"/>
                  </a:solidFill>
                  <a:latin typeface="Open Sans 2 Bold"/>
                  <a:ea typeface="Open Sans 2 Bold"/>
                  <a:cs typeface="Open Sans 2 Bold"/>
                  <a:sym typeface="Open Sans 2 Bold"/>
                </a:rPr>
                <a:t>TWO</a:t>
              </a:r>
              <a:r>
                <a:rPr lang="en-US" sz="3399">
                  <a:solidFill>
                    <a:srgbClr val="000000"/>
                  </a:solidFill>
                  <a:latin typeface="Open Sans 2"/>
                  <a:ea typeface="Open Sans 2"/>
                  <a:cs typeface="Open Sans 2"/>
                  <a:sym typeface="Open Sans 2"/>
                </a:rPr>
                <a:t> friends</a:t>
              </a:r>
            </a:p>
            <a:p>
              <a:pPr algn="ctr">
                <a:lnSpc>
                  <a:spcPts val="4759"/>
                </a:lnSpc>
                <a:spcBef>
                  <a:spcPct val="0"/>
                </a:spcBef>
              </a:pPr>
              <a:r>
                <a:rPr lang="en-US" sz="3399" b="1">
                  <a:solidFill>
                    <a:srgbClr val="000000"/>
                  </a:solidFill>
                  <a:latin typeface="Open Sans 2 Bold"/>
                  <a:ea typeface="Open Sans 2 Bold"/>
                  <a:cs typeface="Open Sans 2 Bold"/>
                  <a:sym typeface="Open Sans 2 Bold"/>
                </a:rPr>
                <a:t>ONE</a:t>
              </a:r>
              <a:r>
                <a:rPr lang="en-US" sz="3399">
                  <a:solidFill>
                    <a:srgbClr val="000000"/>
                  </a:solidFill>
                  <a:latin typeface="Open Sans 2"/>
                  <a:ea typeface="Open Sans 2"/>
                  <a:cs typeface="Open Sans 2"/>
                  <a:sym typeface="Open Sans 2"/>
                </a:rPr>
                <a:t> idea</a:t>
              </a:r>
            </a:p>
          </p:txBody>
        </p:sp>
        <p:sp>
          <p:nvSpPr>
            <p:cNvPr id="28" name="TextBox 28"/>
            <p:cNvSpPr txBox="1"/>
            <p:nvPr/>
          </p:nvSpPr>
          <p:spPr>
            <a:xfrm>
              <a:off x="4289449" y="1940196"/>
              <a:ext cx="4796397" cy="6027212"/>
            </a:xfrm>
            <a:prstGeom prst="rect">
              <a:avLst/>
            </a:prstGeom>
          </p:spPr>
          <p:txBody>
            <a:bodyPr lIns="0" tIns="0" rIns="0" bIns="0" rtlCol="0" anchor="t">
              <a:spAutoFit/>
            </a:bodyPr>
            <a:lstStyle/>
            <a:p>
              <a:pPr algn="ctr">
                <a:lnSpc>
                  <a:spcPts val="6124"/>
                </a:lnSpc>
              </a:pPr>
              <a:r>
                <a:rPr lang="en-US" sz="3499" b="1">
                  <a:solidFill>
                    <a:srgbClr val="000000"/>
                  </a:solidFill>
                  <a:latin typeface="Open Sans 2 Bold"/>
                  <a:ea typeface="Open Sans 2 Bold"/>
                  <a:cs typeface="Open Sans 2 Bold"/>
                  <a:sym typeface="Open Sans 2 Bold"/>
                </a:rPr>
                <a:t>80 </a:t>
              </a:r>
              <a:r>
                <a:rPr lang="en-US" sz="3499">
                  <a:solidFill>
                    <a:srgbClr val="000000"/>
                  </a:solidFill>
                  <a:latin typeface="Open Sans 2"/>
                  <a:ea typeface="Open Sans 2"/>
                  <a:cs typeface="Open Sans 2"/>
                  <a:sym typeface="Open Sans 2"/>
                </a:rPr>
                <a:t>investors</a:t>
              </a:r>
            </a:p>
            <a:p>
              <a:pPr algn="ctr">
                <a:lnSpc>
                  <a:spcPts val="6124"/>
                </a:lnSpc>
              </a:pPr>
              <a:r>
                <a:rPr lang="en-US" sz="3499" b="1">
                  <a:solidFill>
                    <a:srgbClr val="000000"/>
                  </a:solidFill>
                  <a:latin typeface="Open Sans 2 Bold"/>
                  <a:ea typeface="Open Sans 2 Bold"/>
                  <a:cs typeface="Open Sans 2 Bold"/>
                  <a:sym typeface="Open Sans 2 Bold"/>
                </a:rPr>
                <a:t>$1</a:t>
              </a:r>
              <a:r>
                <a:rPr lang="en-US" sz="3499">
                  <a:solidFill>
                    <a:srgbClr val="000000"/>
                  </a:solidFill>
                  <a:latin typeface="Open Sans 2"/>
                  <a:ea typeface="Open Sans 2"/>
                  <a:cs typeface="Open Sans 2"/>
                  <a:sym typeface="Open Sans 2"/>
                </a:rPr>
                <a:t> million</a:t>
              </a:r>
            </a:p>
            <a:p>
              <a:pPr algn="ctr">
                <a:lnSpc>
                  <a:spcPts val="6124"/>
                </a:lnSpc>
              </a:pPr>
              <a:r>
                <a:rPr lang="en-US" sz="3499" b="1">
                  <a:solidFill>
                    <a:srgbClr val="000000"/>
                  </a:solidFill>
                  <a:latin typeface="Open Sans 2 Bold"/>
                  <a:ea typeface="Open Sans 2 Bold"/>
                  <a:cs typeface="Open Sans 2 Bold"/>
                  <a:sym typeface="Open Sans 2 Bold"/>
                </a:rPr>
                <a:t>20,000</a:t>
              </a:r>
              <a:r>
                <a:rPr lang="en-US" sz="3499">
                  <a:solidFill>
                    <a:srgbClr val="000000"/>
                  </a:solidFill>
                  <a:latin typeface="Open Sans 2"/>
                  <a:ea typeface="Open Sans 2"/>
                  <a:cs typeface="Open Sans 2"/>
                  <a:sym typeface="Open Sans 2"/>
                </a:rPr>
                <a:t> sq.ft.</a:t>
              </a:r>
            </a:p>
            <a:p>
              <a:pPr algn="ctr">
                <a:lnSpc>
                  <a:spcPts val="6124"/>
                </a:lnSpc>
              </a:pPr>
              <a:r>
                <a:rPr lang="en-US" sz="3499" b="1">
                  <a:solidFill>
                    <a:srgbClr val="000000"/>
                  </a:solidFill>
                  <a:latin typeface="Open Sans 2 Bold"/>
                  <a:ea typeface="Open Sans 2 Bold"/>
                  <a:cs typeface="Open Sans 2 Bold"/>
                  <a:sym typeface="Open Sans 2 Bold"/>
                </a:rPr>
                <a:t>1</a:t>
              </a:r>
              <a:r>
                <a:rPr lang="en-US" sz="3499">
                  <a:solidFill>
                    <a:srgbClr val="000000"/>
                  </a:solidFill>
                  <a:latin typeface="Open Sans 2"/>
                  <a:ea typeface="Open Sans 2"/>
                  <a:cs typeface="Open Sans 2"/>
                  <a:sym typeface="Open Sans 2"/>
                </a:rPr>
                <a:t> property</a:t>
              </a:r>
            </a:p>
            <a:p>
              <a:pPr algn="ctr">
                <a:lnSpc>
                  <a:spcPts val="6124"/>
                </a:lnSpc>
              </a:pPr>
              <a:r>
                <a:rPr lang="en-US" sz="3499">
                  <a:solidFill>
                    <a:srgbClr val="000000"/>
                  </a:solidFill>
                  <a:latin typeface="Open Sans 2"/>
                  <a:ea typeface="Open Sans 2"/>
                  <a:cs typeface="Open Sans 2"/>
                  <a:sym typeface="Open Sans 2"/>
                </a:rPr>
                <a:t>in </a:t>
              </a:r>
              <a:r>
                <a:rPr lang="en-US" sz="3499" b="1">
                  <a:solidFill>
                    <a:srgbClr val="000000"/>
                  </a:solidFill>
                  <a:latin typeface="Open Sans 2 Bold"/>
                  <a:ea typeface="Open Sans 2 Bold"/>
                  <a:cs typeface="Open Sans 2 Bold"/>
                  <a:sym typeface="Open Sans 2 Bold"/>
                </a:rPr>
                <a:t>Chicago</a:t>
              </a:r>
            </a:p>
            <a:p>
              <a:pPr algn="ctr">
                <a:lnSpc>
                  <a:spcPts val="6124"/>
                </a:lnSpc>
              </a:pPr>
              <a:r>
                <a:rPr lang="en-US" sz="3499" b="1">
                  <a:solidFill>
                    <a:srgbClr val="000000"/>
                  </a:solidFill>
                  <a:latin typeface="Open Sans 2 Bold"/>
                  <a:ea typeface="Open Sans 2 Bold"/>
                  <a:cs typeface="Open Sans 2 Bold"/>
                  <a:sym typeface="Open Sans 2 Bold"/>
                </a:rPr>
                <a:t>100%</a:t>
              </a:r>
              <a:r>
                <a:rPr lang="en-US" sz="3499">
                  <a:solidFill>
                    <a:srgbClr val="000000"/>
                  </a:solidFill>
                  <a:latin typeface="Open Sans 2"/>
                  <a:ea typeface="Open Sans 2"/>
                  <a:cs typeface="Open Sans 2"/>
                  <a:sym typeface="Open Sans 2"/>
                </a:rPr>
                <a:t> occupancy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4350" y="1444517"/>
            <a:ext cx="17459794" cy="6511831"/>
            <a:chOff x="0" y="0"/>
            <a:chExt cx="4598464" cy="1715050"/>
          </a:xfrm>
        </p:grpSpPr>
        <p:sp>
          <p:nvSpPr>
            <p:cNvPr id="3" name="Freeform 3"/>
            <p:cNvSpPr/>
            <p:nvPr/>
          </p:nvSpPr>
          <p:spPr>
            <a:xfrm>
              <a:off x="0" y="0"/>
              <a:ext cx="4598464" cy="1715050"/>
            </a:xfrm>
            <a:custGeom>
              <a:avLst/>
              <a:gdLst/>
              <a:ahLst/>
              <a:cxnLst/>
              <a:rect l="l" t="t" r="r" b="b"/>
              <a:pathLst>
                <a:path w="4598464" h="1715050">
                  <a:moveTo>
                    <a:pt x="29265" y="0"/>
                  </a:moveTo>
                  <a:lnTo>
                    <a:pt x="4569199" y="0"/>
                  </a:lnTo>
                  <a:cubicBezTo>
                    <a:pt x="4576961" y="0"/>
                    <a:pt x="4584404" y="3083"/>
                    <a:pt x="4589893" y="8572"/>
                  </a:cubicBezTo>
                  <a:cubicBezTo>
                    <a:pt x="4595381" y="14060"/>
                    <a:pt x="4598464" y="21504"/>
                    <a:pt x="4598464" y="29265"/>
                  </a:cubicBezTo>
                  <a:lnTo>
                    <a:pt x="4598464" y="1685785"/>
                  </a:lnTo>
                  <a:cubicBezTo>
                    <a:pt x="4598464" y="1701948"/>
                    <a:pt x="4585362" y="1715050"/>
                    <a:pt x="4569199" y="1715050"/>
                  </a:cubicBezTo>
                  <a:lnTo>
                    <a:pt x="29265" y="1715050"/>
                  </a:lnTo>
                  <a:cubicBezTo>
                    <a:pt x="21504" y="1715050"/>
                    <a:pt x="14060" y="1711967"/>
                    <a:pt x="8572" y="1706479"/>
                  </a:cubicBezTo>
                  <a:cubicBezTo>
                    <a:pt x="3083" y="1700990"/>
                    <a:pt x="0" y="1693546"/>
                    <a:pt x="0" y="1685785"/>
                  </a:cubicBezTo>
                  <a:lnTo>
                    <a:pt x="0" y="29265"/>
                  </a:lnTo>
                  <a:cubicBezTo>
                    <a:pt x="0" y="21504"/>
                    <a:pt x="3083" y="14060"/>
                    <a:pt x="8572" y="8572"/>
                  </a:cubicBezTo>
                  <a:cubicBezTo>
                    <a:pt x="14060" y="3083"/>
                    <a:pt x="21504" y="0"/>
                    <a:pt x="29265" y="0"/>
                  </a:cubicBezTo>
                  <a:close/>
                </a:path>
              </a:pathLst>
            </a:custGeom>
            <a:solidFill>
              <a:srgbClr val="FFFFFF"/>
            </a:solidFill>
          </p:spPr>
          <p:txBody>
            <a:bodyPr/>
            <a:lstStyle/>
            <a:p>
              <a:endParaRPr lang="en-US"/>
            </a:p>
          </p:txBody>
        </p:sp>
        <p:sp>
          <p:nvSpPr>
            <p:cNvPr id="4" name="TextBox 4"/>
            <p:cNvSpPr txBox="1"/>
            <p:nvPr/>
          </p:nvSpPr>
          <p:spPr>
            <a:xfrm>
              <a:off x="0" y="-47625"/>
              <a:ext cx="4598464" cy="1762675"/>
            </a:xfrm>
            <a:prstGeom prst="rect">
              <a:avLst/>
            </a:prstGeom>
          </p:spPr>
          <p:txBody>
            <a:bodyPr lIns="50800" tIns="50800" rIns="50800" bIns="50800" rtlCol="0" anchor="ctr"/>
            <a:lstStyle/>
            <a:p>
              <a:pPr algn="ctr">
                <a:lnSpc>
                  <a:spcPts val="3550"/>
                </a:lnSpc>
              </a:pPr>
              <a:endParaRPr/>
            </a:p>
          </p:txBody>
        </p:sp>
      </p:grpSp>
      <p:graphicFrame>
        <p:nvGraphicFramePr>
          <p:cNvPr id="5" name="Table 5"/>
          <p:cNvGraphicFramePr>
            <a:graphicFrameLocks noGrp="1"/>
          </p:cNvGraphicFramePr>
          <p:nvPr/>
        </p:nvGraphicFramePr>
        <p:xfrm>
          <a:off x="932481" y="1804220"/>
          <a:ext cx="9298251" cy="5457631"/>
        </p:xfrm>
        <a:graphic>
          <a:graphicData uri="http://schemas.openxmlformats.org/drawingml/2006/table">
            <a:tbl>
              <a:tblPr/>
              <a:tblGrid>
                <a:gridCol w="3387401">
                  <a:extLst>
                    <a:ext uri="{9D8B030D-6E8A-4147-A177-3AD203B41FA5}">
                      <a16:colId xmlns:a16="http://schemas.microsoft.com/office/drawing/2014/main" val="20000"/>
                    </a:ext>
                  </a:extLst>
                </a:gridCol>
                <a:gridCol w="5910850">
                  <a:extLst>
                    <a:ext uri="{9D8B030D-6E8A-4147-A177-3AD203B41FA5}">
                      <a16:colId xmlns:a16="http://schemas.microsoft.com/office/drawing/2014/main" val="20001"/>
                    </a:ext>
                  </a:extLst>
                </a:gridCol>
              </a:tblGrid>
              <a:tr h="1240269">
                <a:tc>
                  <a:txBody>
                    <a:bodyPr/>
                    <a:lstStyle/>
                    <a:p>
                      <a:pPr algn="ctr">
                        <a:lnSpc>
                          <a:spcPts val="2940"/>
                        </a:lnSpc>
                        <a:defRPr/>
                      </a:pPr>
                      <a:r>
                        <a:rPr lang="en-US" sz="2100" b="1">
                          <a:solidFill>
                            <a:srgbClr val="000000"/>
                          </a:solidFill>
                          <a:latin typeface="Proxima Nova Bold"/>
                          <a:ea typeface="Proxima Nova Bold"/>
                          <a:cs typeface="Proxima Nova Bold"/>
                          <a:sym typeface="Proxima Nova Bold"/>
                        </a:rPr>
                        <a:t>Financial Viability Requirement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b="1">
                          <a:solidFill>
                            <a:srgbClr val="000000"/>
                          </a:solidFill>
                          <a:latin typeface="Proxima Nova Bold"/>
                          <a:ea typeface="Proxima Nova Bold"/>
                          <a:cs typeface="Proxima Nova Bold"/>
                          <a:sym typeface="Proxima Nova Bold"/>
                        </a:rPr>
                        <a:t>Industrious Evidence supported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40255">
                <a:tc>
                  <a:txBody>
                    <a:bodyPr/>
                    <a:lstStyle/>
                    <a:p>
                      <a:pPr algn="ctr">
                        <a:lnSpc>
                          <a:spcPts val="2940"/>
                        </a:lnSpc>
                        <a:defRPr/>
                      </a:pPr>
                      <a:r>
                        <a:rPr lang="en-US" sz="2100">
                          <a:solidFill>
                            <a:srgbClr val="000000"/>
                          </a:solidFill>
                          <a:latin typeface="Proxima Nova"/>
                          <a:ea typeface="Proxima Nova"/>
                          <a:cs typeface="Proxima Nova"/>
                          <a:sym typeface="Proxima Nova"/>
                        </a:rPr>
                        <a:t>Profitable growth segment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Proxima Nova"/>
                          <a:ea typeface="Proxima Nova"/>
                          <a:cs typeface="Proxima Nova"/>
                          <a:sym typeface="Proxima Nova"/>
                        </a:rPr>
                        <a:t>Flexible office/rent segment is fast growing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40255">
                <a:tc>
                  <a:txBody>
                    <a:bodyPr/>
                    <a:lstStyle/>
                    <a:p>
                      <a:pPr algn="ctr">
                        <a:lnSpc>
                          <a:spcPts val="2940"/>
                        </a:lnSpc>
                        <a:defRPr/>
                      </a:pPr>
                      <a:r>
                        <a:rPr lang="en-US" sz="2100">
                          <a:solidFill>
                            <a:srgbClr val="000000"/>
                          </a:solidFill>
                          <a:latin typeface="Proxima Nova"/>
                          <a:ea typeface="Proxima Nova"/>
                          <a:cs typeface="Proxima Nova"/>
                          <a:sym typeface="Proxima Nova"/>
                        </a:rPr>
                        <a:t>Strategic investor validation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Proxima Nova"/>
                          <a:ea typeface="Proxima Nova"/>
                          <a:cs typeface="Proxima Nova"/>
                          <a:sym typeface="Proxima Nova"/>
                        </a:rPr>
                        <a:t>CBRE Group Major Acquisition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68426">
                <a:tc>
                  <a:txBody>
                    <a:bodyPr/>
                    <a:lstStyle/>
                    <a:p>
                      <a:pPr algn="ctr">
                        <a:lnSpc>
                          <a:spcPts val="2940"/>
                        </a:lnSpc>
                        <a:defRPr/>
                      </a:pPr>
                      <a:r>
                        <a:rPr lang="en-US" sz="2100">
                          <a:solidFill>
                            <a:srgbClr val="000000"/>
                          </a:solidFill>
                          <a:latin typeface="Proxima Nova"/>
                          <a:ea typeface="Proxima Nova"/>
                          <a:cs typeface="Proxima Nova"/>
                          <a:sym typeface="Proxima Nova"/>
                        </a:rPr>
                        <a:t>Market Trend alignment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Proxima Nova"/>
                          <a:ea typeface="Proxima Nova"/>
                          <a:cs typeface="Proxima Nova"/>
                          <a:sym typeface="Proxima Nova"/>
                        </a:rPr>
                        <a:t>Office space shift to hybrid/co-working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68426">
                <a:tc>
                  <a:txBody>
                    <a:bodyPr/>
                    <a:lstStyle/>
                    <a:p>
                      <a:pPr algn="ctr">
                        <a:lnSpc>
                          <a:spcPts val="2940"/>
                        </a:lnSpc>
                        <a:defRPr/>
                      </a:pPr>
                      <a:r>
                        <a:rPr lang="en-US" sz="2100">
                          <a:solidFill>
                            <a:srgbClr val="000000"/>
                          </a:solidFill>
                          <a:latin typeface="Proxima Nova"/>
                          <a:ea typeface="Proxima Nova"/>
                          <a:cs typeface="Proxima Nova"/>
                          <a:sym typeface="Proxima Nova"/>
                        </a:rPr>
                        <a:t>Insitutional Due diligence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Proxima Nova"/>
                          <a:ea typeface="Proxima Nova"/>
                          <a:cs typeface="Proxima Nova"/>
                          <a:sym typeface="Proxima Nova"/>
                        </a:rPr>
                        <a:t>CBRE’s financial &amp; operational vetting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Box 6"/>
          <p:cNvSpPr txBox="1"/>
          <p:nvPr/>
        </p:nvSpPr>
        <p:spPr>
          <a:xfrm>
            <a:off x="4813838" y="581025"/>
            <a:ext cx="9525" cy="1566544"/>
          </a:xfrm>
          <a:prstGeom prst="rect">
            <a:avLst/>
          </a:prstGeom>
        </p:spPr>
        <p:txBody>
          <a:bodyPr lIns="0" tIns="0" rIns="0" bIns="0" rtlCol="0" anchor="t">
            <a:spAutoFit/>
          </a:bodyPr>
          <a:lstStyle/>
          <a:p>
            <a:pPr algn="ctr">
              <a:lnSpc>
                <a:spcPts val="12880"/>
              </a:lnSpc>
            </a:pPr>
            <a:endParaRPr/>
          </a:p>
        </p:txBody>
      </p:sp>
      <p:sp>
        <p:nvSpPr>
          <p:cNvPr id="7" name="Freeform 7"/>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3"/>
            <a:stretch>
              <a:fillRect/>
            </a:stretch>
          </a:blipFill>
        </p:spPr>
        <p:txBody>
          <a:bodyPr/>
          <a:lstStyle/>
          <a:p>
            <a:endParaRPr lang="en-US"/>
          </a:p>
        </p:txBody>
      </p:sp>
      <p:sp>
        <p:nvSpPr>
          <p:cNvPr id="8" name="Freeform 8"/>
          <p:cNvSpPr/>
          <p:nvPr/>
        </p:nvSpPr>
        <p:spPr>
          <a:xfrm>
            <a:off x="10249782" y="1804220"/>
            <a:ext cx="7281280" cy="5486400"/>
          </a:xfrm>
          <a:custGeom>
            <a:avLst/>
            <a:gdLst/>
            <a:ahLst/>
            <a:cxnLst/>
            <a:rect l="l" t="t" r="r" b="b"/>
            <a:pathLst>
              <a:path w="7281280" h="5486400">
                <a:moveTo>
                  <a:pt x="0" y="0"/>
                </a:moveTo>
                <a:lnTo>
                  <a:pt x="7281279" y="0"/>
                </a:lnTo>
                <a:lnTo>
                  <a:pt x="7281279" y="5486400"/>
                </a:lnTo>
                <a:lnTo>
                  <a:pt x="0" y="5486400"/>
                </a:lnTo>
                <a:lnTo>
                  <a:pt x="0" y="0"/>
                </a:lnTo>
                <a:close/>
              </a:path>
            </a:pathLst>
          </a:custGeom>
          <a:blipFill>
            <a:blip r:embed="rId4"/>
            <a:stretch>
              <a:fillRect l="-2140" t="-2759" r="-2140"/>
            </a:stretch>
          </a:blipFill>
        </p:spPr>
        <p:txBody>
          <a:bodyPr/>
          <a:lstStyle/>
          <a:p>
            <a:endParaRPr lang="en-US"/>
          </a:p>
        </p:txBody>
      </p:sp>
      <p:sp>
        <p:nvSpPr>
          <p:cNvPr id="9" name="TextBox 9"/>
          <p:cNvSpPr txBox="1"/>
          <p:nvPr/>
        </p:nvSpPr>
        <p:spPr>
          <a:xfrm>
            <a:off x="944957" y="7566845"/>
            <a:ext cx="16598580" cy="1522096"/>
          </a:xfrm>
          <a:prstGeom prst="rect">
            <a:avLst/>
          </a:prstGeom>
        </p:spPr>
        <p:txBody>
          <a:bodyPr lIns="0" tIns="0" rIns="0" bIns="0" rtlCol="0" anchor="t">
            <a:spAutoFit/>
          </a:bodyPr>
          <a:lstStyle/>
          <a:p>
            <a:pPr algn="l">
              <a:lnSpc>
                <a:spcPts val="3149"/>
              </a:lnSpc>
              <a:spcBef>
                <a:spcPct val="0"/>
              </a:spcBef>
            </a:pPr>
            <a:r>
              <a:rPr lang="en-US" sz="1799">
                <a:solidFill>
                  <a:srgbClr val="000000"/>
                </a:solidFill>
                <a:latin typeface="Open Sans 2"/>
                <a:ea typeface="Open Sans 2"/>
                <a:cs typeface="Open Sans 2"/>
                <a:sym typeface="Open Sans 2"/>
              </a:rPr>
              <a:t>Financial viability is unequivocally proven: Industrious operate within a highly profitable growth segment, aligned with the macro shift toward hybrid work, as demonstrated by the $5 trillion market forecast by 2030. This model has been strategically validated by the world's largest commercial real estate firm, CBRE, which acquired Industrious for nearly $1 billion. This acquisition provides powerful institutional backing and market credibility, though it presents the operational challenge of potentially losing the agility vital to a fast-growing, innovative segment.</a:t>
            </a:r>
          </a:p>
        </p:txBody>
      </p:sp>
      <p:sp>
        <p:nvSpPr>
          <p:cNvPr id="10" name="TextBox 10"/>
          <p:cNvSpPr txBox="1"/>
          <p:nvPr/>
        </p:nvSpPr>
        <p:spPr>
          <a:xfrm>
            <a:off x="12822320" y="1396892"/>
            <a:ext cx="2621518" cy="349250"/>
          </a:xfrm>
          <a:prstGeom prst="rect">
            <a:avLst/>
          </a:prstGeom>
        </p:spPr>
        <p:txBody>
          <a:bodyPr lIns="0" tIns="0" rIns="0" bIns="0" rtlCol="0" anchor="t">
            <a:spAutoFit/>
          </a:bodyPr>
          <a:lstStyle/>
          <a:p>
            <a:pPr algn="ctr">
              <a:lnSpc>
                <a:spcPts val="2800"/>
              </a:lnSpc>
            </a:pPr>
            <a:r>
              <a:rPr lang="en-US" sz="2000" b="1">
                <a:solidFill>
                  <a:srgbClr val="000000"/>
                </a:solidFill>
                <a:latin typeface="Canva Sans Bold"/>
                <a:ea typeface="Canva Sans Bold"/>
                <a:cs typeface="Canva Sans Bold"/>
                <a:sym typeface="Canva Sans Bold"/>
              </a:rPr>
              <a:t>An expanding market</a:t>
            </a:r>
          </a:p>
        </p:txBody>
      </p:sp>
      <p:sp>
        <p:nvSpPr>
          <p:cNvPr id="11" name="TextBox 11"/>
          <p:cNvSpPr txBox="1"/>
          <p:nvPr/>
        </p:nvSpPr>
        <p:spPr>
          <a:xfrm>
            <a:off x="932481" y="593483"/>
            <a:ext cx="10856337"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FINANCIAL VIABILITY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6344" y="243127"/>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ISSUE ANALYSIS</a:t>
            </a:r>
          </a:p>
        </p:txBody>
      </p:sp>
      <p:sp>
        <p:nvSpPr>
          <p:cNvPr id="3" name="TextBox 3"/>
          <p:cNvSpPr txBox="1"/>
          <p:nvPr/>
        </p:nvSpPr>
        <p:spPr>
          <a:xfrm>
            <a:off x="323494" y="792480"/>
            <a:ext cx="14941863"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Scalability &amp; Viability Assessment</a:t>
            </a:r>
          </a:p>
        </p:txBody>
      </p:sp>
      <p:grpSp>
        <p:nvGrpSpPr>
          <p:cNvPr id="4" name="Group 4"/>
          <p:cNvGrpSpPr/>
          <p:nvPr/>
        </p:nvGrpSpPr>
        <p:grpSpPr>
          <a:xfrm>
            <a:off x="3921239" y="1431853"/>
            <a:ext cx="10136028" cy="522392"/>
            <a:chOff x="0" y="0"/>
            <a:chExt cx="2669571" cy="137585"/>
          </a:xfrm>
        </p:grpSpPr>
        <p:sp>
          <p:nvSpPr>
            <p:cNvPr id="5" name="Freeform 5"/>
            <p:cNvSpPr/>
            <p:nvPr/>
          </p:nvSpPr>
          <p:spPr>
            <a:xfrm>
              <a:off x="0" y="0"/>
              <a:ext cx="2669571" cy="137585"/>
            </a:xfrm>
            <a:custGeom>
              <a:avLst/>
              <a:gdLst/>
              <a:ahLst/>
              <a:cxnLst/>
              <a:rect l="l" t="t" r="r" b="b"/>
              <a:pathLst>
                <a:path w="2669571" h="137585">
                  <a:moveTo>
                    <a:pt x="38954" y="0"/>
                  </a:moveTo>
                  <a:lnTo>
                    <a:pt x="2630618" y="0"/>
                  </a:lnTo>
                  <a:cubicBezTo>
                    <a:pt x="2652131" y="0"/>
                    <a:pt x="2669571" y="17440"/>
                    <a:pt x="2669571" y="38954"/>
                  </a:cubicBezTo>
                  <a:lnTo>
                    <a:pt x="2669571" y="98631"/>
                  </a:lnTo>
                  <a:cubicBezTo>
                    <a:pt x="2669571" y="120144"/>
                    <a:pt x="2652131" y="137585"/>
                    <a:pt x="2630618" y="137585"/>
                  </a:cubicBezTo>
                  <a:lnTo>
                    <a:pt x="38954" y="137585"/>
                  </a:lnTo>
                  <a:cubicBezTo>
                    <a:pt x="28623" y="137585"/>
                    <a:pt x="18715" y="133481"/>
                    <a:pt x="11409" y="126175"/>
                  </a:cubicBezTo>
                  <a:cubicBezTo>
                    <a:pt x="4104" y="118870"/>
                    <a:pt x="0" y="108962"/>
                    <a:pt x="0" y="98631"/>
                  </a:cubicBezTo>
                  <a:lnTo>
                    <a:pt x="0" y="38954"/>
                  </a:lnTo>
                  <a:cubicBezTo>
                    <a:pt x="0" y="28623"/>
                    <a:pt x="4104" y="18715"/>
                    <a:pt x="11409" y="11409"/>
                  </a:cubicBezTo>
                  <a:cubicBezTo>
                    <a:pt x="18715" y="4104"/>
                    <a:pt x="28623" y="0"/>
                    <a:pt x="38954" y="0"/>
                  </a:cubicBezTo>
                  <a:close/>
                </a:path>
              </a:pathLst>
            </a:custGeom>
            <a:solidFill>
              <a:srgbClr val="FFFFFF"/>
            </a:solidFill>
            <a:ln w="28575" cap="rnd">
              <a:solidFill>
                <a:srgbClr val="000000"/>
              </a:solidFill>
              <a:prstDash val="solid"/>
              <a:round/>
            </a:ln>
          </p:spPr>
          <p:txBody>
            <a:bodyPr/>
            <a:lstStyle/>
            <a:p>
              <a:endParaRPr lang="en-US"/>
            </a:p>
          </p:txBody>
        </p:sp>
        <p:sp>
          <p:nvSpPr>
            <p:cNvPr id="6" name="TextBox 6"/>
            <p:cNvSpPr txBox="1"/>
            <p:nvPr/>
          </p:nvSpPr>
          <p:spPr>
            <a:xfrm>
              <a:off x="0" y="-28575"/>
              <a:ext cx="2669571" cy="166160"/>
            </a:xfrm>
            <a:prstGeom prst="rect">
              <a:avLst/>
            </a:prstGeom>
          </p:spPr>
          <p:txBody>
            <a:bodyPr lIns="50800" tIns="50800" rIns="50800" bIns="50800" rtlCol="0" anchor="ctr"/>
            <a:lstStyle/>
            <a:p>
              <a:pPr algn="ctr">
                <a:lnSpc>
                  <a:spcPts val="2520"/>
                </a:lnSpc>
              </a:pPr>
              <a:r>
                <a:rPr lang="en-US" sz="1800">
                  <a:solidFill>
                    <a:srgbClr val="000000"/>
                  </a:solidFill>
                  <a:latin typeface="Open Sans 1"/>
                  <a:ea typeface="Open Sans 1"/>
                  <a:cs typeface="Open Sans 1"/>
                  <a:sym typeface="Open Sans 1"/>
                </a:rPr>
                <a:t>Is </a:t>
              </a:r>
              <a:r>
                <a:rPr lang="en-US" sz="1800" b="1">
                  <a:solidFill>
                    <a:srgbClr val="000000"/>
                  </a:solidFill>
                  <a:latin typeface="Open Sans 1 Bold"/>
                  <a:ea typeface="Open Sans 1 Bold"/>
                  <a:cs typeface="Open Sans 1 Bold"/>
                  <a:sym typeface="Open Sans 1 Bold"/>
                </a:rPr>
                <a:t>Industrious </a:t>
              </a:r>
              <a:r>
                <a:rPr lang="en-US" sz="1800">
                  <a:solidFill>
                    <a:srgbClr val="000000"/>
                  </a:solidFill>
                  <a:latin typeface="Open Sans 1"/>
                  <a:ea typeface="Open Sans 1"/>
                  <a:cs typeface="Open Sans 1"/>
                  <a:sym typeface="Open Sans 1"/>
                </a:rPr>
                <a:t>a viable and scalable business model in the space-as-service industry ?</a:t>
              </a:r>
            </a:p>
          </p:txBody>
        </p:sp>
      </p:grpSp>
      <p:grpSp>
        <p:nvGrpSpPr>
          <p:cNvPr id="7" name="Group 7"/>
          <p:cNvGrpSpPr/>
          <p:nvPr/>
        </p:nvGrpSpPr>
        <p:grpSpPr>
          <a:xfrm>
            <a:off x="420449" y="2589999"/>
            <a:ext cx="7800239" cy="466725"/>
            <a:chOff x="0" y="0"/>
            <a:chExt cx="2054384" cy="122923"/>
          </a:xfrm>
        </p:grpSpPr>
        <p:sp>
          <p:nvSpPr>
            <p:cNvPr id="8" name="Freeform 8"/>
            <p:cNvSpPr/>
            <p:nvPr/>
          </p:nvSpPr>
          <p:spPr>
            <a:xfrm>
              <a:off x="0" y="0"/>
              <a:ext cx="2054384" cy="122923"/>
            </a:xfrm>
            <a:custGeom>
              <a:avLst/>
              <a:gdLst/>
              <a:ahLst/>
              <a:cxnLst/>
              <a:rect l="l" t="t" r="r" b="b"/>
              <a:pathLst>
                <a:path w="2054384" h="122923">
                  <a:moveTo>
                    <a:pt x="50619" y="0"/>
                  </a:moveTo>
                  <a:lnTo>
                    <a:pt x="2003765" y="0"/>
                  </a:lnTo>
                  <a:cubicBezTo>
                    <a:pt x="2017190" y="0"/>
                    <a:pt x="2030065" y="5333"/>
                    <a:pt x="2039558" y="14826"/>
                  </a:cubicBezTo>
                  <a:cubicBezTo>
                    <a:pt x="2049051" y="24319"/>
                    <a:pt x="2054384" y="37194"/>
                    <a:pt x="2054384" y="50619"/>
                  </a:cubicBezTo>
                  <a:lnTo>
                    <a:pt x="2054384" y="72305"/>
                  </a:lnTo>
                  <a:cubicBezTo>
                    <a:pt x="2054384" y="100261"/>
                    <a:pt x="2031721" y="122923"/>
                    <a:pt x="2003765" y="122923"/>
                  </a:cubicBezTo>
                  <a:lnTo>
                    <a:pt x="50619" y="122923"/>
                  </a:lnTo>
                  <a:cubicBezTo>
                    <a:pt x="22663" y="122923"/>
                    <a:pt x="0" y="100261"/>
                    <a:pt x="0" y="72305"/>
                  </a:cubicBezTo>
                  <a:lnTo>
                    <a:pt x="0" y="50619"/>
                  </a:lnTo>
                  <a:cubicBezTo>
                    <a:pt x="0" y="22663"/>
                    <a:pt x="22663" y="0"/>
                    <a:pt x="50619" y="0"/>
                  </a:cubicBezTo>
                  <a:close/>
                </a:path>
              </a:pathLst>
            </a:custGeom>
            <a:solidFill>
              <a:srgbClr val="FDD344"/>
            </a:solidFill>
          </p:spPr>
          <p:txBody>
            <a:bodyPr/>
            <a:lstStyle/>
            <a:p>
              <a:endParaRPr lang="en-US"/>
            </a:p>
          </p:txBody>
        </p:sp>
        <p:sp>
          <p:nvSpPr>
            <p:cNvPr id="9" name="TextBox 9"/>
            <p:cNvSpPr txBox="1"/>
            <p:nvPr/>
          </p:nvSpPr>
          <p:spPr>
            <a:xfrm>
              <a:off x="0" y="-28575"/>
              <a:ext cx="2054384" cy="151498"/>
            </a:xfrm>
            <a:prstGeom prst="rect">
              <a:avLst/>
            </a:prstGeom>
          </p:spPr>
          <p:txBody>
            <a:bodyPr lIns="50800" tIns="50800" rIns="50800" bIns="50800" rtlCol="0" anchor="ctr"/>
            <a:lstStyle/>
            <a:p>
              <a:pPr algn="ctr">
                <a:lnSpc>
                  <a:spcPts val="2239"/>
                </a:lnSpc>
              </a:pPr>
              <a:r>
                <a:rPr lang="en-US" sz="1599">
                  <a:solidFill>
                    <a:srgbClr val="000000"/>
                  </a:solidFill>
                  <a:latin typeface="Open Sans 1"/>
                  <a:ea typeface="Open Sans 1"/>
                  <a:cs typeface="Open Sans 1"/>
                  <a:sym typeface="Open Sans 1"/>
                </a:rPr>
                <a:t>Is </a:t>
              </a:r>
              <a:r>
                <a:rPr lang="en-US" sz="1599" b="1">
                  <a:solidFill>
                    <a:srgbClr val="000000"/>
                  </a:solidFill>
                  <a:latin typeface="Open Sans 1 Bold"/>
                  <a:ea typeface="Open Sans 1 Bold"/>
                  <a:cs typeface="Open Sans 1 Bold"/>
                  <a:sym typeface="Open Sans 1 Bold"/>
                </a:rPr>
                <a:t>Industrious </a:t>
              </a:r>
              <a:r>
                <a:rPr lang="en-US" sz="1599">
                  <a:solidFill>
                    <a:srgbClr val="000000"/>
                  </a:solidFill>
                  <a:latin typeface="Open Sans 1"/>
                  <a:ea typeface="Open Sans 1"/>
                  <a:cs typeface="Open Sans 1"/>
                  <a:sym typeface="Open Sans 1"/>
                </a:rPr>
                <a:t>operating in a favorable and growing external environment?</a:t>
              </a:r>
            </a:p>
          </p:txBody>
        </p:sp>
      </p:grpSp>
      <p:grpSp>
        <p:nvGrpSpPr>
          <p:cNvPr id="10" name="Group 10"/>
          <p:cNvGrpSpPr/>
          <p:nvPr/>
        </p:nvGrpSpPr>
        <p:grpSpPr>
          <a:xfrm>
            <a:off x="8440223" y="2589999"/>
            <a:ext cx="9486304" cy="466725"/>
            <a:chOff x="0" y="0"/>
            <a:chExt cx="2498451" cy="122923"/>
          </a:xfrm>
        </p:grpSpPr>
        <p:sp>
          <p:nvSpPr>
            <p:cNvPr id="11" name="Freeform 11"/>
            <p:cNvSpPr/>
            <p:nvPr/>
          </p:nvSpPr>
          <p:spPr>
            <a:xfrm>
              <a:off x="0" y="0"/>
              <a:ext cx="2498451" cy="122923"/>
            </a:xfrm>
            <a:custGeom>
              <a:avLst/>
              <a:gdLst/>
              <a:ahLst/>
              <a:cxnLst/>
              <a:rect l="l" t="t" r="r" b="b"/>
              <a:pathLst>
                <a:path w="2498451" h="122923">
                  <a:moveTo>
                    <a:pt x="41622" y="0"/>
                  </a:moveTo>
                  <a:lnTo>
                    <a:pt x="2456829" y="0"/>
                  </a:lnTo>
                  <a:cubicBezTo>
                    <a:pt x="2479816" y="0"/>
                    <a:pt x="2498451" y="18635"/>
                    <a:pt x="2498451" y="41622"/>
                  </a:cubicBezTo>
                  <a:lnTo>
                    <a:pt x="2498451" y="81302"/>
                  </a:lnTo>
                  <a:cubicBezTo>
                    <a:pt x="2498451" y="92340"/>
                    <a:pt x="2494065" y="102927"/>
                    <a:pt x="2486260" y="110733"/>
                  </a:cubicBezTo>
                  <a:cubicBezTo>
                    <a:pt x="2478454" y="118538"/>
                    <a:pt x="2467868" y="122923"/>
                    <a:pt x="2456829" y="122923"/>
                  </a:cubicBezTo>
                  <a:lnTo>
                    <a:pt x="41622" y="122923"/>
                  </a:lnTo>
                  <a:cubicBezTo>
                    <a:pt x="30583" y="122923"/>
                    <a:pt x="19996" y="118538"/>
                    <a:pt x="12191" y="110733"/>
                  </a:cubicBezTo>
                  <a:cubicBezTo>
                    <a:pt x="4385" y="102927"/>
                    <a:pt x="0" y="92340"/>
                    <a:pt x="0" y="81302"/>
                  </a:cubicBezTo>
                  <a:lnTo>
                    <a:pt x="0" y="41622"/>
                  </a:lnTo>
                  <a:cubicBezTo>
                    <a:pt x="0" y="30583"/>
                    <a:pt x="4385" y="19996"/>
                    <a:pt x="12191" y="12191"/>
                  </a:cubicBezTo>
                  <a:cubicBezTo>
                    <a:pt x="19996" y="4385"/>
                    <a:pt x="30583" y="0"/>
                    <a:pt x="41622" y="0"/>
                  </a:cubicBezTo>
                  <a:close/>
                </a:path>
              </a:pathLst>
            </a:custGeom>
            <a:solidFill>
              <a:srgbClr val="99C5FF"/>
            </a:solidFill>
          </p:spPr>
          <p:txBody>
            <a:bodyPr/>
            <a:lstStyle/>
            <a:p>
              <a:endParaRPr lang="en-US"/>
            </a:p>
          </p:txBody>
        </p:sp>
        <p:sp>
          <p:nvSpPr>
            <p:cNvPr id="12" name="TextBox 12"/>
            <p:cNvSpPr txBox="1"/>
            <p:nvPr/>
          </p:nvSpPr>
          <p:spPr>
            <a:xfrm>
              <a:off x="0" y="-28575"/>
              <a:ext cx="2498451" cy="151498"/>
            </a:xfrm>
            <a:prstGeom prst="rect">
              <a:avLst/>
            </a:prstGeom>
          </p:spPr>
          <p:txBody>
            <a:bodyPr lIns="50800" tIns="50800" rIns="50800" bIns="50800" rtlCol="0" anchor="ctr"/>
            <a:lstStyle/>
            <a:p>
              <a:pPr algn="ctr">
                <a:lnSpc>
                  <a:spcPts val="2239"/>
                </a:lnSpc>
              </a:pPr>
              <a:r>
                <a:rPr lang="en-US" sz="1599">
                  <a:solidFill>
                    <a:srgbClr val="000000"/>
                  </a:solidFill>
                  <a:latin typeface="Open Sans 1"/>
                  <a:ea typeface="Open Sans 1"/>
                  <a:cs typeface="Open Sans 1"/>
                  <a:sym typeface="Open Sans 1"/>
                </a:rPr>
                <a:t>Does </a:t>
              </a:r>
              <a:r>
                <a:rPr lang="en-US" sz="1599" b="1">
                  <a:solidFill>
                    <a:srgbClr val="000000"/>
                  </a:solidFill>
                  <a:latin typeface="Open Sans 1 Bold"/>
                  <a:ea typeface="Open Sans 1 Bold"/>
                  <a:cs typeface="Open Sans 1 Bold"/>
                  <a:sym typeface="Open Sans 1 Bold"/>
                </a:rPr>
                <a:t>Industrious </a:t>
              </a:r>
              <a:r>
                <a:rPr lang="en-US" sz="1599">
                  <a:solidFill>
                    <a:srgbClr val="000000"/>
                  </a:solidFill>
                  <a:latin typeface="Open Sans 1"/>
                  <a:ea typeface="Open Sans 1"/>
                  <a:cs typeface="Open Sans 1"/>
                  <a:sym typeface="Open Sans 1"/>
                </a:rPr>
                <a:t>have the internal model and performance to deliver viable and scalable growth?</a:t>
              </a:r>
            </a:p>
          </p:txBody>
        </p:sp>
      </p:grpSp>
      <p:grpSp>
        <p:nvGrpSpPr>
          <p:cNvPr id="13" name="Group 13"/>
          <p:cNvGrpSpPr/>
          <p:nvPr/>
        </p:nvGrpSpPr>
        <p:grpSpPr>
          <a:xfrm>
            <a:off x="2973599" y="3740329"/>
            <a:ext cx="2655840" cy="1230253"/>
            <a:chOff x="0" y="0"/>
            <a:chExt cx="835324" cy="386944"/>
          </a:xfrm>
        </p:grpSpPr>
        <p:sp>
          <p:nvSpPr>
            <p:cNvPr id="14" name="Freeform 14"/>
            <p:cNvSpPr/>
            <p:nvPr/>
          </p:nvSpPr>
          <p:spPr>
            <a:xfrm>
              <a:off x="0" y="0"/>
              <a:ext cx="835324" cy="386944"/>
            </a:xfrm>
            <a:custGeom>
              <a:avLst/>
              <a:gdLst/>
              <a:ahLst/>
              <a:cxnLst/>
              <a:rect l="l" t="t" r="r" b="b"/>
              <a:pathLst>
                <a:path w="835324" h="386944">
                  <a:moveTo>
                    <a:pt x="0" y="0"/>
                  </a:moveTo>
                  <a:lnTo>
                    <a:pt x="835324" y="0"/>
                  </a:lnTo>
                  <a:lnTo>
                    <a:pt x="835324" y="386944"/>
                  </a:lnTo>
                  <a:lnTo>
                    <a:pt x="0" y="386944"/>
                  </a:lnTo>
                  <a:close/>
                </a:path>
              </a:pathLst>
            </a:custGeom>
            <a:solidFill>
              <a:srgbClr val="FEDD6B"/>
            </a:solidFill>
          </p:spPr>
          <p:txBody>
            <a:bodyPr/>
            <a:lstStyle/>
            <a:p>
              <a:endParaRPr lang="en-US"/>
            </a:p>
          </p:txBody>
        </p:sp>
        <p:sp>
          <p:nvSpPr>
            <p:cNvPr id="15" name="TextBox 15"/>
            <p:cNvSpPr txBox="1"/>
            <p:nvPr/>
          </p:nvSpPr>
          <p:spPr>
            <a:xfrm>
              <a:off x="0" y="-28575"/>
              <a:ext cx="835324" cy="415519"/>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Does demand for flexible workspace continue to grow in major urban markets?</a:t>
              </a:r>
            </a:p>
          </p:txBody>
        </p:sp>
      </p:grpSp>
      <p:grpSp>
        <p:nvGrpSpPr>
          <p:cNvPr id="16" name="Group 16"/>
          <p:cNvGrpSpPr/>
          <p:nvPr/>
        </p:nvGrpSpPr>
        <p:grpSpPr>
          <a:xfrm>
            <a:off x="489171" y="5397375"/>
            <a:ext cx="2158740" cy="413965"/>
            <a:chOff x="0" y="0"/>
            <a:chExt cx="568557" cy="109028"/>
          </a:xfrm>
        </p:grpSpPr>
        <p:sp>
          <p:nvSpPr>
            <p:cNvPr id="17" name="Freeform 17"/>
            <p:cNvSpPr/>
            <p:nvPr/>
          </p:nvSpPr>
          <p:spPr>
            <a:xfrm>
              <a:off x="0" y="0"/>
              <a:ext cx="568557" cy="109028"/>
            </a:xfrm>
            <a:custGeom>
              <a:avLst/>
              <a:gdLst/>
              <a:ahLst/>
              <a:cxnLst/>
              <a:rect l="l" t="t" r="r" b="b"/>
              <a:pathLst>
                <a:path w="568557" h="109028">
                  <a:moveTo>
                    <a:pt x="0" y="0"/>
                  </a:moveTo>
                  <a:lnTo>
                    <a:pt x="568557" y="0"/>
                  </a:lnTo>
                  <a:lnTo>
                    <a:pt x="568557" y="109028"/>
                  </a:lnTo>
                  <a:lnTo>
                    <a:pt x="0" y="109028"/>
                  </a:lnTo>
                  <a:close/>
                </a:path>
              </a:pathLst>
            </a:custGeom>
          </p:spPr>
          <p:txBody>
            <a:bodyPr/>
            <a:lstStyle/>
            <a:p>
              <a:endParaRPr lang="en-US"/>
            </a:p>
          </p:txBody>
        </p:sp>
        <p:sp>
          <p:nvSpPr>
            <p:cNvPr id="18" name="TextBox 18"/>
            <p:cNvSpPr txBox="1"/>
            <p:nvPr/>
          </p:nvSpPr>
          <p:spPr>
            <a:xfrm>
              <a:off x="0" y="-28575"/>
              <a:ext cx="568557" cy="137603"/>
            </a:xfrm>
            <a:prstGeom prst="rect">
              <a:avLst/>
            </a:prstGeom>
          </p:spPr>
          <p:txBody>
            <a:bodyPr lIns="50800" tIns="50800" rIns="50800" bIns="50800" rtlCol="0" anchor="ctr"/>
            <a:lstStyle/>
            <a:p>
              <a:pPr algn="ctr">
                <a:lnSpc>
                  <a:spcPts val="2239"/>
                </a:lnSpc>
                <a:spcBef>
                  <a:spcPct val="0"/>
                </a:spcBef>
              </a:pPr>
              <a:r>
                <a:rPr lang="en-US" sz="1599" b="1">
                  <a:solidFill>
                    <a:srgbClr val="FDD344"/>
                  </a:solidFill>
                  <a:latin typeface="Open Sans 2 Bold"/>
                  <a:ea typeface="Open Sans 2 Bold"/>
                  <a:cs typeface="Open Sans 2 Bold"/>
                  <a:sym typeface="Open Sans 2 Bold"/>
                </a:rPr>
                <a:t>Competition</a:t>
              </a:r>
            </a:p>
          </p:txBody>
        </p:sp>
      </p:grpSp>
      <p:grpSp>
        <p:nvGrpSpPr>
          <p:cNvPr id="19" name="Group 19"/>
          <p:cNvGrpSpPr/>
          <p:nvPr/>
        </p:nvGrpSpPr>
        <p:grpSpPr>
          <a:xfrm>
            <a:off x="3222149" y="5073422"/>
            <a:ext cx="2158740" cy="413965"/>
            <a:chOff x="0" y="0"/>
            <a:chExt cx="568557" cy="109028"/>
          </a:xfrm>
        </p:grpSpPr>
        <p:sp>
          <p:nvSpPr>
            <p:cNvPr id="20" name="Freeform 20"/>
            <p:cNvSpPr/>
            <p:nvPr/>
          </p:nvSpPr>
          <p:spPr>
            <a:xfrm>
              <a:off x="0" y="0"/>
              <a:ext cx="568557" cy="109028"/>
            </a:xfrm>
            <a:custGeom>
              <a:avLst/>
              <a:gdLst/>
              <a:ahLst/>
              <a:cxnLst/>
              <a:rect l="l" t="t" r="r" b="b"/>
              <a:pathLst>
                <a:path w="568557" h="109028">
                  <a:moveTo>
                    <a:pt x="0" y="0"/>
                  </a:moveTo>
                  <a:lnTo>
                    <a:pt x="568557" y="0"/>
                  </a:lnTo>
                  <a:lnTo>
                    <a:pt x="568557" y="109028"/>
                  </a:lnTo>
                  <a:lnTo>
                    <a:pt x="0" y="109028"/>
                  </a:lnTo>
                  <a:close/>
                </a:path>
              </a:pathLst>
            </a:custGeom>
          </p:spPr>
          <p:txBody>
            <a:bodyPr/>
            <a:lstStyle/>
            <a:p>
              <a:endParaRPr lang="en-US"/>
            </a:p>
          </p:txBody>
        </p:sp>
        <p:sp>
          <p:nvSpPr>
            <p:cNvPr id="21" name="TextBox 21"/>
            <p:cNvSpPr txBox="1"/>
            <p:nvPr/>
          </p:nvSpPr>
          <p:spPr>
            <a:xfrm>
              <a:off x="0" y="-28575"/>
              <a:ext cx="568557" cy="137603"/>
            </a:xfrm>
            <a:prstGeom prst="rect">
              <a:avLst/>
            </a:prstGeom>
          </p:spPr>
          <p:txBody>
            <a:bodyPr lIns="50800" tIns="50800" rIns="50800" bIns="50800" rtlCol="0" anchor="ctr"/>
            <a:lstStyle/>
            <a:p>
              <a:pPr algn="ctr">
                <a:lnSpc>
                  <a:spcPts val="2239"/>
                </a:lnSpc>
                <a:spcBef>
                  <a:spcPct val="0"/>
                </a:spcBef>
              </a:pPr>
              <a:r>
                <a:rPr lang="en-US" sz="1599" b="1">
                  <a:solidFill>
                    <a:srgbClr val="FDD344"/>
                  </a:solidFill>
                  <a:latin typeface="Open Sans 2 Bold"/>
                  <a:ea typeface="Open Sans 2 Bold"/>
                  <a:cs typeface="Open Sans 2 Bold"/>
                  <a:sym typeface="Open Sans 2 Bold"/>
                </a:rPr>
                <a:t>Market Demand</a:t>
              </a:r>
            </a:p>
          </p:txBody>
        </p:sp>
      </p:grpSp>
      <p:grpSp>
        <p:nvGrpSpPr>
          <p:cNvPr id="22" name="Group 22"/>
          <p:cNvGrpSpPr/>
          <p:nvPr/>
        </p:nvGrpSpPr>
        <p:grpSpPr>
          <a:xfrm>
            <a:off x="6068535" y="5165234"/>
            <a:ext cx="2158740" cy="413965"/>
            <a:chOff x="0" y="0"/>
            <a:chExt cx="568557" cy="109028"/>
          </a:xfrm>
        </p:grpSpPr>
        <p:sp>
          <p:nvSpPr>
            <p:cNvPr id="23" name="Freeform 23"/>
            <p:cNvSpPr/>
            <p:nvPr/>
          </p:nvSpPr>
          <p:spPr>
            <a:xfrm>
              <a:off x="0" y="0"/>
              <a:ext cx="568557" cy="109028"/>
            </a:xfrm>
            <a:custGeom>
              <a:avLst/>
              <a:gdLst/>
              <a:ahLst/>
              <a:cxnLst/>
              <a:rect l="l" t="t" r="r" b="b"/>
              <a:pathLst>
                <a:path w="568557" h="109028">
                  <a:moveTo>
                    <a:pt x="0" y="0"/>
                  </a:moveTo>
                  <a:lnTo>
                    <a:pt x="568557" y="0"/>
                  </a:lnTo>
                  <a:lnTo>
                    <a:pt x="568557" y="109028"/>
                  </a:lnTo>
                  <a:lnTo>
                    <a:pt x="0" y="109028"/>
                  </a:lnTo>
                  <a:close/>
                </a:path>
              </a:pathLst>
            </a:custGeom>
          </p:spPr>
          <p:txBody>
            <a:bodyPr/>
            <a:lstStyle/>
            <a:p>
              <a:endParaRPr lang="en-US"/>
            </a:p>
          </p:txBody>
        </p:sp>
        <p:sp>
          <p:nvSpPr>
            <p:cNvPr id="24" name="TextBox 24"/>
            <p:cNvSpPr txBox="1"/>
            <p:nvPr/>
          </p:nvSpPr>
          <p:spPr>
            <a:xfrm>
              <a:off x="0" y="-28575"/>
              <a:ext cx="568557" cy="137603"/>
            </a:xfrm>
            <a:prstGeom prst="rect">
              <a:avLst/>
            </a:prstGeom>
          </p:spPr>
          <p:txBody>
            <a:bodyPr lIns="50800" tIns="50800" rIns="50800" bIns="50800" rtlCol="0" anchor="ctr"/>
            <a:lstStyle/>
            <a:p>
              <a:pPr algn="ctr">
                <a:lnSpc>
                  <a:spcPts val="2239"/>
                </a:lnSpc>
                <a:spcBef>
                  <a:spcPct val="0"/>
                </a:spcBef>
              </a:pPr>
              <a:r>
                <a:rPr lang="en-US" sz="1599" b="1">
                  <a:solidFill>
                    <a:srgbClr val="FDD344"/>
                  </a:solidFill>
                  <a:latin typeface="Open Sans 2 Bold"/>
                  <a:ea typeface="Open Sans 2 Bold"/>
                  <a:cs typeface="Open Sans 2 Bold"/>
                  <a:sym typeface="Open Sans 2 Bold"/>
                </a:rPr>
                <a:t>Scalability potential</a:t>
              </a:r>
            </a:p>
          </p:txBody>
        </p:sp>
      </p:grpSp>
      <p:grpSp>
        <p:nvGrpSpPr>
          <p:cNvPr id="25" name="Group 25"/>
          <p:cNvGrpSpPr/>
          <p:nvPr/>
        </p:nvGrpSpPr>
        <p:grpSpPr>
          <a:xfrm>
            <a:off x="284216" y="7618953"/>
            <a:ext cx="2568650" cy="2335153"/>
            <a:chOff x="0" y="0"/>
            <a:chExt cx="807901" cy="734461"/>
          </a:xfrm>
        </p:grpSpPr>
        <p:sp>
          <p:nvSpPr>
            <p:cNvPr id="26" name="Freeform 26"/>
            <p:cNvSpPr/>
            <p:nvPr/>
          </p:nvSpPr>
          <p:spPr>
            <a:xfrm>
              <a:off x="0" y="0"/>
              <a:ext cx="807901" cy="734461"/>
            </a:xfrm>
            <a:custGeom>
              <a:avLst/>
              <a:gdLst/>
              <a:ahLst/>
              <a:cxnLst/>
              <a:rect l="l" t="t" r="r" b="b"/>
              <a:pathLst>
                <a:path w="807901" h="734461">
                  <a:moveTo>
                    <a:pt x="0" y="0"/>
                  </a:moveTo>
                  <a:lnTo>
                    <a:pt x="807901" y="0"/>
                  </a:lnTo>
                  <a:lnTo>
                    <a:pt x="807901" y="734461"/>
                  </a:lnTo>
                  <a:lnTo>
                    <a:pt x="0" y="734461"/>
                  </a:lnTo>
                  <a:close/>
                </a:path>
              </a:pathLst>
            </a:custGeom>
            <a:solidFill>
              <a:srgbClr val="FFFFFF"/>
            </a:solidFill>
            <a:ln w="38100" cap="sq">
              <a:solidFill>
                <a:srgbClr val="FFF3C2"/>
              </a:solidFill>
              <a:prstDash val="solid"/>
              <a:miter/>
            </a:ln>
          </p:spPr>
          <p:txBody>
            <a:bodyPr/>
            <a:lstStyle/>
            <a:p>
              <a:endParaRPr lang="en-US"/>
            </a:p>
          </p:txBody>
        </p:sp>
        <p:sp>
          <p:nvSpPr>
            <p:cNvPr id="27" name="TextBox 27"/>
            <p:cNvSpPr txBox="1"/>
            <p:nvPr/>
          </p:nvSpPr>
          <p:spPr>
            <a:xfrm>
              <a:off x="0" y="-28575"/>
              <a:ext cx="807901" cy="763036"/>
            </a:xfrm>
            <a:prstGeom prst="rect">
              <a:avLst/>
            </a:prstGeom>
          </p:spPr>
          <p:txBody>
            <a:bodyPr lIns="0" tIns="0" rIns="0" bIns="0" rtlCol="0" anchor="ctr"/>
            <a:lstStyle/>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Average coworking desk rates higher than traditional ones (160 $/sqm vs. 60 $/sqm)</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Higher revenue but NOI margin can be lower (high costs) ⟶ fragile profitability</a:t>
              </a:r>
            </a:p>
          </p:txBody>
        </p:sp>
      </p:grpSp>
      <p:grpSp>
        <p:nvGrpSpPr>
          <p:cNvPr id="28" name="Group 28"/>
          <p:cNvGrpSpPr/>
          <p:nvPr/>
        </p:nvGrpSpPr>
        <p:grpSpPr>
          <a:xfrm>
            <a:off x="3011224" y="7475770"/>
            <a:ext cx="2580591" cy="2478337"/>
            <a:chOff x="0" y="0"/>
            <a:chExt cx="811657" cy="779495"/>
          </a:xfrm>
        </p:grpSpPr>
        <p:sp>
          <p:nvSpPr>
            <p:cNvPr id="29" name="Freeform 29"/>
            <p:cNvSpPr/>
            <p:nvPr/>
          </p:nvSpPr>
          <p:spPr>
            <a:xfrm>
              <a:off x="0" y="0"/>
              <a:ext cx="811657" cy="779495"/>
            </a:xfrm>
            <a:custGeom>
              <a:avLst/>
              <a:gdLst/>
              <a:ahLst/>
              <a:cxnLst/>
              <a:rect l="l" t="t" r="r" b="b"/>
              <a:pathLst>
                <a:path w="811657" h="779495">
                  <a:moveTo>
                    <a:pt x="0" y="0"/>
                  </a:moveTo>
                  <a:lnTo>
                    <a:pt x="811657" y="0"/>
                  </a:lnTo>
                  <a:lnTo>
                    <a:pt x="811657" y="779495"/>
                  </a:lnTo>
                  <a:lnTo>
                    <a:pt x="0" y="779495"/>
                  </a:lnTo>
                  <a:close/>
                </a:path>
              </a:pathLst>
            </a:custGeom>
            <a:solidFill>
              <a:srgbClr val="FFFFFF"/>
            </a:solidFill>
            <a:ln w="38100" cap="sq">
              <a:solidFill>
                <a:srgbClr val="FFF3C2"/>
              </a:solidFill>
              <a:prstDash val="solid"/>
              <a:miter/>
            </a:ln>
          </p:spPr>
          <p:txBody>
            <a:bodyPr/>
            <a:lstStyle/>
            <a:p>
              <a:endParaRPr lang="en-US"/>
            </a:p>
          </p:txBody>
        </p:sp>
        <p:sp>
          <p:nvSpPr>
            <p:cNvPr id="30" name="TextBox 30"/>
            <p:cNvSpPr txBox="1"/>
            <p:nvPr/>
          </p:nvSpPr>
          <p:spPr>
            <a:xfrm>
              <a:off x="0" y="-28575"/>
              <a:ext cx="811657" cy="808070"/>
            </a:xfrm>
            <a:prstGeom prst="rect">
              <a:avLst/>
            </a:prstGeom>
          </p:spPr>
          <p:txBody>
            <a:bodyPr lIns="0" tIns="0" rIns="0" bIns="0" rtlCol="0" anchor="ctr"/>
            <a:lstStyle/>
            <a:p>
              <a:pPr marL="345439" lvl="1" indent="-172720" algn="l">
                <a:lnSpc>
                  <a:spcPts val="2239"/>
                </a:lnSpc>
                <a:buFont typeface="Arial"/>
                <a:buChar char="•"/>
              </a:pPr>
              <a:r>
                <a:rPr lang="en-US" sz="1599" b="1">
                  <a:solidFill>
                    <a:srgbClr val="000000"/>
                  </a:solidFill>
                  <a:latin typeface="Open Sans 1 Bold"/>
                  <a:ea typeface="Open Sans 1 Bold"/>
                  <a:cs typeface="Open Sans 1 Bold"/>
                  <a:sym typeface="Open Sans 1 Bold"/>
                </a:rPr>
                <a:t>55%</a:t>
              </a:r>
              <a:r>
                <a:rPr lang="en-US" sz="1599">
                  <a:solidFill>
                    <a:srgbClr val="000000"/>
                  </a:solidFill>
                  <a:latin typeface="Open Sans 1"/>
                  <a:ea typeface="Open Sans 1"/>
                  <a:cs typeface="Open Sans 1"/>
                  <a:sym typeface="Open Sans 1"/>
                </a:rPr>
                <a:t> of large occupiers use flexible offices, </a:t>
              </a:r>
              <a:r>
                <a:rPr lang="en-US" sz="1599" b="1">
                  <a:solidFill>
                    <a:srgbClr val="000000"/>
                  </a:solidFill>
                  <a:latin typeface="Open Sans 1 Bold"/>
                  <a:ea typeface="Open Sans 1 Bold"/>
                  <a:cs typeface="Open Sans 1 Bold"/>
                  <a:sym typeface="Open Sans 1 Bold"/>
                </a:rPr>
                <a:t>17%</a:t>
              </a:r>
              <a:r>
                <a:rPr lang="en-US" sz="1599">
                  <a:solidFill>
                    <a:srgbClr val="000000"/>
                  </a:solidFill>
                  <a:latin typeface="Open Sans 1"/>
                  <a:ea typeface="Open Sans 1"/>
                  <a:cs typeface="Open Sans 1"/>
                  <a:sym typeface="Open Sans 1"/>
                </a:rPr>
                <a:t> plan to increase usage.</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Forecast of flexible offices : </a:t>
              </a:r>
              <a:r>
                <a:rPr lang="en-US" sz="1599" b="1">
                  <a:solidFill>
                    <a:srgbClr val="000000"/>
                  </a:solidFill>
                  <a:latin typeface="Open Sans 1 Bold"/>
                  <a:ea typeface="Open Sans 1 Bold"/>
                  <a:cs typeface="Open Sans 1 Bold"/>
                  <a:sym typeface="Open Sans 1 Bold"/>
                </a:rPr>
                <a:t>$45 billion</a:t>
              </a:r>
              <a:r>
                <a:rPr lang="en-US" sz="1599">
                  <a:solidFill>
                    <a:srgbClr val="000000"/>
                  </a:solidFill>
                  <a:latin typeface="Open Sans 1"/>
                  <a:ea typeface="Open Sans 1"/>
                  <a:cs typeface="Open Sans 1"/>
                  <a:sym typeface="Open Sans 1"/>
                </a:rPr>
                <a:t> in 2025 to </a:t>
              </a:r>
              <a:r>
                <a:rPr lang="en-US" sz="1599" b="1">
                  <a:solidFill>
                    <a:srgbClr val="000000"/>
                  </a:solidFill>
                  <a:latin typeface="Open Sans 1 Bold"/>
                  <a:ea typeface="Open Sans 1 Bold"/>
                  <a:cs typeface="Open Sans 1 Bold"/>
                  <a:sym typeface="Open Sans 1 Bold"/>
                </a:rPr>
                <a:t>$136 billion</a:t>
              </a:r>
              <a:r>
                <a:rPr lang="en-US" sz="1599">
                  <a:solidFill>
                    <a:srgbClr val="000000"/>
                  </a:solidFill>
                  <a:latin typeface="Open Sans 1"/>
                  <a:ea typeface="Open Sans 1"/>
                  <a:cs typeface="Open Sans 1"/>
                  <a:sym typeface="Open Sans 1"/>
                </a:rPr>
                <a:t> by 2032</a:t>
              </a:r>
            </a:p>
          </p:txBody>
        </p:sp>
      </p:grpSp>
      <p:grpSp>
        <p:nvGrpSpPr>
          <p:cNvPr id="31" name="Group 31"/>
          <p:cNvGrpSpPr/>
          <p:nvPr/>
        </p:nvGrpSpPr>
        <p:grpSpPr>
          <a:xfrm>
            <a:off x="5855586" y="7475770"/>
            <a:ext cx="2584637" cy="2478337"/>
            <a:chOff x="0" y="0"/>
            <a:chExt cx="812929" cy="779495"/>
          </a:xfrm>
        </p:grpSpPr>
        <p:sp>
          <p:nvSpPr>
            <p:cNvPr id="32" name="Freeform 32"/>
            <p:cNvSpPr/>
            <p:nvPr/>
          </p:nvSpPr>
          <p:spPr>
            <a:xfrm>
              <a:off x="0" y="0"/>
              <a:ext cx="812929" cy="779495"/>
            </a:xfrm>
            <a:custGeom>
              <a:avLst/>
              <a:gdLst/>
              <a:ahLst/>
              <a:cxnLst/>
              <a:rect l="l" t="t" r="r" b="b"/>
              <a:pathLst>
                <a:path w="812929" h="779495">
                  <a:moveTo>
                    <a:pt x="0" y="0"/>
                  </a:moveTo>
                  <a:lnTo>
                    <a:pt x="812929" y="0"/>
                  </a:lnTo>
                  <a:lnTo>
                    <a:pt x="812929" y="779495"/>
                  </a:lnTo>
                  <a:lnTo>
                    <a:pt x="0" y="779495"/>
                  </a:lnTo>
                  <a:close/>
                </a:path>
              </a:pathLst>
            </a:custGeom>
            <a:solidFill>
              <a:srgbClr val="FFFFFF"/>
            </a:solidFill>
            <a:ln w="38100" cap="sq">
              <a:solidFill>
                <a:srgbClr val="FFF3C2"/>
              </a:solidFill>
              <a:prstDash val="solid"/>
              <a:miter/>
            </a:ln>
          </p:spPr>
          <p:txBody>
            <a:bodyPr/>
            <a:lstStyle/>
            <a:p>
              <a:endParaRPr lang="en-US"/>
            </a:p>
          </p:txBody>
        </p:sp>
        <p:sp>
          <p:nvSpPr>
            <p:cNvPr id="33" name="TextBox 33"/>
            <p:cNvSpPr txBox="1"/>
            <p:nvPr/>
          </p:nvSpPr>
          <p:spPr>
            <a:xfrm>
              <a:off x="0" y="-28575"/>
              <a:ext cx="812929" cy="808070"/>
            </a:xfrm>
            <a:prstGeom prst="rect">
              <a:avLst/>
            </a:prstGeom>
          </p:spPr>
          <p:txBody>
            <a:bodyPr lIns="0" tIns="0" rIns="0" bIns="0" rtlCol="0" anchor="ctr"/>
            <a:lstStyle/>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Partnering with landlords lowers fixed costs and expansion risks → Efficient replication of the coworking.</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Adaptation to local market conditions.</a:t>
              </a:r>
            </a:p>
          </p:txBody>
        </p:sp>
      </p:grpSp>
      <p:sp>
        <p:nvSpPr>
          <p:cNvPr id="34" name="AutoShape 34"/>
          <p:cNvSpPr/>
          <p:nvPr/>
        </p:nvSpPr>
        <p:spPr>
          <a:xfrm>
            <a:off x="4320569" y="2195615"/>
            <a:ext cx="0" cy="394384"/>
          </a:xfrm>
          <a:prstGeom prst="line">
            <a:avLst/>
          </a:prstGeom>
          <a:ln w="28575" cap="flat">
            <a:solidFill>
              <a:srgbClr val="000000"/>
            </a:solidFill>
            <a:prstDash val="solid"/>
            <a:headEnd type="none" w="sm" len="sm"/>
            <a:tailEnd type="arrow" w="med" len="sm"/>
          </a:ln>
        </p:spPr>
        <p:txBody>
          <a:bodyPr/>
          <a:lstStyle/>
          <a:p>
            <a:endParaRPr lang="en-US"/>
          </a:p>
        </p:txBody>
      </p:sp>
      <p:sp>
        <p:nvSpPr>
          <p:cNvPr id="35" name="AutoShape 35"/>
          <p:cNvSpPr/>
          <p:nvPr/>
        </p:nvSpPr>
        <p:spPr>
          <a:xfrm>
            <a:off x="13234169" y="2195615"/>
            <a:ext cx="0" cy="394384"/>
          </a:xfrm>
          <a:prstGeom prst="line">
            <a:avLst/>
          </a:prstGeom>
          <a:ln w="28575" cap="flat">
            <a:solidFill>
              <a:srgbClr val="000000"/>
            </a:solidFill>
            <a:prstDash val="solid"/>
            <a:headEnd type="none" w="sm" len="sm"/>
            <a:tailEnd type="arrow" w="med" len="sm"/>
          </a:ln>
        </p:spPr>
        <p:txBody>
          <a:bodyPr/>
          <a:lstStyle/>
          <a:p>
            <a:endParaRPr lang="en-US"/>
          </a:p>
        </p:txBody>
      </p:sp>
      <p:sp>
        <p:nvSpPr>
          <p:cNvPr id="36" name="AutoShape 36"/>
          <p:cNvSpPr/>
          <p:nvPr/>
        </p:nvSpPr>
        <p:spPr>
          <a:xfrm>
            <a:off x="4301519" y="2195615"/>
            <a:ext cx="8932651" cy="0"/>
          </a:xfrm>
          <a:prstGeom prst="line">
            <a:avLst/>
          </a:prstGeom>
          <a:ln w="28575" cap="flat">
            <a:solidFill>
              <a:srgbClr val="000000"/>
            </a:solidFill>
            <a:prstDash val="solid"/>
            <a:headEnd type="none" w="sm" len="sm"/>
            <a:tailEnd type="none" w="sm" len="sm"/>
          </a:ln>
        </p:spPr>
        <p:txBody>
          <a:bodyPr/>
          <a:lstStyle/>
          <a:p>
            <a:endParaRPr lang="en-US"/>
          </a:p>
        </p:txBody>
      </p:sp>
      <p:sp>
        <p:nvSpPr>
          <p:cNvPr id="37" name="AutoShape 37"/>
          <p:cNvSpPr/>
          <p:nvPr/>
        </p:nvSpPr>
        <p:spPr>
          <a:xfrm>
            <a:off x="8861192" y="1954244"/>
            <a:ext cx="0" cy="260421"/>
          </a:xfrm>
          <a:prstGeom prst="line">
            <a:avLst/>
          </a:prstGeom>
          <a:ln w="28575" cap="flat">
            <a:solidFill>
              <a:srgbClr val="000000"/>
            </a:solidFill>
            <a:prstDash val="solid"/>
            <a:headEnd type="none" w="sm" len="sm"/>
            <a:tailEnd type="none" w="sm" len="sm"/>
          </a:ln>
        </p:spPr>
        <p:txBody>
          <a:bodyPr/>
          <a:lstStyle/>
          <a:p>
            <a:endParaRPr lang="en-US"/>
          </a:p>
        </p:txBody>
      </p:sp>
      <p:sp>
        <p:nvSpPr>
          <p:cNvPr id="38" name="AutoShape 38"/>
          <p:cNvSpPr/>
          <p:nvPr/>
        </p:nvSpPr>
        <p:spPr>
          <a:xfrm>
            <a:off x="1579244" y="3317144"/>
            <a:ext cx="5568661" cy="0"/>
          </a:xfrm>
          <a:prstGeom prst="line">
            <a:avLst/>
          </a:prstGeom>
          <a:ln w="28575" cap="flat">
            <a:solidFill>
              <a:srgbClr val="000000"/>
            </a:solidFill>
            <a:prstDash val="solid"/>
            <a:headEnd type="none" w="sm" len="sm"/>
            <a:tailEnd type="none" w="sm" len="sm"/>
          </a:ln>
        </p:spPr>
        <p:txBody>
          <a:bodyPr/>
          <a:lstStyle/>
          <a:p>
            <a:endParaRPr lang="en-US"/>
          </a:p>
        </p:txBody>
      </p:sp>
      <p:sp>
        <p:nvSpPr>
          <p:cNvPr id="39" name="AutoShape 39"/>
          <p:cNvSpPr/>
          <p:nvPr/>
        </p:nvSpPr>
        <p:spPr>
          <a:xfrm>
            <a:off x="4301519" y="3056724"/>
            <a:ext cx="0" cy="260421"/>
          </a:xfrm>
          <a:prstGeom prst="line">
            <a:avLst/>
          </a:prstGeom>
          <a:ln w="28575" cap="flat">
            <a:solidFill>
              <a:srgbClr val="000000"/>
            </a:solidFill>
            <a:prstDash val="solid"/>
            <a:headEnd type="none" w="sm" len="sm"/>
            <a:tailEnd type="none" w="sm" len="sm"/>
          </a:ln>
        </p:spPr>
        <p:txBody>
          <a:bodyPr/>
          <a:lstStyle/>
          <a:p>
            <a:endParaRPr lang="en-US"/>
          </a:p>
        </p:txBody>
      </p:sp>
      <p:sp>
        <p:nvSpPr>
          <p:cNvPr id="40" name="AutoShape 40"/>
          <p:cNvSpPr/>
          <p:nvPr/>
        </p:nvSpPr>
        <p:spPr>
          <a:xfrm>
            <a:off x="7147905" y="3296859"/>
            <a:ext cx="0" cy="443075"/>
          </a:xfrm>
          <a:prstGeom prst="line">
            <a:avLst/>
          </a:prstGeom>
          <a:ln w="28575" cap="flat">
            <a:solidFill>
              <a:srgbClr val="000000"/>
            </a:solidFill>
            <a:prstDash val="solid"/>
            <a:headEnd type="none" w="sm" len="sm"/>
            <a:tailEnd type="arrow" w="med" len="sm"/>
          </a:ln>
        </p:spPr>
        <p:txBody>
          <a:bodyPr/>
          <a:lstStyle/>
          <a:p>
            <a:endParaRPr lang="en-US"/>
          </a:p>
        </p:txBody>
      </p:sp>
      <p:sp>
        <p:nvSpPr>
          <p:cNvPr id="41" name="AutoShape 41"/>
          <p:cNvSpPr/>
          <p:nvPr/>
        </p:nvSpPr>
        <p:spPr>
          <a:xfrm>
            <a:off x="4301519" y="3317144"/>
            <a:ext cx="0" cy="423185"/>
          </a:xfrm>
          <a:prstGeom prst="line">
            <a:avLst/>
          </a:prstGeom>
          <a:ln w="28575" cap="flat">
            <a:solidFill>
              <a:srgbClr val="000000"/>
            </a:solidFill>
            <a:prstDash val="solid"/>
            <a:headEnd type="none" w="sm" len="sm"/>
            <a:tailEnd type="arrow" w="med" len="sm"/>
          </a:ln>
        </p:spPr>
        <p:txBody>
          <a:bodyPr/>
          <a:lstStyle/>
          <a:p>
            <a:endParaRPr lang="en-US"/>
          </a:p>
        </p:txBody>
      </p:sp>
      <p:grpSp>
        <p:nvGrpSpPr>
          <p:cNvPr id="42" name="Group 42"/>
          <p:cNvGrpSpPr/>
          <p:nvPr/>
        </p:nvGrpSpPr>
        <p:grpSpPr>
          <a:xfrm>
            <a:off x="352927" y="3740329"/>
            <a:ext cx="2431228" cy="1506478"/>
            <a:chOff x="0" y="0"/>
            <a:chExt cx="764679" cy="473823"/>
          </a:xfrm>
        </p:grpSpPr>
        <p:sp>
          <p:nvSpPr>
            <p:cNvPr id="43" name="Freeform 43"/>
            <p:cNvSpPr/>
            <p:nvPr/>
          </p:nvSpPr>
          <p:spPr>
            <a:xfrm>
              <a:off x="0" y="0"/>
              <a:ext cx="764679" cy="473823"/>
            </a:xfrm>
            <a:custGeom>
              <a:avLst/>
              <a:gdLst/>
              <a:ahLst/>
              <a:cxnLst/>
              <a:rect l="l" t="t" r="r" b="b"/>
              <a:pathLst>
                <a:path w="764679" h="473823">
                  <a:moveTo>
                    <a:pt x="0" y="0"/>
                  </a:moveTo>
                  <a:lnTo>
                    <a:pt x="764679" y="0"/>
                  </a:lnTo>
                  <a:lnTo>
                    <a:pt x="764679" y="473823"/>
                  </a:lnTo>
                  <a:lnTo>
                    <a:pt x="0" y="473823"/>
                  </a:lnTo>
                  <a:close/>
                </a:path>
              </a:pathLst>
            </a:custGeom>
            <a:solidFill>
              <a:srgbClr val="FEDD6B"/>
            </a:solidFill>
          </p:spPr>
          <p:txBody>
            <a:bodyPr/>
            <a:lstStyle/>
            <a:p>
              <a:endParaRPr lang="en-US"/>
            </a:p>
          </p:txBody>
        </p:sp>
        <p:sp>
          <p:nvSpPr>
            <p:cNvPr id="44" name="TextBox 44"/>
            <p:cNvSpPr txBox="1"/>
            <p:nvPr/>
          </p:nvSpPr>
          <p:spPr>
            <a:xfrm>
              <a:off x="0" y="-28575"/>
              <a:ext cx="764679" cy="502398"/>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Does the coworking model generate higher profitability compared to traditional office leases ?</a:t>
              </a:r>
            </a:p>
          </p:txBody>
        </p:sp>
      </p:grpSp>
      <p:grpSp>
        <p:nvGrpSpPr>
          <p:cNvPr id="45" name="Group 45"/>
          <p:cNvGrpSpPr/>
          <p:nvPr/>
        </p:nvGrpSpPr>
        <p:grpSpPr>
          <a:xfrm>
            <a:off x="5855586" y="3739934"/>
            <a:ext cx="2584637" cy="1230253"/>
            <a:chOff x="0" y="0"/>
            <a:chExt cx="812929" cy="386944"/>
          </a:xfrm>
        </p:grpSpPr>
        <p:sp>
          <p:nvSpPr>
            <p:cNvPr id="46" name="Freeform 46"/>
            <p:cNvSpPr/>
            <p:nvPr/>
          </p:nvSpPr>
          <p:spPr>
            <a:xfrm>
              <a:off x="0" y="0"/>
              <a:ext cx="812929" cy="386944"/>
            </a:xfrm>
            <a:custGeom>
              <a:avLst/>
              <a:gdLst/>
              <a:ahLst/>
              <a:cxnLst/>
              <a:rect l="l" t="t" r="r" b="b"/>
              <a:pathLst>
                <a:path w="812929" h="386944">
                  <a:moveTo>
                    <a:pt x="0" y="0"/>
                  </a:moveTo>
                  <a:lnTo>
                    <a:pt x="812929" y="0"/>
                  </a:lnTo>
                  <a:lnTo>
                    <a:pt x="812929" y="386944"/>
                  </a:lnTo>
                  <a:lnTo>
                    <a:pt x="0" y="386944"/>
                  </a:lnTo>
                  <a:close/>
                </a:path>
              </a:pathLst>
            </a:custGeom>
            <a:solidFill>
              <a:srgbClr val="FEDD6B"/>
            </a:solidFill>
          </p:spPr>
          <p:txBody>
            <a:bodyPr/>
            <a:lstStyle/>
            <a:p>
              <a:endParaRPr lang="en-US"/>
            </a:p>
          </p:txBody>
        </p:sp>
        <p:sp>
          <p:nvSpPr>
            <p:cNvPr id="47" name="TextBox 47"/>
            <p:cNvSpPr txBox="1"/>
            <p:nvPr/>
          </p:nvSpPr>
          <p:spPr>
            <a:xfrm>
              <a:off x="0" y="-28575"/>
              <a:ext cx="812929" cy="415519"/>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Can operators replicate the model efficiently across multiple cities and regions ?</a:t>
              </a:r>
            </a:p>
          </p:txBody>
        </p:sp>
      </p:grpSp>
      <p:sp>
        <p:nvSpPr>
          <p:cNvPr id="48" name="AutoShape 48"/>
          <p:cNvSpPr/>
          <p:nvPr/>
        </p:nvSpPr>
        <p:spPr>
          <a:xfrm>
            <a:off x="1579244" y="3296859"/>
            <a:ext cx="0" cy="486155"/>
          </a:xfrm>
          <a:prstGeom prst="line">
            <a:avLst/>
          </a:prstGeom>
          <a:ln w="28575" cap="flat">
            <a:solidFill>
              <a:srgbClr val="000000"/>
            </a:solidFill>
            <a:prstDash val="solid"/>
            <a:headEnd type="none" w="sm" len="sm"/>
            <a:tailEnd type="arrow" w="med" len="sm"/>
          </a:ln>
        </p:spPr>
        <p:txBody>
          <a:bodyPr/>
          <a:lstStyle/>
          <a:p>
            <a:endParaRPr lang="en-US"/>
          </a:p>
        </p:txBody>
      </p:sp>
      <p:sp>
        <p:nvSpPr>
          <p:cNvPr id="49" name="AutoShape 49"/>
          <p:cNvSpPr/>
          <p:nvPr/>
        </p:nvSpPr>
        <p:spPr>
          <a:xfrm>
            <a:off x="10402031" y="3317144"/>
            <a:ext cx="5632160" cy="0"/>
          </a:xfrm>
          <a:prstGeom prst="line">
            <a:avLst/>
          </a:prstGeom>
          <a:ln w="28575" cap="flat">
            <a:solidFill>
              <a:srgbClr val="000000"/>
            </a:solidFill>
            <a:prstDash val="solid"/>
            <a:headEnd type="none" w="sm" len="sm"/>
            <a:tailEnd type="none" w="sm" len="sm"/>
          </a:ln>
        </p:spPr>
        <p:txBody>
          <a:bodyPr/>
          <a:lstStyle/>
          <a:p>
            <a:endParaRPr lang="en-US"/>
          </a:p>
        </p:txBody>
      </p:sp>
      <p:sp>
        <p:nvSpPr>
          <p:cNvPr id="50" name="AutoShape 50"/>
          <p:cNvSpPr/>
          <p:nvPr/>
        </p:nvSpPr>
        <p:spPr>
          <a:xfrm flipH="1">
            <a:off x="13199376" y="3056724"/>
            <a:ext cx="0" cy="260421"/>
          </a:xfrm>
          <a:prstGeom prst="line">
            <a:avLst/>
          </a:prstGeom>
          <a:ln w="28575" cap="flat">
            <a:solidFill>
              <a:srgbClr val="000000"/>
            </a:solidFill>
            <a:prstDash val="solid"/>
            <a:headEnd type="none" w="sm" len="sm"/>
            <a:tailEnd type="none" w="sm" len="sm"/>
          </a:ln>
        </p:spPr>
        <p:txBody>
          <a:bodyPr/>
          <a:lstStyle/>
          <a:p>
            <a:endParaRPr lang="en-US"/>
          </a:p>
        </p:txBody>
      </p:sp>
      <p:sp>
        <p:nvSpPr>
          <p:cNvPr id="51" name="AutoShape 51"/>
          <p:cNvSpPr/>
          <p:nvPr/>
        </p:nvSpPr>
        <p:spPr>
          <a:xfrm>
            <a:off x="13199376" y="3317144"/>
            <a:ext cx="0" cy="404214"/>
          </a:xfrm>
          <a:prstGeom prst="line">
            <a:avLst/>
          </a:prstGeom>
          <a:ln w="28575" cap="flat">
            <a:solidFill>
              <a:srgbClr val="000000"/>
            </a:solidFill>
            <a:prstDash val="solid"/>
            <a:headEnd type="none" w="sm" len="sm"/>
            <a:tailEnd type="arrow" w="med" len="sm"/>
          </a:ln>
        </p:spPr>
        <p:txBody>
          <a:bodyPr/>
          <a:lstStyle/>
          <a:p>
            <a:endParaRPr lang="en-US"/>
          </a:p>
        </p:txBody>
      </p:sp>
      <p:sp>
        <p:nvSpPr>
          <p:cNvPr id="52" name="AutoShape 52"/>
          <p:cNvSpPr/>
          <p:nvPr/>
        </p:nvSpPr>
        <p:spPr>
          <a:xfrm>
            <a:off x="10402031" y="3317144"/>
            <a:ext cx="14288" cy="404214"/>
          </a:xfrm>
          <a:prstGeom prst="line">
            <a:avLst/>
          </a:prstGeom>
          <a:ln w="28575" cap="flat">
            <a:solidFill>
              <a:srgbClr val="000000"/>
            </a:solidFill>
            <a:prstDash val="solid"/>
            <a:headEnd type="none" w="sm" len="sm"/>
            <a:tailEnd type="arrow" w="med" len="sm"/>
          </a:ln>
        </p:spPr>
        <p:txBody>
          <a:bodyPr/>
          <a:lstStyle/>
          <a:p>
            <a:endParaRPr lang="en-US"/>
          </a:p>
        </p:txBody>
      </p:sp>
      <p:grpSp>
        <p:nvGrpSpPr>
          <p:cNvPr id="53" name="Group 53"/>
          <p:cNvGrpSpPr/>
          <p:nvPr/>
        </p:nvGrpSpPr>
        <p:grpSpPr>
          <a:xfrm>
            <a:off x="312791" y="5961908"/>
            <a:ext cx="2511500" cy="1506478"/>
            <a:chOff x="0" y="0"/>
            <a:chExt cx="789926" cy="473823"/>
          </a:xfrm>
        </p:grpSpPr>
        <p:sp>
          <p:nvSpPr>
            <p:cNvPr id="54" name="Freeform 54"/>
            <p:cNvSpPr/>
            <p:nvPr/>
          </p:nvSpPr>
          <p:spPr>
            <a:xfrm>
              <a:off x="0" y="0"/>
              <a:ext cx="789926" cy="473823"/>
            </a:xfrm>
            <a:custGeom>
              <a:avLst/>
              <a:gdLst/>
              <a:ahLst/>
              <a:cxnLst/>
              <a:rect l="l" t="t" r="r" b="b"/>
              <a:pathLst>
                <a:path w="789926" h="473823">
                  <a:moveTo>
                    <a:pt x="0" y="0"/>
                  </a:moveTo>
                  <a:lnTo>
                    <a:pt x="789926" y="0"/>
                  </a:lnTo>
                  <a:lnTo>
                    <a:pt x="789926" y="473823"/>
                  </a:lnTo>
                  <a:lnTo>
                    <a:pt x="0" y="473823"/>
                  </a:lnTo>
                  <a:close/>
                </a:path>
              </a:pathLst>
            </a:custGeom>
            <a:solidFill>
              <a:srgbClr val="FFF3C2"/>
            </a:solidFill>
            <a:ln cap="sq">
              <a:noFill/>
              <a:prstDash val="solid"/>
              <a:miter/>
            </a:ln>
          </p:spPr>
          <p:txBody>
            <a:bodyPr/>
            <a:lstStyle/>
            <a:p>
              <a:endParaRPr lang="en-US"/>
            </a:p>
          </p:txBody>
        </p:sp>
        <p:sp>
          <p:nvSpPr>
            <p:cNvPr id="55" name="TextBox 55"/>
            <p:cNvSpPr txBox="1"/>
            <p:nvPr/>
          </p:nvSpPr>
          <p:spPr>
            <a:xfrm>
              <a:off x="0" y="-28575"/>
              <a:ext cx="789926" cy="502398"/>
            </a:xfrm>
            <a:prstGeom prst="rect">
              <a:avLst/>
            </a:prstGeom>
          </p:spPr>
          <p:txBody>
            <a:bodyPr lIns="50800" tIns="50800" rIns="50800" bIns="50800" rtlCol="0" anchor="ctr"/>
            <a:lstStyle/>
            <a:p>
              <a:pPr marL="0" lvl="0" indent="0" algn="ctr">
                <a:lnSpc>
                  <a:spcPts val="2239"/>
                </a:lnSpc>
                <a:spcBef>
                  <a:spcPct val="0"/>
                </a:spcBef>
              </a:pPr>
              <a:r>
                <a:rPr lang="en-US" sz="1599">
                  <a:solidFill>
                    <a:srgbClr val="000000"/>
                  </a:solidFill>
                  <a:latin typeface="Open Sans 1"/>
                  <a:ea typeface="Open Sans 1"/>
                  <a:cs typeface="Open Sans 1"/>
                  <a:sym typeface="Open Sans 1"/>
                </a:rPr>
                <a:t>Coworking operators leases higher per-square-foot rate than traditional leases and more financially viable</a:t>
              </a:r>
            </a:p>
          </p:txBody>
        </p:sp>
      </p:grpSp>
      <p:grpSp>
        <p:nvGrpSpPr>
          <p:cNvPr id="56" name="Group 56"/>
          <p:cNvGrpSpPr/>
          <p:nvPr/>
        </p:nvGrpSpPr>
        <p:grpSpPr>
          <a:xfrm>
            <a:off x="5855586" y="5774245"/>
            <a:ext cx="2584637" cy="1506478"/>
            <a:chOff x="0" y="0"/>
            <a:chExt cx="812929" cy="473823"/>
          </a:xfrm>
        </p:grpSpPr>
        <p:sp>
          <p:nvSpPr>
            <p:cNvPr id="57" name="Freeform 57"/>
            <p:cNvSpPr/>
            <p:nvPr/>
          </p:nvSpPr>
          <p:spPr>
            <a:xfrm>
              <a:off x="0" y="0"/>
              <a:ext cx="812929" cy="473823"/>
            </a:xfrm>
            <a:custGeom>
              <a:avLst/>
              <a:gdLst/>
              <a:ahLst/>
              <a:cxnLst/>
              <a:rect l="l" t="t" r="r" b="b"/>
              <a:pathLst>
                <a:path w="812929" h="473823">
                  <a:moveTo>
                    <a:pt x="0" y="0"/>
                  </a:moveTo>
                  <a:lnTo>
                    <a:pt x="812929" y="0"/>
                  </a:lnTo>
                  <a:lnTo>
                    <a:pt x="812929" y="473823"/>
                  </a:lnTo>
                  <a:lnTo>
                    <a:pt x="0" y="473823"/>
                  </a:lnTo>
                  <a:close/>
                </a:path>
              </a:pathLst>
            </a:custGeom>
            <a:solidFill>
              <a:srgbClr val="FFF3C2"/>
            </a:solidFill>
            <a:ln cap="sq">
              <a:noFill/>
              <a:prstDash val="solid"/>
              <a:miter/>
            </a:ln>
          </p:spPr>
          <p:txBody>
            <a:bodyPr/>
            <a:lstStyle/>
            <a:p>
              <a:endParaRPr lang="en-US"/>
            </a:p>
          </p:txBody>
        </p:sp>
        <p:sp>
          <p:nvSpPr>
            <p:cNvPr id="58" name="TextBox 58"/>
            <p:cNvSpPr txBox="1"/>
            <p:nvPr/>
          </p:nvSpPr>
          <p:spPr>
            <a:xfrm>
              <a:off x="0" y="-28575"/>
              <a:ext cx="812929" cy="502398"/>
            </a:xfrm>
            <a:prstGeom prst="rect">
              <a:avLst/>
            </a:prstGeom>
          </p:spPr>
          <p:txBody>
            <a:bodyPr lIns="50800" tIns="50800" rIns="50800" bIns="50800" rtlCol="0" anchor="ctr"/>
            <a:lstStyle/>
            <a:p>
              <a:pPr marL="0" lvl="0" indent="0" algn="ctr">
                <a:lnSpc>
                  <a:spcPts val="2239"/>
                </a:lnSpc>
                <a:spcBef>
                  <a:spcPct val="0"/>
                </a:spcBef>
              </a:pPr>
              <a:r>
                <a:rPr lang="en-US" sz="1599">
                  <a:solidFill>
                    <a:srgbClr val="000000"/>
                  </a:solidFill>
                  <a:latin typeface="Open Sans 1"/>
                  <a:ea typeface="Open Sans 1"/>
                  <a:cs typeface="Open Sans 1"/>
                  <a:sym typeface="Open Sans 1"/>
                </a:rPr>
                <a:t>Operators can replicate the model across cities if they standardize operations and adapt to local costs and rules </a:t>
              </a:r>
            </a:p>
          </p:txBody>
        </p:sp>
      </p:grpSp>
      <p:grpSp>
        <p:nvGrpSpPr>
          <p:cNvPr id="59" name="Group 59"/>
          <p:cNvGrpSpPr/>
          <p:nvPr/>
        </p:nvGrpSpPr>
        <p:grpSpPr>
          <a:xfrm>
            <a:off x="2984124" y="5590227"/>
            <a:ext cx="2634791" cy="1782703"/>
            <a:chOff x="0" y="0"/>
            <a:chExt cx="828704" cy="560702"/>
          </a:xfrm>
        </p:grpSpPr>
        <p:sp>
          <p:nvSpPr>
            <p:cNvPr id="60" name="Freeform 60"/>
            <p:cNvSpPr/>
            <p:nvPr/>
          </p:nvSpPr>
          <p:spPr>
            <a:xfrm>
              <a:off x="0" y="0"/>
              <a:ext cx="828704" cy="560702"/>
            </a:xfrm>
            <a:custGeom>
              <a:avLst/>
              <a:gdLst/>
              <a:ahLst/>
              <a:cxnLst/>
              <a:rect l="l" t="t" r="r" b="b"/>
              <a:pathLst>
                <a:path w="828704" h="560702">
                  <a:moveTo>
                    <a:pt x="0" y="0"/>
                  </a:moveTo>
                  <a:lnTo>
                    <a:pt x="828704" y="0"/>
                  </a:lnTo>
                  <a:lnTo>
                    <a:pt x="828704" y="560702"/>
                  </a:lnTo>
                  <a:lnTo>
                    <a:pt x="0" y="560702"/>
                  </a:lnTo>
                  <a:close/>
                </a:path>
              </a:pathLst>
            </a:custGeom>
            <a:solidFill>
              <a:srgbClr val="FFF3C2"/>
            </a:solidFill>
            <a:ln cap="sq">
              <a:noFill/>
              <a:prstDash val="solid"/>
              <a:miter/>
            </a:ln>
          </p:spPr>
          <p:txBody>
            <a:bodyPr/>
            <a:lstStyle/>
            <a:p>
              <a:endParaRPr lang="en-US"/>
            </a:p>
          </p:txBody>
        </p:sp>
        <p:sp>
          <p:nvSpPr>
            <p:cNvPr id="61" name="TextBox 61"/>
            <p:cNvSpPr txBox="1"/>
            <p:nvPr/>
          </p:nvSpPr>
          <p:spPr>
            <a:xfrm>
              <a:off x="0" y="-28575"/>
              <a:ext cx="828704" cy="589277"/>
            </a:xfrm>
            <a:prstGeom prst="rect">
              <a:avLst/>
            </a:prstGeom>
          </p:spPr>
          <p:txBody>
            <a:bodyPr lIns="50800" tIns="50800" rIns="50800" bIns="50800" rtlCol="0" anchor="ctr"/>
            <a:lstStyle/>
            <a:p>
              <a:pPr marL="0" lvl="0" indent="0" algn="ctr">
                <a:lnSpc>
                  <a:spcPts val="2239"/>
                </a:lnSpc>
                <a:spcBef>
                  <a:spcPct val="0"/>
                </a:spcBef>
              </a:pPr>
              <a:r>
                <a:rPr lang="en-US" sz="1599">
                  <a:solidFill>
                    <a:srgbClr val="000000"/>
                  </a:solidFill>
                  <a:latin typeface="Open Sans 1"/>
                  <a:ea typeface="Open Sans 1"/>
                  <a:cs typeface="Open Sans 1"/>
                  <a:sym typeface="Open Sans 1"/>
                </a:rPr>
                <a:t>Demand is still growing in major urban markets (companies seeking shorter leases to stay agile and individuals valuing well-located)</a:t>
              </a:r>
            </a:p>
          </p:txBody>
        </p:sp>
      </p:grpSp>
      <p:grpSp>
        <p:nvGrpSpPr>
          <p:cNvPr id="62" name="Group 62"/>
          <p:cNvGrpSpPr/>
          <p:nvPr/>
        </p:nvGrpSpPr>
        <p:grpSpPr>
          <a:xfrm>
            <a:off x="9206618" y="3727586"/>
            <a:ext cx="2390826" cy="1506478"/>
            <a:chOff x="0" y="0"/>
            <a:chExt cx="751971" cy="473823"/>
          </a:xfrm>
        </p:grpSpPr>
        <p:sp>
          <p:nvSpPr>
            <p:cNvPr id="63" name="Freeform 63"/>
            <p:cNvSpPr/>
            <p:nvPr/>
          </p:nvSpPr>
          <p:spPr>
            <a:xfrm>
              <a:off x="0" y="0"/>
              <a:ext cx="751971" cy="473823"/>
            </a:xfrm>
            <a:custGeom>
              <a:avLst/>
              <a:gdLst/>
              <a:ahLst/>
              <a:cxnLst/>
              <a:rect l="l" t="t" r="r" b="b"/>
              <a:pathLst>
                <a:path w="751971" h="473823">
                  <a:moveTo>
                    <a:pt x="0" y="0"/>
                  </a:moveTo>
                  <a:lnTo>
                    <a:pt x="751971" y="0"/>
                  </a:lnTo>
                  <a:lnTo>
                    <a:pt x="751971" y="473823"/>
                  </a:lnTo>
                  <a:lnTo>
                    <a:pt x="0" y="473823"/>
                  </a:lnTo>
                  <a:close/>
                </a:path>
              </a:pathLst>
            </a:custGeom>
            <a:solidFill>
              <a:srgbClr val="99C5FF"/>
            </a:solidFill>
          </p:spPr>
          <p:txBody>
            <a:bodyPr/>
            <a:lstStyle/>
            <a:p>
              <a:endParaRPr lang="en-US"/>
            </a:p>
          </p:txBody>
        </p:sp>
        <p:sp>
          <p:nvSpPr>
            <p:cNvPr id="64" name="TextBox 64"/>
            <p:cNvSpPr txBox="1"/>
            <p:nvPr/>
          </p:nvSpPr>
          <p:spPr>
            <a:xfrm>
              <a:off x="0" y="-28575"/>
              <a:ext cx="751971" cy="502398"/>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Do customer satisfaction levels translate into higher revenue per member?</a:t>
              </a:r>
            </a:p>
          </p:txBody>
        </p:sp>
      </p:grpSp>
      <p:grpSp>
        <p:nvGrpSpPr>
          <p:cNvPr id="65" name="Group 65"/>
          <p:cNvGrpSpPr/>
          <p:nvPr/>
        </p:nvGrpSpPr>
        <p:grpSpPr>
          <a:xfrm>
            <a:off x="9211434" y="5957660"/>
            <a:ext cx="2381195" cy="1230253"/>
            <a:chOff x="0" y="0"/>
            <a:chExt cx="748942" cy="386944"/>
          </a:xfrm>
        </p:grpSpPr>
        <p:sp>
          <p:nvSpPr>
            <p:cNvPr id="66" name="Freeform 66"/>
            <p:cNvSpPr/>
            <p:nvPr/>
          </p:nvSpPr>
          <p:spPr>
            <a:xfrm>
              <a:off x="0" y="0"/>
              <a:ext cx="748942" cy="386944"/>
            </a:xfrm>
            <a:custGeom>
              <a:avLst/>
              <a:gdLst/>
              <a:ahLst/>
              <a:cxnLst/>
              <a:rect l="l" t="t" r="r" b="b"/>
              <a:pathLst>
                <a:path w="748942" h="386944">
                  <a:moveTo>
                    <a:pt x="0" y="0"/>
                  </a:moveTo>
                  <a:lnTo>
                    <a:pt x="748942" y="0"/>
                  </a:lnTo>
                  <a:lnTo>
                    <a:pt x="748942" y="386944"/>
                  </a:lnTo>
                  <a:lnTo>
                    <a:pt x="0" y="386944"/>
                  </a:lnTo>
                  <a:close/>
                </a:path>
              </a:pathLst>
            </a:custGeom>
            <a:solidFill>
              <a:srgbClr val="C2DCFF"/>
            </a:solidFill>
          </p:spPr>
          <p:txBody>
            <a:bodyPr/>
            <a:lstStyle/>
            <a:p>
              <a:endParaRPr lang="en-US"/>
            </a:p>
          </p:txBody>
        </p:sp>
        <p:sp>
          <p:nvSpPr>
            <p:cNvPr id="67" name="TextBox 67"/>
            <p:cNvSpPr txBox="1"/>
            <p:nvPr/>
          </p:nvSpPr>
          <p:spPr>
            <a:xfrm>
              <a:off x="0" y="-28575"/>
              <a:ext cx="748942" cy="415519"/>
            </a:xfrm>
            <a:prstGeom prst="rect">
              <a:avLst/>
            </a:prstGeom>
          </p:spPr>
          <p:txBody>
            <a:bodyPr lIns="50800" tIns="50800" rIns="50800" bIns="50800" rtlCol="0" anchor="ctr"/>
            <a:lstStyle/>
            <a:p>
              <a:pPr algn="ctr">
                <a:lnSpc>
                  <a:spcPts val="2239"/>
                </a:lnSpc>
              </a:pPr>
              <a:r>
                <a:rPr lang="en-US" sz="1599">
                  <a:solidFill>
                    <a:srgbClr val="000000"/>
                  </a:solidFill>
                  <a:latin typeface="Open Sans 1"/>
                  <a:ea typeface="Open Sans 1"/>
                  <a:cs typeface="Open Sans 1"/>
                  <a:sym typeface="Open Sans 1"/>
                </a:rPr>
                <a:t>If customers are happy with a service, they would be ready to pay more for it. </a:t>
              </a:r>
            </a:p>
          </p:txBody>
        </p:sp>
      </p:grpSp>
      <p:grpSp>
        <p:nvGrpSpPr>
          <p:cNvPr id="68" name="Group 68"/>
          <p:cNvGrpSpPr/>
          <p:nvPr/>
        </p:nvGrpSpPr>
        <p:grpSpPr>
          <a:xfrm>
            <a:off x="14812985" y="6196799"/>
            <a:ext cx="2442413" cy="1521649"/>
            <a:chOff x="0" y="0"/>
            <a:chExt cx="768196" cy="478595"/>
          </a:xfrm>
        </p:grpSpPr>
        <p:sp>
          <p:nvSpPr>
            <p:cNvPr id="69" name="Freeform 69"/>
            <p:cNvSpPr/>
            <p:nvPr/>
          </p:nvSpPr>
          <p:spPr>
            <a:xfrm>
              <a:off x="0" y="0"/>
              <a:ext cx="768196" cy="478595"/>
            </a:xfrm>
            <a:custGeom>
              <a:avLst/>
              <a:gdLst/>
              <a:ahLst/>
              <a:cxnLst/>
              <a:rect l="l" t="t" r="r" b="b"/>
              <a:pathLst>
                <a:path w="768196" h="478595">
                  <a:moveTo>
                    <a:pt x="0" y="0"/>
                  </a:moveTo>
                  <a:lnTo>
                    <a:pt x="768196" y="0"/>
                  </a:lnTo>
                  <a:lnTo>
                    <a:pt x="768196" y="478595"/>
                  </a:lnTo>
                  <a:lnTo>
                    <a:pt x="0" y="478595"/>
                  </a:lnTo>
                  <a:close/>
                </a:path>
              </a:pathLst>
            </a:custGeom>
            <a:solidFill>
              <a:srgbClr val="C2DCFF"/>
            </a:solidFill>
          </p:spPr>
          <p:txBody>
            <a:bodyPr/>
            <a:lstStyle/>
            <a:p>
              <a:endParaRPr lang="en-US"/>
            </a:p>
          </p:txBody>
        </p:sp>
        <p:sp>
          <p:nvSpPr>
            <p:cNvPr id="70" name="TextBox 70"/>
            <p:cNvSpPr txBox="1"/>
            <p:nvPr/>
          </p:nvSpPr>
          <p:spPr>
            <a:xfrm>
              <a:off x="0" y="-28575"/>
              <a:ext cx="768196" cy="507170"/>
            </a:xfrm>
            <a:prstGeom prst="rect">
              <a:avLst/>
            </a:prstGeom>
          </p:spPr>
          <p:txBody>
            <a:bodyPr lIns="50800" tIns="50800" rIns="50800" bIns="50800" rtlCol="0" anchor="ctr"/>
            <a:lstStyle/>
            <a:p>
              <a:pPr algn="ctr">
                <a:lnSpc>
                  <a:spcPts val="2239"/>
                </a:lnSpc>
              </a:pPr>
              <a:r>
                <a:rPr lang="en-US" sz="1599">
                  <a:solidFill>
                    <a:srgbClr val="000000"/>
                  </a:solidFill>
                  <a:latin typeface="Open Sans 1"/>
                  <a:ea typeface="Open Sans 1"/>
                  <a:cs typeface="Open Sans 1"/>
                  <a:sym typeface="Open Sans 1"/>
                </a:rPr>
                <a:t>Some periodic trends might affects the occupancy rates thus the overall revenue. </a:t>
              </a:r>
            </a:p>
          </p:txBody>
        </p:sp>
      </p:grpSp>
      <p:grpSp>
        <p:nvGrpSpPr>
          <p:cNvPr id="71" name="Group 71"/>
          <p:cNvGrpSpPr/>
          <p:nvPr/>
        </p:nvGrpSpPr>
        <p:grpSpPr>
          <a:xfrm>
            <a:off x="11974891" y="5644954"/>
            <a:ext cx="2585731" cy="1782703"/>
            <a:chOff x="0" y="0"/>
            <a:chExt cx="813274" cy="560702"/>
          </a:xfrm>
        </p:grpSpPr>
        <p:sp>
          <p:nvSpPr>
            <p:cNvPr id="72" name="Freeform 72"/>
            <p:cNvSpPr/>
            <p:nvPr/>
          </p:nvSpPr>
          <p:spPr>
            <a:xfrm>
              <a:off x="0" y="0"/>
              <a:ext cx="813274" cy="560702"/>
            </a:xfrm>
            <a:custGeom>
              <a:avLst/>
              <a:gdLst/>
              <a:ahLst/>
              <a:cxnLst/>
              <a:rect l="l" t="t" r="r" b="b"/>
              <a:pathLst>
                <a:path w="813274" h="560702">
                  <a:moveTo>
                    <a:pt x="0" y="0"/>
                  </a:moveTo>
                  <a:lnTo>
                    <a:pt x="813274" y="0"/>
                  </a:lnTo>
                  <a:lnTo>
                    <a:pt x="813274" y="560702"/>
                  </a:lnTo>
                  <a:lnTo>
                    <a:pt x="0" y="560702"/>
                  </a:lnTo>
                  <a:close/>
                </a:path>
              </a:pathLst>
            </a:custGeom>
            <a:solidFill>
              <a:srgbClr val="C2DCFF"/>
            </a:solidFill>
          </p:spPr>
          <p:txBody>
            <a:bodyPr/>
            <a:lstStyle/>
            <a:p>
              <a:endParaRPr lang="en-US"/>
            </a:p>
          </p:txBody>
        </p:sp>
        <p:sp>
          <p:nvSpPr>
            <p:cNvPr id="73" name="TextBox 73"/>
            <p:cNvSpPr txBox="1"/>
            <p:nvPr/>
          </p:nvSpPr>
          <p:spPr>
            <a:xfrm>
              <a:off x="0" y="-28575"/>
              <a:ext cx="813274" cy="589277"/>
            </a:xfrm>
            <a:prstGeom prst="rect">
              <a:avLst/>
            </a:prstGeom>
          </p:spPr>
          <p:txBody>
            <a:bodyPr lIns="50800" tIns="50800" rIns="50800" bIns="50800" rtlCol="0" anchor="ctr"/>
            <a:lstStyle/>
            <a:p>
              <a:pPr algn="ctr">
                <a:lnSpc>
                  <a:spcPts val="2239"/>
                </a:lnSpc>
              </a:pPr>
              <a:r>
                <a:rPr lang="en-US" sz="1599">
                  <a:solidFill>
                    <a:srgbClr val="000000"/>
                  </a:solidFill>
                  <a:latin typeface="Open Sans 1"/>
                  <a:ea typeface="Open Sans 1"/>
                  <a:cs typeface="Open Sans 1"/>
                  <a:sym typeface="Open Sans 1"/>
                </a:rPr>
                <a:t>Unlike traditional renting, the coworking model has to make sure that the retention rate is high so that they have sustained profits</a:t>
              </a:r>
            </a:p>
          </p:txBody>
        </p:sp>
      </p:grpSp>
      <p:sp>
        <p:nvSpPr>
          <p:cNvPr id="74" name="AutoShape 74"/>
          <p:cNvSpPr/>
          <p:nvPr/>
        </p:nvSpPr>
        <p:spPr>
          <a:xfrm>
            <a:off x="16034191" y="3296859"/>
            <a:ext cx="0" cy="430727"/>
          </a:xfrm>
          <a:prstGeom prst="line">
            <a:avLst/>
          </a:prstGeom>
          <a:ln w="28575" cap="flat">
            <a:solidFill>
              <a:srgbClr val="000000"/>
            </a:solidFill>
            <a:prstDash val="solid"/>
            <a:headEnd type="none" w="sm" len="sm"/>
            <a:tailEnd type="arrow" w="med" len="sm"/>
          </a:ln>
        </p:spPr>
        <p:txBody>
          <a:bodyPr/>
          <a:lstStyle/>
          <a:p>
            <a:endParaRPr lang="en-US"/>
          </a:p>
        </p:txBody>
      </p:sp>
      <p:grpSp>
        <p:nvGrpSpPr>
          <p:cNvPr id="75" name="Group 75"/>
          <p:cNvGrpSpPr/>
          <p:nvPr/>
        </p:nvGrpSpPr>
        <p:grpSpPr>
          <a:xfrm>
            <a:off x="14811710" y="3727586"/>
            <a:ext cx="2444963" cy="1481782"/>
            <a:chOff x="0" y="0"/>
            <a:chExt cx="768999" cy="466055"/>
          </a:xfrm>
        </p:grpSpPr>
        <p:sp>
          <p:nvSpPr>
            <p:cNvPr id="76" name="Freeform 76"/>
            <p:cNvSpPr/>
            <p:nvPr/>
          </p:nvSpPr>
          <p:spPr>
            <a:xfrm>
              <a:off x="0" y="0"/>
              <a:ext cx="768999" cy="466055"/>
            </a:xfrm>
            <a:custGeom>
              <a:avLst/>
              <a:gdLst/>
              <a:ahLst/>
              <a:cxnLst/>
              <a:rect l="l" t="t" r="r" b="b"/>
              <a:pathLst>
                <a:path w="768999" h="466055">
                  <a:moveTo>
                    <a:pt x="0" y="0"/>
                  </a:moveTo>
                  <a:lnTo>
                    <a:pt x="768999" y="0"/>
                  </a:lnTo>
                  <a:lnTo>
                    <a:pt x="768999" y="466055"/>
                  </a:lnTo>
                  <a:lnTo>
                    <a:pt x="0" y="466055"/>
                  </a:lnTo>
                  <a:close/>
                </a:path>
              </a:pathLst>
            </a:custGeom>
            <a:solidFill>
              <a:srgbClr val="99C5FF"/>
            </a:solidFill>
          </p:spPr>
          <p:txBody>
            <a:bodyPr/>
            <a:lstStyle/>
            <a:p>
              <a:endParaRPr lang="en-US"/>
            </a:p>
          </p:txBody>
        </p:sp>
        <p:sp>
          <p:nvSpPr>
            <p:cNvPr id="77" name="TextBox 77"/>
            <p:cNvSpPr txBox="1"/>
            <p:nvPr/>
          </p:nvSpPr>
          <p:spPr>
            <a:xfrm>
              <a:off x="0" y="-28575"/>
              <a:ext cx="768999" cy="494630"/>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Are occupancy rates sufficient to cover fixed and variable costs across sites?</a:t>
              </a:r>
            </a:p>
          </p:txBody>
        </p:sp>
      </p:grpSp>
      <p:grpSp>
        <p:nvGrpSpPr>
          <p:cNvPr id="78" name="Group 78"/>
          <p:cNvGrpSpPr/>
          <p:nvPr/>
        </p:nvGrpSpPr>
        <p:grpSpPr>
          <a:xfrm>
            <a:off x="11939745" y="3727586"/>
            <a:ext cx="2656023" cy="1230253"/>
            <a:chOff x="0" y="0"/>
            <a:chExt cx="835382" cy="386944"/>
          </a:xfrm>
        </p:grpSpPr>
        <p:sp>
          <p:nvSpPr>
            <p:cNvPr id="79" name="Freeform 79"/>
            <p:cNvSpPr/>
            <p:nvPr/>
          </p:nvSpPr>
          <p:spPr>
            <a:xfrm>
              <a:off x="0" y="0"/>
              <a:ext cx="835382" cy="386944"/>
            </a:xfrm>
            <a:custGeom>
              <a:avLst/>
              <a:gdLst/>
              <a:ahLst/>
              <a:cxnLst/>
              <a:rect l="l" t="t" r="r" b="b"/>
              <a:pathLst>
                <a:path w="835382" h="386944">
                  <a:moveTo>
                    <a:pt x="0" y="0"/>
                  </a:moveTo>
                  <a:lnTo>
                    <a:pt x="835382" y="0"/>
                  </a:lnTo>
                  <a:lnTo>
                    <a:pt x="835382" y="386944"/>
                  </a:lnTo>
                  <a:lnTo>
                    <a:pt x="0" y="386944"/>
                  </a:lnTo>
                  <a:close/>
                </a:path>
              </a:pathLst>
            </a:custGeom>
            <a:solidFill>
              <a:srgbClr val="99C5FF"/>
            </a:solidFill>
          </p:spPr>
          <p:txBody>
            <a:bodyPr/>
            <a:lstStyle/>
            <a:p>
              <a:endParaRPr lang="en-US"/>
            </a:p>
          </p:txBody>
        </p:sp>
        <p:sp>
          <p:nvSpPr>
            <p:cNvPr id="80" name="TextBox 80"/>
            <p:cNvSpPr txBox="1"/>
            <p:nvPr/>
          </p:nvSpPr>
          <p:spPr>
            <a:xfrm>
              <a:off x="0" y="-28575"/>
              <a:ext cx="835382" cy="415519"/>
            </a:xfrm>
            <a:prstGeom prst="rect">
              <a:avLst/>
            </a:prstGeom>
          </p:spPr>
          <p:txBody>
            <a:bodyPr lIns="50800" tIns="50800" rIns="50800" bIns="50800" rtlCol="0" anchor="ctr"/>
            <a:lstStyle/>
            <a:p>
              <a:pPr algn="ctr">
                <a:lnSpc>
                  <a:spcPts val="2239"/>
                </a:lnSpc>
              </a:pPr>
              <a:r>
                <a:rPr lang="en-US" sz="1599" b="1">
                  <a:solidFill>
                    <a:srgbClr val="000000"/>
                  </a:solidFill>
                  <a:latin typeface="Open Sans 1 Bold"/>
                  <a:ea typeface="Open Sans 1 Bold"/>
                  <a:cs typeface="Open Sans 1 Bold"/>
                  <a:sym typeface="Open Sans 1 Bold"/>
                </a:rPr>
                <a:t>Can operators maintain strong member retention rates over time?</a:t>
              </a:r>
            </a:p>
          </p:txBody>
        </p:sp>
      </p:grpSp>
      <p:grpSp>
        <p:nvGrpSpPr>
          <p:cNvPr id="81" name="Group 81"/>
          <p:cNvGrpSpPr/>
          <p:nvPr/>
        </p:nvGrpSpPr>
        <p:grpSpPr>
          <a:xfrm>
            <a:off x="9148422" y="5388880"/>
            <a:ext cx="2507220" cy="413965"/>
            <a:chOff x="0" y="0"/>
            <a:chExt cx="660338" cy="109028"/>
          </a:xfrm>
        </p:grpSpPr>
        <p:sp>
          <p:nvSpPr>
            <p:cNvPr id="82" name="Freeform 82"/>
            <p:cNvSpPr/>
            <p:nvPr/>
          </p:nvSpPr>
          <p:spPr>
            <a:xfrm>
              <a:off x="0" y="0"/>
              <a:ext cx="660338" cy="109028"/>
            </a:xfrm>
            <a:custGeom>
              <a:avLst/>
              <a:gdLst/>
              <a:ahLst/>
              <a:cxnLst/>
              <a:rect l="l" t="t" r="r" b="b"/>
              <a:pathLst>
                <a:path w="660338" h="109028">
                  <a:moveTo>
                    <a:pt x="0" y="0"/>
                  </a:moveTo>
                  <a:lnTo>
                    <a:pt x="660338" y="0"/>
                  </a:lnTo>
                  <a:lnTo>
                    <a:pt x="660338" y="109028"/>
                  </a:lnTo>
                  <a:lnTo>
                    <a:pt x="0" y="109028"/>
                  </a:lnTo>
                  <a:close/>
                </a:path>
              </a:pathLst>
            </a:custGeom>
          </p:spPr>
          <p:txBody>
            <a:bodyPr/>
            <a:lstStyle/>
            <a:p>
              <a:endParaRPr lang="en-US"/>
            </a:p>
          </p:txBody>
        </p:sp>
        <p:sp>
          <p:nvSpPr>
            <p:cNvPr id="83" name="TextBox 83"/>
            <p:cNvSpPr txBox="1"/>
            <p:nvPr/>
          </p:nvSpPr>
          <p:spPr>
            <a:xfrm>
              <a:off x="0" y="-28575"/>
              <a:ext cx="660338" cy="137603"/>
            </a:xfrm>
            <a:prstGeom prst="rect">
              <a:avLst/>
            </a:prstGeom>
          </p:spPr>
          <p:txBody>
            <a:bodyPr lIns="50800" tIns="50800" rIns="50800" bIns="50800" rtlCol="0" anchor="ctr"/>
            <a:lstStyle/>
            <a:p>
              <a:pPr algn="ctr">
                <a:lnSpc>
                  <a:spcPts val="2239"/>
                </a:lnSpc>
                <a:spcBef>
                  <a:spcPct val="0"/>
                </a:spcBef>
              </a:pPr>
              <a:r>
                <a:rPr lang="en-US" sz="1599" b="1">
                  <a:solidFill>
                    <a:srgbClr val="99C5FF"/>
                  </a:solidFill>
                  <a:latin typeface="Open Sans 2 Bold"/>
                  <a:ea typeface="Open Sans 2 Bold"/>
                  <a:cs typeface="Open Sans 2 Bold"/>
                  <a:sym typeface="Open Sans 2 Bold"/>
                </a:rPr>
                <a:t>Customer Satisfaction</a:t>
              </a:r>
            </a:p>
          </p:txBody>
        </p:sp>
      </p:grpSp>
      <p:grpSp>
        <p:nvGrpSpPr>
          <p:cNvPr id="84" name="Group 84"/>
          <p:cNvGrpSpPr/>
          <p:nvPr/>
        </p:nvGrpSpPr>
        <p:grpSpPr>
          <a:xfrm>
            <a:off x="14811226" y="5496101"/>
            <a:ext cx="2445931" cy="413965"/>
            <a:chOff x="0" y="0"/>
            <a:chExt cx="644196" cy="109028"/>
          </a:xfrm>
        </p:grpSpPr>
        <p:sp>
          <p:nvSpPr>
            <p:cNvPr id="85" name="Freeform 85"/>
            <p:cNvSpPr/>
            <p:nvPr/>
          </p:nvSpPr>
          <p:spPr>
            <a:xfrm>
              <a:off x="0" y="0"/>
              <a:ext cx="644196" cy="109028"/>
            </a:xfrm>
            <a:custGeom>
              <a:avLst/>
              <a:gdLst/>
              <a:ahLst/>
              <a:cxnLst/>
              <a:rect l="l" t="t" r="r" b="b"/>
              <a:pathLst>
                <a:path w="644196" h="109028">
                  <a:moveTo>
                    <a:pt x="0" y="0"/>
                  </a:moveTo>
                  <a:lnTo>
                    <a:pt x="644196" y="0"/>
                  </a:lnTo>
                  <a:lnTo>
                    <a:pt x="644196" y="109028"/>
                  </a:lnTo>
                  <a:lnTo>
                    <a:pt x="0" y="109028"/>
                  </a:lnTo>
                  <a:close/>
                </a:path>
              </a:pathLst>
            </a:custGeom>
          </p:spPr>
          <p:txBody>
            <a:bodyPr/>
            <a:lstStyle/>
            <a:p>
              <a:endParaRPr lang="en-US"/>
            </a:p>
          </p:txBody>
        </p:sp>
        <p:sp>
          <p:nvSpPr>
            <p:cNvPr id="86" name="TextBox 86"/>
            <p:cNvSpPr txBox="1"/>
            <p:nvPr/>
          </p:nvSpPr>
          <p:spPr>
            <a:xfrm>
              <a:off x="0" y="-28575"/>
              <a:ext cx="644196" cy="137603"/>
            </a:xfrm>
            <a:prstGeom prst="rect">
              <a:avLst/>
            </a:prstGeom>
          </p:spPr>
          <p:txBody>
            <a:bodyPr lIns="50800" tIns="50800" rIns="50800" bIns="50800" rtlCol="0" anchor="ctr"/>
            <a:lstStyle/>
            <a:p>
              <a:pPr algn="ctr">
                <a:lnSpc>
                  <a:spcPts val="2239"/>
                </a:lnSpc>
                <a:spcBef>
                  <a:spcPct val="0"/>
                </a:spcBef>
              </a:pPr>
              <a:r>
                <a:rPr lang="en-US" sz="1599" b="1">
                  <a:solidFill>
                    <a:srgbClr val="99C5FF"/>
                  </a:solidFill>
                  <a:latin typeface="Open Sans 2 Bold"/>
                  <a:ea typeface="Open Sans 2 Bold"/>
                  <a:cs typeface="Open Sans 2 Bold"/>
                  <a:sym typeface="Open Sans 2 Bold"/>
                </a:rPr>
                <a:t>Occupancy rates</a:t>
              </a:r>
            </a:p>
          </p:txBody>
        </p:sp>
      </p:grpSp>
      <p:grpSp>
        <p:nvGrpSpPr>
          <p:cNvPr id="87" name="Group 87"/>
          <p:cNvGrpSpPr/>
          <p:nvPr/>
        </p:nvGrpSpPr>
        <p:grpSpPr>
          <a:xfrm>
            <a:off x="12109775" y="5097139"/>
            <a:ext cx="2315962" cy="408515"/>
            <a:chOff x="0" y="0"/>
            <a:chExt cx="609965" cy="107593"/>
          </a:xfrm>
        </p:grpSpPr>
        <p:sp>
          <p:nvSpPr>
            <p:cNvPr id="88" name="Freeform 88"/>
            <p:cNvSpPr/>
            <p:nvPr/>
          </p:nvSpPr>
          <p:spPr>
            <a:xfrm>
              <a:off x="0" y="0"/>
              <a:ext cx="609965" cy="107593"/>
            </a:xfrm>
            <a:custGeom>
              <a:avLst/>
              <a:gdLst/>
              <a:ahLst/>
              <a:cxnLst/>
              <a:rect l="l" t="t" r="r" b="b"/>
              <a:pathLst>
                <a:path w="609965" h="107593">
                  <a:moveTo>
                    <a:pt x="0" y="0"/>
                  </a:moveTo>
                  <a:lnTo>
                    <a:pt x="609965" y="0"/>
                  </a:lnTo>
                  <a:lnTo>
                    <a:pt x="609965" y="107593"/>
                  </a:lnTo>
                  <a:lnTo>
                    <a:pt x="0" y="107593"/>
                  </a:lnTo>
                  <a:close/>
                </a:path>
              </a:pathLst>
            </a:custGeom>
          </p:spPr>
          <p:txBody>
            <a:bodyPr/>
            <a:lstStyle/>
            <a:p>
              <a:endParaRPr lang="en-US"/>
            </a:p>
          </p:txBody>
        </p:sp>
        <p:sp>
          <p:nvSpPr>
            <p:cNvPr id="89" name="TextBox 89"/>
            <p:cNvSpPr txBox="1"/>
            <p:nvPr/>
          </p:nvSpPr>
          <p:spPr>
            <a:xfrm>
              <a:off x="0" y="-28575"/>
              <a:ext cx="609965" cy="136168"/>
            </a:xfrm>
            <a:prstGeom prst="rect">
              <a:avLst/>
            </a:prstGeom>
          </p:spPr>
          <p:txBody>
            <a:bodyPr lIns="50800" tIns="50800" rIns="50800" bIns="50800" rtlCol="0" anchor="ctr"/>
            <a:lstStyle/>
            <a:p>
              <a:pPr algn="ctr">
                <a:lnSpc>
                  <a:spcPts val="2239"/>
                </a:lnSpc>
                <a:spcBef>
                  <a:spcPct val="0"/>
                </a:spcBef>
              </a:pPr>
              <a:r>
                <a:rPr lang="en-US" sz="1599" b="1">
                  <a:solidFill>
                    <a:srgbClr val="99C5FF"/>
                  </a:solidFill>
                  <a:latin typeface="Open Sans 2 Bold"/>
                  <a:ea typeface="Open Sans 2 Bold"/>
                  <a:cs typeface="Open Sans 2 Bold"/>
                  <a:sym typeface="Open Sans 2 Bold"/>
                </a:rPr>
                <a:t>Customer Retention</a:t>
              </a:r>
            </a:p>
          </p:txBody>
        </p:sp>
      </p:grpSp>
      <p:grpSp>
        <p:nvGrpSpPr>
          <p:cNvPr id="90" name="Group 90"/>
          <p:cNvGrpSpPr/>
          <p:nvPr/>
        </p:nvGrpSpPr>
        <p:grpSpPr>
          <a:xfrm>
            <a:off x="9197693" y="7342728"/>
            <a:ext cx="2408677" cy="2687578"/>
            <a:chOff x="0" y="0"/>
            <a:chExt cx="757586" cy="845307"/>
          </a:xfrm>
        </p:grpSpPr>
        <p:sp>
          <p:nvSpPr>
            <p:cNvPr id="91" name="Freeform 91"/>
            <p:cNvSpPr/>
            <p:nvPr/>
          </p:nvSpPr>
          <p:spPr>
            <a:xfrm>
              <a:off x="0" y="0"/>
              <a:ext cx="757586" cy="845307"/>
            </a:xfrm>
            <a:custGeom>
              <a:avLst/>
              <a:gdLst/>
              <a:ahLst/>
              <a:cxnLst/>
              <a:rect l="l" t="t" r="r" b="b"/>
              <a:pathLst>
                <a:path w="757586" h="845307">
                  <a:moveTo>
                    <a:pt x="0" y="0"/>
                  </a:moveTo>
                  <a:lnTo>
                    <a:pt x="757586" y="0"/>
                  </a:lnTo>
                  <a:lnTo>
                    <a:pt x="757586" y="845307"/>
                  </a:lnTo>
                  <a:lnTo>
                    <a:pt x="0" y="845307"/>
                  </a:lnTo>
                  <a:close/>
                </a:path>
              </a:pathLst>
            </a:custGeom>
            <a:solidFill>
              <a:srgbClr val="FFFFFF"/>
            </a:solidFill>
            <a:ln w="38100" cap="sq">
              <a:solidFill>
                <a:srgbClr val="C2DCFF"/>
              </a:solidFill>
              <a:prstDash val="solid"/>
              <a:miter/>
            </a:ln>
          </p:spPr>
          <p:txBody>
            <a:bodyPr/>
            <a:lstStyle/>
            <a:p>
              <a:endParaRPr lang="en-US"/>
            </a:p>
          </p:txBody>
        </p:sp>
        <p:sp>
          <p:nvSpPr>
            <p:cNvPr id="92" name="TextBox 92"/>
            <p:cNvSpPr txBox="1"/>
            <p:nvPr/>
          </p:nvSpPr>
          <p:spPr>
            <a:xfrm>
              <a:off x="0" y="-28575"/>
              <a:ext cx="757586" cy="873882"/>
            </a:xfrm>
            <a:prstGeom prst="rect">
              <a:avLst/>
            </a:prstGeom>
          </p:spPr>
          <p:txBody>
            <a:bodyPr lIns="50800" tIns="50800" rIns="50800" bIns="50800" rtlCol="0" anchor="ctr"/>
            <a:lstStyle/>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25% higher revenue than largest competitor</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Highest customer satisfaction rating (</a:t>
              </a:r>
              <a:r>
                <a:rPr lang="en-US" sz="1599" b="1">
                  <a:solidFill>
                    <a:srgbClr val="000000"/>
                  </a:solidFill>
                  <a:latin typeface="Open Sans 1 Bold"/>
                  <a:ea typeface="Open Sans 1 Bold"/>
                  <a:cs typeface="Open Sans 1 Bold"/>
                  <a:sym typeface="Open Sans 1 Bold"/>
                </a:rPr>
                <a:t>74%</a:t>
              </a:r>
              <a:r>
                <a:rPr lang="en-US" sz="1599">
                  <a:solidFill>
                    <a:srgbClr val="000000"/>
                  </a:solidFill>
                  <a:latin typeface="Open Sans 1"/>
                  <a:ea typeface="Open Sans 1"/>
                  <a:cs typeface="Open Sans 1"/>
                  <a:sym typeface="Open Sans 1"/>
                </a:rPr>
                <a:t> NPS score)</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Strong growth, asset-light business model</a:t>
              </a:r>
            </a:p>
          </p:txBody>
        </p:sp>
      </p:grpSp>
      <p:grpSp>
        <p:nvGrpSpPr>
          <p:cNvPr id="93" name="Group 93"/>
          <p:cNvGrpSpPr/>
          <p:nvPr/>
        </p:nvGrpSpPr>
        <p:grpSpPr>
          <a:xfrm>
            <a:off x="11988804" y="7566956"/>
            <a:ext cx="2557904" cy="2411353"/>
            <a:chOff x="0" y="0"/>
            <a:chExt cx="804521" cy="758427"/>
          </a:xfrm>
        </p:grpSpPr>
        <p:sp>
          <p:nvSpPr>
            <p:cNvPr id="94" name="Freeform 94"/>
            <p:cNvSpPr/>
            <p:nvPr/>
          </p:nvSpPr>
          <p:spPr>
            <a:xfrm>
              <a:off x="0" y="0"/>
              <a:ext cx="804521" cy="758427"/>
            </a:xfrm>
            <a:custGeom>
              <a:avLst/>
              <a:gdLst/>
              <a:ahLst/>
              <a:cxnLst/>
              <a:rect l="l" t="t" r="r" b="b"/>
              <a:pathLst>
                <a:path w="804521" h="758427">
                  <a:moveTo>
                    <a:pt x="0" y="0"/>
                  </a:moveTo>
                  <a:lnTo>
                    <a:pt x="804521" y="0"/>
                  </a:lnTo>
                  <a:lnTo>
                    <a:pt x="804521" y="758427"/>
                  </a:lnTo>
                  <a:lnTo>
                    <a:pt x="0" y="758427"/>
                  </a:lnTo>
                  <a:close/>
                </a:path>
              </a:pathLst>
            </a:custGeom>
            <a:solidFill>
              <a:srgbClr val="FFFFFF"/>
            </a:solidFill>
            <a:ln w="38100" cap="sq">
              <a:solidFill>
                <a:srgbClr val="C2DCFF"/>
              </a:solidFill>
              <a:prstDash val="solid"/>
              <a:miter/>
            </a:ln>
          </p:spPr>
          <p:txBody>
            <a:bodyPr/>
            <a:lstStyle/>
            <a:p>
              <a:endParaRPr lang="en-US"/>
            </a:p>
          </p:txBody>
        </p:sp>
        <p:sp>
          <p:nvSpPr>
            <p:cNvPr id="95" name="TextBox 95"/>
            <p:cNvSpPr txBox="1"/>
            <p:nvPr/>
          </p:nvSpPr>
          <p:spPr>
            <a:xfrm>
              <a:off x="0" y="-28575"/>
              <a:ext cx="804521" cy="787002"/>
            </a:xfrm>
            <a:prstGeom prst="rect">
              <a:avLst/>
            </a:prstGeom>
          </p:spPr>
          <p:txBody>
            <a:bodyPr lIns="50800" tIns="50800" rIns="50800" bIns="50800" rtlCol="0" anchor="ctr"/>
            <a:lstStyle/>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Average retention rates from </a:t>
              </a:r>
              <a:r>
                <a:rPr lang="en-US" sz="1599" b="1">
                  <a:solidFill>
                    <a:srgbClr val="000000"/>
                  </a:solidFill>
                  <a:latin typeface="Open Sans 1 Bold"/>
                  <a:ea typeface="Open Sans 1 Bold"/>
                  <a:cs typeface="Open Sans 1 Bold"/>
                  <a:sym typeface="Open Sans 1 Bold"/>
                </a:rPr>
                <a:t>60%</a:t>
              </a:r>
              <a:r>
                <a:rPr lang="en-US" sz="1599">
                  <a:solidFill>
                    <a:srgbClr val="000000"/>
                  </a:solidFill>
                  <a:latin typeface="Open Sans 1"/>
                  <a:ea typeface="Open Sans 1"/>
                  <a:cs typeface="Open Sans 1"/>
                  <a:sym typeface="Open Sans 1"/>
                </a:rPr>
                <a:t> to </a:t>
              </a:r>
              <a:r>
                <a:rPr lang="en-US" sz="1599" b="1">
                  <a:solidFill>
                    <a:srgbClr val="000000"/>
                  </a:solidFill>
                  <a:latin typeface="Open Sans 1 Bold"/>
                  <a:ea typeface="Open Sans 1 Bold"/>
                  <a:cs typeface="Open Sans 1 Bold"/>
                  <a:sym typeface="Open Sans 1 Bold"/>
                </a:rPr>
                <a:t>80%</a:t>
              </a:r>
              <a:r>
                <a:rPr lang="en-US" sz="1599">
                  <a:solidFill>
                    <a:srgbClr val="000000"/>
                  </a:solidFill>
                  <a:latin typeface="Open Sans 1"/>
                  <a:ea typeface="Open Sans 1"/>
                  <a:cs typeface="Open Sans 1"/>
                  <a:sym typeface="Open Sans 1"/>
                </a:rPr>
                <a:t> annually</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 Unstable monthly revenues → risks (marketing to maintain a high occupancy)</a:t>
              </a:r>
            </a:p>
          </p:txBody>
        </p:sp>
      </p:grpSp>
      <p:grpSp>
        <p:nvGrpSpPr>
          <p:cNvPr id="96" name="Group 96"/>
          <p:cNvGrpSpPr/>
          <p:nvPr/>
        </p:nvGrpSpPr>
        <p:grpSpPr>
          <a:xfrm>
            <a:off x="14811710" y="8005181"/>
            <a:ext cx="2444963" cy="1936577"/>
            <a:chOff x="0" y="0"/>
            <a:chExt cx="768999" cy="609099"/>
          </a:xfrm>
        </p:grpSpPr>
        <p:sp>
          <p:nvSpPr>
            <p:cNvPr id="97" name="Freeform 97"/>
            <p:cNvSpPr/>
            <p:nvPr/>
          </p:nvSpPr>
          <p:spPr>
            <a:xfrm>
              <a:off x="0" y="0"/>
              <a:ext cx="768999" cy="609099"/>
            </a:xfrm>
            <a:custGeom>
              <a:avLst/>
              <a:gdLst/>
              <a:ahLst/>
              <a:cxnLst/>
              <a:rect l="l" t="t" r="r" b="b"/>
              <a:pathLst>
                <a:path w="768999" h="609099">
                  <a:moveTo>
                    <a:pt x="0" y="0"/>
                  </a:moveTo>
                  <a:lnTo>
                    <a:pt x="768999" y="0"/>
                  </a:lnTo>
                  <a:lnTo>
                    <a:pt x="768999" y="609099"/>
                  </a:lnTo>
                  <a:lnTo>
                    <a:pt x="0" y="609099"/>
                  </a:lnTo>
                  <a:close/>
                </a:path>
              </a:pathLst>
            </a:custGeom>
            <a:solidFill>
              <a:srgbClr val="FFFFFF"/>
            </a:solidFill>
            <a:ln w="38100" cap="sq">
              <a:solidFill>
                <a:srgbClr val="C2DCFF"/>
              </a:solidFill>
              <a:prstDash val="solid"/>
              <a:miter/>
            </a:ln>
          </p:spPr>
          <p:txBody>
            <a:bodyPr/>
            <a:lstStyle/>
            <a:p>
              <a:endParaRPr lang="en-US"/>
            </a:p>
          </p:txBody>
        </p:sp>
        <p:sp>
          <p:nvSpPr>
            <p:cNvPr id="98" name="TextBox 98"/>
            <p:cNvSpPr txBox="1"/>
            <p:nvPr/>
          </p:nvSpPr>
          <p:spPr>
            <a:xfrm>
              <a:off x="0" y="-28575"/>
              <a:ext cx="768999" cy="637674"/>
            </a:xfrm>
            <a:prstGeom prst="rect">
              <a:avLst/>
            </a:prstGeom>
          </p:spPr>
          <p:txBody>
            <a:bodyPr lIns="50800" tIns="50800" rIns="50800" bIns="50800" rtlCol="0" anchor="ctr"/>
            <a:lstStyle/>
            <a:p>
              <a:pPr marL="345439" lvl="1" indent="-172720" algn="l">
                <a:lnSpc>
                  <a:spcPts val="2239"/>
                </a:lnSpc>
                <a:buFont typeface="Arial"/>
                <a:buChar char="•"/>
              </a:pPr>
              <a:r>
                <a:rPr lang="en-US" sz="1599" b="1">
                  <a:solidFill>
                    <a:srgbClr val="000000"/>
                  </a:solidFill>
                  <a:latin typeface="Open Sans 1 Bold"/>
                  <a:ea typeface="Open Sans 1 Bold"/>
                  <a:cs typeface="Open Sans 1 Bold"/>
                  <a:sym typeface="Open Sans 1 Bold"/>
                </a:rPr>
                <a:t>90%</a:t>
              </a:r>
              <a:r>
                <a:rPr lang="en-US" sz="1599">
                  <a:solidFill>
                    <a:srgbClr val="000000"/>
                  </a:solidFill>
                  <a:latin typeface="Open Sans 1"/>
                  <a:ea typeface="Open Sans 1"/>
                  <a:cs typeface="Open Sans 1"/>
                  <a:sym typeface="Open Sans 1"/>
                </a:rPr>
                <a:t> occupancy rate</a:t>
              </a:r>
            </a:p>
            <a:p>
              <a:pPr marL="345439" lvl="1" indent="-172720" algn="l">
                <a:lnSpc>
                  <a:spcPts val="2239"/>
                </a:lnSpc>
                <a:buFont typeface="Arial"/>
                <a:buChar char="•"/>
              </a:pPr>
              <a:r>
                <a:rPr lang="en-US" sz="1599">
                  <a:solidFill>
                    <a:srgbClr val="000000"/>
                  </a:solidFill>
                  <a:latin typeface="Open Sans 1"/>
                  <a:ea typeface="Open Sans 1"/>
                  <a:cs typeface="Open Sans 1"/>
                  <a:sym typeface="Open Sans 1"/>
                </a:rPr>
                <a:t>Above industry benchmark </a:t>
              </a:r>
              <a:r>
                <a:rPr lang="en-US" sz="1599" b="1">
                  <a:solidFill>
                    <a:srgbClr val="000000"/>
                  </a:solidFill>
                  <a:latin typeface="Open Sans 1 Bold"/>
                  <a:ea typeface="Open Sans 1 Bold"/>
                  <a:cs typeface="Open Sans 1 Bold"/>
                  <a:sym typeface="Open Sans 1 Bold"/>
                </a:rPr>
                <a:t>(70-85%)</a:t>
              </a:r>
            </a:p>
            <a:p>
              <a:pPr marL="345439" lvl="1" indent="-172720" algn="l">
                <a:lnSpc>
                  <a:spcPts val="2239"/>
                </a:lnSpc>
                <a:buFont typeface="Arial"/>
                <a:buChar char="•"/>
              </a:pPr>
              <a:r>
                <a:rPr lang="en-US" sz="1599" b="1">
                  <a:solidFill>
                    <a:srgbClr val="000000"/>
                  </a:solidFill>
                  <a:latin typeface="Open Sans 1 Bold"/>
                  <a:ea typeface="Open Sans 1 Bold"/>
                  <a:cs typeface="Open Sans 1 Bold"/>
                  <a:sym typeface="Open Sans 1 Bold"/>
                </a:rPr>
                <a:t>Strong financial viability</a:t>
              </a:r>
            </a:p>
          </p:txBody>
        </p:sp>
      </p:grpSp>
      <p:sp>
        <p:nvSpPr>
          <p:cNvPr id="99" name="Freeform 99"/>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7304" y="2372715"/>
            <a:ext cx="17458218" cy="7085298"/>
            <a:chOff x="0" y="0"/>
            <a:chExt cx="4598049" cy="1866087"/>
          </a:xfrm>
        </p:grpSpPr>
        <p:sp>
          <p:nvSpPr>
            <p:cNvPr id="3" name="Freeform 3"/>
            <p:cNvSpPr/>
            <p:nvPr/>
          </p:nvSpPr>
          <p:spPr>
            <a:xfrm>
              <a:off x="0" y="0"/>
              <a:ext cx="4598049" cy="1866087"/>
            </a:xfrm>
            <a:custGeom>
              <a:avLst/>
              <a:gdLst/>
              <a:ahLst/>
              <a:cxnLst/>
              <a:rect l="l" t="t" r="r" b="b"/>
              <a:pathLst>
                <a:path w="4598049" h="1866087">
                  <a:moveTo>
                    <a:pt x="22616" y="0"/>
                  </a:moveTo>
                  <a:lnTo>
                    <a:pt x="4575433" y="0"/>
                  </a:lnTo>
                  <a:cubicBezTo>
                    <a:pt x="4587923" y="0"/>
                    <a:pt x="4598049" y="10126"/>
                    <a:pt x="4598049" y="22616"/>
                  </a:cubicBezTo>
                  <a:lnTo>
                    <a:pt x="4598049" y="1843471"/>
                  </a:lnTo>
                  <a:cubicBezTo>
                    <a:pt x="4598049" y="1849469"/>
                    <a:pt x="4595666" y="1855221"/>
                    <a:pt x="4591425" y="1859462"/>
                  </a:cubicBezTo>
                  <a:cubicBezTo>
                    <a:pt x="4587184" y="1863704"/>
                    <a:pt x="4581431" y="1866087"/>
                    <a:pt x="4575433" y="1866087"/>
                  </a:cubicBezTo>
                  <a:lnTo>
                    <a:pt x="22616" y="1866087"/>
                  </a:lnTo>
                  <a:cubicBezTo>
                    <a:pt x="16618" y="1866087"/>
                    <a:pt x="10865" y="1863704"/>
                    <a:pt x="6624" y="1859462"/>
                  </a:cubicBezTo>
                  <a:cubicBezTo>
                    <a:pt x="2383" y="1855221"/>
                    <a:pt x="0" y="1849469"/>
                    <a:pt x="0" y="1843471"/>
                  </a:cubicBezTo>
                  <a:lnTo>
                    <a:pt x="0" y="22616"/>
                  </a:lnTo>
                  <a:cubicBezTo>
                    <a:pt x="0" y="16618"/>
                    <a:pt x="2383" y="10865"/>
                    <a:pt x="6624" y="6624"/>
                  </a:cubicBezTo>
                  <a:cubicBezTo>
                    <a:pt x="10865" y="2383"/>
                    <a:pt x="16618" y="0"/>
                    <a:pt x="22616" y="0"/>
                  </a:cubicBezTo>
                  <a:close/>
                </a:path>
              </a:pathLst>
            </a:custGeom>
            <a:solidFill>
              <a:srgbClr val="FFF3C2"/>
            </a:solidFill>
          </p:spPr>
          <p:txBody>
            <a:bodyPr/>
            <a:lstStyle/>
            <a:p>
              <a:endParaRPr lang="en-US"/>
            </a:p>
          </p:txBody>
        </p:sp>
        <p:sp>
          <p:nvSpPr>
            <p:cNvPr id="4" name="TextBox 4"/>
            <p:cNvSpPr txBox="1"/>
            <p:nvPr/>
          </p:nvSpPr>
          <p:spPr>
            <a:xfrm>
              <a:off x="0" y="-28575"/>
              <a:ext cx="4598049" cy="1894662"/>
            </a:xfrm>
            <a:prstGeom prst="rect">
              <a:avLst/>
            </a:prstGeom>
          </p:spPr>
          <p:txBody>
            <a:bodyPr lIns="50800" tIns="50800" rIns="50800" bIns="50800" rtlCol="0" anchor="ctr"/>
            <a:lstStyle/>
            <a:p>
              <a:pPr algn="ctr">
                <a:lnSpc>
                  <a:spcPts val="2239"/>
                </a:lnSpc>
              </a:pPr>
              <a:endParaRPr/>
            </a:p>
          </p:txBody>
        </p:sp>
      </p:grpSp>
      <p:sp>
        <p:nvSpPr>
          <p:cNvPr id="5" name="TextBox 5"/>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6" name="TextBox 6"/>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7" name="TextBox 7"/>
          <p:cNvSpPr txBox="1"/>
          <p:nvPr/>
        </p:nvSpPr>
        <p:spPr>
          <a:xfrm>
            <a:off x="384454" y="1694853"/>
            <a:ext cx="7641906" cy="463550"/>
          </a:xfrm>
          <a:prstGeom prst="rect">
            <a:avLst/>
          </a:prstGeom>
        </p:spPr>
        <p:txBody>
          <a:bodyPr lIns="0" tIns="0" rIns="0" bIns="0" rtlCol="0" anchor="t">
            <a:spAutoFit/>
          </a:bodyPr>
          <a:lstStyle/>
          <a:p>
            <a:pPr algn="l">
              <a:lnSpc>
                <a:spcPts val="3850"/>
              </a:lnSpc>
            </a:pPr>
            <a:r>
              <a:rPr lang="en-US" sz="2750" b="1">
                <a:solidFill>
                  <a:srgbClr val="000000"/>
                </a:solidFill>
                <a:latin typeface="Canva Sans Bold"/>
                <a:ea typeface="Canva Sans Bold"/>
                <a:cs typeface="Canva Sans Bold"/>
                <a:sym typeface="Canva Sans Bold"/>
              </a:rPr>
              <a:t>Business Model for Industrious</a:t>
            </a:r>
          </a:p>
        </p:txBody>
      </p:sp>
      <p:sp>
        <p:nvSpPr>
          <p:cNvPr id="8" name="AutoShape 8"/>
          <p:cNvSpPr/>
          <p:nvPr/>
        </p:nvSpPr>
        <p:spPr>
          <a:xfrm>
            <a:off x="384454" y="7970023"/>
            <a:ext cx="17401068" cy="0"/>
          </a:xfrm>
          <a:prstGeom prst="line">
            <a:avLst/>
          </a:prstGeom>
          <a:ln w="38100" cap="flat">
            <a:solidFill>
              <a:srgbClr val="000000"/>
            </a:solidFill>
            <a:prstDash val="solid"/>
            <a:headEnd type="none" w="sm" len="sm"/>
            <a:tailEnd type="none" w="sm" len="sm"/>
          </a:ln>
        </p:spPr>
        <p:txBody>
          <a:bodyPr/>
          <a:lstStyle/>
          <a:p>
            <a:endParaRPr lang="en-US"/>
          </a:p>
        </p:txBody>
      </p:sp>
      <p:sp>
        <p:nvSpPr>
          <p:cNvPr id="9" name="AutoShape 9"/>
          <p:cNvSpPr/>
          <p:nvPr/>
        </p:nvSpPr>
        <p:spPr>
          <a:xfrm>
            <a:off x="9056413" y="7970023"/>
            <a:ext cx="0" cy="1487990"/>
          </a:xfrm>
          <a:prstGeom prst="line">
            <a:avLst/>
          </a:prstGeom>
          <a:ln w="38100" cap="flat">
            <a:solidFill>
              <a:srgbClr val="000000"/>
            </a:solidFill>
            <a:prstDash val="solid"/>
            <a:headEnd type="none" w="sm" len="sm"/>
            <a:tailEnd type="none" w="sm" len="sm"/>
          </a:ln>
        </p:spPr>
        <p:txBody>
          <a:bodyPr/>
          <a:lstStyle/>
          <a:p>
            <a:endParaRPr lang="en-US"/>
          </a:p>
        </p:txBody>
      </p:sp>
      <p:sp>
        <p:nvSpPr>
          <p:cNvPr id="10" name="AutoShape 10"/>
          <p:cNvSpPr/>
          <p:nvPr/>
        </p:nvSpPr>
        <p:spPr>
          <a:xfrm flipH="1">
            <a:off x="3743331" y="2372780"/>
            <a:ext cx="19050" cy="5597308"/>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AutoShape 11"/>
          <p:cNvSpPr/>
          <p:nvPr/>
        </p:nvSpPr>
        <p:spPr>
          <a:xfrm flipH="1">
            <a:off x="7817286" y="2372845"/>
            <a:ext cx="19050" cy="5597308"/>
          </a:xfrm>
          <a:prstGeom prst="line">
            <a:avLst/>
          </a:prstGeom>
          <a:ln w="38100" cap="flat">
            <a:solidFill>
              <a:srgbClr val="000000"/>
            </a:solidFill>
            <a:prstDash val="solid"/>
            <a:headEnd type="none" w="sm" len="sm"/>
            <a:tailEnd type="none" w="sm" len="sm"/>
          </a:ln>
        </p:spPr>
        <p:txBody>
          <a:bodyPr/>
          <a:lstStyle/>
          <a:p>
            <a:endParaRPr lang="en-US"/>
          </a:p>
        </p:txBody>
      </p:sp>
      <p:sp>
        <p:nvSpPr>
          <p:cNvPr id="12" name="AutoShape 12"/>
          <p:cNvSpPr/>
          <p:nvPr/>
        </p:nvSpPr>
        <p:spPr>
          <a:xfrm flipH="1">
            <a:off x="10977645" y="2372910"/>
            <a:ext cx="19050" cy="5597308"/>
          </a:xfrm>
          <a:prstGeom prst="line">
            <a:avLst/>
          </a:prstGeom>
          <a:ln w="38100" cap="flat">
            <a:solidFill>
              <a:srgbClr val="000000"/>
            </a:solidFill>
            <a:prstDash val="solid"/>
            <a:headEnd type="none" w="sm" len="sm"/>
            <a:tailEnd type="none" w="sm" len="sm"/>
          </a:ln>
        </p:spPr>
        <p:txBody>
          <a:bodyPr/>
          <a:lstStyle/>
          <a:p>
            <a:endParaRPr lang="en-US"/>
          </a:p>
        </p:txBody>
      </p:sp>
      <p:sp>
        <p:nvSpPr>
          <p:cNvPr id="13" name="AutoShape 13"/>
          <p:cNvSpPr/>
          <p:nvPr/>
        </p:nvSpPr>
        <p:spPr>
          <a:xfrm flipH="1">
            <a:off x="14639844" y="2372974"/>
            <a:ext cx="19050" cy="5597308"/>
          </a:xfrm>
          <a:prstGeom prst="line">
            <a:avLst/>
          </a:prstGeom>
          <a:ln w="38100" cap="flat">
            <a:solidFill>
              <a:srgbClr val="000000"/>
            </a:solidFill>
            <a:prstDash val="solid"/>
            <a:headEnd type="none" w="sm" len="sm"/>
            <a:tailEnd type="none" w="sm" len="sm"/>
          </a:ln>
        </p:spPr>
        <p:txBody>
          <a:bodyPr/>
          <a:lstStyle/>
          <a:p>
            <a:endParaRPr lang="en-US"/>
          </a:p>
        </p:txBody>
      </p:sp>
      <p:sp>
        <p:nvSpPr>
          <p:cNvPr id="14" name="AutoShape 14"/>
          <p:cNvSpPr/>
          <p:nvPr/>
        </p:nvSpPr>
        <p:spPr>
          <a:xfrm>
            <a:off x="10977645" y="5163165"/>
            <a:ext cx="3681250" cy="0"/>
          </a:xfrm>
          <a:prstGeom prst="line">
            <a:avLst/>
          </a:prstGeom>
          <a:ln w="38100" cap="flat">
            <a:solidFill>
              <a:srgbClr val="000000"/>
            </a:solidFill>
            <a:prstDash val="solid"/>
            <a:headEnd type="none" w="sm" len="sm"/>
            <a:tailEnd type="none" w="sm" len="sm"/>
          </a:ln>
        </p:spPr>
        <p:txBody>
          <a:bodyPr/>
          <a:lstStyle/>
          <a:p>
            <a:endParaRPr lang="en-US"/>
          </a:p>
        </p:txBody>
      </p:sp>
      <p:sp>
        <p:nvSpPr>
          <p:cNvPr id="15" name="AutoShape 15"/>
          <p:cNvSpPr/>
          <p:nvPr/>
        </p:nvSpPr>
        <p:spPr>
          <a:xfrm>
            <a:off x="3724281" y="6190792"/>
            <a:ext cx="4093005" cy="0"/>
          </a:xfrm>
          <a:prstGeom prst="line">
            <a:avLst/>
          </a:prstGeom>
          <a:ln w="38100" cap="flat">
            <a:solidFill>
              <a:srgbClr val="000000"/>
            </a:solidFill>
            <a:prstDash val="solid"/>
            <a:headEnd type="none" w="sm" len="sm"/>
            <a:tailEnd type="none" w="sm" len="sm"/>
          </a:ln>
        </p:spPr>
        <p:txBody>
          <a:bodyPr/>
          <a:lstStyle/>
          <a:p>
            <a:endParaRPr lang="en-US"/>
          </a:p>
        </p:txBody>
      </p:sp>
      <p:sp>
        <p:nvSpPr>
          <p:cNvPr id="16" name="TextBox 16"/>
          <p:cNvSpPr txBox="1"/>
          <p:nvPr/>
        </p:nvSpPr>
        <p:spPr>
          <a:xfrm>
            <a:off x="1133892" y="2334874"/>
            <a:ext cx="1263134"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Problem</a:t>
            </a:r>
          </a:p>
        </p:txBody>
      </p:sp>
      <p:sp>
        <p:nvSpPr>
          <p:cNvPr id="17" name="TextBox 17"/>
          <p:cNvSpPr txBox="1"/>
          <p:nvPr/>
        </p:nvSpPr>
        <p:spPr>
          <a:xfrm>
            <a:off x="4519672" y="2334615"/>
            <a:ext cx="1261110"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Solution</a:t>
            </a:r>
          </a:p>
        </p:txBody>
      </p:sp>
      <p:sp>
        <p:nvSpPr>
          <p:cNvPr id="18" name="TextBox 18"/>
          <p:cNvSpPr txBox="1"/>
          <p:nvPr/>
        </p:nvSpPr>
        <p:spPr>
          <a:xfrm>
            <a:off x="0" y="7932182"/>
            <a:ext cx="3493813"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Cost Structure</a:t>
            </a:r>
          </a:p>
        </p:txBody>
      </p:sp>
      <p:sp>
        <p:nvSpPr>
          <p:cNvPr id="19" name="TextBox 19"/>
          <p:cNvSpPr txBox="1"/>
          <p:nvPr/>
        </p:nvSpPr>
        <p:spPr>
          <a:xfrm>
            <a:off x="3762381" y="2906572"/>
            <a:ext cx="3912072" cy="3131820"/>
          </a:xfrm>
          <a:prstGeom prst="rect">
            <a:avLst/>
          </a:prstGeom>
        </p:spPr>
        <p:txBody>
          <a:bodyPr lIns="0" tIns="0" rIns="0" bIns="0" rtlCol="0" anchor="t">
            <a:spAutoFit/>
          </a:bodyPr>
          <a:lstStyle/>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Turnkey, Scalable Hybrid Ecosystem: Provides wellness-focused environments and advanced technology (booking/analytics) to seamlessly manage and scale client hybrid workforces.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Community-oriented environments with wellness-focused features to boost engagement and productivity.</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Advanced technology platform for booking, analytics, and hybrid workforce management.</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Professional services for workspace design, operations, and member support.</a:t>
            </a:r>
          </a:p>
          <a:p>
            <a:pPr algn="l">
              <a:lnSpc>
                <a:spcPts val="1679"/>
              </a:lnSpc>
            </a:pPr>
            <a:endParaRPr lang="en-US" sz="1200">
              <a:solidFill>
                <a:srgbClr val="000000"/>
              </a:solidFill>
              <a:latin typeface="Canva Sans"/>
              <a:ea typeface="Canva Sans"/>
              <a:cs typeface="Canva Sans"/>
              <a:sym typeface="Canva Sans"/>
            </a:endParaRPr>
          </a:p>
        </p:txBody>
      </p:sp>
      <p:sp>
        <p:nvSpPr>
          <p:cNvPr id="20" name="TextBox 20"/>
          <p:cNvSpPr txBox="1"/>
          <p:nvPr/>
        </p:nvSpPr>
        <p:spPr>
          <a:xfrm>
            <a:off x="4150429" y="6136856"/>
            <a:ext cx="1601986" cy="372745"/>
          </a:xfrm>
          <a:prstGeom prst="rect">
            <a:avLst/>
          </a:prstGeom>
        </p:spPr>
        <p:txBody>
          <a:bodyPr lIns="0" tIns="0" rIns="0" bIns="0" rtlCol="0" anchor="t">
            <a:spAutoFit/>
          </a:bodyPr>
          <a:lstStyle/>
          <a:p>
            <a:pPr algn="ctr">
              <a:lnSpc>
                <a:spcPts val="3080"/>
              </a:lnSpc>
            </a:pPr>
            <a:r>
              <a:rPr lang="en-US" sz="2200" b="1">
                <a:solidFill>
                  <a:srgbClr val="000000"/>
                </a:solidFill>
                <a:latin typeface="Canva Sans Bold"/>
                <a:ea typeface="Canva Sans Bold"/>
                <a:cs typeface="Canva Sans Bold"/>
                <a:sym typeface="Canva Sans Bold"/>
              </a:rPr>
              <a:t>Key Metrics</a:t>
            </a:r>
          </a:p>
        </p:txBody>
      </p:sp>
      <p:sp>
        <p:nvSpPr>
          <p:cNvPr id="21" name="TextBox 21"/>
          <p:cNvSpPr txBox="1"/>
          <p:nvPr/>
        </p:nvSpPr>
        <p:spPr>
          <a:xfrm>
            <a:off x="8088730" y="2334874"/>
            <a:ext cx="2636520"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Value Proposition</a:t>
            </a:r>
          </a:p>
        </p:txBody>
      </p:sp>
      <p:sp>
        <p:nvSpPr>
          <p:cNvPr id="22" name="TextBox 22"/>
          <p:cNvSpPr txBox="1"/>
          <p:nvPr/>
        </p:nvSpPr>
        <p:spPr>
          <a:xfrm>
            <a:off x="11520964" y="2334615"/>
            <a:ext cx="2594610"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Unfair Advantage</a:t>
            </a:r>
          </a:p>
        </p:txBody>
      </p:sp>
      <p:sp>
        <p:nvSpPr>
          <p:cNvPr id="23" name="TextBox 23"/>
          <p:cNvSpPr txBox="1"/>
          <p:nvPr/>
        </p:nvSpPr>
        <p:spPr>
          <a:xfrm>
            <a:off x="12124492" y="5125065"/>
            <a:ext cx="1387554"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Channels</a:t>
            </a:r>
          </a:p>
        </p:txBody>
      </p:sp>
      <p:sp>
        <p:nvSpPr>
          <p:cNvPr id="24" name="TextBox 24"/>
          <p:cNvSpPr txBox="1"/>
          <p:nvPr/>
        </p:nvSpPr>
        <p:spPr>
          <a:xfrm>
            <a:off x="14716044" y="2334874"/>
            <a:ext cx="2821868" cy="8153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Customer Segments</a:t>
            </a:r>
          </a:p>
        </p:txBody>
      </p:sp>
      <p:sp>
        <p:nvSpPr>
          <p:cNvPr id="25" name="TextBox 25"/>
          <p:cNvSpPr txBox="1"/>
          <p:nvPr/>
        </p:nvSpPr>
        <p:spPr>
          <a:xfrm>
            <a:off x="9308306" y="7932182"/>
            <a:ext cx="1290042" cy="396240"/>
          </a:xfrm>
          <a:prstGeom prst="rect">
            <a:avLst/>
          </a:prstGeom>
        </p:spPr>
        <p:txBody>
          <a:bodyPr lIns="0" tIns="0" rIns="0" bIns="0" rtlCol="0" anchor="t">
            <a:spAutoFit/>
          </a:bodyPr>
          <a:lstStyle/>
          <a:p>
            <a:pPr algn="ctr">
              <a:lnSpc>
                <a:spcPts val="3360"/>
              </a:lnSpc>
            </a:pPr>
            <a:r>
              <a:rPr lang="en-US" sz="2400" b="1">
                <a:solidFill>
                  <a:srgbClr val="000000"/>
                </a:solidFill>
                <a:latin typeface="Canva Sans Bold"/>
                <a:ea typeface="Canva Sans Bold"/>
                <a:cs typeface="Canva Sans Bold"/>
                <a:sym typeface="Canva Sans Bold"/>
              </a:rPr>
              <a:t>Revenue</a:t>
            </a:r>
          </a:p>
        </p:txBody>
      </p:sp>
      <p:sp>
        <p:nvSpPr>
          <p:cNvPr id="26" name="TextBox 26"/>
          <p:cNvSpPr txBox="1"/>
          <p:nvPr/>
        </p:nvSpPr>
        <p:spPr>
          <a:xfrm>
            <a:off x="384454" y="3111480"/>
            <a:ext cx="3339827" cy="3341370"/>
          </a:xfrm>
          <a:prstGeom prst="rect">
            <a:avLst/>
          </a:prstGeom>
        </p:spPr>
        <p:txBody>
          <a:bodyPr lIns="0" tIns="0" rIns="0" bIns="0" rtlCol="0" anchor="t">
            <a:spAutoFit/>
          </a:bodyPr>
          <a:lstStyle/>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Complexity of Hybrid Work: Enterprises struggle to manage complex, data-driven hybrid work models necessary to boost productivity and employee satisfaction.</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Businesses struggle to foster community, engagement, and productivity in outdated workspaces.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Managing and optimizing hybrid work models is complex for enterprise clients.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Lack of data-driven insights into workspace usage and employee satisfaction</a:t>
            </a:r>
          </a:p>
          <a:p>
            <a:pPr algn="l">
              <a:lnSpc>
                <a:spcPts val="1679"/>
              </a:lnSpc>
            </a:pPr>
            <a:endParaRPr lang="en-US" sz="1200">
              <a:solidFill>
                <a:srgbClr val="000000"/>
              </a:solidFill>
              <a:latin typeface="Canva Sans"/>
              <a:ea typeface="Canva Sans"/>
              <a:cs typeface="Canva Sans"/>
              <a:sym typeface="Canva Sans"/>
            </a:endParaRPr>
          </a:p>
        </p:txBody>
      </p:sp>
      <p:sp>
        <p:nvSpPr>
          <p:cNvPr id="27" name="TextBox 27"/>
          <p:cNvSpPr txBox="1"/>
          <p:nvPr/>
        </p:nvSpPr>
        <p:spPr>
          <a:xfrm>
            <a:off x="3762381" y="6524128"/>
            <a:ext cx="3912072" cy="1455420"/>
          </a:xfrm>
          <a:prstGeom prst="rect">
            <a:avLst/>
          </a:prstGeom>
        </p:spPr>
        <p:txBody>
          <a:bodyPr lIns="0" tIns="0" rIns="0" bIns="0" rtlCol="0" anchor="t">
            <a:spAutoFit/>
          </a:bodyPr>
          <a:lstStyle/>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Retention &amp; Lifetime Value (LTV): Prioritizes Member Satisfaction/Renewal Rates and Enterprise Expansion Deals to validate service quality and secure long-term revenue.</a:t>
            </a: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Enterprise memberships and expansion deals.</a:t>
            </a: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Revenue per workspace and overall profitability.</a:t>
            </a:r>
          </a:p>
          <a:p>
            <a:pPr algn="l">
              <a:lnSpc>
                <a:spcPts val="1679"/>
              </a:lnSpc>
            </a:pPr>
            <a:endParaRPr lang="en-US" sz="1200">
              <a:solidFill>
                <a:srgbClr val="000000"/>
              </a:solidFill>
              <a:latin typeface="Canva Sans"/>
              <a:ea typeface="Canva Sans"/>
              <a:cs typeface="Canva Sans"/>
              <a:sym typeface="Canva Sans"/>
            </a:endParaRPr>
          </a:p>
        </p:txBody>
      </p:sp>
      <p:sp>
        <p:nvSpPr>
          <p:cNvPr id="28" name="TextBox 28"/>
          <p:cNvSpPr txBox="1"/>
          <p:nvPr/>
        </p:nvSpPr>
        <p:spPr>
          <a:xfrm>
            <a:off x="7817286" y="3111480"/>
            <a:ext cx="3127456" cy="3760470"/>
          </a:xfrm>
          <a:prstGeom prst="rect">
            <a:avLst/>
          </a:prstGeom>
        </p:spPr>
        <p:txBody>
          <a:bodyPr lIns="0" tIns="0" rIns="0" bIns="0" rtlCol="0" anchor="t">
            <a:spAutoFit/>
          </a:bodyPr>
          <a:lstStyle/>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Premium Workplace-as-a-Service: Delivers predictable, cost-efficient, and hospitality-centered environments that specifically attract and retain enterprise talent.</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Predictable &amp; transparent cost structure</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Wellness &amp; hospitality-centered community</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Industry leading technology for easy management and analytics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Networking events and branded experiences</a:t>
            </a:r>
          </a:p>
          <a:p>
            <a:pPr algn="l">
              <a:lnSpc>
                <a:spcPts val="1679"/>
              </a:lnSpc>
            </a:pPr>
            <a:endParaRPr lang="en-US" sz="1200">
              <a:solidFill>
                <a:srgbClr val="000000"/>
              </a:solidFill>
              <a:latin typeface="Canva Sans"/>
              <a:ea typeface="Canva Sans"/>
              <a:cs typeface="Canva Sans"/>
              <a:sym typeface="Canva Sans"/>
            </a:endParaRPr>
          </a:p>
        </p:txBody>
      </p:sp>
      <p:sp>
        <p:nvSpPr>
          <p:cNvPr id="29" name="TextBox 29"/>
          <p:cNvSpPr txBox="1"/>
          <p:nvPr/>
        </p:nvSpPr>
        <p:spPr>
          <a:xfrm>
            <a:off x="11015745" y="2713969"/>
            <a:ext cx="3643150" cy="2593467"/>
          </a:xfrm>
          <a:prstGeom prst="rect">
            <a:avLst/>
          </a:prstGeom>
        </p:spPr>
        <p:txBody>
          <a:bodyPr lIns="0" tIns="0" rIns="0" bIns="0" rtlCol="0" anchor="t">
            <a:spAutoFit/>
          </a:bodyPr>
          <a:lstStyle/>
          <a:p>
            <a:pPr marL="259080" lvl="1" indent="-129540" algn="l">
              <a:lnSpc>
                <a:spcPts val="1908"/>
              </a:lnSpc>
              <a:buFont typeface="Arial"/>
              <a:buChar char="•"/>
            </a:pPr>
            <a:r>
              <a:rPr lang="en-US" sz="1200">
                <a:solidFill>
                  <a:srgbClr val="000000"/>
                </a:solidFill>
                <a:latin typeface="Canva Sans"/>
                <a:ea typeface="Canva Sans"/>
                <a:cs typeface="Canva Sans"/>
                <a:sym typeface="Canva Sans"/>
              </a:rPr>
              <a:t>Proprietary Tech &amp; Institutional Backing: Leveraging in-house technology for member management, validated by CBRE's acquisition, providing unique market credibility and accelerated, capital-light expansion.</a:t>
            </a:r>
          </a:p>
          <a:p>
            <a:pPr marL="259080" lvl="1" indent="-129540" algn="l">
              <a:lnSpc>
                <a:spcPts val="1908"/>
              </a:lnSpc>
              <a:buFont typeface="Arial"/>
              <a:buChar char="•"/>
            </a:pPr>
            <a:r>
              <a:rPr lang="en-US" sz="1200">
                <a:solidFill>
                  <a:srgbClr val="000000"/>
                </a:solidFill>
                <a:latin typeface="Canva Sans"/>
                <a:ea typeface="Canva Sans"/>
                <a:cs typeface="Canva Sans"/>
                <a:sym typeface="Canva Sans"/>
              </a:rPr>
              <a:t>Recognized brand for quality and hospitality in flexible office space.</a:t>
            </a:r>
          </a:p>
          <a:p>
            <a:pPr marL="259080" lvl="1" indent="-129540" algn="l">
              <a:lnSpc>
                <a:spcPts val="1908"/>
              </a:lnSpc>
              <a:buFont typeface="Arial"/>
              <a:buChar char="•"/>
            </a:pPr>
            <a:r>
              <a:rPr lang="en-US" sz="1200">
                <a:solidFill>
                  <a:srgbClr val="000000"/>
                </a:solidFill>
                <a:latin typeface="Canva Sans"/>
                <a:ea typeface="Canva Sans"/>
                <a:cs typeface="Canva Sans"/>
                <a:sym typeface="Canva Sans"/>
              </a:rPr>
              <a:t>Scalable network and experience in operational excellence across cities.</a:t>
            </a:r>
          </a:p>
          <a:p>
            <a:pPr algn="l">
              <a:lnSpc>
                <a:spcPts val="1679"/>
              </a:lnSpc>
            </a:pPr>
            <a:endParaRPr lang="en-US" sz="1200">
              <a:solidFill>
                <a:srgbClr val="000000"/>
              </a:solidFill>
              <a:latin typeface="Canva Sans"/>
              <a:ea typeface="Canva Sans"/>
              <a:cs typeface="Canva Sans"/>
              <a:sym typeface="Canva Sans"/>
            </a:endParaRPr>
          </a:p>
        </p:txBody>
      </p:sp>
      <p:sp>
        <p:nvSpPr>
          <p:cNvPr id="30" name="TextBox 30"/>
          <p:cNvSpPr txBox="1"/>
          <p:nvPr/>
        </p:nvSpPr>
        <p:spPr>
          <a:xfrm>
            <a:off x="11015745" y="5531544"/>
            <a:ext cx="3643150" cy="2503170"/>
          </a:xfrm>
          <a:prstGeom prst="rect">
            <a:avLst/>
          </a:prstGeom>
        </p:spPr>
        <p:txBody>
          <a:bodyPr lIns="0" tIns="0" rIns="0" bIns="0" rtlCol="0" anchor="t">
            <a:spAutoFit/>
          </a:bodyPr>
          <a:lstStyle/>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Direct sales team targeting enterprises and SMBs.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Digital marketing through website and social media platforms.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Partnerships with commercial real estate brokers.</a:t>
            </a:r>
          </a:p>
          <a:p>
            <a:pPr algn="l">
              <a:lnSpc>
                <a:spcPts val="1679"/>
              </a:lnSpc>
            </a:pPr>
            <a:endParaRPr lang="en-US" sz="1200">
              <a:solidFill>
                <a:srgbClr val="000000"/>
              </a:solidFill>
              <a:latin typeface="Canva Sans"/>
              <a:ea typeface="Canva Sans"/>
              <a:cs typeface="Canva Sans"/>
              <a:sym typeface="Canva Sans"/>
            </a:endParaRPr>
          </a:p>
          <a:p>
            <a:pPr marL="259080" lvl="1" indent="-129540" algn="l">
              <a:lnSpc>
                <a:spcPts val="1679"/>
              </a:lnSpc>
              <a:buFont typeface="Arial"/>
              <a:buChar char="•"/>
            </a:pPr>
            <a:r>
              <a:rPr lang="en-US" sz="1200">
                <a:solidFill>
                  <a:srgbClr val="000000"/>
                </a:solidFill>
                <a:latin typeface="Canva Sans"/>
                <a:ea typeface="Canva Sans"/>
                <a:cs typeface="Canva Sans"/>
                <a:sym typeface="Canva Sans"/>
              </a:rPr>
              <a:t>Technology integrations and referral programs</a:t>
            </a:r>
          </a:p>
          <a:p>
            <a:pPr algn="l">
              <a:lnSpc>
                <a:spcPts val="1679"/>
              </a:lnSpc>
            </a:pPr>
            <a:endParaRPr lang="en-US" sz="1200">
              <a:solidFill>
                <a:srgbClr val="000000"/>
              </a:solidFill>
              <a:latin typeface="Canva Sans"/>
              <a:ea typeface="Canva Sans"/>
              <a:cs typeface="Canva Sans"/>
              <a:sym typeface="Canva Sans"/>
            </a:endParaRPr>
          </a:p>
        </p:txBody>
      </p:sp>
      <p:sp>
        <p:nvSpPr>
          <p:cNvPr id="31" name="TextBox 31"/>
          <p:cNvSpPr txBox="1"/>
          <p:nvPr/>
        </p:nvSpPr>
        <p:spPr>
          <a:xfrm>
            <a:off x="384454" y="8293873"/>
            <a:ext cx="7748141" cy="1077087"/>
          </a:xfrm>
          <a:prstGeom prst="rect">
            <a:avLst/>
          </a:prstGeom>
        </p:spPr>
        <p:txBody>
          <a:bodyPr lIns="0" tIns="0" rIns="0" bIns="0" rtlCol="0" anchor="t">
            <a:spAutoFit/>
          </a:bodyPr>
          <a:lstStyle/>
          <a:p>
            <a:pPr marL="259080" lvl="1" indent="-129540" algn="l">
              <a:lnSpc>
                <a:spcPts val="2184"/>
              </a:lnSpc>
              <a:buFont typeface="Arial"/>
              <a:buChar char="•"/>
            </a:pPr>
            <a:r>
              <a:rPr lang="en-US" sz="1200">
                <a:solidFill>
                  <a:srgbClr val="000000"/>
                </a:solidFill>
                <a:latin typeface="Canva Sans"/>
                <a:ea typeface="Canva Sans"/>
                <a:cs typeface="Canva Sans"/>
                <a:sym typeface="Canva Sans"/>
              </a:rPr>
              <a:t>High Service Cost: Costs are driven by salaries for high-caliber staff (community managers), which is a necessary operational expense to deliver the premium service quality.</a:t>
            </a:r>
          </a:p>
          <a:p>
            <a:pPr marL="259080" lvl="1" indent="-129540" algn="l">
              <a:lnSpc>
                <a:spcPts val="2184"/>
              </a:lnSpc>
              <a:buFont typeface="Arial"/>
              <a:buChar char="•"/>
            </a:pPr>
            <a:r>
              <a:rPr lang="en-US" sz="1200">
                <a:solidFill>
                  <a:srgbClr val="000000"/>
                </a:solidFill>
                <a:latin typeface="Canva Sans"/>
                <a:ea typeface="Canva Sans"/>
                <a:cs typeface="Canva Sans"/>
                <a:sym typeface="Canva Sans"/>
              </a:rPr>
              <a:t>Maintenance, utilities, cleaning, IT infrastructure</a:t>
            </a:r>
          </a:p>
          <a:p>
            <a:pPr marL="259080" lvl="1" indent="-129540" algn="l">
              <a:lnSpc>
                <a:spcPts val="2184"/>
              </a:lnSpc>
              <a:buFont typeface="Arial"/>
              <a:buChar char="•"/>
            </a:pPr>
            <a:r>
              <a:rPr lang="en-US" sz="1200">
                <a:solidFill>
                  <a:srgbClr val="000000"/>
                </a:solidFill>
                <a:latin typeface="Canva Sans"/>
                <a:ea typeface="Canva Sans"/>
                <a:cs typeface="Canva Sans"/>
                <a:sym typeface="Canva Sans"/>
              </a:rPr>
              <a:t>Space refurbishment, technology platform, marketing</a:t>
            </a:r>
          </a:p>
        </p:txBody>
      </p:sp>
      <p:sp>
        <p:nvSpPr>
          <p:cNvPr id="32" name="TextBox 32"/>
          <p:cNvSpPr txBox="1"/>
          <p:nvPr/>
        </p:nvSpPr>
        <p:spPr>
          <a:xfrm>
            <a:off x="9144000" y="8346837"/>
            <a:ext cx="7748141" cy="1045083"/>
          </a:xfrm>
          <a:prstGeom prst="rect">
            <a:avLst/>
          </a:prstGeom>
        </p:spPr>
        <p:txBody>
          <a:bodyPr lIns="0" tIns="0" rIns="0" bIns="0" rtlCol="0" anchor="t">
            <a:spAutoFit/>
          </a:bodyPr>
          <a:lstStyle/>
          <a:p>
            <a:pPr marL="259080" lvl="1" indent="-129540" algn="l">
              <a:lnSpc>
                <a:spcPts val="2136"/>
              </a:lnSpc>
              <a:buFont typeface="Arial"/>
              <a:buChar char="•"/>
            </a:pPr>
            <a:r>
              <a:rPr lang="en-US" sz="1200">
                <a:solidFill>
                  <a:srgbClr val="000000"/>
                </a:solidFill>
                <a:latin typeface="Canva Sans"/>
                <a:ea typeface="Canva Sans"/>
                <a:cs typeface="Canva Sans"/>
                <a:sym typeface="Canva Sans"/>
              </a:rPr>
              <a:t>Membership/subscription fees (private offices, dedicated desks, hot desks)</a:t>
            </a:r>
          </a:p>
          <a:p>
            <a:pPr marL="259080" lvl="1" indent="-129540" algn="l">
              <a:lnSpc>
                <a:spcPts val="2136"/>
              </a:lnSpc>
              <a:buFont typeface="Arial"/>
              <a:buChar char="•"/>
            </a:pPr>
            <a:r>
              <a:rPr lang="en-US" sz="1200">
                <a:solidFill>
                  <a:srgbClr val="000000"/>
                </a:solidFill>
                <a:latin typeface="Canva Sans"/>
                <a:ea typeface="Canva Sans"/>
                <a:cs typeface="Canva Sans"/>
                <a:sym typeface="Canva Sans"/>
              </a:rPr>
              <a:t>Enterprise contracts (customized solutions for large companies)</a:t>
            </a:r>
          </a:p>
          <a:p>
            <a:pPr marL="259080" lvl="1" indent="-129540" algn="l">
              <a:lnSpc>
                <a:spcPts val="2136"/>
              </a:lnSpc>
              <a:buFont typeface="Arial"/>
              <a:buChar char="•"/>
            </a:pPr>
            <a:r>
              <a:rPr lang="en-US" sz="1200">
                <a:solidFill>
                  <a:srgbClr val="000000"/>
                </a:solidFill>
                <a:latin typeface="Canva Sans"/>
                <a:ea typeface="Canva Sans"/>
                <a:cs typeface="Canva Sans"/>
                <a:sym typeface="Canva Sans"/>
              </a:rPr>
              <a:t>Predictable Enterprise Subscriptions: Focus on recurring revenue from customized enterprise contracts (MRR) over volatile event rentals and day passes.</a:t>
            </a:r>
          </a:p>
        </p:txBody>
      </p:sp>
      <p:sp>
        <p:nvSpPr>
          <p:cNvPr id="33" name="TextBox 33"/>
          <p:cNvSpPr txBox="1"/>
          <p:nvPr/>
        </p:nvSpPr>
        <p:spPr>
          <a:xfrm>
            <a:off x="14668419" y="3136578"/>
            <a:ext cx="3098054" cy="4561332"/>
          </a:xfrm>
          <a:prstGeom prst="rect">
            <a:avLst/>
          </a:prstGeom>
        </p:spPr>
        <p:txBody>
          <a:bodyPr lIns="0" tIns="0" rIns="0" bIns="0" rtlCol="0" anchor="t">
            <a:spAutoFit/>
          </a:bodyPr>
          <a:lstStyle/>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High-Value Enterprise &amp; Distributed Teams: Focus on large clients requiring customized, scalable solutions and data-driven insights to manage their hybrid workforce.​</a:t>
            </a:r>
          </a:p>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Enterprise clients needing scalable, customized office solutions and data-driven management.​</a:t>
            </a:r>
          </a:p>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Startups and entrepreneurs looking for collaborative community and networking benefits.​</a:t>
            </a:r>
          </a:p>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Remote workers and freelancers seeking access to high-quality workspaces on demand.​</a:t>
            </a:r>
          </a:p>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Teams focused on wellness, productivity, and hospitality in their work environment.​</a:t>
            </a:r>
          </a:p>
          <a:p>
            <a:pPr marL="259080" lvl="1" indent="-129540" algn="l">
              <a:lnSpc>
                <a:spcPts val="1824"/>
              </a:lnSpc>
              <a:buFont typeface="Arial"/>
              <a:buChar char="•"/>
            </a:pPr>
            <a:r>
              <a:rPr lang="en-US" sz="1200">
                <a:solidFill>
                  <a:srgbClr val="000000"/>
                </a:solidFill>
                <a:latin typeface="Canva Sans"/>
                <a:ea typeface="Canva Sans"/>
                <a:cs typeface="Canva Sans"/>
                <a:sym typeface="Canva Sans"/>
              </a:rPr>
              <a:t>Event organizers and professionals needing short-term or day-use premium spaces.​</a:t>
            </a:r>
          </a:p>
        </p:txBody>
      </p:sp>
      <p:sp>
        <p:nvSpPr>
          <p:cNvPr id="34" name="Freeform 34"/>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
        <p:nvSpPr>
          <p:cNvPr id="35" name="TextBox 35"/>
          <p:cNvSpPr txBox="1"/>
          <p:nvPr/>
        </p:nvSpPr>
        <p:spPr>
          <a:xfrm>
            <a:off x="526223" y="9662801"/>
            <a:ext cx="17259300" cy="470535"/>
          </a:xfrm>
          <a:prstGeom prst="rect">
            <a:avLst/>
          </a:prstGeom>
        </p:spPr>
        <p:txBody>
          <a:bodyPr lIns="0" tIns="0" rIns="0" bIns="0" rtlCol="0" anchor="t">
            <a:spAutoFit/>
          </a:bodyPr>
          <a:lstStyle/>
          <a:p>
            <a:pPr algn="l">
              <a:lnSpc>
                <a:spcPts val="1920"/>
              </a:lnSpc>
            </a:pPr>
            <a:r>
              <a:rPr lang="en-US" sz="1500" b="1">
                <a:solidFill>
                  <a:srgbClr val="000000"/>
                </a:solidFill>
                <a:latin typeface="Open Sans 2 Bold"/>
                <a:ea typeface="Open Sans 2 Bold"/>
                <a:cs typeface="Open Sans 2 Bold"/>
                <a:sym typeface="Open Sans 2 Bold"/>
              </a:rPr>
              <a:t>Conclusion: Industrious strategically uses an asset-light, high-touch service model to command premium pricing from enterprise clients. Its success hinges on balancing the high cost of personalized service against the volume required to overcome inherently thinner margins from its partnership-based real estate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1082" y="2303507"/>
            <a:ext cx="5895866" cy="1912981"/>
            <a:chOff x="0" y="0"/>
            <a:chExt cx="1854389" cy="601678"/>
          </a:xfrm>
        </p:grpSpPr>
        <p:sp>
          <p:nvSpPr>
            <p:cNvPr id="3" name="Freeform 3"/>
            <p:cNvSpPr/>
            <p:nvPr/>
          </p:nvSpPr>
          <p:spPr>
            <a:xfrm>
              <a:off x="0" y="0"/>
              <a:ext cx="1854389" cy="601678"/>
            </a:xfrm>
            <a:custGeom>
              <a:avLst/>
              <a:gdLst/>
              <a:ahLst/>
              <a:cxnLst/>
              <a:rect l="l" t="t" r="r" b="b"/>
              <a:pathLst>
                <a:path w="1854389" h="601678">
                  <a:moveTo>
                    <a:pt x="0" y="0"/>
                  </a:moveTo>
                  <a:lnTo>
                    <a:pt x="1854389" y="0"/>
                  </a:lnTo>
                  <a:lnTo>
                    <a:pt x="1854389" y="601678"/>
                  </a:lnTo>
                  <a:lnTo>
                    <a:pt x="0" y="601678"/>
                  </a:lnTo>
                  <a:close/>
                </a:path>
              </a:pathLst>
            </a:custGeom>
            <a:solidFill>
              <a:srgbClr val="FEDD6B"/>
            </a:solidFill>
          </p:spPr>
          <p:txBody>
            <a:bodyPr/>
            <a:lstStyle/>
            <a:p>
              <a:endParaRPr lang="en-US"/>
            </a:p>
          </p:txBody>
        </p:sp>
        <p:sp>
          <p:nvSpPr>
            <p:cNvPr id="4" name="TextBox 4"/>
            <p:cNvSpPr txBox="1"/>
            <p:nvPr/>
          </p:nvSpPr>
          <p:spPr>
            <a:xfrm>
              <a:off x="0" y="-28575"/>
              <a:ext cx="1854389" cy="630253"/>
            </a:xfrm>
            <a:prstGeom prst="rect">
              <a:avLst/>
            </a:prstGeom>
          </p:spPr>
          <p:txBody>
            <a:bodyPr lIns="0" tIns="0" rIns="0" bIns="0" rtlCol="0" anchor="ctr"/>
            <a:lstStyle/>
            <a:p>
              <a:pPr algn="ctr">
                <a:lnSpc>
                  <a:spcPts val="2100"/>
                </a:lnSpc>
              </a:pPr>
              <a:r>
                <a:rPr lang="en-US" sz="1500" b="1">
                  <a:solidFill>
                    <a:srgbClr val="000000"/>
                  </a:solidFill>
                  <a:latin typeface="Open Sans 1 Bold"/>
                  <a:ea typeface="Open Sans 1 Bold"/>
                  <a:cs typeface="Open Sans 1 Bold"/>
                  <a:sym typeface="Open Sans 1 Bold"/>
                </a:rPr>
                <a:t>Firm Infrastructure</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Asset-light structure with revenue-sharing management agreements.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Backed by CBRE’s financial strength and institutional due diligence.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Strong governance, strategic planning, and expansion capabilities.</a:t>
              </a:r>
            </a:p>
          </p:txBody>
        </p:sp>
      </p:grpSp>
      <p:grpSp>
        <p:nvGrpSpPr>
          <p:cNvPr id="5" name="Group 5"/>
          <p:cNvGrpSpPr/>
          <p:nvPr/>
        </p:nvGrpSpPr>
        <p:grpSpPr>
          <a:xfrm>
            <a:off x="291082" y="4472578"/>
            <a:ext cx="5895866" cy="1646281"/>
            <a:chOff x="0" y="0"/>
            <a:chExt cx="1854389" cy="517794"/>
          </a:xfrm>
        </p:grpSpPr>
        <p:sp>
          <p:nvSpPr>
            <p:cNvPr id="6" name="Freeform 6"/>
            <p:cNvSpPr/>
            <p:nvPr/>
          </p:nvSpPr>
          <p:spPr>
            <a:xfrm>
              <a:off x="0" y="0"/>
              <a:ext cx="1854389" cy="517794"/>
            </a:xfrm>
            <a:custGeom>
              <a:avLst/>
              <a:gdLst/>
              <a:ahLst/>
              <a:cxnLst/>
              <a:rect l="l" t="t" r="r" b="b"/>
              <a:pathLst>
                <a:path w="1854389" h="517794">
                  <a:moveTo>
                    <a:pt x="0" y="0"/>
                  </a:moveTo>
                  <a:lnTo>
                    <a:pt x="1854389" y="0"/>
                  </a:lnTo>
                  <a:lnTo>
                    <a:pt x="1854389" y="517794"/>
                  </a:lnTo>
                  <a:lnTo>
                    <a:pt x="0" y="517794"/>
                  </a:lnTo>
                  <a:close/>
                </a:path>
              </a:pathLst>
            </a:custGeom>
            <a:solidFill>
              <a:srgbClr val="FEDD6B"/>
            </a:solidFill>
          </p:spPr>
          <p:txBody>
            <a:bodyPr/>
            <a:lstStyle/>
            <a:p>
              <a:endParaRPr lang="en-US"/>
            </a:p>
          </p:txBody>
        </p:sp>
        <p:sp>
          <p:nvSpPr>
            <p:cNvPr id="7" name="TextBox 7"/>
            <p:cNvSpPr txBox="1"/>
            <p:nvPr/>
          </p:nvSpPr>
          <p:spPr>
            <a:xfrm>
              <a:off x="0" y="-28575"/>
              <a:ext cx="1854389" cy="546369"/>
            </a:xfrm>
            <a:prstGeom prst="rect">
              <a:avLst/>
            </a:prstGeom>
          </p:spPr>
          <p:txBody>
            <a:bodyPr lIns="0" tIns="0" rIns="0" bIns="0" rtlCol="0" anchor="ctr"/>
            <a:lstStyle/>
            <a:p>
              <a:pPr algn="ctr">
                <a:lnSpc>
                  <a:spcPts val="2100"/>
                </a:lnSpc>
              </a:pPr>
              <a:r>
                <a:rPr lang="en-US" sz="1500" b="1">
                  <a:solidFill>
                    <a:srgbClr val="000000"/>
                  </a:solidFill>
                  <a:latin typeface="Open Sans 1 Bold"/>
                  <a:ea typeface="Open Sans 1 Bold"/>
                  <a:cs typeface="Open Sans 1 Bold"/>
                  <a:sym typeface="Open Sans 1 Bold"/>
                </a:rPr>
                <a:t>Human Resource Management</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Recruitment and training of community managers and hospitality staff.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Employee experience culture focused on autonomy and service excellence.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Campaigns to reinforce a people-centered culture.</a:t>
              </a:r>
            </a:p>
          </p:txBody>
        </p:sp>
      </p:grpSp>
      <p:grpSp>
        <p:nvGrpSpPr>
          <p:cNvPr id="8" name="Group 8"/>
          <p:cNvGrpSpPr/>
          <p:nvPr/>
        </p:nvGrpSpPr>
        <p:grpSpPr>
          <a:xfrm>
            <a:off x="291082" y="6374948"/>
            <a:ext cx="5895866" cy="1646281"/>
            <a:chOff x="0" y="0"/>
            <a:chExt cx="1854389" cy="517794"/>
          </a:xfrm>
        </p:grpSpPr>
        <p:sp>
          <p:nvSpPr>
            <p:cNvPr id="9" name="Freeform 9"/>
            <p:cNvSpPr/>
            <p:nvPr/>
          </p:nvSpPr>
          <p:spPr>
            <a:xfrm>
              <a:off x="0" y="0"/>
              <a:ext cx="1854389" cy="517794"/>
            </a:xfrm>
            <a:custGeom>
              <a:avLst/>
              <a:gdLst/>
              <a:ahLst/>
              <a:cxnLst/>
              <a:rect l="l" t="t" r="r" b="b"/>
              <a:pathLst>
                <a:path w="1854389" h="517794">
                  <a:moveTo>
                    <a:pt x="0" y="0"/>
                  </a:moveTo>
                  <a:lnTo>
                    <a:pt x="1854389" y="0"/>
                  </a:lnTo>
                  <a:lnTo>
                    <a:pt x="1854389" y="517794"/>
                  </a:lnTo>
                  <a:lnTo>
                    <a:pt x="0" y="517794"/>
                  </a:lnTo>
                  <a:close/>
                </a:path>
              </a:pathLst>
            </a:custGeom>
            <a:solidFill>
              <a:srgbClr val="FEDD6B"/>
            </a:solidFill>
          </p:spPr>
          <p:txBody>
            <a:bodyPr/>
            <a:lstStyle/>
            <a:p>
              <a:endParaRPr lang="en-US"/>
            </a:p>
          </p:txBody>
        </p:sp>
        <p:sp>
          <p:nvSpPr>
            <p:cNvPr id="10" name="TextBox 10"/>
            <p:cNvSpPr txBox="1"/>
            <p:nvPr/>
          </p:nvSpPr>
          <p:spPr>
            <a:xfrm>
              <a:off x="0" y="-28575"/>
              <a:ext cx="1854389" cy="546369"/>
            </a:xfrm>
            <a:prstGeom prst="rect">
              <a:avLst/>
            </a:prstGeom>
          </p:spPr>
          <p:txBody>
            <a:bodyPr lIns="0" tIns="0" rIns="0" bIns="0" rtlCol="0" anchor="ctr"/>
            <a:lstStyle/>
            <a:p>
              <a:pPr algn="ctr">
                <a:lnSpc>
                  <a:spcPts val="2100"/>
                </a:lnSpc>
              </a:pPr>
              <a:r>
                <a:rPr lang="en-US" sz="1500" b="1">
                  <a:solidFill>
                    <a:srgbClr val="000000"/>
                  </a:solidFill>
                  <a:latin typeface="Open Sans 1 Bold"/>
                  <a:ea typeface="Open Sans 1 Bold"/>
                  <a:cs typeface="Open Sans 1 Bold"/>
                  <a:sym typeface="Open Sans 1 Bold"/>
                </a:rPr>
                <a:t>Technology Development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App-based booking and management platforms (+40% YoY growth in workspace tech adoption).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Data analytics for occupancy, energy efficiency, and customer satisfaction.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Integration with CBRE digital systems for scalability.</a:t>
              </a:r>
            </a:p>
          </p:txBody>
        </p:sp>
      </p:grpSp>
      <p:grpSp>
        <p:nvGrpSpPr>
          <p:cNvPr id="11" name="Group 11"/>
          <p:cNvGrpSpPr/>
          <p:nvPr/>
        </p:nvGrpSpPr>
        <p:grpSpPr>
          <a:xfrm>
            <a:off x="291082" y="8277319"/>
            <a:ext cx="5895866" cy="1506478"/>
            <a:chOff x="0" y="0"/>
            <a:chExt cx="1854389" cy="473823"/>
          </a:xfrm>
        </p:grpSpPr>
        <p:sp>
          <p:nvSpPr>
            <p:cNvPr id="12" name="Freeform 12"/>
            <p:cNvSpPr/>
            <p:nvPr/>
          </p:nvSpPr>
          <p:spPr>
            <a:xfrm>
              <a:off x="0" y="0"/>
              <a:ext cx="1854389" cy="473823"/>
            </a:xfrm>
            <a:custGeom>
              <a:avLst/>
              <a:gdLst/>
              <a:ahLst/>
              <a:cxnLst/>
              <a:rect l="l" t="t" r="r" b="b"/>
              <a:pathLst>
                <a:path w="1854389" h="473823">
                  <a:moveTo>
                    <a:pt x="0" y="0"/>
                  </a:moveTo>
                  <a:lnTo>
                    <a:pt x="1854389" y="0"/>
                  </a:lnTo>
                  <a:lnTo>
                    <a:pt x="1854389" y="473823"/>
                  </a:lnTo>
                  <a:lnTo>
                    <a:pt x="0" y="473823"/>
                  </a:lnTo>
                  <a:close/>
                </a:path>
              </a:pathLst>
            </a:custGeom>
            <a:solidFill>
              <a:srgbClr val="FEDD6B"/>
            </a:solidFill>
          </p:spPr>
          <p:txBody>
            <a:bodyPr/>
            <a:lstStyle/>
            <a:p>
              <a:endParaRPr lang="en-US"/>
            </a:p>
          </p:txBody>
        </p:sp>
        <p:sp>
          <p:nvSpPr>
            <p:cNvPr id="13" name="TextBox 13"/>
            <p:cNvSpPr txBox="1"/>
            <p:nvPr/>
          </p:nvSpPr>
          <p:spPr>
            <a:xfrm>
              <a:off x="0" y="-28575"/>
              <a:ext cx="1854389" cy="502398"/>
            </a:xfrm>
            <a:prstGeom prst="rect">
              <a:avLst/>
            </a:prstGeom>
          </p:spPr>
          <p:txBody>
            <a:bodyPr lIns="0" tIns="0" rIns="0" bIns="0" rtlCol="0" anchor="ctr"/>
            <a:lstStyle/>
            <a:p>
              <a:pPr algn="ctr">
                <a:lnSpc>
                  <a:spcPts val="2100"/>
                </a:lnSpc>
              </a:pPr>
              <a:r>
                <a:rPr lang="en-US" sz="1500" b="1">
                  <a:solidFill>
                    <a:srgbClr val="000000"/>
                  </a:solidFill>
                  <a:latin typeface="Open Sans 1 Bold"/>
                  <a:ea typeface="Open Sans 1 Bold"/>
                  <a:cs typeface="Open Sans 1 Bold"/>
                  <a:sym typeface="Open Sans 1 Bold"/>
                </a:rPr>
                <a:t>Procurement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Selection of eco-friendly suppliers and low-carbon materials.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Long-term vendor partnerships ensuring quality and sustainability. </a:t>
              </a: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Preference for retrofit projects to minimize embodied carbon.</a:t>
              </a:r>
            </a:p>
          </p:txBody>
        </p:sp>
      </p:grpSp>
      <p:sp>
        <p:nvSpPr>
          <p:cNvPr id="14" name="TextBox 14"/>
          <p:cNvSpPr txBox="1"/>
          <p:nvPr/>
        </p:nvSpPr>
        <p:spPr>
          <a:xfrm>
            <a:off x="327304" y="424218"/>
            <a:ext cx="16097771"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VALUE CHAIN</a:t>
            </a:r>
          </a:p>
        </p:txBody>
      </p:sp>
      <p:sp>
        <p:nvSpPr>
          <p:cNvPr id="15" name="TextBox 15"/>
          <p:cNvSpPr txBox="1"/>
          <p:nvPr/>
        </p:nvSpPr>
        <p:spPr>
          <a:xfrm>
            <a:off x="327304" y="1037870"/>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16" name="TextBox 16"/>
          <p:cNvSpPr txBox="1"/>
          <p:nvPr/>
        </p:nvSpPr>
        <p:spPr>
          <a:xfrm>
            <a:off x="1739730" y="1780667"/>
            <a:ext cx="2998569" cy="456673"/>
          </a:xfrm>
          <a:prstGeom prst="rect">
            <a:avLst/>
          </a:prstGeom>
        </p:spPr>
        <p:txBody>
          <a:bodyPr lIns="0" tIns="0" rIns="0" bIns="0" rtlCol="0" anchor="t">
            <a:spAutoFit/>
          </a:bodyPr>
          <a:lstStyle/>
          <a:p>
            <a:pPr algn="ctr">
              <a:lnSpc>
                <a:spcPts val="3704"/>
              </a:lnSpc>
            </a:pPr>
            <a:r>
              <a:rPr lang="en-US" sz="2645" b="1">
                <a:solidFill>
                  <a:srgbClr val="000000"/>
                </a:solidFill>
                <a:latin typeface="Canva Sans Bold"/>
                <a:ea typeface="Canva Sans Bold"/>
                <a:cs typeface="Canva Sans Bold"/>
                <a:sym typeface="Canva Sans Bold"/>
              </a:rPr>
              <a:t>Support Activities</a:t>
            </a:r>
          </a:p>
        </p:txBody>
      </p:sp>
      <p:sp>
        <p:nvSpPr>
          <p:cNvPr id="17" name="TextBox 17"/>
          <p:cNvSpPr txBox="1"/>
          <p:nvPr/>
        </p:nvSpPr>
        <p:spPr>
          <a:xfrm>
            <a:off x="10674014" y="1780667"/>
            <a:ext cx="2963428" cy="456673"/>
          </a:xfrm>
          <a:prstGeom prst="rect">
            <a:avLst/>
          </a:prstGeom>
        </p:spPr>
        <p:txBody>
          <a:bodyPr lIns="0" tIns="0" rIns="0" bIns="0" rtlCol="0" anchor="t">
            <a:spAutoFit/>
          </a:bodyPr>
          <a:lstStyle/>
          <a:p>
            <a:pPr algn="ctr">
              <a:lnSpc>
                <a:spcPts val="3704"/>
              </a:lnSpc>
            </a:pPr>
            <a:r>
              <a:rPr lang="en-US" sz="2645" b="1">
                <a:solidFill>
                  <a:srgbClr val="000000"/>
                </a:solidFill>
                <a:latin typeface="Canva Sans Bold"/>
                <a:ea typeface="Canva Sans Bold"/>
                <a:cs typeface="Canva Sans Bold"/>
                <a:sym typeface="Canva Sans Bold"/>
              </a:rPr>
              <a:t>Primary Activities</a:t>
            </a:r>
          </a:p>
        </p:txBody>
      </p:sp>
      <p:sp>
        <p:nvSpPr>
          <p:cNvPr id="18" name="TextBox 18"/>
          <p:cNvSpPr txBox="1"/>
          <p:nvPr/>
        </p:nvSpPr>
        <p:spPr>
          <a:xfrm>
            <a:off x="291082" y="4201658"/>
            <a:ext cx="5895866"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Investor relations, strategic expansion planning</a:t>
            </a:r>
          </a:p>
        </p:txBody>
      </p:sp>
      <p:sp>
        <p:nvSpPr>
          <p:cNvPr id="19" name="TextBox 19"/>
          <p:cNvSpPr txBox="1"/>
          <p:nvPr/>
        </p:nvSpPr>
        <p:spPr>
          <a:xfrm>
            <a:off x="291082" y="6104029"/>
            <a:ext cx="5895866"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Staff Training, communication</a:t>
            </a:r>
          </a:p>
        </p:txBody>
      </p:sp>
      <p:sp>
        <p:nvSpPr>
          <p:cNvPr id="20" name="TextBox 20"/>
          <p:cNvSpPr txBox="1"/>
          <p:nvPr/>
        </p:nvSpPr>
        <p:spPr>
          <a:xfrm>
            <a:off x="291082" y="8006399"/>
            <a:ext cx="5895866"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Data Management</a:t>
            </a:r>
          </a:p>
        </p:txBody>
      </p:sp>
      <p:sp>
        <p:nvSpPr>
          <p:cNvPr id="21" name="TextBox 21"/>
          <p:cNvSpPr txBox="1"/>
          <p:nvPr/>
        </p:nvSpPr>
        <p:spPr>
          <a:xfrm>
            <a:off x="291082" y="9768967"/>
            <a:ext cx="5895866"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Climate Change, Decarbonization</a:t>
            </a:r>
          </a:p>
        </p:txBody>
      </p:sp>
      <p:grpSp>
        <p:nvGrpSpPr>
          <p:cNvPr id="22" name="Group 22"/>
          <p:cNvGrpSpPr/>
          <p:nvPr/>
        </p:nvGrpSpPr>
        <p:grpSpPr>
          <a:xfrm>
            <a:off x="6339348" y="2303507"/>
            <a:ext cx="2236208" cy="7681463"/>
            <a:chOff x="0" y="0"/>
            <a:chExt cx="2981611" cy="10241950"/>
          </a:xfrm>
        </p:grpSpPr>
        <p:grpSp>
          <p:nvGrpSpPr>
            <p:cNvPr id="23" name="Group 23"/>
            <p:cNvGrpSpPr/>
            <p:nvPr/>
          </p:nvGrpSpPr>
          <p:grpSpPr>
            <a:xfrm>
              <a:off x="0" y="582136"/>
              <a:ext cx="2981611" cy="8296509"/>
              <a:chOff x="0" y="0"/>
              <a:chExt cx="703340" cy="1957086"/>
            </a:xfrm>
          </p:grpSpPr>
          <p:sp>
            <p:nvSpPr>
              <p:cNvPr id="24" name="Freeform 24"/>
              <p:cNvSpPr/>
              <p:nvPr/>
            </p:nvSpPr>
            <p:spPr>
              <a:xfrm>
                <a:off x="0" y="0"/>
                <a:ext cx="703340" cy="1957086"/>
              </a:xfrm>
              <a:custGeom>
                <a:avLst/>
                <a:gdLst/>
                <a:ahLst/>
                <a:cxnLst/>
                <a:rect l="l" t="t" r="r" b="b"/>
                <a:pathLst>
                  <a:path w="703340" h="1957086">
                    <a:moveTo>
                      <a:pt x="0" y="0"/>
                    </a:moveTo>
                    <a:lnTo>
                      <a:pt x="703340" y="0"/>
                    </a:lnTo>
                    <a:lnTo>
                      <a:pt x="703340" y="1957086"/>
                    </a:lnTo>
                    <a:lnTo>
                      <a:pt x="0" y="1957086"/>
                    </a:lnTo>
                    <a:close/>
                  </a:path>
                </a:pathLst>
              </a:custGeom>
              <a:solidFill>
                <a:srgbClr val="FFF3C2"/>
              </a:solidFill>
              <a:ln cap="sq">
                <a:noFill/>
                <a:prstDash val="solid"/>
                <a:miter/>
              </a:ln>
            </p:spPr>
            <p:txBody>
              <a:bodyPr/>
              <a:lstStyle/>
              <a:p>
                <a:endParaRPr lang="en-US"/>
              </a:p>
            </p:txBody>
          </p:sp>
          <p:sp>
            <p:nvSpPr>
              <p:cNvPr id="25" name="TextBox 25"/>
              <p:cNvSpPr txBox="1"/>
              <p:nvPr/>
            </p:nvSpPr>
            <p:spPr>
              <a:xfrm>
                <a:off x="0" y="-28575"/>
                <a:ext cx="703340" cy="1985661"/>
              </a:xfrm>
              <a:prstGeom prst="rect">
                <a:avLst/>
              </a:prstGeom>
            </p:spPr>
            <p:txBody>
              <a:bodyPr lIns="50800" tIns="50800" rIns="50800" bIns="50800" rtlCol="0" anchor="ctr"/>
              <a:lstStyle/>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Selection of premium, green-certified or retrofitted buildings (70% WELL/LEED).</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Partnerships with landlords and investors under management agreements, reducing capital expenditure and fixed lease commitments.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spcBef>
                    <a:spcPct val="0"/>
                  </a:spcBef>
                  <a:buFont typeface="Arial"/>
                  <a:buChar char="•"/>
                </a:pPr>
                <a:r>
                  <a:rPr lang="en-US" sz="1500">
                    <a:solidFill>
                      <a:srgbClr val="000000"/>
                    </a:solidFill>
                    <a:latin typeface="Open Sans 1"/>
                    <a:ea typeface="Open Sans 1"/>
                    <a:cs typeface="Open Sans 1"/>
                    <a:sym typeface="Open Sans 1"/>
                  </a:rPr>
                  <a:t>Integration of sustainable materials (LED, bamboo, recycled furniture).</a:t>
                </a:r>
              </a:p>
            </p:txBody>
          </p:sp>
        </p:grpSp>
        <p:grpSp>
          <p:nvGrpSpPr>
            <p:cNvPr id="26" name="Group 26"/>
            <p:cNvGrpSpPr/>
            <p:nvPr/>
          </p:nvGrpSpPr>
          <p:grpSpPr>
            <a:xfrm>
              <a:off x="0" y="0"/>
              <a:ext cx="2981611" cy="578397"/>
              <a:chOff x="0" y="0"/>
              <a:chExt cx="703340" cy="136440"/>
            </a:xfrm>
          </p:grpSpPr>
          <p:sp>
            <p:nvSpPr>
              <p:cNvPr id="27" name="Freeform 27"/>
              <p:cNvSpPr/>
              <p:nvPr/>
            </p:nvSpPr>
            <p:spPr>
              <a:xfrm>
                <a:off x="0" y="0"/>
                <a:ext cx="703340" cy="136440"/>
              </a:xfrm>
              <a:custGeom>
                <a:avLst/>
                <a:gdLst/>
                <a:ahLst/>
                <a:cxnLst/>
                <a:rect l="l" t="t" r="r" b="b"/>
                <a:pathLst>
                  <a:path w="703340" h="136440">
                    <a:moveTo>
                      <a:pt x="0" y="0"/>
                    </a:moveTo>
                    <a:lnTo>
                      <a:pt x="703340" y="0"/>
                    </a:lnTo>
                    <a:lnTo>
                      <a:pt x="703340" y="136440"/>
                    </a:lnTo>
                    <a:lnTo>
                      <a:pt x="0" y="136440"/>
                    </a:lnTo>
                    <a:close/>
                  </a:path>
                </a:pathLst>
              </a:custGeom>
              <a:solidFill>
                <a:srgbClr val="FFF3C2"/>
              </a:solidFill>
              <a:ln cap="sq">
                <a:noFill/>
                <a:prstDash val="solid"/>
                <a:miter/>
              </a:ln>
            </p:spPr>
            <p:txBody>
              <a:bodyPr/>
              <a:lstStyle/>
              <a:p>
                <a:endParaRPr lang="en-US"/>
              </a:p>
            </p:txBody>
          </p:sp>
          <p:sp>
            <p:nvSpPr>
              <p:cNvPr id="28" name="TextBox 28"/>
              <p:cNvSpPr txBox="1"/>
              <p:nvPr/>
            </p:nvSpPr>
            <p:spPr>
              <a:xfrm>
                <a:off x="0" y="-28575"/>
                <a:ext cx="703340" cy="165015"/>
              </a:xfrm>
              <a:prstGeom prst="rect">
                <a:avLst/>
              </a:prstGeom>
            </p:spPr>
            <p:txBody>
              <a:bodyPr lIns="50800" tIns="50800" rIns="50800" bIns="50800" rtlCol="0" anchor="ctr"/>
              <a:lstStyle/>
              <a:p>
                <a:pPr algn="ctr">
                  <a:lnSpc>
                    <a:spcPts val="2100"/>
                  </a:lnSpc>
                  <a:spcBef>
                    <a:spcPct val="0"/>
                  </a:spcBef>
                </a:pPr>
                <a:r>
                  <a:rPr lang="en-US" sz="1500" b="1">
                    <a:solidFill>
                      <a:srgbClr val="000000"/>
                    </a:solidFill>
                    <a:latin typeface="Open Sans 1 Bold"/>
                    <a:ea typeface="Open Sans 1 Bold"/>
                    <a:cs typeface="Open Sans 1 Bold"/>
                    <a:sym typeface="Open Sans 1 Bold"/>
                  </a:rPr>
                  <a:t>INBOUD LOGISTICS</a:t>
                </a:r>
              </a:p>
            </p:txBody>
          </p:sp>
        </p:grpSp>
        <p:grpSp>
          <p:nvGrpSpPr>
            <p:cNvPr id="29" name="Group 29"/>
            <p:cNvGrpSpPr/>
            <p:nvPr/>
          </p:nvGrpSpPr>
          <p:grpSpPr>
            <a:xfrm>
              <a:off x="0" y="8843445"/>
              <a:ext cx="2981611" cy="1398505"/>
              <a:chOff x="0" y="0"/>
              <a:chExt cx="703340" cy="329897"/>
            </a:xfrm>
          </p:grpSpPr>
          <p:sp>
            <p:nvSpPr>
              <p:cNvPr id="30" name="Freeform 30"/>
              <p:cNvSpPr/>
              <p:nvPr/>
            </p:nvSpPr>
            <p:spPr>
              <a:xfrm>
                <a:off x="0" y="0"/>
                <a:ext cx="703340" cy="329897"/>
              </a:xfrm>
              <a:custGeom>
                <a:avLst/>
                <a:gdLst/>
                <a:ahLst/>
                <a:cxnLst/>
                <a:rect l="l" t="t" r="r" b="b"/>
                <a:pathLst>
                  <a:path w="703340" h="329897">
                    <a:moveTo>
                      <a:pt x="0" y="0"/>
                    </a:moveTo>
                    <a:lnTo>
                      <a:pt x="703340" y="0"/>
                    </a:lnTo>
                    <a:lnTo>
                      <a:pt x="703340" y="329897"/>
                    </a:lnTo>
                    <a:lnTo>
                      <a:pt x="0" y="329897"/>
                    </a:lnTo>
                    <a:close/>
                  </a:path>
                </a:pathLst>
              </a:custGeom>
              <a:solidFill>
                <a:srgbClr val="FFFFFF"/>
              </a:solidFill>
              <a:ln w="38100" cap="sq">
                <a:solidFill>
                  <a:srgbClr val="000000"/>
                </a:solidFill>
                <a:prstDash val="sysDot"/>
                <a:miter/>
              </a:ln>
            </p:spPr>
            <p:txBody>
              <a:bodyPr/>
              <a:lstStyle/>
              <a:p>
                <a:endParaRPr lang="en-US"/>
              </a:p>
            </p:txBody>
          </p:sp>
          <p:sp>
            <p:nvSpPr>
              <p:cNvPr id="31" name="TextBox 31"/>
              <p:cNvSpPr txBox="1"/>
              <p:nvPr/>
            </p:nvSpPr>
            <p:spPr>
              <a:xfrm>
                <a:off x="0" y="-28575"/>
                <a:ext cx="703340" cy="358472"/>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Adds Value by ensuring high product quality</a:t>
                </a:r>
              </a:p>
            </p:txBody>
          </p:sp>
        </p:grpSp>
      </p:grpSp>
      <p:grpSp>
        <p:nvGrpSpPr>
          <p:cNvPr id="32" name="Group 32"/>
          <p:cNvGrpSpPr/>
          <p:nvPr/>
        </p:nvGrpSpPr>
        <p:grpSpPr>
          <a:xfrm>
            <a:off x="8725081" y="2303507"/>
            <a:ext cx="2163018" cy="7681463"/>
            <a:chOff x="0" y="0"/>
            <a:chExt cx="2884023" cy="10241950"/>
          </a:xfrm>
        </p:grpSpPr>
        <p:grpSp>
          <p:nvGrpSpPr>
            <p:cNvPr id="33" name="Group 33"/>
            <p:cNvGrpSpPr/>
            <p:nvPr/>
          </p:nvGrpSpPr>
          <p:grpSpPr>
            <a:xfrm>
              <a:off x="0" y="381670"/>
              <a:ext cx="2880801" cy="8875241"/>
              <a:chOff x="0" y="0"/>
              <a:chExt cx="679560" cy="2093605"/>
            </a:xfrm>
          </p:grpSpPr>
          <p:sp>
            <p:nvSpPr>
              <p:cNvPr id="34" name="Freeform 34"/>
              <p:cNvSpPr/>
              <p:nvPr/>
            </p:nvSpPr>
            <p:spPr>
              <a:xfrm>
                <a:off x="0" y="0"/>
                <a:ext cx="679560" cy="2093605"/>
              </a:xfrm>
              <a:custGeom>
                <a:avLst/>
                <a:gdLst/>
                <a:ahLst/>
                <a:cxnLst/>
                <a:rect l="l" t="t" r="r" b="b"/>
                <a:pathLst>
                  <a:path w="679560" h="2093605">
                    <a:moveTo>
                      <a:pt x="0" y="0"/>
                    </a:moveTo>
                    <a:lnTo>
                      <a:pt x="679560" y="0"/>
                    </a:lnTo>
                    <a:lnTo>
                      <a:pt x="679560" y="2093605"/>
                    </a:lnTo>
                    <a:lnTo>
                      <a:pt x="0" y="2093605"/>
                    </a:lnTo>
                    <a:close/>
                  </a:path>
                </a:pathLst>
              </a:custGeom>
              <a:solidFill>
                <a:srgbClr val="FFF3C2"/>
              </a:solidFill>
              <a:ln cap="sq">
                <a:noFill/>
                <a:prstDash val="solid"/>
                <a:miter/>
              </a:ln>
            </p:spPr>
            <p:txBody>
              <a:bodyPr/>
              <a:lstStyle/>
              <a:p>
                <a:endParaRPr lang="en-US"/>
              </a:p>
            </p:txBody>
          </p:sp>
          <p:sp>
            <p:nvSpPr>
              <p:cNvPr id="35" name="TextBox 35"/>
              <p:cNvSpPr txBox="1"/>
              <p:nvPr/>
            </p:nvSpPr>
            <p:spPr>
              <a:xfrm>
                <a:off x="0" y="-28575"/>
                <a:ext cx="679560" cy="2122180"/>
              </a:xfrm>
              <a:prstGeom prst="rect">
                <a:avLst/>
              </a:prstGeom>
            </p:spPr>
            <p:txBody>
              <a:bodyPr lIns="50800" tIns="50800" rIns="50800" bIns="50800" rtlCol="0" anchor="ctr"/>
              <a:lstStyle/>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Daily operation of 160+ locations in 65+ cities.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Community managers ensure customer satisfaction and engagement.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90% average occupancy for mature units — above industry benchmark (70–85%).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Technology-enabled management (booking, energy monitoring, cleaning schedules).</a:t>
                </a:r>
              </a:p>
            </p:txBody>
          </p:sp>
        </p:grpSp>
        <p:grpSp>
          <p:nvGrpSpPr>
            <p:cNvPr id="36" name="Group 36"/>
            <p:cNvGrpSpPr/>
            <p:nvPr/>
          </p:nvGrpSpPr>
          <p:grpSpPr>
            <a:xfrm>
              <a:off x="0" y="0"/>
              <a:ext cx="2883754" cy="578397"/>
              <a:chOff x="0" y="0"/>
              <a:chExt cx="680257" cy="136440"/>
            </a:xfrm>
          </p:grpSpPr>
          <p:sp>
            <p:nvSpPr>
              <p:cNvPr id="37" name="Freeform 37"/>
              <p:cNvSpPr/>
              <p:nvPr/>
            </p:nvSpPr>
            <p:spPr>
              <a:xfrm>
                <a:off x="0" y="0"/>
                <a:ext cx="680257" cy="136440"/>
              </a:xfrm>
              <a:custGeom>
                <a:avLst/>
                <a:gdLst/>
                <a:ahLst/>
                <a:cxnLst/>
                <a:rect l="l" t="t" r="r" b="b"/>
                <a:pathLst>
                  <a:path w="680257" h="136440">
                    <a:moveTo>
                      <a:pt x="0" y="0"/>
                    </a:moveTo>
                    <a:lnTo>
                      <a:pt x="680257" y="0"/>
                    </a:lnTo>
                    <a:lnTo>
                      <a:pt x="680257" y="136440"/>
                    </a:lnTo>
                    <a:lnTo>
                      <a:pt x="0" y="136440"/>
                    </a:lnTo>
                    <a:close/>
                  </a:path>
                </a:pathLst>
              </a:custGeom>
              <a:solidFill>
                <a:srgbClr val="FFF3C2"/>
              </a:solidFill>
              <a:ln cap="sq">
                <a:noFill/>
                <a:prstDash val="solid"/>
                <a:miter/>
              </a:ln>
            </p:spPr>
            <p:txBody>
              <a:bodyPr/>
              <a:lstStyle/>
              <a:p>
                <a:endParaRPr lang="en-US"/>
              </a:p>
            </p:txBody>
          </p:sp>
          <p:sp>
            <p:nvSpPr>
              <p:cNvPr id="38" name="TextBox 38"/>
              <p:cNvSpPr txBox="1"/>
              <p:nvPr/>
            </p:nvSpPr>
            <p:spPr>
              <a:xfrm>
                <a:off x="0" y="-28575"/>
                <a:ext cx="680257" cy="165015"/>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OPERATIONS</a:t>
                </a:r>
              </a:p>
            </p:txBody>
          </p:sp>
        </p:grpSp>
        <p:grpSp>
          <p:nvGrpSpPr>
            <p:cNvPr id="39" name="Group 39"/>
            <p:cNvGrpSpPr/>
            <p:nvPr/>
          </p:nvGrpSpPr>
          <p:grpSpPr>
            <a:xfrm>
              <a:off x="0" y="9256911"/>
              <a:ext cx="2884023" cy="985039"/>
              <a:chOff x="0" y="0"/>
              <a:chExt cx="680320" cy="232364"/>
            </a:xfrm>
          </p:grpSpPr>
          <p:sp>
            <p:nvSpPr>
              <p:cNvPr id="40" name="Freeform 40"/>
              <p:cNvSpPr/>
              <p:nvPr/>
            </p:nvSpPr>
            <p:spPr>
              <a:xfrm>
                <a:off x="0" y="0"/>
                <a:ext cx="680320" cy="232364"/>
              </a:xfrm>
              <a:custGeom>
                <a:avLst/>
                <a:gdLst/>
                <a:ahLst/>
                <a:cxnLst/>
                <a:rect l="l" t="t" r="r" b="b"/>
                <a:pathLst>
                  <a:path w="680320" h="232364">
                    <a:moveTo>
                      <a:pt x="0" y="0"/>
                    </a:moveTo>
                    <a:lnTo>
                      <a:pt x="680320" y="0"/>
                    </a:lnTo>
                    <a:lnTo>
                      <a:pt x="680320" y="232364"/>
                    </a:lnTo>
                    <a:lnTo>
                      <a:pt x="0" y="232364"/>
                    </a:lnTo>
                    <a:close/>
                  </a:path>
                </a:pathLst>
              </a:custGeom>
              <a:solidFill>
                <a:srgbClr val="FFFFFF"/>
              </a:solidFill>
              <a:ln w="38100" cap="sq">
                <a:solidFill>
                  <a:srgbClr val="000000"/>
                </a:solidFill>
                <a:prstDash val="sysDot"/>
                <a:miter/>
              </a:ln>
            </p:spPr>
            <p:txBody>
              <a:bodyPr/>
              <a:lstStyle/>
              <a:p>
                <a:endParaRPr lang="en-US"/>
              </a:p>
            </p:txBody>
          </p:sp>
          <p:sp>
            <p:nvSpPr>
              <p:cNvPr id="41" name="TextBox 41"/>
              <p:cNvSpPr txBox="1"/>
              <p:nvPr/>
            </p:nvSpPr>
            <p:spPr>
              <a:xfrm>
                <a:off x="0" y="-28575"/>
                <a:ext cx="680320" cy="260939"/>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Adds Value by daily management</a:t>
                </a:r>
              </a:p>
            </p:txBody>
          </p:sp>
        </p:grpSp>
      </p:grpSp>
      <p:grpSp>
        <p:nvGrpSpPr>
          <p:cNvPr id="42" name="Group 42"/>
          <p:cNvGrpSpPr/>
          <p:nvPr/>
        </p:nvGrpSpPr>
        <p:grpSpPr>
          <a:xfrm>
            <a:off x="11040499" y="2303507"/>
            <a:ext cx="2233333" cy="7681463"/>
            <a:chOff x="0" y="0"/>
            <a:chExt cx="2977778" cy="10241950"/>
          </a:xfrm>
        </p:grpSpPr>
        <p:grpSp>
          <p:nvGrpSpPr>
            <p:cNvPr id="43" name="Group 43"/>
            <p:cNvGrpSpPr/>
            <p:nvPr/>
          </p:nvGrpSpPr>
          <p:grpSpPr>
            <a:xfrm>
              <a:off x="0" y="541270"/>
              <a:ext cx="2977778" cy="8337375"/>
              <a:chOff x="0" y="0"/>
              <a:chExt cx="702436" cy="1966726"/>
            </a:xfrm>
          </p:grpSpPr>
          <p:sp>
            <p:nvSpPr>
              <p:cNvPr id="44" name="Freeform 44"/>
              <p:cNvSpPr/>
              <p:nvPr/>
            </p:nvSpPr>
            <p:spPr>
              <a:xfrm>
                <a:off x="0" y="0"/>
                <a:ext cx="702436" cy="1966726"/>
              </a:xfrm>
              <a:custGeom>
                <a:avLst/>
                <a:gdLst/>
                <a:ahLst/>
                <a:cxnLst/>
                <a:rect l="l" t="t" r="r" b="b"/>
                <a:pathLst>
                  <a:path w="702436" h="1966726">
                    <a:moveTo>
                      <a:pt x="0" y="0"/>
                    </a:moveTo>
                    <a:lnTo>
                      <a:pt x="702436" y="0"/>
                    </a:lnTo>
                    <a:lnTo>
                      <a:pt x="702436" y="1966726"/>
                    </a:lnTo>
                    <a:lnTo>
                      <a:pt x="0" y="1966726"/>
                    </a:lnTo>
                    <a:close/>
                  </a:path>
                </a:pathLst>
              </a:custGeom>
              <a:solidFill>
                <a:srgbClr val="FFF3C2"/>
              </a:solidFill>
              <a:ln cap="sq">
                <a:noFill/>
                <a:prstDash val="solid"/>
                <a:miter/>
              </a:ln>
            </p:spPr>
            <p:txBody>
              <a:bodyPr/>
              <a:lstStyle/>
              <a:p>
                <a:endParaRPr lang="en-US"/>
              </a:p>
            </p:txBody>
          </p:sp>
          <p:sp>
            <p:nvSpPr>
              <p:cNvPr id="45" name="TextBox 45"/>
              <p:cNvSpPr txBox="1"/>
              <p:nvPr/>
            </p:nvSpPr>
            <p:spPr>
              <a:xfrm>
                <a:off x="0" y="-28575"/>
                <a:ext cx="702436" cy="1995301"/>
              </a:xfrm>
              <a:prstGeom prst="rect">
                <a:avLst/>
              </a:prstGeom>
            </p:spPr>
            <p:txBody>
              <a:bodyPr lIns="76200" tIns="76200" rIns="76200" bIns="76200" rtlCol="0" anchor="ctr"/>
              <a:lstStyle/>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Delivery of flexible workspace solutions to corporate clients, SMEs, and freelancers.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Multiple access models: private offices, coworking, and on-demand meeting rooms (Breather/ Deskpass).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Standardized service model across all regions enables efficient replication.</a:t>
                </a:r>
              </a:p>
            </p:txBody>
          </p:sp>
        </p:grpSp>
        <p:grpSp>
          <p:nvGrpSpPr>
            <p:cNvPr id="46" name="Group 46"/>
            <p:cNvGrpSpPr/>
            <p:nvPr/>
          </p:nvGrpSpPr>
          <p:grpSpPr>
            <a:xfrm>
              <a:off x="0" y="0"/>
              <a:ext cx="2977778" cy="539222"/>
              <a:chOff x="0" y="0"/>
              <a:chExt cx="702436" cy="127199"/>
            </a:xfrm>
          </p:grpSpPr>
          <p:sp>
            <p:nvSpPr>
              <p:cNvPr id="47" name="Freeform 47"/>
              <p:cNvSpPr/>
              <p:nvPr/>
            </p:nvSpPr>
            <p:spPr>
              <a:xfrm>
                <a:off x="0" y="0"/>
                <a:ext cx="702436" cy="127199"/>
              </a:xfrm>
              <a:custGeom>
                <a:avLst/>
                <a:gdLst/>
                <a:ahLst/>
                <a:cxnLst/>
                <a:rect l="l" t="t" r="r" b="b"/>
                <a:pathLst>
                  <a:path w="702436" h="127199">
                    <a:moveTo>
                      <a:pt x="0" y="0"/>
                    </a:moveTo>
                    <a:lnTo>
                      <a:pt x="702436" y="0"/>
                    </a:lnTo>
                    <a:lnTo>
                      <a:pt x="702436" y="127199"/>
                    </a:lnTo>
                    <a:lnTo>
                      <a:pt x="0" y="127199"/>
                    </a:lnTo>
                    <a:close/>
                  </a:path>
                </a:pathLst>
              </a:custGeom>
              <a:solidFill>
                <a:srgbClr val="FFF3C2"/>
              </a:solidFill>
              <a:ln cap="sq">
                <a:noFill/>
                <a:prstDash val="solid"/>
                <a:miter/>
              </a:ln>
            </p:spPr>
            <p:txBody>
              <a:bodyPr/>
              <a:lstStyle/>
              <a:p>
                <a:endParaRPr lang="en-US"/>
              </a:p>
            </p:txBody>
          </p:sp>
          <p:sp>
            <p:nvSpPr>
              <p:cNvPr id="48" name="TextBox 48"/>
              <p:cNvSpPr txBox="1"/>
              <p:nvPr/>
            </p:nvSpPr>
            <p:spPr>
              <a:xfrm>
                <a:off x="0" y="-28575"/>
                <a:ext cx="702436" cy="155774"/>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OUTBOUND LOGISTICS</a:t>
                </a:r>
              </a:p>
            </p:txBody>
          </p:sp>
        </p:grpSp>
        <p:grpSp>
          <p:nvGrpSpPr>
            <p:cNvPr id="49" name="Group 49"/>
            <p:cNvGrpSpPr/>
            <p:nvPr/>
          </p:nvGrpSpPr>
          <p:grpSpPr>
            <a:xfrm>
              <a:off x="0" y="8843445"/>
              <a:ext cx="2977778" cy="1398505"/>
              <a:chOff x="0" y="0"/>
              <a:chExt cx="702436" cy="329897"/>
            </a:xfrm>
          </p:grpSpPr>
          <p:sp>
            <p:nvSpPr>
              <p:cNvPr id="50" name="Freeform 50"/>
              <p:cNvSpPr/>
              <p:nvPr/>
            </p:nvSpPr>
            <p:spPr>
              <a:xfrm>
                <a:off x="0" y="0"/>
                <a:ext cx="702436" cy="329897"/>
              </a:xfrm>
              <a:custGeom>
                <a:avLst/>
                <a:gdLst/>
                <a:ahLst/>
                <a:cxnLst/>
                <a:rect l="l" t="t" r="r" b="b"/>
                <a:pathLst>
                  <a:path w="702436" h="329897">
                    <a:moveTo>
                      <a:pt x="0" y="0"/>
                    </a:moveTo>
                    <a:lnTo>
                      <a:pt x="702436" y="0"/>
                    </a:lnTo>
                    <a:lnTo>
                      <a:pt x="702436" y="329897"/>
                    </a:lnTo>
                    <a:lnTo>
                      <a:pt x="0" y="329897"/>
                    </a:lnTo>
                    <a:close/>
                  </a:path>
                </a:pathLst>
              </a:custGeom>
              <a:solidFill>
                <a:srgbClr val="FFFFFF"/>
              </a:solidFill>
              <a:ln w="38100" cap="sq">
                <a:solidFill>
                  <a:srgbClr val="000000"/>
                </a:solidFill>
                <a:prstDash val="sysDot"/>
                <a:miter/>
              </a:ln>
            </p:spPr>
            <p:txBody>
              <a:bodyPr/>
              <a:lstStyle/>
              <a:p>
                <a:endParaRPr lang="en-US"/>
              </a:p>
            </p:txBody>
          </p:sp>
          <p:sp>
            <p:nvSpPr>
              <p:cNvPr id="51" name="TextBox 51"/>
              <p:cNvSpPr txBox="1"/>
              <p:nvPr/>
            </p:nvSpPr>
            <p:spPr>
              <a:xfrm>
                <a:off x="0" y="-28575"/>
                <a:ext cx="702436" cy="358472"/>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Adds Value by deliver flexible workspace solutions</a:t>
                </a:r>
              </a:p>
            </p:txBody>
          </p:sp>
        </p:grpSp>
      </p:grpSp>
      <p:grpSp>
        <p:nvGrpSpPr>
          <p:cNvPr id="52" name="Group 52"/>
          <p:cNvGrpSpPr/>
          <p:nvPr/>
        </p:nvGrpSpPr>
        <p:grpSpPr>
          <a:xfrm>
            <a:off x="13423357" y="2303507"/>
            <a:ext cx="2236208" cy="7681463"/>
            <a:chOff x="0" y="0"/>
            <a:chExt cx="2981611" cy="10241950"/>
          </a:xfrm>
        </p:grpSpPr>
        <p:grpSp>
          <p:nvGrpSpPr>
            <p:cNvPr id="53" name="Group 53"/>
            <p:cNvGrpSpPr/>
            <p:nvPr/>
          </p:nvGrpSpPr>
          <p:grpSpPr>
            <a:xfrm>
              <a:off x="0" y="582136"/>
              <a:ext cx="2981611" cy="8296509"/>
              <a:chOff x="0" y="0"/>
              <a:chExt cx="703340" cy="1957086"/>
            </a:xfrm>
          </p:grpSpPr>
          <p:sp>
            <p:nvSpPr>
              <p:cNvPr id="54" name="Freeform 54"/>
              <p:cNvSpPr/>
              <p:nvPr/>
            </p:nvSpPr>
            <p:spPr>
              <a:xfrm>
                <a:off x="0" y="0"/>
                <a:ext cx="703340" cy="1957086"/>
              </a:xfrm>
              <a:custGeom>
                <a:avLst/>
                <a:gdLst/>
                <a:ahLst/>
                <a:cxnLst/>
                <a:rect l="l" t="t" r="r" b="b"/>
                <a:pathLst>
                  <a:path w="703340" h="1957086">
                    <a:moveTo>
                      <a:pt x="0" y="0"/>
                    </a:moveTo>
                    <a:lnTo>
                      <a:pt x="703340" y="0"/>
                    </a:lnTo>
                    <a:lnTo>
                      <a:pt x="703340" y="1957086"/>
                    </a:lnTo>
                    <a:lnTo>
                      <a:pt x="0" y="1957086"/>
                    </a:lnTo>
                    <a:close/>
                  </a:path>
                </a:pathLst>
              </a:custGeom>
              <a:solidFill>
                <a:srgbClr val="FFF3C2"/>
              </a:solidFill>
              <a:ln cap="sq">
                <a:noFill/>
                <a:prstDash val="solid"/>
                <a:miter/>
              </a:ln>
            </p:spPr>
            <p:txBody>
              <a:bodyPr/>
              <a:lstStyle/>
              <a:p>
                <a:endParaRPr lang="en-US"/>
              </a:p>
            </p:txBody>
          </p:sp>
          <p:sp>
            <p:nvSpPr>
              <p:cNvPr id="55" name="TextBox 55"/>
              <p:cNvSpPr txBox="1"/>
              <p:nvPr/>
            </p:nvSpPr>
            <p:spPr>
              <a:xfrm>
                <a:off x="0" y="-28575"/>
                <a:ext cx="703340" cy="1985661"/>
              </a:xfrm>
              <a:prstGeom prst="rect">
                <a:avLst/>
              </a:prstGeom>
            </p:spPr>
            <p:txBody>
              <a:bodyPr lIns="63500" tIns="63500" rIns="63500" bIns="63500" rtlCol="0" anchor="ctr"/>
              <a:lstStyle/>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Premium hospitality-driven branding emphasizing wellbeing and flexibility.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Targeting enterprise clients (55% of large occupiers use flex offices; 17% increasing usage).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Marketing via digital content, referrals, and partnerships with brokers.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High customer satisfaction (NPS 74–82) driving organic growth.</a:t>
                </a:r>
              </a:p>
            </p:txBody>
          </p:sp>
        </p:grpSp>
        <p:grpSp>
          <p:nvGrpSpPr>
            <p:cNvPr id="56" name="Group 56"/>
            <p:cNvGrpSpPr/>
            <p:nvPr/>
          </p:nvGrpSpPr>
          <p:grpSpPr>
            <a:xfrm>
              <a:off x="0" y="0"/>
              <a:ext cx="2981611" cy="578397"/>
              <a:chOff x="0" y="0"/>
              <a:chExt cx="703340" cy="136440"/>
            </a:xfrm>
          </p:grpSpPr>
          <p:sp>
            <p:nvSpPr>
              <p:cNvPr id="57" name="Freeform 57"/>
              <p:cNvSpPr/>
              <p:nvPr/>
            </p:nvSpPr>
            <p:spPr>
              <a:xfrm>
                <a:off x="0" y="0"/>
                <a:ext cx="703340" cy="136440"/>
              </a:xfrm>
              <a:custGeom>
                <a:avLst/>
                <a:gdLst/>
                <a:ahLst/>
                <a:cxnLst/>
                <a:rect l="l" t="t" r="r" b="b"/>
                <a:pathLst>
                  <a:path w="703340" h="136440">
                    <a:moveTo>
                      <a:pt x="0" y="0"/>
                    </a:moveTo>
                    <a:lnTo>
                      <a:pt x="703340" y="0"/>
                    </a:lnTo>
                    <a:lnTo>
                      <a:pt x="703340" y="136440"/>
                    </a:lnTo>
                    <a:lnTo>
                      <a:pt x="0" y="136440"/>
                    </a:lnTo>
                    <a:close/>
                  </a:path>
                </a:pathLst>
              </a:custGeom>
              <a:solidFill>
                <a:srgbClr val="FFF3C2"/>
              </a:solidFill>
              <a:ln cap="sq">
                <a:noFill/>
                <a:prstDash val="solid"/>
                <a:miter/>
              </a:ln>
            </p:spPr>
            <p:txBody>
              <a:bodyPr/>
              <a:lstStyle/>
              <a:p>
                <a:endParaRPr lang="en-US"/>
              </a:p>
            </p:txBody>
          </p:sp>
          <p:sp>
            <p:nvSpPr>
              <p:cNvPr id="58" name="TextBox 58"/>
              <p:cNvSpPr txBox="1"/>
              <p:nvPr/>
            </p:nvSpPr>
            <p:spPr>
              <a:xfrm>
                <a:off x="0" y="-28575"/>
                <a:ext cx="703340" cy="165015"/>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MARKETING &amp; SALES</a:t>
                </a:r>
              </a:p>
            </p:txBody>
          </p:sp>
        </p:grpSp>
        <p:grpSp>
          <p:nvGrpSpPr>
            <p:cNvPr id="59" name="Group 59"/>
            <p:cNvGrpSpPr/>
            <p:nvPr/>
          </p:nvGrpSpPr>
          <p:grpSpPr>
            <a:xfrm>
              <a:off x="0" y="8843445"/>
              <a:ext cx="2981611" cy="1398505"/>
              <a:chOff x="0" y="0"/>
              <a:chExt cx="703340" cy="329897"/>
            </a:xfrm>
          </p:grpSpPr>
          <p:sp>
            <p:nvSpPr>
              <p:cNvPr id="60" name="Freeform 60"/>
              <p:cNvSpPr/>
              <p:nvPr/>
            </p:nvSpPr>
            <p:spPr>
              <a:xfrm>
                <a:off x="0" y="0"/>
                <a:ext cx="703340" cy="329897"/>
              </a:xfrm>
              <a:custGeom>
                <a:avLst/>
                <a:gdLst/>
                <a:ahLst/>
                <a:cxnLst/>
                <a:rect l="l" t="t" r="r" b="b"/>
                <a:pathLst>
                  <a:path w="703340" h="329897">
                    <a:moveTo>
                      <a:pt x="0" y="0"/>
                    </a:moveTo>
                    <a:lnTo>
                      <a:pt x="703340" y="0"/>
                    </a:lnTo>
                    <a:lnTo>
                      <a:pt x="703340" y="329897"/>
                    </a:lnTo>
                    <a:lnTo>
                      <a:pt x="0" y="329897"/>
                    </a:lnTo>
                    <a:close/>
                  </a:path>
                </a:pathLst>
              </a:custGeom>
              <a:solidFill>
                <a:srgbClr val="FFFFFF"/>
              </a:solidFill>
              <a:ln w="38100" cap="sq">
                <a:solidFill>
                  <a:srgbClr val="000000"/>
                </a:solidFill>
                <a:prstDash val="sysDot"/>
                <a:miter/>
              </a:ln>
            </p:spPr>
            <p:txBody>
              <a:bodyPr/>
              <a:lstStyle/>
              <a:p>
                <a:endParaRPr lang="en-US"/>
              </a:p>
            </p:txBody>
          </p:sp>
          <p:sp>
            <p:nvSpPr>
              <p:cNvPr id="61" name="TextBox 61"/>
              <p:cNvSpPr txBox="1"/>
              <p:nvPr/>
            </p:nvSpPr>
            <p:spPr>
              <a:xfrm>
                <a:off x="0" y="-28575"/>
                <a:ext cx="703340" cy="358472"/>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Adds Value by promoting premium “hospitality-driven”</a:t>
                </a:r>
              </a:p>
            </p:txBody>
          </p:sp>
        </p:grpSp>
      </p:grpSp>
      <p:grpSp>
        <p:nvGrpSpPr>
          <p:cNvPr id="62" name="Group 62"/>
          <p:cNvGrpSpPr/>
          <p:nvPr/>
        </p:nvGrpSpPr>
        <p:grpSpPr>
          <a:xfrm>
            <a:off x="15809091" y="2303507"/>
            <a:ext cx="2236208" cy="7681463"/>
            <a:chOff x="0" y="0"/>
            <a:chExt cx="2981611" cy="10241950"/>
          </a:xfrm>
        </p:grpSpPr>
        <p:grpSp>
          <p:nvGrpSpPr>
            <p:cNvPr id="63" name="Group 63"/>
            <p:cNvGrpSpPr/>
            <p:nvPr/>
          </p:nvGrpSpPr>
          <p:grpSpPr>
            <a:xfrm>
              <a:off x="0" y="367968"/>
              <a:ext cx="2981611" cy="8488401"/>
              <a:chOff x="0" y="0"/>
              <a:chExt cx="703340" cy="2002352"/>
            </a:xfrm>
          </p:grpSpPr>
          <p:sp>
            <p:nvSpPr>
              <p:cNvPr id="64" name="Freeform 64"/>
              <p:cNvSpPr/>
              <p:nvPr/>
            </p:nvSpPr>
            <p:spPr>
              <a:xfrm>
                <a:off x="0" y="0"/>
                <a:ext cx="703340" cy="2002352"/>
              </a:xfrm>
              <a:custGeom>
                <a:avLst/>
                <a:gdLst/>
                <a:ahLst/>
                <a:cxnLst/>
                <a:rect l="l" t="t" r="r" b="b"/>
                <a:pathLst>
                  <a:path w="703340" h="2002352">
                    <a:moveTo>
                      <a:pt x="0" y="0"/>
                    </a:moveTo>
                    <a:lnTo>
                      <a:pt x="703340" y="0"/>
                    </a:lnTo>
                    <a:lnTo>
                      <a:pt x="703340" y="2002352"/>
                    </a:lnTo>
                    <a:lnTo>
                      <a:pt x="0" y="2002352"/>
                    </a:lnTo>
                    <a:close/>
                  </a:path>
                </a:pathLst>
              </a:custGeom>
              <a:solidFill>
                <a:srgbClr val="FFF3C2"/>
              </a:solidFill>
              <a:ln cap="sq">
                <a:noFill/>
                <a:prstDash val="solid"/>
                <a:miter/>
              </a:ln>
            </p:spPr>
            <p:txBody>
              <a:bodyPr/>
              <a:lstStyle/>
              <a:p>
                <a:endParaRPr lang="en-US"/>
              </a:p>
            </p:txBody>
          </p:sp>
          <p:sp>
            <p:nvSpPr>
              <p:cNvPr id="65" name="TextBox 65"/>
              <p:cNvSpPr txBox="1"/>
              <p:nvPr/>
            </p:nvSpPr>
            <p:spPr>
              <a:xfrm>
                <a:off x="0" y="-28575"/>
                <a:ext cx="703340" cy="2030927"/>
              </a:xfrm>
              <a:prstGeom prst="rect">
                <a:avLst/>
              </a:prstGeom>
            </p:spPr>
            <p:txBody>
              <a:bodyPr lIns="50800" tIns="50800" rIns="50800" bIns="50800" rtlCol="0" anchor="ctr"/>
              <a:lstStyle/>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Continuous member support: reception, maintenance, mail handling, and events.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Wellbeing-focused spaces improving satisfaction and retention (+79% service quality correlation).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Retention rate 60–80% annually with personalized services. </a:t>
                </a:r>
              </a:p>
              <a:p>
                <a:pPr algn="l">
                  <a:lnSpc>
                    <a:spcPts val="2100"/>
                  </a:lnSpc>
                </a:pPr>
                <a:endParaRPr lang="en-US" sz="1500">
                  <a:solidFill>
                    <a:srgbClr val="000000"/>
                  </a:solidFill>
                  <a:latin typeface="Open Sans 1"/>
                  <a:ea typeface="Open Sans 1"/>
                  <a:cs typeface="Open Sans 1"/>
                  <a:sym typeface="Open Sans 1"/>
                </a:endParaRPr>
              </a:p>
              <a:p>
                <a:pPr marL="323850" lvl="1" indent="-161925" algn="l">
                  <a:lnSpc>
                    <a:spcPts val="2100"/>
                  </a:lnSpc>
                  <a:buFont typeface="Arial"/>
                  <a:buChar char="•"/>
                </a:pPr>
                <a:r>
                  <a:rPr lang="en-US" sz="1500">
                    <a:solidFill>
                      <a:srgbClr val="000000"/>
                    </a:solidFill>
                    <a:latin typeface="Open Sans 1"/>
                    <a:ea typeface="Open Sans 1"/>
                    <a:cs typeface="Open Sans 1"/>
                    <a:sym typeface="Open Sans 1"/>
                  </a:rPr>
                  <a:t>Feedback integration for ongoing improvement and experience design.</a:t>
                </a:r>
              </a:p>
            </p:txBody>
          </p:sp>
        </p:grpSp>
        <p:grpSp>
          <p:nvGrpSpPr>
            <p:cNvPr id="66" name="Group 66"/>
            <p:cNvGrpSpPr/>
            <p:nvPr/>
          </p:nvGrpSpPr>
          <p:grpSpPr>
            <a:xfrm>
              <a:off x="0" y="0"/>
              <a:ext cx="2981611" cy="527753"/>
              <a:chOff x="0" y="0"/>
              <a:chExt cx="703340" cy="124493"/>
            </a:xfrm>
          </p:grpSpPr>
          <p:sp>
            <p:nvSpPr>
              <p:cNvPr id="67" name="Freeform 67"/>
              <p:cNvSpPr/>
              <p:nvPr/>
            </p:nvSpPr>
            <p:spPr>
              <a:xfrm>
                <a:off x="0" y="0"/>
                <a:ext cx="703340" cy="124493"/>
              </a:xfrm>
              <a:custGeom>
                <a:avLst/>
                <a:gdLst/>
                <a:ahLst/>
                <a:cxnLst/>
                <a:rect l="l" t="t" r="r" b="b"/>
                <a:pathLst>
                  <a:path w="703340" h="124493">
                    <a:moveTo>
                      <a:pt x="0" y="0"/>
                    </a:moveTo>
                    <a:lnTo>
                      <a:pt x="703340" y="0"/>
                    </a:lnTo>
                    <a:lnTo>
                      <a:pt x="703340" y="124493"/>
                    </a:lnTo>
                    <a:lnTo>
                      <a:pt x="0" y="124493"/>
                    </a:lnTo>
                    <a:close/>
                  </a:path>
                </a:pathLst>
              </a:custGeom>
              <a:solidFill>
                <a:srgbClr val="FFF3C2"/>
              </a:solidFill>
              <a:ln cap="sq">
                <a:noFill/>
                <a:prstDash val="solid"/>
                <a:miter/>
              </a:ln>
            </p:spPr>
            <p:txBody>
              <a:bodyPr/>
              <a:lstStyle/>
              <a:p>
                <a:endParaRPr lang="en-US"/>
              </a:p>
            </p:txBody>
          </p:sp>
          <p:sp>
            <p:nvSpPr>
              <p:cNvPr id="68" name="TextBox 68"/>
              <p:cNvSpPr txBox="1"/>
              <p:nvPr/>
            </p:nvSpPr>
            <p:spPr>
              <a:xfrm>
                <a:off x="0" y="-28575"/>
                <a:ext cx="703340" cy="153068"/>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SERVICES</a:t>
                </a:r>
              </a:p>
            </p:txBody>
          </p:sp>
        </p:grpSp>
        <p:grpSp>
          <p:nvGrpSpPr>
            <p:cNvPr id="69" name="Group 69"/>
            <p:cNvGrpSpPr/>
            <p:nvPr/>
          </p:nvGrpSpPr>
          <p:grpSpPr>
            <a:xfrm>
              <a:off x="0" y="8843445"/>
              <a:ext cx="2981611" cy="1398505"/>
              <a:chOff x="0" y="0"/>
              <a:chExt cx="703340" cy="329897"/>
            </a:xfrm>
          </p:grpSpPr>
          <p:sp>
            <p:nvSpPr>
              <p:cNvPr id="70" name="Freeform 70"/>
              <p:cNvSpPr/>
              <p:nvPr/>
            </p:nvSpPr>
            <p:spPr>
              <a:xfrm>
                <a:off x="0" y="0"/>
                <a:ext cx="703340" cy="329897"/>
              </a:xfrm>
              <a:custGeom>
                <a:avLst/>
                <a:gdLst/>
                <a:ahLst/>
                <a:cxnLst/>
                <a:rect l="l" t="t" r="r" b="b"/>
                <a:pathLst>
                  <a:path w="703340" h="329897">
                    <a:moveTo>
                      <a:pt x="0" y="0"/>
                    </a:moveTo>
                    <a:lnTo>
                      <a:pt x="703340" y="0"/>
                    </a:lnTo>
                    <a:lnTo>
                      <a:pt x="703340" y="329897"/>
                    </a:lnTo>
                    <a:lnTo>
                      <a:pt x="0" y="329897"/>
                    </a:lnTo>
                    <a:close/>
                  </a:path>
                </a:pathLst>
              </a:custGeom>
              <a:solidFill>
                <a:srgbClr val="FFFFFF"/>
              </a:solidFill>
              <a:ln w="38100" cap="sq">
                <a:solidFill>
                  <a:srgbClr val="000000"/>
                </a:solidFill>
                <a:prstDash val="sysDot"/>
                <a:miter/>
              </a:ln>
            </p:spPr>
            <p:txBody>
              <a:bodyPr/>
              <a:lstStyle/>
              <a:p>
                <a:endParaRPr lang="en-US"/>
              </a:p>
            </p:txBody>
          </p:sp>
          <p:sp>
            <p:nvSpPr>
              <p:cNvPr id="71" name="TextBox 71"/>
              <p:cNvSpPr txBox="1"/>
              <p:nvPr/>
            </p:nvSpPr>
            <p:spPr>
              <a:xfrm>
                <a:off x="0" y="-28575"/>
                <a:ext cx="703340" cy="358472"/>
              </a:xfrm>
              <a:prstGeom prst="rect">
                <a:avLst/>
              </a:prstGeom>
            </p:spPr>
            <p:txBody>
              <a:bodyPr lIns="50800" tIns="50800" rIns="50800" bIns="50800" rtlCol="0" anchor="ctr"/>
              <a:lstStyle/>
              <a:p>
                <a:pPr algn="ctr">
                  <a:lnSpc>
                    <a:spcPts val="2100"/>
                  </a:lnSpc>
                </a:pPr>
                <a:r>
                  <a:rPr lang="en-US" sz="1500" b="1">
                    <a:solidFill>
                      <a:srgbClr val="000000"/>
                    </a:solidFill>
                    <a:latin typeface="Open Sans 1 Bold"/>
                    <a:ea typeface="Open Sans 1 Bold"/>
                    <a:cs typeface="Open Sans 1 Bold"/>
                    <a:sym typeface="Open Sans 1 Bold"/>
                  </a:rPr>
                  <a:t>Adds Value by continuous member support</a:t>
                </a:r>
              </a:p>
            </p:txBody>
          </p:sp>
        </p:grpSp>
      </p:grpSp>
      <p:sp>
        <p:nvSpPr>
          <p:cNvPr id="72" name="Freeform 72"/>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p:nvPr/>
        </p:nvGraphicFramePr>
        <p:xfrm>
          <a:off x="384454" y="2956986"/>
          <a:ext cx="7586157" cy="4274588"/>
        </p:xfrm>
        <a:graphic>
          <a:graphicData uri="http://schemas.openxmlformats.org/presentationml/2006/ole">
            <mc:AlternateContent xmlns:mc="http://schemas.openxmlformats.org/markup-compatibility/2006">
              <mc:Choice xmlns:v="urn:schemas-microsoft-com:vml" Requires="v">
                <p:oleObj name="Worksheet" r:id="rId2" imgW="9105900" imgH="5791200" progId="Excel.Sheet.12">
                  <p:embed/>
                </p:oleObj>
              </mc:Choice>
              <mc:Fallback>
                <p:oleObj name="Worksheet" r:id="rId2" imgW="9105900" imgH="5791200" progId="Excel.Sheet.12">
                  <p:embed/>
                  <p:pic>
                    <p:nvPicPr>
                      <p:cNvPr id="0" name=""/>
                      <p:cNvPicPr/>
                      <p:nvPr/>
                    </p:nvPicPr>
                    <p:blipFill>
                      <a:blip r:embed="rId3"/>
                      <a:stretch>
                        <a:fillRect/>
                      </a:stretch>
                    </p:blipFill>
                    <p:spPr>
                      <a:xfrm>
                        <a:off x="384454" y="2956986"/>
                        <a:ext cx="7586157" cy="4274588"/>
                      </a:xfrm>
                      <a:prstGeom prst="rect">
                        <a:avLst/>
                      </a:prstGeom>
                    </p:spPr>
                  </p:pic>
                </p:oleObj>
              </mc:Fallback>
            </mc:AlternateContent>
          </a:graphicData>
        </a:graphic>
      </p:graphicFrame>
      <p:grpSp>
        <p:nvGrpSpPr>
          <p:cNvPr id="3" name="Group 3"/>
          <p:cNvGrpSpPr/>
          <p:nvPr/>
        </p:nvGrpSpPr>
        <p:grpSpPr>
          <a:xfrm>
            <a:off x="13043887" y="2956986"/>
            <a:ext cx="4564859" cy="6741229"/>
            <a:chOff x="0" y="0"/>
            <a:chExt cx="1435756" cy="2120276"/>
          </a:xfrm>
        </p:grpSpPr>
        <p:sp>
          <p:nvSpPr>
            <p:cNvPr id="4" name="Freeform 4"/>
            <p:cNvSpPr/>
            <p:nvPr/>
          </p:nvSpPr>
          <p:spPr>
            <a:xfrm>
              <a:off x="0" y="0"/>
              <a:ext cx="1435756" cy="2120276"/>
            </a:xfrm>
            <a:custGeom>
              <a:avLst/>
              <a:gdLst/>
              <a:ahLst/>
              <a:cxnLst/>
              <a:rect l="l" t="t" r="r" b="b"/>
              <a:pathLst>
                <a:path w="1435756" h="2120276">
                  <a:moveTo>
                    <a:pt x="55967" y="0"/>
                  </a:moveTo>
                  <a:lnTo>
                    <a:pt x="1379789" y="0"/>
                  </a:lnTo>
                  <a:cubicBezTo>
                    <a:pt x="1394632" y="0"/>
                    <a:pt x="1408868" y="5897"/>
                    <a:pt x="1419364" y="16392"/>
                  </a:cubicBezTo>
                  <a:cubicBezTo>
                    <a:pt x="1429860" y="26888"/>
                    <a:pt x="1435756" y="41124"/>
                    <a:pt x="1435756" y="55967"/>
                  </a:cubicBezTo>
                  <a:lnTo>
                    <a:pt x="1435756" y="2064308"/>
                  </a:lnTo>
                  <a:cubicBezTo>
                    <a:pt x="1435756" y="2095218"/>
                    <a:pt x="1410699" y="2120276"/>
                    <a:pt x="1379789" y="2120276"/>
                  </a:cubicBezTo>
                  <a:lnTo>
                    <a:pt x="55967" y="2120276"/>
                  </a:lnTo>
                  <a:cubicBezTo>
                    <a:pt x="41124" y="2120276"/>
                    <a:pt x="26888" y="2114379"/>
                    <a:pt x="16392" y="2103883"/>
                  </a:cubicBezTo>
                  <a:cubicBezTo>
                    <a:pt x="5897" y="2093387"/>
                    <a:pt x="0" y="2079152"/>
                    <a:pt x="0" y="2064308"/>
                  </a:cubicBezTo>
                  <a:lnTo>
                    <a:pt x="0" y="55967"/>
                  </a:lnTo>
                  <a:cubicBezTo>
                    <a:pt x="0" y="41124"/>
                    <a:pt x="5897" y="26888"/>
                    <a:pt x="16392" y="16392"/>
                  </a:cubicBezTo>
                  <a:cubicBezTo>
                    <a:pt x="26888" y="5897"/>
                    <a:pt x="41124" y="0"/>
                    <a:pt x="55967" y="0"/>
                  </a:cubicBezTo>
                  <a:close/>
                </a:path>
              </a:pathLst>
            </a:custGeom>
            <a:solidFill>
              <a:srgbClr val="FFF3C2"/>
            </a:solidFill>
          </p:spPr>
          <p:txBody>
            <a:bodyPr/>
            <a:lstStyle/>
            <a:p>
              <a:endParaRPr lang="en-US"/>
            </a:p>
          </p:txBody>
        </p:sp>
        <p:sp>
          <p:nvSpPr>
            <p:cNvPr id="5" name="TextBox 5"/>
            <p:cNvSpPr txBox="1"/>
            <p:nvPr/>
          </p:nvSpPr>
          <p:spPr>
            <a:xfrm>
              <a:off x="0" y="-38100"/>
              <a:ext cx="1435756" cy="2158376"/>
            </a:xfrm>
            <a:prstGeom prst="rect">
              <a:avLst/>
            </a:prstGeom>
          </p:spPr>
          <p:txBody>
            <a:bodyPr lIns="254000" tIns="254000" rIns="254000" bIns="254000" rtlCol="0" anchor="ctr"/>
            <a:lstStyle/>
            <a:p>
              <a:pPr algn="ctr">
                <a:lnSpc>
                  <a:spcPts val="3359"/>
                </a:lnSpc>
              </a:pPr>
              <a:r>
                <a:rPr lang="en-US" sz="2399" i="1">
                  <a:solidFill>
                    <a:srgbClr val="000000"/>
                  </a:solidFill>
                  <a:latin typeface="Open Sans 1 Italics"/>
                  <a:ea typeface="Open Sans 1 Italics"/>
                  <a:cs typeface="Open Sans 1 Italics"/>
                  <a:sym typeface="Open Sans 1 Italics"/>
                </a:rPr>
                <a:t>Industrious possesses strong internal drivers for scalable growth, including an adaptive culture, effective leadership, and a skilled, motivated workforce. Operational efficiency is reinforced by standardized processes and technology-driven workflows. Robust internal communication ensures alignment, while a customer-centric focus, advanced CRM, and service excellence enhance retention. </a:t>
              </a:r>
            </a:p>
          </p:txBody>
        </p:sp>
      </p:grpSp>
      <p:grpSp>
        <p:nvGrpSpPr>
          <p:cNvPr id="6" name="Group 6"/>
          <p:cNvGrpSpPr/>
          <p:nvPr/>
        </p:nvGrpSpPr>
        <p:grpSpPr>
          <a:xfrm>
            <a:off x="11112912" y="5670289"/>
            <a:ext cx="1543050" cy="1543050"/>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ln w="28575" cap="sq">
              <a:solidFill>
                <a:srgbClr val="FDD344"/>
              </a:solidFill>
              <a:prstDash val="solid"/>
              <a:miter/>
            </a:ln>
          </p:spPr>
          <p:txBody>
            <a:bodyPr/>
            <a:lstStyle/>
            <a:p>
              <a:endParaRPr lang="en-US"/>
            </a:p>
          </p:txBody>
        </p:sp>
        <p:sp>
          <p:nvSpPr>
            <p:cNvPr id="8" name="TextBox 8"/>
            <p:cNvSpPr txBox="1"/>
            <p:nvPr/>
          </p:nvSpPr>
          <p:spPr>
            <a:xfrm>
              <a:off x="0" y="165100"/>
              <a:ext cx="711200" cy="444500"/>
            </a:xfrm>
            <a:prstGeom prst="rect">
              <a:avLst/>
            </a:prstGeom>
          </p:spPr>
          <p:txBody>
            <a:bodyPr lIns="50800" tIns="50800" rIns="50800" bIns="50800" rtlCol="0" anchor="ctr"/>
            <a:lstStyle/>
            <a:p>
              <a:pPr algn="ctr">
                <a:lnSpc>
                  <a:spcPts val="2399"/>
                </a:lnSpc>
              </a:pPr>
              <a:endParaRPr/>
            </a:p>
          </p:txBody>
        </p:sp>
      </p:grpSp>
      <p:sp>
        <p:nvSpPr>
          <p:cNvPr id="9" name="TextBox 9"/>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10" name="TextBox 10"/>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11" name="TextBox 11"/>
          <p:cNvSpPr txBox="1"/>
          <p:nvPr/>
        </p:nvSpPr>
        <p:spPr>
          <a:xfrm>
            <a:off x="3227766" y="2067218"/>
            <a:ext cx="12695549" cy="463658"/>
          </a:xfrm>
          <a:prstGeom prst="rect">
            <a:avLst/>
          </a:prstGeom>
        </p:spPr>
        <p:txBody>
          <a:bodyPr lIns="0" tIns="0" rIns="0" bIns="0" rtlCol="0" anchor="t">
            <a:spAutoFit/>
          </a:bodyPr>
          <a:lstStyle/>
          <a:p>
            <a:pPr algn="ctr">
              <a:lnSpc>
                <a:spcPts val="3844"/>
              </a:lnSpc>
            </a:pPr>
            <a:r>
              <a:rPr lang="en-US" sz="2745" b="1">
                <a:solidFill>
                  <a:srgbClr val="000000"/>
                </a:solidFill>
                <a:latin typeface="Canva Sans Bold"/>
                <a:ea typeface="Canva Sans Bold"/>
                <a:cs typeface="Canva Sans Bold"/>
                <a:sym typeface="Canva Sans Bold"/>
              </a:rPr>
              <a:t>Is Industrious operating in a favorable and growing external environment ?</a:t>
            </a:r>
          </a:p>
        </p:txBody>
      </p:sp>
      <p:sp>
        <p:nvSpPr>
          <p:cNvPr id="12" name="Freeform 12"/>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p:nvPr/>
        </p:nvGraphicFramePr>
        <p:xfrm>
          <a:off x="384454" y="2309187"/>
          <a:ext cx="7586157" cy="4274588"/>
        </p:xfrm>
        <a:graphic>
          <a:graphicData uri="http://schemas.openxmlformats.org/presentationml/2006/ole">
            <mc:AlternateContent xmlns:mc="http://schemas.openxmlformats.org/markup-compatibility/2006">
              <mc:Choice xmlns:v="urn:schemas-microsoft-com:vml" Requires="v">
                <p:oleObj name="Worksheet" r:id="rId2" imgW="9105900" imgH="5791200" progId="Excel.Sheet.12">
                  <p:embed/>
                </p:oleObj>
              </mc:Choice>
              <mc:Fallback>
                <p:oleObj name="Worksheet" r:id="rId2" imgW="9105900" imgH="5791200" progId="Excel.Sheet.12">
                  <p:embed/>
                  <p:pic>
                    <p:nvPicPr>
                      <p:cNvPr id="0" name=""/>
                      <p:cNvPicPr/>
                      <p:nvPr/>
                    </p:nvPicPr>
                    <p:blipFill>
                      <a:blip r:embed="rId3"/>
                      <a:stretch>
                        <a:fillRect/>
                      </a:stretch>
                    </p:blipFill>
                    <p:spPr>
                      <a:xfrm>
                        <a:off x="384454" y="2309187"/>
                        <a:ext cx="7586157" cy="4274588"/>
                      </a:xfrm>
                      <a:prstGeom prst="rect">
                        <a:avLst/>
                      </a:prstGeom>
                    </p:spPr>
                  </p:pic>
                </p:oleObj>
              </mc:Fallback>
            </mc:AlternateContent>
          </a:graphicData>
        </a:graphic>
      </p:graphicFrame>
      <p:sp>
        <p:nvSpPr>
          <p:cNvPr id="3" name="TextBox 3"/>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4" name="TextBox 4"/>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5" name="TextBox 5"/>
          <p:cNvSpPr txBox="1"/>
          <p:nvPr/>
        </p:nvSpPr>
        <p:spPr>
          <a:xfrm>
            <a:off x="0" y="1794509"/>
            <a:ext cx="13228245" cy="463550"/>
          </a:xfrm>
          <a:prstGeom prst="rect">
            <a:avLst/>
          </a:prstGeom>
        </p:spPr>
        <p:txBody>
          <a:bodyPr lIns="0" tIns="0" rIns="0" bIns="0" rtlCol="0" anchor="t">
            <a:spAutoFit/>
          </a:bodyPr>
          <a:lstStyle/>
          <a:p>
            <a:pPr algn="ctr">
              <a:lnSpc>
                <a:spcPts val="3850"/>
              </a:lnSpc>
              <a:spcBef>
                <a:spcPct val="0"/>
              </a:spcBef>
            </a:pPr>
            <a:r>
              <a:rPr lang="en-US" sz="2750" b="1">
                <a:solidFill>
                  <a:srgbClr val="000000"/>
                </a:solidFill>
                <a:latin typeface="Open Sans 1 Bold"/>
                <a:ea typeface="Open Sans 1 Bold"/>
                <a:cs typeface="Open Sans 1 Bold"/>
                <a:sym typeface="Open Sans 1 Bold"/>
              </a:rPr>
              <a:t>Trend audit to identify and analyze the key trends Industrious builds on.</a:t>
            </a:r>
          </a:p>
        </p:txBody>
      </p:sp>
      <p:sp>
        <p:nvSpPr>
          <p:cNvPr id="6" name="TextBox 6"/>
          <p:cNvSpPr txBox="1"/>
          <p:nvPr/>
        </p:nvSpPr>
        <p:spPr>
          <a:xfrm>
            <a:off x="132756" y="6942845"/>
            <a:ext cx="12172578" cy="3629025"/>
          </a:xfrm>
          <a:prstGeom prst="rect">
            <a:avLst/>
          </a:prstGeom>
        </p:spPr>
        <p:txBody>
          <a:bodyPr lIns="0" tIns="0" rIns="0" bIns="0" rtlCol="0" anchor="t">
            <a:spAutoFit/>
          </a:bodyPr>
          <a:lstStyle/>
          <a:p>
            <a:pPr algn="just">
              <a:lnSpc>
                <a:spcPts val="2010"/>
              </a:lnSpc>
            </a:pPr>
            <a:endParaRPr/>
          </a:p>
          <a:p>
            <a:pPr algn="just">
              <a:lnSpc>
                <a:spcPts val="2010"/>
              </a:lnSpc>
            </a:pPr>
            <a:endParaRPr/>
          </a:p>
          <a:p>
            <a:pPr marL="323848" lvl="1" indent="-161924" algn="just">
              <a:lnSpc>
                <a:spcPts val="1799"/>
              </a:lnSpc>
              <a:buFont typeface="Arial"/>
              <a:buChar char="•"/>
            </a:pPr>
            <a:r>
              <a:rPr lang="en-US" sz="1499" spc="77">
                <a:solidFill>
                  <a:srgbClr val="000000"/>
                </a:solidFill>
                <a:latin typeface="Canva Sans"/>
                <a:ea typeface="Canva Sans"/>
                <a:cs typeface="Canva Sans"/>
                <a:sym typeface="Canva Sans"/>
              </a:rPr>
              <a:t>Industrious operates over 160+ locations in 65+ cities globally, achieving extensive geographic reach and dense national coverage with steady growth—making it a core player in the U.S. and a rapid expander in Europe.</a:t>
            </a:r>
          </a:p>
          <a:p>
            <a:pPr algn="just">
              <a:lnSpc>
                <a:spcPts val="1799"/>
              </a:lnSpc>
            </a:pPr>
            <a:endParaRPr lang="en-US" sz="1499" spc="77">
              <a:solidFill>
                <a:srgbClr val="000000"/>
              </a:solidFill>
              <a:latin typeface="Canva Sans"/>
              <a:ea typeface="Canva Sans"/>
              <a:cs typeface="Canva Sans"/>
              <a:sym typeface="Canva Sans"/>
            </a:endParaRPr>
          </a:p>
          <a:p>
            <a:pPr marL="323848" lvl="1" indent="-161924" algn="just">
              <a:lnSpc>
                <a:spcPts val="1799"/>
              </a:lnSpc>
              <a:buFont typeface="Arial"/>
              <a:buChar char="•"/>
            </a:pPr>
            <a:r>
              <a:rPr lang="en-US" sz="1499" spc="77">
                <a:solidFill>
                  <a:srgbClr val="000000"/>
                </a:solidFill>
                <a:latin typeface="Canva Sans"/>
                <a:ea typeface="Canva Sans"/>
                <a:cs typeface="Canva Sans"/>
                <a:sym typeface="Canva Sans"/>
              </a:rPr>
              <a:t>Its asset-light management contract model allows scalable expansion with less financial risk, especially as part of CBRE after its $400M acquisition, giving it a strategic advantage versus lease-heavy competitors.</a:t>
            </a:r>
          </a:p>
          <a:p>
            <a:pPr algn="just">
              <a:lnSpc>
                <a:spcPts val="1799"/>
              </a:lnSpc>
            </a:pPr>
            <a:endParaRPr lang="en-US" sz="1499" spc="77">
              <a:solidFill>
                <a:srgbClr val="000000"/>
              </a:solidFill>
              <a:latin typeface="Canva Sans"/>
              <a:ea typeface="Canva Sans"/>
              <a:cs typeface="Canva Sans"/>
              <a:sym typeface="Canva Sans"/>
            </a:endParaRPr>
          </a:p>
          <a:p>
            <a:pPr marL="323848" lvl="1" indent="-161924" algn="just">
              <a:lnSpc>
                <a:spcPts val="1799"/>
              </a:lnSpc>
              <a:buFont typeface="Arial"/>
              <a:buChar char="•"/>
            </a:pPr>
            <a:r>
              <a:rPr lang="en-US" sz="1499" spc="77">
                <a:solidFill>
                  <a:srgbClr val="000000"/>
                </a:solidFill>
                <a:latin typeface="Canva Sans"/>
                <a:ea typeface="Canva Sans"/>
                <a:cs typeface="Canva Sans"/>
                <a:sym typeface="Canva Sans"/>
              </a:rPr>
              <a:t>Industrious sets itself apart with premium spaces validated by WELL Coworking certifications in major metros, emphasizing health-driven design, high-end amenities, and superior operational experience for enterprise clients</a:t>
            </a:r>
          </a:p>
          <a:p>
            <a:pPr algn="just">
              <a:lnSpc>
                <a:spcPts val="1799"/>
              </a:lnSpc>
            </a:pPr>
            <a:endParaRPr lang="en-US" sz="1499" spc="77">
              <a:solidFill>
                <a:srgbClr val="000000"/>
              </a:solidFill>
              <a:latin typeface="Canva Sans"/>
              <a:ea typeface="Canva Sans"/>
              <a:cs typeface="Canva Sans"/>
              <a:sym typeface="Canva Sans"/>
            </a:endParaRPr>
          </a:p>
          <a:p>
            <a:pPr marL="323848" lvl="1" indent="-161924" algn="just">
              <a:lnSpc>
                <a:spcPts val="1799"/>
              </a:lnSpc>
              <a:buFont typeface="Arial"/>
              <a:buChar char="•"/>
            </a:pPr>
            <a:r>
              <a:rPr lang="en-US" sz="1499" spc="77">
                <a:solidFill>
                  <a:srgbClr val="000000"/>
                </a:solidFill>
                <a:latin typeface="Canva Sans"/>
                <a:ea typeface="Canva Sans"/>
                <a:cs typeface="Canva Sans"/>
                <a:sym typeface="Canva Sans"/>
              </a:rPr>
              <a:t>As the coworking sector matures and consolidates, Industrious is strengthened by CBRE’s global distribution and robust financial backing, positioning it to capture long-term growth in a market valued at $25.39 billion in 2025 and projected to surpass $62 billion by 2032</a:t>
            </a:r>
          </a:p>
          <a:p>
            <a:pPr algn="just">
              <a:lnSpc>
                <a:spcPts val="2010"/>
              </a:lnSpc>
            </a:pPr>
            <a:endParaRPr lang="en-US" sz="1499" spc="77">
              <a:solidFill>
                <a:srgbClr val="000000"/>
              </a:solidFill>
              <a:latin typeface="Canva Sans"/>
              <a:ea typeface="Canva Sans"/>
              <a:cs typeface="Canva Sans"/>
              <a:sym typeface="Canva Sans"/>
            </a:endParaRPr>
          </a:p>
          <a:p>
            <a:pPr algn="ctr">
              <a:lnSpc>
                <a:spcPts val="2010"/>
              </a:lnSpc>
            </a:pPr>
            <a:endParaRPr lang="en-US" sz="1499" spc="77">
              <a:solidFill>
                <a:srgbClr val="000000"/>
              </a:solidFill>
              <a:latin typeface="Canva Sans"/>
              <a:ea typeface="Canva Sans"/>
              <a:cs typeface="Canva Sans"/>
              <a:sym typeface="Canva Sans"/>
            </a:endParaRPr>
          </a:p>
        </p:txBody>
      </p:sp>
      <p:sp>
        <p:nvSpPr>
          <p:cNvPr id="7" name="TextBox 7"/>
          <p:cNvSpPr txBox="1"/>
          <p:nvPr/>
        </p:nvSpPr>
        <p:spPr>
          <a:xfrm>
            <a:off x="0" y="6904745"/>
            <a:ext cx="13228245" cy="878205"/>
          </a:xfrm>
          <a:prstGeom prst="rect">
            <a:avLst/>
          </a:prstGeom>
        </p:spPr>
        <p:txBody>
          <a:bodyPr lIns="0" tIns="0" rIns="0" bIns="0" rtlCol="0" anchor="t">
            <a:spAutoFit/>
          </a:bodyPr>
          <a:lstStyle/>
          <a:p>
            <a:pPr algn="ctr">
              <a:lnSpc>
                <a:spcPts val="3570"/>
              </a:lnSpc>
              <a:spcBef>
                <a:spcPct val="0"/>
              </a:spcBef>
            </a:pPr>
            <a:r>
              <a:rPr lang="en-US" sz="2550" b="1">
                <a:solidFill>
                  <a:srgbClr val="000000"/>
                </a:solidFill>
                <a:latin typeface="Open Sans 1 Bold"/>
                <a:ea typeface="Open Sans 1 Bold"/>
                <a:cs typeface="Open Sans 1 Bold"/>
                <a:sym typeface="Open Sans 1 Bold"/>
              </a:rPr>
              <a:t>How strong and defensible is Industrious’s position compared to competitors?</a:t>
            </a:r>
          </a:p>
          <a:p>
            <a:pPr algn="ctr">
              <a:lnSpc>
                <a:spcPts val="3570"/>
              </a:lnSpc>
              <a:spcBef>
                <a:spcPct val="0"/>
              </a:spcBef>
            </a:pPr>
            <a:endParaRPr lang="en-US" sz="2550" b="1">
              <a:solidFill>
                <a:srgbClr val="000000"/>
              </a:solidFill>
              <a:latin typeface="Open Sans 1 Bold"/>
              <a:ea typeface="Open Sans 1 Bold"/>
              <a:cs typeface="Open Sans 1 Bold"/>
              <a:sym typeface="Open Sans 1 Bold"/>
            </a:endParaRPr>
          </a:p>
        </p:txBody>
      </p:sp>
      <p:grpSp>
        <p:nvGrpSpPr>
          <p:cNvPr id="8" name="Group 8"/>
          <p:cNvGrpSpPr/>
          <p:nvPr/>
        </p:nvGrpSpPr>
        <p:grpSpPr>
          <a:xfrm>
            <a:off x="12305334" y="6910798"/>
            <a:ext cx="5210945" cy="3376202"/>
            <a:chOff x="0" y="0"/>
            <a:chExt cx="6947927" cy="4501603"/>
          </a:xfrm>
        </p:grpSpPr>
        <p:sp>
          <p:nvSpPr>
            <p:cNvPr id="9" name="Freeform 9"/>
            <p:cNvSpPr/>
            <p:nvPr/>
          </p:nvSpPr>
          <p:spPr>
            <a:xfrm>
              <a:off x="0" y="0"/>
              <a:ext cx="6947927" cy="4501603"/>
            </a:xfrm>
            <a:custGeom>
              <a:avLst/>
              <a:gdLst/>
              <a:ahLst/>
              <a:cxnLst/>
              <a:rect l="l" t="t" r="r" b="b"/>
              <a:pathLst>
                <a:path w="6947927" h="4501603">
                  <a:moveTo>
                    <a:pt x="0" y="0"/>
                  </a:moveTo>
                  <a:lnTo>
                    <a:pt x="6947927" y="0"/>
                  </a:lnTo>
                  <a:lnTo>
                    <a:pt x="6947927" y="4501603"/>
                  </a:lnTo>
                  <a:lnTo>
                    <a:pt x="0" y="4501603"/>
                  </a:lnTo>
                  <a:lnTo>
                    <a:pt x="0" y="0"/>
                  </a:lnTo>
                  <a:close/>
                </a:path>
              </a:pathLst>
            </a:custGeom>
            <a:blipFill>
              <a:blip r:embed="rId4">
                <a:alphaModFix amt="39000"/>
              </a:blip>
              <a:stretch>
                <a:fillRect t="-22872" r="-553" b="-32325"/>
              </a:stretch>
            </a:blipFill>
          </p:spPr>
          <p:txBody>
            <a:bodyPr/>
            <a:lstStyle/>
            <a:p>
              <a:endParaRPr lang="en-US"/>
            </a:p>
          </p:txBody>
        </p:sp>
        <p:sp>
          <p:nvSpPr>
            <p:cNvPr id="10" name="Freeform 10"/>
            <p:cNvSpPr/>
            <p:nvPr/>
          </p:nvSpPr>
          <p:spPr>
            <a:xfrm>
              <a:off x="959862" y="1280370"/>
              <a:ext cx="377996" cy="537203"/>
            </a:xfrm>
            <a:custGeom>
              <a:avLst/>
              <a:gdLst/>
              <a:ahLst/>
              <a:cxnLst/>
              <a:rect l="l" t="t" r="r" b="b"/>
              <a:pathLst>
                <a:path w="377996" h="537203">
                  <a:moveTo>
                    <a:pt x="0" y="0"/>
                  </a:moveTo>
                  <a:lnTo>
                    <a:pt x="377996" y="0"/>
                  </a:lnTo>
                  <a:lnTo>
                    <a:pt x="377996" y="537204"/>
                  </a:lnTo>
                  <a:lnTo>
                    <a:pt x="0" y="5372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736852" y="1713598"/>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148860" y="1982200"/>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3113969" y="1467807"/>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Freeform 14"/>
            <p:cNvSpPr/>
            <p:nvPr/>
          </p:nvSpPr>
          <p:spPr>
            <a:xfrm>
              <a:off x="3538243" y="1548972"/>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5423290" y="1817574"/>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5537757" y="3174547"/>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7"/>
            <p:cNvSpPr/>
            <p:nvPr/>
          </p:nvSpPr>
          <p:spPr>
            <a:xfrm>
              <a:off x="5045294" y="2774449"/>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Freeform 18"/>
            <p:cNvSpPr/>
            <p:nvPr/>
          </p:nvSpPr>
          <p:spPr>
            <a:xfrm>
              <a:off x="3113969" y="1817574"/>
              <a:ext cx="377996" cy="537203"/>
            </a:xfrm>
            <a:custGeom>
              <a:avLst/>
              <a:gdLst/>
              <a:ahLst/>
              <a:cxnLst/>
              <a:rect l="l" t="t" r="r" b="b"/>
              <a:pathLst>
                <a:path w="377996" h="537203">
                  <a:moveTo>
                    <a:pt x="0" y="0"/>
                  </a:moveTo>
                  <a:lnTo>
                    <a:pt x="377996" y="0"/>
                  </a:lnTo>
                  <a:lnTo>
                    <a:pt x="377996" y="537203"/>
                  </a:lnTo>
                  <a:lnTo>
                    <a:pt x="0" y="5372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9" name="Freeform 19"/>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68322" y="2136939"/>
            <a:ext cx="13551357" cy="8150061"/>
          </a:xfrm>
          <a:custGeom>
            <a:avLst/>
            <a:gdLst/>
            <a:ahLst/>
            <a:cxnLst/>
            <a:rect l="l" t="t" r="r" b="b"/>
            <a:pathLst>
              <a:path w="13551357" h="8150061">
                <a:moveTo>
                  <a:pt x="0" y="0"/>
                </a:moveTo>
                <a:lnTo>
                  <a:pt x="13551356" y="0"/>
                </a:lnTo>
                <a:lnTo>
                  <a:pt x="13551356" y="8150061"/>
                </a:lnTo>
                <a:lnTo>
                  <a:pt x="0" y="8150061"/>
                </a:lnTo>
                <a:lnTo>
                  <a:pt x="0" y="0"/>
                </a:lnTo>
                <a:close/>
              </a:path>
            </a:pathLst>
          </a:custGeom>
          <a:blipFill>
            <a:blip r:embed="rId2"/>
            <a:stretch>
              <a:fillRect t="-401" b="-401"/>
            </a:stretch>
          </a:blipFill>
        </p:spPr>
        <p:txBody>
          <a:bodyPr/>
          <a:lstStyle/>
          <a:p>
            <a:endParaRPr lang="en-US"/>
          </a:p>
        </p:txBody>
      </p:sp>
      <p:sp>
        <p:nvSpPr>
          <p:cNvPr id="3" name="Freeform 3"/>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5" name="TextBox 5"/>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6" name="TextBox 6"/>
          <p:cNvSpPr txBox="1"/>
          <p:nvPr/>
        </p:nvSpPr>
        <p:spPr>
          <a:xfrm>
            <a:off x="327304" y="2346887"/>
            <a:ext cx="4434365" cy="463658"/>
          </a:xfrm>
          <a:prstGeom prst="rect">
            <a:avLst/>
          </a:prstGeom>
        </p:spPr>
        <p:txBody>
          <a:bodyPr lIns="0" tIns="0" rIns="0" bIns="0" rtlCol="0" anchor="t">
            <a:spAutoFit/>
          </a:bodyPr>
          <a:lstStyle/>
          <a:p>
            <a:pPr algn="ctr">
              <a:lnSpc>
                <a:spcPts val="3844"/>
              </a:lnSpc>
            </a:pPr>
            <a:r>
              <a:rPr lang="en-US" sz="2745" b="1">
                <a:solidFill>
                  <a:srgbClr val="000000"/>
                </a:solidFill>
                <a:latin typeface="Canva Sans Bold"/>
                <a:ea typeface="Canva Sans Bold"/>
                <a:cs typeface="Canva Sans Bold"/>
                <a:sym typeface="Canva Sans Bold"/>
              </a:rPr>
              <a:t>External actors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3" name="TextBox 3"/>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4" name="Freeform 4"/>
          <p:cNvSpPr/>
          <p:nvPr/>
        </p:nvSpPr>
        <p:spPr>
          <a:xfrm>
            <a:off x="9103255" y="2130308"/>
            <a:ext cx="8156045" cy="4761091"/>
          </a:xfrm>
          <a:custGeom>
            <a:avLst/>
            <a:gdLst/>
            <a:ahLst/>
            <a:cxnLst/>
            <a:rect l="l" t="t" r="r" b="b"/>
            <a:pathLst>
              <a:path w="8156045" h="4761091">
                <a:moveTo>
                  <a:pt x="0" y="0"/>
                </a:moveTo>
                <a:lnTo>
                  <a:pt x="8156045" y="0"/>
                </a:lnTo>
                <a:lnTo>
                  <a:pt x="8156045" y="4761091"/>
                </a:lnTo>
                <a:lnTo>
                  <a:pt x="0" y="4761091"/>
                </a:lnTo>
                <a:lnTo>
                  <a:pt x="0" y="0"/>
                </a:lnTo>
                <a:close/>
              </a:path>
            </a:pathLst>
          </a:custGeom>
          <a:blipFill>
            <a:blip r:embed="rId2"/>
            <a:stretch>
              <a:fillRect/>
            </a:stretch>
          </a:blipFill>
        </p:spPr>
        <p:txBody>
          <a:bodyPr/>
          <a:lstStyle/>
          <a:p>
            <a:endParaRPr lang="en-US"/>
          </a:p>
        </p:txBody>
      </p:sp>
      <p:sp>
        <p:nvSpPr>
          <p:cNvPr id="5" name="TextBox 5"/>
          <p:cNvSpPr txBox="1"/>
          <p:nvPr/>
        </p:nvSpPr>
        <p:spPr>
          <a:xfrm>
            <a:off x="384454" y="2717114"/>
            <a:ext cx="8372650" cy="7042785"/>
          </a:xfrm>
          <a:prstGeom prst="rect">
            <a:avLst/>
          </a:prstGeom>
        </p:spPr>
        <p:txBody>
          <a:bodyPr lIns="0" tIns="0" rIns="0" bIns="0" rtlCol="0" anchor="t">
            <a:spAutoFit/>
          </a:bodyPr>
          <a:lstStyle/>
          <a:p>
            <a:pPr algn="just">
              <a:lnSpc>
                <a:spcPts val="2940"/>
              </a:lnSpc>
            </a:pPr>
            <a:r>
              <a:rPr lang="en-US" sz="2100" b="1">
                <a:solidFill>
                  <a:srgbClr val="000000"/>
                </a:solidFill>
                <a:latin typeface="Canva Sans Bold"/>
                <a:ea typeface="Canva Sans Bold"/>
                <a:cs typeface="Canva Sans Bold"/>
                <a:sym typeface="Canva Sans Bold"/>
              </a:rPr>
              <a:t>Workspace-as-a-Service (WaaS) in Europe from regulatory POV</a:t>
            </a:r>
          </a:p>
          <a:p>
            <a:pPr algn="just">
              <a:lnSpc>
                <a:spcPts val="2940"/>
              </a:lnSpc>
            </a:pPr>
            <a:endParaRPr lang="en-US" sz="2100" b="1">
              <a:solidFill>
                <a:srgbClr val="000000"/>
              </a:solidFill>
              <a:latin typeface="Canva Sans Bold"/>
              <a:ea typeface="Canva Sans Bold"/>
              <a:cs typeface="Canva Sans Bold"/>
              <a:sym typeface="Canva Sans Bold"/>
            </a:endParaRPr>
          </a:p>
          <a:p>
            <a:pPr marL="453392" lvl="1" indent="-226696" algn="just">
              <a:lnSpc>
                <a:spcPts val="2940"/>
              </a:lnSpc>
              <a:buFont typeface="Arial"/>
              <a:buChar char="•"/>
            </a:pPr>
            <a:r>
              <a:rPr lang="en-US" sz="2100">
                <a:solidFill>
                  <a:srgbClr val="000000"/>
                </a:solidFill>
                <a:latin typeface="Canva Sans"/>
                <a:ea typeface="Canva Sans"/>
                <a:cs typeface="Canva Sans"/>
                <a:sym typeface="Canva Sans"/>
              </a:rPr>
              <a:t>Governments are increasingly investing in the reuse of public buildings to support urban regeneration, tourism, SME competitiveness, and digital access. In Spain, for example, Recovery and Resilience Facility (RRF) funds are being channeled into such areas, which can include the conversion of underused spaces—like former postal offices—into coworking hubs or telecentros.</a:t>
            </a:r>
          </a:p>
          <a:p>
            <a:pPr algn="just">
              <a:lnSpc>
                <a:spcPts val="2940"/>
              </a:lnSpc>
            </a:pPr>
            <a:endParaRPr lang="en-US" sz="2100">
              <a:solidFill>
                <a:srgbClr val="000000"/>
              </a:solidFill>
              <a:latin typeface="Canva Sans"/>
              <a:ea typeface="Canva Sans"/>
              <a:cs typeface="Canva Sans"/>
              <a:sym typeface="Canva Sans"/>
            </a:endParaRPr>
          </a:p>
          <a:p>
            <a:pPr marL="453392" lvl="1" indent="-226696" algn="just">
              <a:lnSpc>
                <a:spcPts val="2940"/>
              </a:lnSpc>
              <a:buFont typeface="Arial"/>
              <a:buChar char="•"/>
            </a:pPr>
            <a:r>
              <a:rPr lang="en-US" sz="2100">
                <a:solidFill>
                  <a:srgbClr val="000000"/>
                </a:solidFill>
                <a:latin typeface="Canva Sans"/>
                <a:ea typeface="Canva Sans"/>
                <a:cs typeface="Canva Sans"/>
                <a:sym typeface="Canva Sans"/>
              </a:rPr>
              <a:t>The UK’s Government Property Agency (GPA) implements flexible workspace frameworks allowing public bodies to buy on-demand WaaS across their estates, promoting smarter working hubs in cities such as Manchester and Birmingham.</a:t>
            </a:r>
          </a:p>
          <a:p>
            <a:pPr algn="just">
              <a:lnSpc>
                <a:spcPts val="2940"/>
              </a:lnSpc>
            </a:pPr>
            <a:endParaRPr lang="en-US" sz="2100">
              <a:solidFill>
                <a:srgbClr val="000000"/>
              </a:solidFill>
              <a:latin typeface="Canva Sans"/>
              <a:ea typeface="Canva Sans"/>
              <a:cs typeface="Canva Sans"/>
              <a:sym typeface="Canva Sans"/>
            </a:endParaRPr>
          </a:p>
          <a:p>
            <a:pPr marL="453392" lvl="1" indent="-226696" algn="just">
              <a:lnSpc>
                <a:spcPts val="2940"/>
              </a:lnSpc>
              <a:buFont typeface="Arial"/>
              <a:buChar char="•"/>
            </a:pPr>
            <a:r>
              <a:rPr lang="en-US" sz="2100">
                <a:solidFill>
                  <a:srgbClr val="000000"/>
                </a:solidFill>
                <a:latin typeface="Canva Sans"/>
                <a:ea typeface="Canva Sans"/>
                <a:cs typeface="Canva Sans"/>
                <a:sym typeface="Canva Sans"/>
              </a:rPr>
              <a:t>National telework laws in countries like France and Finland encourage flexible office usage, while ESG goals in Netherlands cities push corporate tenants to adopt WaaS models that optimize space and sustainability.</a:t>
            </a:r>
          </a:p>
        </p:txBody>
      </p:sp>
      <p:grpSp>
        <p:nvGrpSpPr>
          <p:cNvPr id="6" name="Group 6"/>
          <p:cNvGrpSpPr/>
          <p:nvPr/>
        </p:nvGrpSpPr>
        <p:grpSpPr>
          <a:xfrm>
            <a:off x="9373375" y="7253349"/>
            <a:ext cx="8914625" cy="2506550"/>
            <a:chOff x="0" y="0"/>
            <a:chExt cx="789688" cy="222039"/>
          </a:xfrm>
        </p:grpSpPr>
        <p:sp>
          <p:nvSpPr>
            <p:cNvPr id="7" name="Freeform 7"/>
            <p:cNvSpPr/>
            <p:nvPr/>
          </p:nvSpPr>
          <p:spPr>
            <a:xfrm>
              <a:off x="0" y="0"/>
              <a:ext cx="789688" cy="222039"/>
            </a:xfrm>
            <a:custGeom>
              <a:avLst/>
              <a:gdLst/>
              <a:ahLst/>
              <a:cxnLst/>
              <a:rect l="l" t="t" r="r" b="b"/>
              <a:pathLst>
                <a:path w="789688" h="222039">
                  <a:moveTo>
                    <a:pt x="0" y="0"/>
                  </a:moveTo>
                  <a:lnTo>
                    <a:pt x="789688" y="0"/>
                  </a:lnTo>
                  <a:lnTo>
                    <a:pt x="789688" y="222039"/>
                  </a:lnTo>
                  <a:lnTo>
                    <a:pt x="0" y="222039"/>
                  </a:lnTo>
                  <a:close/>
                </a:path>
              </a:pathLst>
            </a:custGeom>
            <a:solidFill>
              <a:srgbClr val="FFF3C2"/>
            </a:solidFill>
          </p:spPr>
          <p:txBody>
            <a:bodyPr/>
            <a:lstStyle/>
            <a:p>
              <a:endParaRPr lang="en-US"/>
            </a:p>
          </p:txBody>
        </p:sp>
        <p:sp>
          <p:nvSpPr>
            <p:cNvPr id="8" name="TextBox 8"/>
            <p:cNvSpPr txBox="1"/>
            <p:nvPr/>
          </p:nvSpPr>
          <p:spPr>
            <a:xfrm>
              <a:off x="0" y="-38100"/>
              <a:ext cx="789688" cy="260139"/>
            </a:xfrm>
            <a:prstGeom prst="rect">
              <a:avLst/>
            </a:prstGeom>
          </p:spPr>
          <p:txBody>
            <a:bodyPr lIns="50800" tIns="50800" rIns="50800" bIns="50800" rtlCol="0" anchor="ctr"/>
            <a:lstStyle/>
            <a:p>
              <a:pPr algn="just">
                <a:lnSpc>
                  <a:spcPts val="3359"/>
                </a:lnSpc>
              </a:pPr>
              <a:endParaRPr/>
            </a:p>
          </p:txBody>
        </p:sp>
      </p:grpSp>
      <p:sp>
        <p:nvSpPr>
          <p:cNvPr id="9" name="TextBox 9"/>
          <p:cNvSpPr txBox="1"/>
          <p:nvPr/>
        </p:nvSpPr>
        <p:spPr>
          <a:xfrm>
            <a:off x="9445511" y="7288059"/>
            <a:ext cx="8770354" cy="2389505"/>
          </a:xfrm>
          <a:prstGeom prst="rect">
            <a:avLst/>
          </a:prstGeom>
        </p:spPr>
        <p:txBody>
          <a:bodyPr lIns="0" tIns="0" rIns="0" bIns="0" rtlCol="0" anchor="t">
            <a:spAutoFit/>
          </a:bodyPr>
          <a:lstStyle/>
          <a:p>
            <a:pPr algn="l">
              <a:lnSpc>
                <a:spcPts val="3220"/>
              </a:lnSpc>
            </a:pPr>
            <a:r>
              <a:rPr lang="en-US" sz="2300" i="1">
                <a:solidFill>
                  <a:srgbClr val="000000"/>
                </a:solidFill>
                <a:latin typeface="Canva Sans Italics"/>
                <a:ea typeface="Canva Sans Italics"/>
                <a:cs typeface="Canva Sans Italics"/>
                <a:sym typeface="Canva Sans Italics"/>
              </a:rPr>
              <a:t>Unlike living-as-a-service models like Airbnb, coworking spaces are receiving increasing government support across Europe, including use of public assets. For example, Spain actively promotes coworking in government-owned properties to boost entrepreneurship and local economic development.</a:t>
            </a:r>
          </a:p>
        </p:txBody>
      </p:sp>
      <p:sp>
        <p:nvSpPr>
          <p:cNvPr id="10" name="Freeform 10"/>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97010" y="1866041"/>
            <a:ext cx="5169749" cy="4828876"/>
          </a:xfrm>
          <a:custGeom>
            <a:avLst/>
            <a:gdLst/>
            <a:ahLst/>
            <a:cxnLst/>
            <a:rect l="l" t="t" r="r" b="b"/>
            <a:pathLst>
              <a:path w="5169749" h="4828876">
                <a:moveTo>
                  <a:pt x="0" y="0"/>
                </a:moveTo>
                <a:lnTo>
                  <a:pt x="5169750" y="0"/>
                </a:lnTo>
                <a:lnTo>
                  <a:pt x="5169750" y="4828876"/>
                </a:lnTo>
                <a:lnTo>
                  <a:pt x="0" y="4828876"/>
                </a:lnTo>
                <a:lnTo>
                  <a:pt x="0" y="0"/>
                </a:lnTo>
                <a:close/>
              </a:path>
            </a:pathLst>
          </a:custGeom>
          <a:blipFill>
            <a:blip r:embed="rId2"/>
            <a:stretch>
              <a:fillRect l="-669" r="-669"/>
            </a:stretch>
          </a:blipFill>
        </p:spPr>
        <p:txBody>
          <a:bodyPr/>
          <a:lstStyle/>
          <a:p>
            <a:endParaRPr lang="en-US"/>
          </a:p>
        </p:txBody>
      </p:sp>
      <p:sp>
        <p:nvSpPr>
          <p:cNvPr id="3" name="Freeform 3"/>
          <p:cNvSpPr/>
          <p:nvPr/>
        </p:nvSpPr>
        <p:spPr>
          <a:xfrm>
            <a:off x="552094" y="7759610"/>
            <a:ext cx="8407746" cy="2076606"/>
          </a:xfrm>
          <a:custGeom>
            <a:avLst/>
            <a:gdLst/>
            <a:ahLst/>
            <a:cxnLst/>
            <a:rect l="l" t="t" r="r" b="b"/>
            <a:pathLst>
              <a:path w="8407746" h="2076606">
                <a:moveTo>
                  <a:pt x="0" y="0"/>
                </a:moveTo>
                <a:lnTo>
                  <a:pt x="8407747" y="0"/>
                </a:lnTo>
                <a:lnTo>
                  <a:pt x="8407747" y="2076606"/>
                </a:lnTo>
                <a:lnTo>
                  <a:pt x="0" y="2076606"/>
                </a:lnTo>
                <a:lnTo>
                  <a:pt x="0" y="0"/>
                </a:lnTo>
                <a:close/>
              </a:path>
            </a:pathLst>
          </a:custGeom>
          <a:blipFill>
            <a:blip r:embed="rId3"/>
            <a:stretch>
              <a:fillRect r="-34414"/>
            </a:stretch>
          </a:blipFill>
        </p:spPr>
        <p:txBody>
          <a:bodyPr/>
          <a:lstStyle/>
          <a:p>
            <a:endParaRPr lang="en-US"/>
          </a:p>
        </p:txBody>
      </p:sp>
      <p:grpSp>
        <p:nvGrpSpPr>
          <p:cNvPr id="4" name="Group 4"/>
          <p:cNvGrpSpPr/>
          <p:nvPr/>
        </p:nvGrpSpPr>
        <p:grpSpPr>
          <a:xfrm>
            <a:off x="13617236" y="3017942"/>
            <a:ext cx="3710118" cy="2163188"/>
            <a:chOff x="0" y="0"/>
            <a:chExt cx="773929" cy="451240"/>
          </a:xfrm>
        </p:grpSpPr>
        <p:sp>
          <p:nvSpPr>
            <p:cNvPr id="5" name="Freeform 5"/>
            <p:cNvSpPr/>
            <p:nvPr/>
          </p:nvSpPr>
          <p:spPr>
            <a:xfrm>
              <a:off x="0" y="0"/>
              <a:ext cx="773929" cy="451240"/>
            </a:xfrm>
            <a:custGeom>
              <a:avLst/>
              <a:gdLst/>
              <a:ahLst/>
              <a:cxnLst/>
              <a:rect l="l" t="t" r="r" b="b"/>
              <a:pathLst>
                <a:path w="773929" h="451240">
                  <a:moveTo>
                    <a:pt x="133379" y="0"/>
                  </a:moveTo>
                  <a:lnTo>
                    <a:pt x="640550" y="0"/>
                  </a:lnTo>
                  <a:cubicBezTo>
                    <a:pt x="675924" y="0"/>
                    <a:pt x="709850" y="14052"/>
                    <a:pt x="734863" y="39066"/>
                  </a:cubicBezTo>
                  <a:cubicBezTo>
                    <a:pt x="759876" y="64079"/>
                    <a:pt x="773929" y="98004"/>
                    <a:pt x="773929" y="133379"/>
                  </a:cubicBezTo>
                  <a:lnTo>
                    <a:pt x="773929" y="317861"/>
                  </a:lnTo>
                  <a:cubicBezTo>
                    <a:pt x="773929" y="353236"/>
                    <a:pt x="759876" y="387161"/>
                    <a:pt x="734863" y="412174"/>
                  </a:cubicBezTo>
                  <a:cubicBezTo>
                    <a:pt x="709850" y="437188"/>
                    <a:pt x="675924" y="451240"/>
                    <a:pt x="640550" y="451240"/>
                  </a:cubicBezTo>
                  <a:lnTo>
                    <a:pt x="133379" y="451240"/>
                  </a:lnTo>
                  <a:cubicBezTo>
                    <a:pt x="98004" y="451240"/>
                    <a:pt x="64079" y="437188"/>
                    <a:pt x="39066" y="412174"/>
                  </a:cubicBezTo>
                  <a:cubicBezTo>
                    <a:pt x="14052" y="387161"/>
                    <a:pt x="0" y="353236"/>
                    <a:pt x="0" y="317861"/>
                  </a:cubicBezTo>
                  <a:lnTo>
                    <a:pt x="0" y="133379"/>
                  </a:lnTo>
                  <a:cubicBezTo>
                    <a:pt x="0" y="98004"/>
                    <a:pt x="14052" y="64079"/>
                    <a:pt x="39066" y="39066"/>
                  </a:cubicBezTo>
                  <a:cubicBezTo>
                    <a:pt x="64079" y="14052"/>
                    <a:pt x="98004" y="0"/>
                    <a:pt x="133379" y="0"/>
                  </a:cubicBezTo>
                  <a:close/>
                </a:path>
              </a:pathLst>
            </a:custGeom>
            <a:solidFill>
              <a:srgbClr val="FFF3C2"/>
            </a:solidFill>
          </p:spPr>
          <p:txBody>
            <a:bodyPr/>
            <a:lstStyle/>
            <a:p>
              <a:endParaRPr lang="en-US"/>
            </a:p>
          </p:txBody>
        </p:sp>
        <p:sp>
          <p:nvSpPr>
            <p:cNvPr id="6" name="TextBox 6"/>
            <p:cNvSpPr txBox="1"/>
            <p:nvPr/>
          </p:nvSpPr>
          <p:spPr>
            <a:xfrm>
              <a:off x="0" y="-38100"/>
              <a:ext cx="773929" cy="489340"/>
            </a:xfrm>
            <a:prstGeom prst="rect">
              <a:avLst/>
            </a:prstGeom>
          </p:spPr>
          <p:txBody>
            <a:bodyPr lIns="50800" tIns="50800" rIns="50800" bIns="50800" rtlCol="0" anchor="ctr"/>
            <a:lstStyle/>
            <a:p>
              <a:pPr algn="ctr">
                <a:lnSpc>
                  <a:spcPts val="2939"/>
                </a:lnSpc>
              </a:pPr>
              <a:endParaRPr/>
            </a:p>
          </p:txBody>
        </p:sp>
      </p:grpSp>
      <p:sp>
        <p:nvSpPr>
          <p:cNvPr id="7" name="TextBox 7"/>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KEY RESULTS </a:t>
            </a:r>
          </a:p>
        </p:txBody>
      </p:sp>
      <p:sp>
        <p:nvSpPr>
          <p:cNvPr id="8" name="TextBox 8"/>
          <p:cNvSpPr txBox="1"/>
          <p:nvPr/>
        </p:nvSpPr>
        <p:spPr>
          <a:xfrm>
            <a:off x="384454" y="1190625"/>
            <a:ext cx="14941863" cy="581024"/>
          </a:xfrm>
          <a:prstGeom prst="rect">
            <a:avLst/>
          </a:prstGeom>
        </p:spPr>
        <p:txBody>
          <a:bodyPr lIns="0" tIns="0" rIns="0" bIns="0" rtlCol="0" anchor="t">
            <a:spAutoFit/>
          </a:bodyPr>
          <a:lstStyle/>
          <a:p>
            <a:pPr marL="0" lvl="0" indent="0" algn="just">
              <a:lnSpc>
                <a:spcPts val="4499"/>
              </a:lnSpc>
            </a:pPr>
            <a:r>
              <a:rPr lang="en-US" sz="4499">
                <a:solidFill>
                  <a:srgbClr val="000000"/>
                </a:solidFill>
                <a:latin typeface="Halimum"/>
                <a:ea typeface="Halimum"/>
                <a:cs typeface="Halimum"/>
                <a:sym typeface="Halimum"/>
              </a:rPr>
              <a:t>Scalability &amp; Viability Assessment</a:t>
            </a:r>
          </a:p>
        </p:txBody>
      </p:sp>
      <p:sp>
        <p:nvSpPr>
          <p:cNvPr id="9" name="TextBox 9"/>
          <p:cNvSpPr txBox="1"/>
          <p:nvPr/>
        </p:nvSpPr>
        <p:spPr>
          <a:xfrm>
            <a:off x="327304" y="2999916"/>
            <a:ext cx="8632536" cy="4681728"/>
          </a:xfrm>
          <a:prstGeom prst="rect">
            <a:avLst/>
          </a:prstGeom>
        </p:spPr>
        <p:txBody>
          <a:bodyPr lIns="0" tIns="0" rIns="0" bIns="0" rtlCol="0" anchor="t">
            <a:spAutoFit/>
          </a:bodyPr>
          <a:lstStyle/>
          <a:p>
            <a:pPr marL="388628" lvl="1" indent="-194314" algn="just">
              <a:lnSpc>
                <a:spcPts val="2196"/>
              </a:lnSpc>
              <a:buFont typeface="Arial"/>
              <a:buChar char="•"/>
            </a:pPr>
            <a:r>
              <a:rPr lang="en-US" sz="1800">
                <a:solidFill>
                  <a:srgbClr val="000000"/>
                </a:solidFill>
                <a:latin typeface="Canva Sans"/>
                <a:ea typeface="Canva Sans"/>
                <a:cs typeface="Canva Sans"/>
                <a:sym typeface="Canva Sans"/>
              </a:rPr>
              <a:t>Europe’s coworking sector is valued at USD 7.23B (2025) and projected to reach USD 11.8B by 2030 at a 10.37% CAGR, cementing its role in the office ecosystem.</a:t>
            </a:r>
          </a:p>
          <a:p>
            <a:pPr algn="just">
              <a:lnSpc>
                <a:spcPts val="2196"/>
              </a:lnSpc>
            </a:pPr>
            <a:endParaRPr lang="en-US" sz="1800">
              <a:solidFill>
                <a:srgbClr val="000000"/>
              </a:solidFill>
              <a:latin typeface="Canva Sans"/>
              <a:ea typeface="Canva Sans"/>
              <a:cs typeface="Canva Sans"/>
              <a:sym typeface="Canva Sans"/>
            </a:endParaRPr>
          </a:p>
          <a:p>
            <a:pPr marL="388628" lvl="1" indent="-194314" algn="just">
              <a:lnSpc>
                <a:spcPts val="2196"/>
              </a:lnSpc>
              <a:buFont typeface="Arial"/>
              <a:buChar char="•"/>
            </a:pPr>
            <a:r>
              <a:rPr lang="en-US" sz="1800">
                <a:solidFill>
                  <a:srgbClr val="000000"/>
                </a:solidFill>
                <a:latin typeface="Canva Sans"/>
                <a:ea typeface="Canva Sans"/>
                <a:cs typeface="Canva Sans"/>
                <a:sym typeface="Canva Sans"/>
              </a:rPr>
              <a:t>With 80–85% occupancy rates, coworking spaces outperform traditional offices, driven by hybrid work adoption, SMEs, and freelancers.</a:t>
            </a:r>
          </a:p>
          <a:p>
            <a:pPr algn="just">
              <a:lnSpc>
                <a:spcPts val="2196"/>
              </a:lnSpc>
            </a:pPr>
            <a:endParaRPr lang="en-US" sz="1800">
              <a:solidFill>
                <a:srgbClr val="000000"/>
              </a:solidFill>
              <a:latin typeface="Canva Sans"/>
              <a:ea typeface="Canva Sans"/>
              <a:cs typeface="Canva Sans"/>
              <a:sym typeface="Canva Sans"/>
            </a:endParaRPr>
          </a:p>
          <a:p>
            <a:pPr marL="388628" lvl="1" indent="-194314" algn="just">
              <a:lnSpc>
                <a:spcPts val="2196"/>
              </a:lnSpc>
              <a:buFont typeface="Arial"/>
              <a:buChar char="•"/>
            </a:pPr>
            <a:r>
              <a:rPr lang="en-US" sz="1800">
                <a:solidFill>
                  <a:srgbClr val="000000"/>
                </a:solidFill>
                <a:latin typeface="Canva Sans"/>
                <a:ea typeface="Canva Sans"/>
                <a:cs typeface="Canva Sans"/>
                <a:sym typeface="Canva Sans"/>
              </a:rPr>
              <a:t>Secondary cities like Lisbon, Manchester, Krakow, and Prague are expanding rapidly, while monthly prices range from €325 in Barcelona to €1,700 in Paris.</a:t>
            </a:r>
          </a:p>
          <a:p>
            <a:pPr algn="just">
              <a:lnSpc>
                <a:spcPts val="2196"/>
              </a:lnSpc>
            </a:pPr>
            <a:endParaRPr lang="en-US" sz="1800">
              <a:solidFill>
                <a:srgbClr val="000000"/>
              </a:solidFill>
              <a:latin typeface="Canva Sans"/>
              <a:ea typeface="Canva Sans"/>
              <a:cs typeface="Canva Sans"/>
              <a:sym typeface="Canva Sans"/>
            </a:endParaRPr>
          </a:p>
          <a:p>
            <a:pPr marL="388628" lvl="1" indent="-194314" algn="just">
              <a:lnSpc>
                <a:spcPts val="2196"/>
              </a:lnSpc>
              <a:buFont typeface="Arial"/>
              <a:buChar char="•"/>
            </a:pPr>
            <a:r>
              <a:rPr lang="en-US" sz="1800">
                <a:solidFill>
                  <a:srgbClr val="000000"/>
                </a:solidFill>
                <a:latin typeface="Canva Sans"/>
                <a:ea typeface="Canva Sans"/>
                <a:cs typeface="Canva Sans"/>
                <a:sym typeface="Canva Sans"/>
              </a:rPr>
              <a:t>Driven by the rise of flexible work models, digital innovation, and strong demand for secure, scalable workspace solutions.</a:t>
            </a:r>
          </a:p>
          <a:p>
            <a:pPr algn="just">
              <a:lnSpc>
                <a:spcPts val="2196"/>
              </a:lnSpc>
            </a:pPr>
            <a:endParaRPr lang="en-US" sz="1800">
              <a:solidFill>
                <a:srgbClr val="000000"/>
              </a:solidFill>
              <a:latin typeface="Canva Sans"/>
              <a:ea typeface="Canva Sans"/>
              <a:cs typeface="Canva Sans"/>
              <a:sym typeface="Canva Sans"/>
            </a:endParaRPr>
          </a:p>
          <a:p>
            <a:pPr marL="388628" lvl="1" indent="-194314" algn="just">
              <a:lnSpc>
                <a:spcPts val="2196"/>
              </a:lnSpc>
              <a:buFont typeface="Arial"/>
              <a:buChar char="•"/>
            </a:pPr>
            <a:r>
              <a:rPr lang="en-US" sz="1800">
                <a:solidFill>
                  <a:srgbClr val="000000"/>
                </a:solidFill>
                <a:latin typeface="Canva Sans"/>
                <a:ea typeface="Canva Sans"/>
                <a:cs typeface="Canva Sans"/>
                <a:sym typeface="Canva Sans"/>
              </a:rPr>
              <a:t>Growth further supported by Europe’s commitment to sustainability and advanced workplace technologies.</a:t>
            </a:r>
          </a:p>
          <a:p>
            <a:pPr algn="ctr">
              <a:lnSpc>
                <a:spcPts val="2196"/>
              </a:lnSpc>
            </a:pPr>
            <a:endParaRPr lang="en-US" sz="1800">
              <a:solidFill>
                <a:srgbClr val="000000"/>
              </a:solidFill>
              <a:latin typeface="Canva Sans"/>
              <a:ea typeface="Canva Sans"/>
              <a:cs typeface="Canva Sans"/>
              <a:sym typeface="Canva Sans"/>
            </a:endParaRPr>
          </a:p>
        </p:txBody>
      </p:sp>
      <p:sp>
        <p:nvSpPr>
          <p:cNvPr id="10" name="TextBox 10"/>
          <p:cNvSpPr txBox="1"/>
          <p:nvPr/>
        </p:nvSpPr>
        <p:spPr>
          <a:xfrm>
            <a:off x="552094" y="1963842"/>
            <a:ext cx="7898821" cy="1054099"/>
          </a:xfrm>
          <a:prstGeom prst="rect">
            <a:avLst/>
          </a:prstGeom>
        </p:spPr>
        <p:txBody>
          <a:bodyPr lIns="0" tIns="0" rIns="0" bIns="0" rtlCol="0" anchor="t">
            <a:spAutoFit/>
          </a:bodyPr>
          <a:lstStyle/>
          <a:p>
            <a:pPr algn="l">
              <a:lnSpc>
                <a:spcPts val="2800"/>
              </a:lnSpc>
            </a:pPr>
            <a:r>
              <a:rPr lang="en-US" sz="2000" b="1">
                <a:solidFill>
                  <a:srgbClr val="000000"/>
                </a:solidFill>
                <a:latin typeface="Canva Sans Bold"/>
                <a:ea typeface="Canva Sans Bold"/>
                <a:cs typeface="Canva Sans Bold"/>
                <a:sym typeface="Canva Sans Bold"/>
              </a:rPr>
              <a:t>Is there sufficient and growing demand for Industrious in the industry?</a:t>
            </a:r>
          </a:p>
          <a:p>
            <a:pPr algn="l">
              <a:lnSpc>
                <a:spcPts val="2800"/>
              </a:lnSpc>
            </a:pPr>
            <a:endParaRPr lang="en-US" sz="2000" b="1">
              <a:solidFill>
                <a:srgbClr val="000000"/>
              </a:solidFill>
              <a:latin typeface="Canva Sans Bold"/>
              <a:ea typeface="Canva Sans Bold"/>
              <a:cs typeface="Canva Sans Bold"/>
              <a:sym typeface="Canva Sans Bold"/>
            </a:endParaRPr>
          </a:p>
        </p:txBody>
      </p:sp>
      <p:sp>
        <p:nvSpPr>
          <p:cNvPr id="11" name="TextBox 11"/>
          <p:cNvSpPr txBox="1"/>
          <p:nvPr/>
        </p:nvSpPr>
        <p:spPr>
          <a:xfrm>
            <a:off x="13617236" y="3407619"/>
            <a:ext cx="3710118" cy="464821"/>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Open Sans 1"/>
                <a:ea typeface="Open Sans 1"/>
                <a:cs typeface="Open Sans 1"/>
                <a:sym typeface="Open Sans 1"/>
              </a:rPr>
              <a:t>Over </a:t>
            </a:r>
            <a:r>
              <a:rPr lang="en-US" sz="2699" b="1">
                <a:solidFill>
                  <a:srgbClr val="000000"/>
                </a:solidFill>
                <a:latin typeface="Open Sans 1 Bold"/>
                <a:ea typeface="Open Sans 1 Bold"/>
                <a:cs typeface="Open Sans 1 Bold"/>
                <a:sym typeface="Open Sans 1 Bold"/>
              </a:rPr>
              <a:t>5 million </a:t>
            </a:r>
            <a:r>
              <a:rPr lang="en-US" sz="2699">
                <a:solidFill>
                  <a:srgbClr val="000000"/>
                </a:solidFill>
                <a:latin typeface="Open Sans 1"/>
                <a:ea typeface="Open Sans 1"/>
                <a:cs typeface="Open Sans 1"/>
                <a:sym typeface="Open Sans 1"/>
              </a:rPr>
              <a:t>people</a:t>
            </a:r>
          </a:p>
        </p:txBody>
      </p:sp>
      <p:sp>
        <p:nvSpPr>
          <p:cNvPr id="12" name="TextBox 12"/>
          <p:cNvSpPr txBox="1"/>
          <p:nvPr/>
        </p:nvSpPr>
        <p:spPr>
          <a:xfrm>
            <a:off x="13326722" y="3957211"/>
            <a:ext cx="4511289" cy="727710"/>
          </a:xfrm>
          <a:prstGeom prst="rect">
            <a:avLst/>
          </a:prstGeom>
        </p:spPr>
        <p:txBody>
          <a:bodyPr lIns="0" tIns="0" rIns="0" bIns="0" rtlCol="0" anchor="t">
            <a:spAutoFit/>
          </a:bodyPr>
          <a:lstStyle/>
          <a:p>
            <a:pPr algn="ctr">
              <a:lnSpc>
                <a:spcPts val="2939"/>
              </a:lnSpc>
              <a:spcBef>
                <a:spcPct val="0"/>
              </a:spcBef>
            </a:pPr>
            <a:r>
              <a:rPr lang="en-US" sz="2099">
                <a:solidFill>
                  <a:srgbClr val="000000"/>
                </a:solidFill>
                <a:latin typeface="Open Sans 1"/>
                <a:ea typeface="Open Sans 1"/>
                <a:cs typeface="Open Sans 1"/>
                <a:sym typeface="Open Sans 1"/>
              </a:rPr>
              <a:t>worldwide now work from coworking spaces</a:t>
            </a:r>
          </a:p>
        </p:txBody>
      </p:sp>
      <p:grpSp>
        <p:nvGrpSpPr>
          <p:cNvPr id="13" name="Group 13"/>
          <p:cNvGrpSpPr/>
          <p:nvPr/>
        </p:nvGrpSpPr>
        <p:grpSpPr>
          <a:xfrm>
            <a:off x="9297010" y="6849805"/>
            <a:ext cx="8030343" cy="2986412"/>
            <a:chOff x="0" y="0"/>
            <a:chExt cx="724568" cy="269460"/>
          </a:xfrm>
        </p:grpSpPr>
        <p:sp>
          <p:nvSpPr>
            <p:cNvPr id="14" name="Freeform 14"/>
            <p:cNvSpPr/>
            <p:nvPr/>
          </p:nvSpPr>
          <p:spPr>
            <a:xfrm>
              <a:off x="0" y="0"/>
              <a:ext cx="724568" cy="269460"/>
            </a:xfrm>
            <a:custGeom>
              <a:avLst/>
              <a:gdLst/>
              <a:ahLst/>
              <a:cxnLst/>
              <a:rect l="l" t="t" r="r" b="b"/>
              <a:pathLst>
                <a:path w="724568" h="269460">
                  <a:moveTo>
                    <a:pt x="0" y="0"/>
                  </a:moveTo>
                  <a:lnTo>
                    <a:pt x="724568" y="0"/>
                  </a:lnTo>
                  <a:lnTo>
                    <a:pt x="724568" y="269460"/>
                  </a:lnTo>
                  <a:lnTo>
                    <a:pt x="0" y="269460"/>
                  </a:lnTo>
                  <a:close/>
                </a:path>
              </a:pathLst>
            </a:custGeom>
            <a:solidFill>
              <a:srgbClr val="FFF3C2"/>
            </a:solidFill>
          </p:spPr>
          <p:txBody>
            <a:bodyPr/>
            <a:lstStyle/>
            <a:p>
              <a:endParaRPr lang="en-US"/>
            </a:p>
          </p:txBody>
        </p:sp>
        <p:sp>
          <p:nvSpPr>
            <p:cNvPr id="15" name="TextBox 15"/>
            <p:cNvSpPr txBox="1"/>
            <p:nvPr/>
          </p:nvSpPr>
          <p:spPr>
            <a:xfrm>
              <a:off x="0" y="-38100"/>
              <a:ext cx="724568" cy="307560"/>
            </a:xfrm>
            <a:prstGeom prst="rect">
              <a:avLst/>
            </a:prstGeom>
          </p:spPr>
          <p:txBody>
            <a:bodyPr lIns="49874" tIns="49874" rIns="49874" bIns="49874" rtlCol="0" anchor="ctr"/>
            <a:lstStyle/>
            <a:p>
              <a:pPr algn="just">
                <a:lnSpc>
                  <a:spcPts val="3359"/>
                </a:lnSpc>
              </a:pPr>
              <a:endParaRPr/>
            </a:p>
          </p:txBody>
        </p:sp>
      </p:grpSp>
      <p:sp>
        <p:nvSpPr>
          <p:cNvPr id="16" name="TextBox 16"/>
          <p:cNvSpPr txBox="1"/>
          <p:nvPr/>
        </p:nvSpPr>
        <p:spPr>
          <a:xfrm>
            <a:off x="9456683" y="7087298"/>
            <a:ext cx="7740079" cy="2463800"/>
          </a:xfrm>
          <a:prstGeom prst="rect">
            <a:avLst/>
          </a:prstGeom>
        </p:spPr>
        <p:txBody>
          <a:bodyPr lIns="0" tIns="0" rIns="0" bIns="0" rtlCol="0" anchor="t">
            <a:spAutoFit/>
          </a:bodyPr>
          <a:lstStyle/>
          <a:p>
            <a:pPr algn="ctr">
              <a:lnSpc>
                <a:spcPts val="2800"/>
              </a:lnSpc>
            </a:pPr>
            <a:r>
              <a:rPr lang="en-US" sz="2000" i="1">
                <a:solidFill>
                  <a:srgbClr val="000000"/>
                </a:solidFill>
                <a:latin typeface="Canva Sans Italics"/>
                <a:ea typeface="Canva Sans Italics"/>
                <a:cs typeface="Canva Sans Italics"/>
                <a:sym typeface="Canva Sans Italics"/>
              </a:rPr>
              <a:t>Industrious operates in a favorable, expanding market, with the global coworking sector projected to exceed $25 billion by 2025 and grow at 12–14% annually. Growth is driven by rising freelancing, startups, hybrid work adoption, and corporate demand for flexible office solutions. Evolving customer expectations for personalized, tech-enabled, and wellness-focused spaces align closely with Industrious’s offerings.</a:t>
            </a:r>
          </a:p>
        </p:txBody>
      </p:sp>
      <p:sp>
        <p:nvSpPr>
          <p:cNvPr id="17" name="TextBox 17"/>
          <p:cNvSpPr txBox="1"/>
          <p:nvPr/>
        </p:nvSpPr>
        <p:spPr>
          <a:xfrm>
            <a:off x="14333767" y="5288392"/>
            <a:ext cx="2993586" cy="1406525"/>
          </a:xfrm>
          <a:prstGeom prst="rect">
            <a:avLst/>
          </a:prstGeom>
        </p:spPr>
        <p:txBody>
          <a:bodyPr lIns="0" tIns="0" rIns="0" bIns="0" rtlCol="0" anchor="t">
            <a:spAutoFit/>
          </a:bodyPr>
          <a:lstStyle/>
          <a:p>
            <a:pPr algn="ctr">
              <a:lnSpc>
                <a:spcPts val="2800"/>
              </a:lnSpc>
            </a:pPr>
            <a:r>
              <a:rPr lang="en-US" sz="2000" b="1">
                <a:solidFill>
                  <a:srgbClr val="000000"/>
                </a:solidFill>
                <a:latin typeface="Canva Sans Bold"/>
                <a:ea typeface="Canva Sans Bold"/>
                <a:cs typeface="Canva Sans Bold"/>
                <a:sym typeface="Canva Sans Bold"/>
              </a:rPr>
              <a:t>Can the  internal model and performance deliver viable and scalable growth?</a:t>
            </a:r>
          </a:p>
        </p:txBody>
      </p:sp>
      <p:sp>
        <p:nvSpPr>
          <p:cNvPr id="18" name="Freeform 18"/>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75986" y="1537113"/>
            <a:ext cx="10136028" cy="522022"/>
            <a:chOff x="0" y="0"/>
            <a:chExt cx="2669571" cy="137487"/>
          </a:xfrm>
        </p:grpSpPr>
        <p:sp>
          <p:nvSpPr>
            <p:cNvPr id="3" name="Freeform 3"/>
            <p:cNvSpPr/>
            <p:nvPr/>
          </p:nvSpPr>
          <p:spPr>
            <a:xfrm>
              <a:off x="0" y="0"/>
              <a:ext cx="2669571" cy="137487"/>
            </a:xfrm>
            <a:custGeom>
              <a:avLst/>
              <a:gdLst/>
              <a:ahLst/>
              <a:cxnLst/>
              <a:rect l="l" t="t" r="r" b="b"/>
              <a:pathLst>
                <a:path w="2669571" h="137487">
                  <a:moveTo>
                    <a:pt x="38954" y="0"/>
                  </a:moveTo>
                  <a:lnTo>
                    <a:pt x="2630618" y="0"/>
                  </a:lnTo>
                  <a:cubicBezTo>
                    <a:pt x="2652131" y="0"/>
                    <a:pt x="2669571" y="17440"/>
                    <a:pt x="2669571" y="38954"/>
                  </a:cubicBezTo>
                  <a:lnTo>
                    <a:pt x="2669571" y="98533"/>
                  </a:lnTo>
                  <a:cubicBezTo>
                    <a:pt x="2669571" y="108865"/>
                    <a:pt x="2665467" y="118773"/>
                    <a:pt x="2658162" y="126078"/>
                  </a:cubicBezTo>
                  <a:cubicBezTo>
                    <a:pt x="2650857" y="133383"/>
                    <a:pt x="2640949" y="137487"/>
                    <a:pt x="2630618" y="137487"/>
                  </a:cubicBezTo>
                  <a:lnTo>
                    <a:pt x="38954" y="137487"/>
                  </a:lnTo>
                  <a:cubicBezTo>
                    <a:pt x="28623" y="137487"/>
                    <a:pt x="18715" y="133383"/>
                    <a:pt x="11409" y="126078"/>
                  </a:cubicBezTo>
                  <a:cubicBezTo>
                    <a:pt x="4104" y="118773"/>
                    <a:pt x="0" y="108865"/>
                    <a:pt x="0" y="98533"/>
                  </a:cubicBezTo>
                  <a:lnTo>
                    <a:pt x="0" y="38954"/>
                  </a:lnTo>
                  <a:cubicBezTo>
                    <a:pt x="0" y="28623"/>
                    <a:pt x="4104" y="18715"/>
                    <a:pt x="11409" y="11409"/>
                  </a:cubicBezTo>
                  <a:cubicBezTo>
                    <a:pt x="18715" y="4104"/>
                    <a:pt x="28623" y="0"/>
                    <a:pt x="38954" y="0"/>
                  </a:cubicBezTo>
                  <a:close/>
                </a:path>
              </a:pathLst>
            </a:custGeom>
            <a:solidFill>
              <a:srgbClr val="FFFFFF"/>
            </a:solidFill>
            <a:ln w="38100" cap="rnd">
              <a:solidFill>
                <a:srgbClr val="000000"/>
              </a:solidFill>
              <a:prstDash val="solid"/>
              <a:round/>
            </a:ln>
          </p:spPr>
          <p:txBody>
            <a:bodyPr/>
            <a:lstStyle/>
            <a:p>
              <a:endParaRPr lang="en-US"/>
            </a:p>
          </p:txBody>
        </p:sp>
        <p:sp>
          <p:nvSpPr>
            <p:cNvPr id="4" name="TextBox 4"/>
            <p:cNvSpPr txBox="1"/>
            <p:nvPr/>
          </p:nvSpPr>
          <p:spPr>
            <a:xfrm>
              <a:off x="0" y="-28575"/>
              <a:ext cx="2669571" cy="166062"/>
            </a:xfrm>
            <a:prstGeom prst="rect">
              <a:avLst/>
            </a:prstGeom>
          </p:spPr>
          <p:txBody>
            <a:bodyPr lIns="50800" tIns="50800" rIns="50800" bIns="50800" rtlCol="0" anchor="ctr"/>
            <a:lstStyle/>
            <a:p>
              <a:pPr algn="ctr">
                <a:lnSpc>
                  <a:spcPts val="2520"/>
                </a:lnSpc>
              </a:pPr>
              <a:r>
                <a:rPr lang="en-US" sz="1800">
                  <a:solidFill>
                    <a:srgbClr val="000000"/>
                  </a:solidFill>
                  <a:latin typeface="Open Sans 1"/>
                  <a:ea typeface="Open Sans 1"/>
                  <a:cs typeface="Open Sans 1"/>
                  <a:sym typeface="Open Sans 1"/>
                </a:rPr>
                <a:t>Is </a:t>
              </a:r>
              <a:r>
                <a:rPr lang="en-US" sz="1800" b="1">
                  <a:solidFill>
                    <a:srgbClr val="000000"/>
                  </a:solidFill>
                  <a:latin typeface="Open Sans 1 Bold"/>
                  <a:ea typeface="Open Sans 1 Bold"/>
                  <a:cs typeface="Open Sans 1 Bold"/>
                  <a:sym typeface="Open Sans 1 Bold"/>
                </a:rPr>
                <a:t>Industrious </a:t>
              </a:r>
              <a:r>
                <a:rPr lang="en-US" sz="1800">
                  <a:solidFill>
                    <a:srgbClr val="000000"/>
                  </a:solidFill>
                  <a:latin typeface="Open Sans 1"/>
                  <a:ea typeface="Open Sans 1"/>
                  <a:cs typeface="Open Sans 1"/>
                  <a:sym typeface="Open Sans 1"/>
                </a:rPr>
                <a:t>a Net Positive Catalyst?</a:t>
              </a:r>
            </a:p>
          </p:txBody>
        </p:sp>
      </p:grpSp>
      <p:grpSp>
        <p:nvGrpSpPr>
          <p:cNvPr id="5" name="Group 5"/>
          <p:cNvGrpSpPr/>
          <p:nvPr/>
        </p:nvGrpSpPr>
        <p:grpSpPr>
          <a:xfrm>
            <a:off x="1074279" y="2363936"/>
            <a:ext cx="5965314" cy="645583"/>
            <a:chOff x="0" y="0"/>
            <a:chExt cx="1571111" cy="170030"/>
          </a:xfrm>
        </p:grpSpPr>
        <p:sp>
          <p:nvSpPr>
            <p:cNvPr id="6" name="Freeform 6"/>
            <p:cNvSpPr/>
            <p:nvPr/>
          </p:nvSpPr>
          <p:spPr>
            <a:xfrm>
              <a:off x="0" y="0"/>
              <a:ext cx="1571111" cy="170030"/>
            </a:xfrm>
            <a:custGeom>
              <a:avLst/>
              <a:gdLst/>
              <a:ahLst/>
              <a:cxnLst/>
              <a:rect l="l" t="t" r="r" b="b"/>
              <a:pathLst>
                <a:path w="1571111" h="170030">
                  <a:moveTo>
                    <a:pt x="66189" y="0"/>
                  </a:moveTo>
                  <a:lnTo>
                    <a:pt x="1504922" y="0"/>
                  </a:lnTo>
                  <a:cubicBezTo>
                    <a:pt x="1541478" y="0"/>
                    <a:pt x="1571111" y="29634"/>
                    <a:pt x="1571111" y="66189"/>
                  </a:cubicBezTo>
                  <a:lnTo>
                    <a:pt x="1571111" y="103841"/>
                  </a:lnTo>
                  <a:cubicBezTo>
                    <a:pt x="1571111" y="140396"/>
                    <a:pt x="1541478" y="170030"/>
                    <a:pt x="1504922" y="170030"/>
                  </a:cubicBezTo>
                  <a:lnTo>
                    <a:pt x="66189" y="170030"/>
                  </a:lnTo>
                  <a:cubicBezTo>
                    <a:pt x="29634" y="170030"/>
                    <a:pt x="0" y="140396"/>
                    <a:pt x="0" y="103841"/>
                  </a:cubicBezTo>
                  <a:lnTo>
                    <a:pt x="0" y="66189"/>
                  </a:lnTo>
                  <a:cubicBezTo>
                    <a:pt x="0" y="29634"/>
                    <a:pt x="29634" y="0"/>
                    <a:pt x="66189" y="0"/>
                  </a:cubicBezTo>
                  <a:close/>
                </a:path>
              </a:pathLst>
            </a:custGeom>
            <a:solidFill>
              <a:srgbClr val="FDD344"/>
            </a:solidFill>
          </p:spPr>
          <p:txBody>
            <a:bodyPr/>
            <a:lstStyle/>
            <a:p>
              <a:endParaRPr lang="en-US"/>
            </a:p>
          </p:txBody>
        </p:sp>
        <p:sp>
          <p:nvSpPr>
            <p:cNvPr id="7" name="TextBox 7"/>
            <p:cNvSpPr txBox="1"/>
            <p:nvPr/>
          </p:nvSpPr>
          <p:spPr>
            <a:xfrm>
              <a:off x="0" y="38100"/>
              <a:ext cx="1571111" cy="131930"/>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1. How does </a:t>
              </a:r>
              <a:r>
                <a:rPr lang="en-US" sz="1599" b="1">
                  <a:solidFill>
                    <a:srgbClr val="000000"/>
                  </a:solidFill>
                  <a:latin typeface="Open Sans 1 Bold"/>
                  <a:ea typeface="Open Sans 1 Bold"/>
                  <a:cs typeface="Open Sans 1 Bold"/>
                  <a:sym typeface="Open Sans 1 Bold"/>
                </a:rPr>
                <a:t>Industrious </a:t>
              </a:r>
              <a:r>
                <a:rPr lang="en-US" sz="1599">
                  <a:solidFill>
                    <a:srgbClr val="000000"/>
                  </a:solidFill>
                  <a:latin typeface="Open Sans 1"/>
                  <a:ea typeface="Open Sans 1"/>
                  <a:cs typeface="Open Sans 1"/>
                  <a:sym typeface="Open Sans 1"/>
                </a:rPr>
                <a:t>reduce its environmental footprint?</a:t>
              </a:r>
            </a:p>
          </p:txBody>
        </p:sp>
      </p:grpSp>
      <p:grpSp>
        <p:nvGrpSpPr>
          <p:cNvPr id="8" name="Group 8"/>
          <p:cNvGrpSpPr/>
          <p:nvPr/>
        </p:nvGrpSpPr>
        <p:grpSpPr>
          <a:xfrm>
            <a:off x="8195784" y="2373461"/>
            <a:ext cx="4380985" cy="645583"/>
            <a:chOff x="0" y="0"/>
            <a:chExt cx="1153840" cy="170030"/>
          </a:xfrm>
        </p:grpSpPr>
        <p:sp>
          <p:nvSpPr>
            <p:cNvPr id="9" name="Freeform 9"/>
            <p:cNvSpPr/>
            <p:nvPr/>
          </p:nvSpPr>
          <p:spPr>
            <a:xfrm>
              <a:off x="0" y="0"/>
              <a:ext cx="1153840" cy="170030"/>
            </a:xfrm>
            <a:custGeom>
              <a:avLst/>
              <a:gdLst/>
              <a:ahLst/>
              <a:cxnLst/>
              <a:rect l="l" t="t" r="r" b="b"/>
              <a:pathLst>
                <a:path w="1153840" h="170030">
                  <a:moveTo>
                    <a:pt x="85015" y="0"/>
                  </a:moveTo>
                  <a:lnTo>
                    <a:pt x="1068825" y="0"/>
                  </a:lnTo>
                  <a:cubicBezTo>
                    <a:pt x="1091372" y="0"/>
                    <a:pt x="1112996" y="8957"/>
                    <a:pt x="1128939" y="24900"/>
                  </a:cubicBezTo>
                  <a:cubicBezTo>
                    <a:pt x="1144883" y="40844"/>
                    <a:pt x="1153840" y="62468"/>
                    <a:pt x="1153840" y="85015"/>
                  </a:cubicBezTo>
                  <a:lnTo>
                    <a:pt x="1153840" y="85015"/>
                  </a:lnTo>
                  <a:cubicBezTo>
                    <a:pt x="1153840" y="107563"/>
                    <a:pt x="1144883" y="129186"/>
                    <a:pt x="1128939" y="145130"/>
                  </a:cubicBezTo>
                  <a:cubicBezTo>
                    <a:pt x="1112996" y="161073"/>
                    <a:pt x="1091372" y="170030"/>
                    <a:pt x="1068825" y="170030"/>
                  </a:cubicBezTo>
                  <a:lnTo>
                    <a:pt x="85015" y="170030"/>
                  </a:lnTo>
                  <a:cubicBezTo>
                    <a:pt x="62468" y="170030"/>
                    <a:pt x="40844" y="161073"/>
                    <a:pt x="24900" y="145130"/>
                  </a:cubicBezTo>
                  <a:cubicBezTo>
                    <a:pt x="8957" y="129186"/>
                    <a:pt x="0" y="107563"/>
                    <a:pt x="0" y="85015"/>
                  </a:cubicBezTo>
                  <a:lnTo>
                    <a:pt x="0" y="85015"/>
                  </a:lnTo>
                  <a:cubicBezTo>
                    <a:pt x="0" y="62468"/>
                    <a:pt x="8957" y="40844"/>
                    <a:pt x="24900" y="24900"/>
                  </a:cubicBezTo>
                  <a:cubicBezTo>
                    <a:pt x="40844" y="8957"/>
                    <a:pt x="62468" y="0"/>
                    <a:pt x="85015" y="0"/>
                  </a:cubicBezTo>
                  <a:close/>
                </a:path>
              </a:pathLst>
            </a:custGeom>
            <a:solidFill>
              <a:srgbClr val="FDD344"/>
            </a:solidFill>
          </p:spPr>
          <p:txBody>
            <a:bodyPr/>
            <a:lstStyle/>
            <a:p>
              <a:endParaRPr lang="en-US"/>
            </a:p>
          </p:txBody>
        </p:sp>
        <p:sp>
          <p:nvSpPr>
            <p:cNvPr id="10" name="TextBox 10"/>
            <p:cNvSpPr txBox="1"/>
            <p:nvPr/>
          </p:nvSpPr>
          <p:spPr>
            <a:xfrm>
              <a:off x="0" y="38100"/>
              <a:ext cx="1153840" cy="131930"/>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2. How does </a:t>
              </a:r>
              <a:r>
                <a:rPr lang="en-US" sz="1599" b="1">
                  <a:solidFill>
                    <a:srgbClr val="000000"/>
                  </a:solidFill>
                  <a:latin typeface="Open Sans 1 Bold"/>
                  <a:ea typeface="Open Sans 1 Bold"/>
                  <a:cs typeface="Open Sans 1 Bold"/>
                  <a:sym typeface="Open Sans 1 Bold"/>
                </a:rPr>
                <a:t>Industrious </a:t>
              </a:r>
              <a:r>
                <a:rPr lang="en-US" sz="1599">
                  <a:solidFill>
                    <a:srgbClr val="000000"/>
                  </a:solidFill>
                  <a:latin typeface="Open Sans 1"/>
                  <a:ea typeface="Open Sans 1"/>
                  <a:cs typeface="Open Sans 1"/>
                  <a:sym typeface="Open Sans 1"/>
                </a:rPr>
                <a:t>embed sustainability into its operations and culture?</a:t>
              </a:r>
            </a:p>
          </p:txBody>
        </p:sp>
      </p:grpSp>
      <p:grpSp>
        <p:nvGrpSpPr>
          <p:cNvPr id="11" name="Group 11"/>
          <p:cNvGrpSpPr/>
          <p:nvPr/>
        </p:nvGrpSpPr>
        <p:grpSpPr>
          <a:xfrm>
            <a:off x="13342647" y="2373461"/>
            <a:ext cx="4183155" cy="645583"/>
            <a:chOff x="0" y="0"/>
            <a:chExt cx="1101736" cy="170030"/>
          </a:xfrm>
        </p:grpSpPr>
        <p:sp>
          <p:nvSpPr>
            <p:cNvPr id="12" name="Freeform 12"/>
            <p:cNvSpPr/>
            <p:nvPr/>
          </p:nvSpPr>
          <p:spPr>
            <a:xfrm>
              <a:off x="0" y="0"/>
              <a:ext cx="1101736" cy="170030"/>
            </a:xfrm>
            <a:custGeom>
              <a:avLst/>
              <a:gdLst/>
              <a:ahLst/>
              <a:cxnLst/>
              <a:rect l="l" t="t" r="r" b="b"/>
              <a:pathLst>
                <a:path w="1101736" h="170030">
                  <a:moveTo>
                    <a:pt x="85015" y="0"/>
                  </a:moveTo>
                  <a:lnTo>
                    <a:pt x="1016721" y="0"/>
                  </a:lnTo>
                  <a:cubicBezTo>
                    <a:pt x="1039269" y="0"/>
                    <a:pt x="1060893" y="8957"/>
                    <a:pt x="1076836" y="24900"/>
                  </a:cubicBezTo>
                  <a:cubicBezTo>
                    <a:pt x="1092779" y="40844"/>
                    <a:pt x="1101736" y="62468"/>
                    <a:pt x="1101736" y="85015"/>
                  </a:cubicBezTo>
                  <a:lnTo>
                    <a:pt x="1101736" y="85015"/>
                  </a:lnTo>
                  <a:cubicBezTo>
                    <a:pt x="1101736" y="107563"/>
                    <a:pt x="1092779" y="129186"/>
                    <a:pt x="1076836" y="145130"/>
                  </a:cubicBezTo>
                  <a:cubicBezTo>
                    <a:pt x="1060893" y="161073"/>
                    <a:pt x="1039269" y="170030"/>
                    <a:pt x="1016721" y="170030"/>
                  </a:cubicBezTo>
                  <a:lnTo>
                    <a:pt x="85015" y="170030"/>
                  </a:lnTo>
                  <a:cubicBezTo>
                    <a:pt x="62468" y="170030"/>
                    <a:pt x="40844" y="161073"/>
                    <a:pt x="24900" y="145130"/>
                  </a:cubicBezTo>
                  <a:cubicBezTo>
                    <a:pt x="8957" y="129186"/>
                    <a:pt x="0" y="107563"/>
                    <a:pt x="0" y="85015"/>
                  </a:cubicBezTo>
                  <a:lnTo>
                    <a:pt x="0" y="85015"/>
                  </a:lnTo>
                  <a:cubicBezTo>
                    <a:pt x="0" y="62468"/>
                    <a:pt x="8957" y="40844"/>
                    <a:pt x="24900" y="24900"/>
                  </a:cubicBezTo>
                  <a:cubicBezTo>
                    <a:pt x="40844" y="8957"/>
                    <a:pt x="62468" y="0"/>
                    <a:pt x="85015" y="0"/>
                  </a:cubicBezTo>
                  <a:close/>
                </a:path>
              </a:pathLst>
            </a:custGeom>
            <a:solidFill>
              <a:srgbClr val="FDD344"/>
            </a:solidFill>
          </p:spPr>
          <p:txBody>
            <a:bodyPr/>
            <a:lstStyle/>
            <a:p>
              <a:endParaRPr lang="en-US"/>
            </a:p>
          </p:txBody>
        </p:sp>
        <p:sp>
          <p:nvSpPr>
            <p:cNvPr id="13" name="TextBox 13"/>
            <p:cNvSpPr txBox="1"/>
            <p:nvPr/>
          </p:nvSpPr>
          <p:spPr>
            <a:xfrm>
              <a:off x="0" y="38100"/>
              <a:ext cx="1101736" cy="131930"/>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3. How does </a:t>
              </a:r>
              <a:r>
                <a:rPr lang="en-US" sz="1599" b="1">
                  <a:solidFill>
                    <a:srgbClr val="000000"/>
                  </a:solidFill>
                  <a:latin typeface="Open Sans 1 Bold"/>
                  <a:ea typeface="Open Sans 1 Bold"/>
                  <a:cs typeface="Open Sans 1 Bold"/>
                  <a:sym typeface="Open Sans 1 Bold"/>
                </a:rPr>
                <a:t>Industrious </a:t>
              </a:r>
              <a:r>
                <a:rPr lang="en-US" sz="1599">
                  <a:solidFill>
                    <a:srgbClr val="000000"/>
                  </a:solidFill>
                  <a:latin typeface="Open Sans 1"/>
                  <a:ea typeface="Open Sans 1"/>
                  <a:cs typeface="Open Sans 1"/>
                  <a:sym typeface="Open Sans 1"/>
                </a:rPr>
                <a:t>act as a systemic catalyst for a net positive future?</a:t>
              </a:r>
            </a:p>
          </p:txBody>
        </p:sp>
      </p:grpSp>
      <p:sp>
        <p:nvSpPr>
          <p:cNvPr id="14" name="TextBox 14"/>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ISSUE ANALYSIS</a:t>
            </a:r>
          </a:p>
        </p:txBody>
      </p:sp>
      <p:sp>
        <p:nvSpPr>
          <p:cNvPr id="15" name="TextBox 15"/>
          <p:cNvSpPr txBox="1"/>
          <p:nvPr/>
        </p:nvSpPr>
        <p:spPr>
          <a:xfrm>
            <a:off x="384454" y="959898"/>
            <a:ext cx="14941863"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Net Positive Catalyst Assessment</a:t>
            </a:r>
          </a:p>
        </p:txBody>
      </p:sp>
      <p:grpSp>
        <p:nvGrpSpPr>
          <p:cNvPr id="16" name="Group 16"/>
          <p:cNvGrpSpPr/>
          <p:nvPr/>
        </p:nvGrpSpPr>
        <p:grpSpPr>
          <a:xfrm>
            <a:off x="13221196" y="3457194"/>
            <a:ext cx="2152597" cy="1296941"/>
            <a:chOff x="0" y="0"/>
            <a:chExt cx="677043" cy="407919"/>
          </a:xfrm>
        </p:grpSpPr>
        <p:sp>
          <p:nvSpPr>
            <p:cNvPr id="17" name="Freeform 17"/>
            <p:cNvSpPr/>
            <p:nvPr/>
          </p:nvSpPr>
          <p:spPr>
            <a:xfrm>
              <a:off x="0" y="0"/>
              <a:ext cx="677043" cy="407919"/>
            </a:xfrm>
            <a:custGeom>
              <a:avLst/>
              <a:gdLst/>
              <a:ahLst/>
              <a:cxnLst/>
              <a:rect l="l" t="t" r="r" b="b"/>
              <a:pathLst>
                <a:path w="677043" h="407919">
                  <a:moveTo>
                    <a:pt x="0" y="0"/>
                  </a:moveTo>
                  <a:lnTo>
                    <a:pt x="677043" y="0"/>
                  </a:lnTo>
                  <a:lnTo>
                    <a:pt x="677043" y="407919"/>
                  </a:lnTo>
                  <a:lnTo>
                    <a:pt x="0" y="407919"/>
                  </a:lnTo>
                  <a:close/>
                </a:path>
              </a:pathLst>
            </a:custGeom>
            <a:solidFill>
              <a:srgbClr val="FFE67E"/>
            </a:solidFill>
          </p:spPr>
          <p:txBody>
            <a:bodyPr/>
            <a:lstStyle/>
            <a:p>
              <a:endParaRPr lang="en-US"/>
            </a:p>
          </p:txBody>
        </p:sp>
        <p:sp>
          <p:nvSpPr>
            <p:cNvPr id="18" name="TextBox 18"/>
            <p:cNvSpPr txBox="1"/>
            <p:nvPr/>
          </p:nvSpPr>
          <p:spPr>
            <a:xfrm>
              <a:off x="0" y="38100"/>
              <a:ext cx="677043" cy="369819"/>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3.1 Is Industrious influencing industry norms, regulation, or consumer awareness?</a:t>
              </a:r>
            </a:p>
          </p:txBody>
        </p:sp>
      </p:grpSp>
      <p:grpSp>
        <p:nvGrpSpPr>
          <p:cNvPr id="19" name="Group 19"/>
          <p:cNvGrpSpPr/>
          <p:nvPr/>
        </p:nvGrpSpPr>
        <p:grpSpPr>
          <a:xfrm>
            <a:off x="15659692" y="3457194"/>
            <a:ext cx="1866110" cy="1506478"/>
            <a:chOff x="0" y="0"/>
            <a:chExt cx="586936" cy="473823"/>
          </a:xfrm>
        </p:grpSpPr>
        <p:sp>
          <p:nvSpPr>
            <p:cNvPr id="20" name="Freeform 20"/>
            <p:cNvSpPr/>
            <p:nvPr/>
          </p:nvSpPr>
          <p:spPr>
            <a:xfrm>
              <a:off x="0" y="0"/>
              <a:ext cx="586936" cy="473823"/>
            </a:xfrm>
            <a:custGeom>
              <a:avLst/>
              <a:gdLst/>
              <a:ahLst/>
              <a:cxnLst/>
              <a:rect l="l" t="t" r="r" b="b"/>
              <a:pathLst>
                <a:path w="586936" h="473823">
                  <a:moveTo>
                    <a:pt x="0" y="0"/>
                  </a:moveTo>
                  <a:lnTo>
                    <a:pt x="586936" y="0"/>
                  </a:lnTo>
                  <a:lnTo>
                    <a:pt x="586936" y="473823"/>
                  </a:lnTo>
                  <a:lnTo>
                    <a:pt x="0" y="473823"/>
                  </a:lnTo>
                  <a:close/>
                </a:path>
              </a:pathLst>
            </a:custGeom>
            <a:solidFill>
              <a:srgbClr val="FFE67E"/>
            </a:solidFill>
          </p:spPr>
          <p:txBody>
            <a:bodyPr/>
            <a:lstStyle/>
            <a:p>
              <a:endParaRPr lang="en-US"/>
            </a:p>
          </p:txBody>
        </p:sp>
        <p:sp>
          <p:nvSpPr>
            <p:cNvPr id="21" name="TextBox 21"/>
            <p:cNvSpPr txBox="1"/>
            <p:nvPr/>
          </p:nvSpPr>
          <p:spPr>
            <a:xfrm>
              <a:off x="0" y="38100"/>
              <a:ext cx="586936" cy="435723"/>
            </a:xfrm>
            <a:prstGeom prst="rect">
              <a:avLst/>
            </a:prstGeom>
          </p:spPr>
          <p:txBody>
            <a:bodyPr lIns="50800" tIns="50800" rIns="50800" bIns="50800" rtlCol="0" anchor="ctr"/>
            <a:lstStyle/>
            <a:p>
              <a:pPr algn="ctr">
                <a:lnSpc>
                  <a:spcPts val="1599"/>
                </a:lnSpc>
              </a:pPr>
              <a:r>
                <a:rPr lang="en-US" sz="1599" i="1">
                  <a:solidFill>
                    <a:srgbClr val="000000"/>
                  </a:solidFill>
                  <a:latin typeface="Open Sans 1 Italics"/>
                  <a:ea typeface="Open Sans 1 Italics"/>
                  <a:cs typeface="Open Sans 1 Italics"/>
                  <a:sym typeface="Open Sans 1 Italics"/>
                </a:rPr>
                <a:t>3.2 </a:t>
              </a:r>
              <a:r>
                <a:rPr lang="en-US" sz="1599">
                  <a:solidFill>
                    <a:srgbClr val="000000"/>
                  </a:solidFill>
                  <a:latin typeface="Open Sans 1"/>
                  <a:ea typeface="Open Sans 1"/>
                  <a:cs typeface="Open Sans 1"/>
                  <a:sym typeface="Open Sans 1"/>
                </a:rPr>
                <a:t>Could it create an economy of scale allowing companies to spend less on workplaces?</a:t>
              </a:r>
            </a:p>
          </p:txBody>
        </p:sp>
      </p:grpSp>
      <p:grpSp>
        <p:nvGrpSpPr>
          <p:cNvPr id="22" name="Group 22"/>
          <p:cNvGrpSpPr/>
          <p:nvPr/>
        </p:nvGrpSpPr>
        <p:grpSpPr>
          <a:xfrm>
            <a:off x="384454" y="3457194"/>
            <a:ext cx="2376588" cy="1406783"/>
            <a:chOff x="0" y="0"/>
            <a:chExt cx="747493" cy="442466"/>
          </a:xfrm>
        </p:grpSpPr>
        <p:sp>
          <p:nvSpPr>
            <p:cNvPr id="23" name="Freeform 23"/>
            <p:cNvSpPr/>
            <p:nvPr/>
          </p:nvSpPr>
          <p:spPr>
            <a:xfrm>
              <a:off x="0" y="0"/>
              <a:ext cx="747493" cy="442466"/>
            </a:xfrm>
            <a:custGeom>
              <a:avLst/>
              <a:gdLst/>
              <a:ahLst/>
              <a:cxnLst/>
              <a:rect l="l" t="t" r="r" b="b"/>
              <a:pathLst>
                <a:path w="747493" h="442466">
                  <a:moveTo>
                    <a:pt x="0" y="0"/>
                  </a:moveTo>
                  <a:lnTo>
                    <a:pt x="747493" y="0"/>
                  </a:lnTo>
                  <a:lnTo>
                    <a:pt x="747493" y="442466"/>
                  </a:lnTo>
                  <a:lnTo>
                    <a:pt x="0" y="442466"/>
                  </a:lnTo>
                  <a:close/>
                </a:path>
              </a:pathLst>
            </a:custGeom>
            <a:solidFill>
              <a:srgbClr val="FFE67E"/>
            </a:solidFill>
          </p:spPr>
          <p:txBody>
            <a:bodyPr/>
            <a:lstStyle/>
            <a:p>
              <a:endParaRPr lang="en-US"/>
            </a:p>
          </p:txBody>
        </p:sp>
        <p:sp>
          <p:nvSpPr>
            <p:cNvPr id="24" name="TextBox 24"/>
            <p:cNvSpPr txBox="1"/>
            <p:nvPr/>
          </p:nvSpPr>
          <p:spPr>
            <a:xfrm>
              <a:off x="0" y="38100"/>
              <a:ext cx="747493" cy="404366"/>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1.1 Are coworking operations more environmentally sustainable than traditional office methods?</a:t>
              </a:r>
            </a:p>
          </p:txBody>
        </p:sp>
      </p:grpSp>
      <p:grpSp>
        <p:nvGrpSpPr>
          <p:cNvPr id="25" name="Group 25"/>
          <p:cNvGrpSpPr/>
          <p:nvPr/>
        </p:nvGrpSpPr>
        <p:grpSpPr>
          <a:xfrm>
            <a:off x="156678" y="4863977"/>
            <a:ext cx="2832139" cy="406658"/>
            <a:chOff x="0" y="0"/>
            <a:chExt cx="745913" cy="107103"/>
          </a:xfrm>
        </p:grpSpPr>
        <p:sp>
          <p:nvSpPr>
            <p:cNvPr id="26" name="Freeform 26"/>
            <p:cNvSpPr/>
            <p:nvPr/>
          </p:nvSpPr>
          <p:spPr>
            <a:xfrm>
              <a:off x="0" y="0"/>
              <a:ext cx="745913" cy="107103"/>
            </a:xfrm>
            <a:custGeom>
              <a:avLst/>
              <a:gdLst/>
              <a:ahLst/>
              <a:cxnLst/>
              <a:rect l="l" t="t" r="r" b="b"/>
              <a:pathLst>
                <a:path w="745913" h="107103">
                  <a:moveTo>
                    <a:pt x="0" y="0"/>
                  </a:moveTo>
                  <a:lnTo>
                    <a:pt x="745913" y="0"/>
                  </a:lnTo>
                  <a:lnTo>
                    <a:pt x="745913" y="107103"/>
                  </a:lnTo>
                  <a:lnTo>
                    <a:pt x="0" y="107103"/>
                  </a:lnTo>
                  <a:close/>
                </a:path>
              </a:pathLst>
            </a:custGeom>
          </p:spPr>
          <p:txBody>
            <a:bodyPr/>
            <a:lstStyle/>
            <a:p>
              <a:endParaRPr lang="en-US"/>
            </a:p>
          </p:txBody>
        </p:sp>
        <p:sp>
          <p:nvSpPr>
            <p:cNvPr id="27" name="TextBox 27"/>
            <p:cNvSpPr txBox="1"/>
            <p:nvPr/>
          </p:nvSpPr>
          <p:spPr>
            <a:xfrm>
              <a:off x="0" y="38100"/>
              <a:ext cx="745913"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resource efficiency</a:t>
              </a:r>
            </a:p>
          </p:txBody>
        </p:sp>
      </p:grpSp>
      <p:grpSp>
        <p:nvGrpSpPr>
          <p:cNvPr id="28" name="Group 28"/>
          <p:cNvGrpSpPr/>
          <p:nvPr/>
        </p:nvGrpSpPr>
        <p:grpSpPr>
          <a:xfrm>
            <a:off x="2981303" y="3457194"/>
            <a:ext cx="2245161" cy="1406783"/>
            <a:chOff x="0" y="0"/>
            <a:chExt cx="706156" cy="442466"/>
          </a:xfrm>
        </p:grpSpPr>
        <p:sp>
          <p:nvSpPr>
            <p:cNvPr id="29" name="Freeform 29"/>
            <p:cNvSpPr/>
            <p:nvPr/>
          </p:nvSpPr>
          <p:spPr>
            <a:xfrm>
              <a:off x="0" y="0"/>
              <a:ext cx="706156" cy="442466"/>
            </a:xfrm>
            <a:custGeom>
              <a:avLst/>
              <a:gdLst/>
              <a:ahLst/>
              <a:cxnLst/>
              <a:rect l="l" t="t" r="r" b="b"/>
              <a:pathLst>
                <a:path w="706156" h="442466">
                  <a:moveTo>
                    <a:pt x="0" y="0"/>
                  </a:moveTo>
                  <a:lnTo>
                    <a:pt x="706156" y="0"/>
                  </a:lnTo>
                  <a:lnTo>
                    <a:pt x="706156" y="442466"/>
                  </a:lnTo>
                  <a:lnTo>
                    <a:pt x="0" y="442466"/>
                  </a:lnTo>
                  <a:close/>
                </a:path>
              </a:pathLst>
            </a:custGeom>
            <a:solidFill>
              <a:srgbClr val="FFE67E"/>
            </a:solidFill>
          </p:spPr>
          <p:txBody>
            <a:bodyPr/>
            <a:lstStyle/>
            <a:p>
              <a:endParaRPr lang="en-US"/>
            </a:p>
          </p:txBody>
        </p:sp>
        <p:sp>
          <p:nvSpPr>
            <p:cNvPr id="30" name="TextBox 30"/>
            <p:cNvSpPr txBox="1"/>
            <p:nvPr/>
          </p:nvSpPr>
          <p:spPr>
            <a:xfrm>
              <a:off x="0" y="38100"/>
              <a:ext cx="706156" cy="404366"/>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1.2 Would a higher occupancy rate in shared workplaces allow for fewer unoccupied dedicated workplaces?</a:t>
              </a:r>
            </a:p>
          </p:txBody>
        </p:sp>
      </p:grpSp>
      <p:grpSp>
        <p:nvGrpSpPr>
          <p:cNvPr id="31" name="Group 31"/>
          <p:cNvGrpSpPr/>
          <p:nvPr/>
        </p:nvGrpSpPr>
        <p:grpSpPr>
          <a:xfrm>
            <a:off x="2676871" y="4863977"/>
            <a:ext cx="2832139" cy="406658"/>
            <a:chOff x="0" y="0"/>
            <a:chExt cx="745913" cy="107103"/>
          </a:xfrm>
        </p:grpSpPr>
        <p:sp>
          <p:nvSpPr>
            <p:cNvPr id="32" name="Freeform 32"/>
            <p:cNvSpPr/>
            <p:nvPr/>
          </p:nvSpPr>
          <p:spPr>
            <a:xfrm>
              <a:off x="0" y="0"/>
              <a:ext cx="745913" cy="107103"/>
            </a:xfrm>
            <a:custGeom>
              <a:avLst/>
              <a:gdLst/>
              <a:ahLst/>
              <a:cxnLst/>
              <a:rect l="l" t="t" r="r" b="b"/>
              <a:pathLst>
                <a:path w="745913" h="107103">
                  <a:moveTo>
                    <a:pt x="0" y="0"/>
                  </a:moveTo>
                  <a:lnTo>
                    <a:pt x="745913" y="0"/>
                  </a:lnTo>
                  <a:lnTo>
                    <a:pt x="745913" y="107103"/>
                  </a:lnTo>
                  <a:lnTo>
                    <a:pt x="0" y="107103"/>
                  </a:lnTo>
                  <a:close/>
                </a:path>
              </a:pathLst>
            </a:custGeom>
          </p:spPr>
          <p:txBody>
            <a:bodyPr/>
            <a:lstStyle/>
            <a:p>
              <a:endParaRPr lang="en-US"/>
            </a:p>
          </p:txBody>
        </p:sp>
        <p:sp>
          <p:nvSpPr>
            <p:cNvPr id="33" name="TextBox 33"/>
            <p:cNvSpPr txBox="1"/>
            <p:nvPr/>
          </p:nvSpPr>
          <p:spPr>
            <a:xfrm>
              <a:off x="0" y="38100"/>
              <a:ext cx="745913"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occupancy optimization</a:t>
              </a:r>
            </a:p>
          </p:txBody>
        </p:sp>
      </p:grpSp>
      <p:grpSp>
        <p:nvGrpSpPr>
          <p:cNvPr id="34" name="Group 34"/>
          <p:cNvGrpSpPr/>
          <p:nvPr/>
        </p:nvGrpSpPr>
        <p:grpSpPr>
          <a:xfrm>
            <a:off x="5368001" y="3457194"/>
            <a:ext cx="2150155" cy="1206758"/>
            <a:chOff x="0" y="0"/>
            <a:chExt cx="676275" cy="379554"/>
          </a:xfrm>
        </p:grpSpPr>
        <p:sp>
          <p:nvSpPr>
            <p:cNvPr id="35" name="Freeform 35"/>
            <p:cNvSpPr/>
            <p:nvPr/>
          </p:nvSpPr>
          <p:spPr>
            <a:xfrm>
              <a:off x="0" y="0"/>
              <a:ext cx="676275" cy="379554"/>
            </a:xfrm>
            <a:custGeom>
              <a:avLst/>
              <a:gdLst/>
              <a:ahLst/>
              <a:cxnLst/>
              <a:rect l="l" t="t" r="r" b="b"/>
              <a:pathLst>
                <a:path w="676275" h="379554">
                  <a:moveTo>
                    <a:pt x="0" y="0"/>
                  </a:moveTo>
                  <a:lnTo>
                    <a:pt x="676275" y="0"/>
                  </a:lnTo>
                  <a:lnTo>
                    <a:pt x="676275" y="379554"/>
                  </a:lnTo>
                  <a:lnTo>
                    <a:pt x="0" y="379554"/>
                  </a:lnTo>
                  <a:close/>
                </a:path>
              </a:pathLst>
            </a:custGeom>
            <a:solidFill>
              <a:srgbClr val="FFE67E"/>
            </a:solidFill>
          </p:spPr>
          <p:txBody>
            <a:bodyPr/>
            <a:lstStyle/>
            <a:p>
              <a:endParaRPr lang="en-US"/>
            </a:p>
          </p:txBody>
        </p:sp>
        <p:sp>
          <p:nvSpPr>
            <p:cNvPr id="36" name="TextBox 36"/>
            <p:cNvSpPr txBox="1"/>
            <p:nvPr/>
          </p:nvSpPr>
          <p:spPr>
            <a:xfrm>
              <a:off x="0" y="38100"/>
              <a:ext cx="676275" cy="341454"/>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1.3 Can a specialized business optimize construction for more sustainable buildings?</a:t>
              </a:r>
            </a:p>
          </p:txBody>
        </p:sp>
      </p:grpSp>
      <p:grpSp>
        <p:nvGrpSpPr>
          <p:cNvPr id="37" name="Group 37"/>
          <p:cNvGrpSpPr/>
          <p:nvPr/>
        </p:nvGrpSpPr>
        <p:grpSpPr>
          <a:xfrm>
            <a:off x="5172526" y="4784460"/>
            <a:ext cx="2483381" cy="406658"/>
            <a:chOff x="0" y="0"/>
            <a:chExt cx="654059" cy="107103"/>
          </a:xfrm>
        </p:grpSpPr>
        <p:sp>
          <p:nvSpPr>
            <p:cNvPr id="38" name="Freeform 38"/>
            <p:cNvSpPr/>
            <p:nvPr/>
          </p:nvSpPr>
          <p:spPr>
            <a:xfrm>
              <a:off x="0" y="0"/>
              <a:ext cx="654059" cy="107103"/>
            </a:xfrm>
            <a:custGeom>
              <a:avLst/>
              <a:gdLst/>
              <a:ahLst/>
              <a:cxnLst/>
              <a:rect l="l" t="t" r="r" b="b"/>
              <a:pathLst>
                <a:path w="654059" h="107103">
                  <a:moveTo>
                    <a:pt x="0" y="0"/>
                  </a:moveTo>
                  <a:lnTo>
                    <a:pt x="654059" y="0"/>
                  </a:lnTo>
                  <a:lnTo>
                    <a:pt x="654059" y="107103"/>
                  </a:lnTo>
                  <a:lnTo>
                    <a:pt x="0" y="107103"/>
                  </a:lnTo>
                  <a:close/>
                </a:path>
              </a:pathLst>
            </a:custGeom>
          </p:spPr>
          <p:txBody>
            <a:bodyPr/>
            <a:lstStyle/>
            <a:p>
              <a:endParaRPr lang="en-US"/>
            </a:p>
          </p:txBody>
        </p:sp>
        <p:sp>
          <p:nvSpPr>
            <p:cNvPr id="39" name="TextBox 39"/>
            <p:cNvSpPr txBox="1"/>
            <p:nvPr/>
          </p:nvSpPr>
          <p:spPr>
            <a:xfrm>
              <a:off x="0" y="38100"/>
              <a:ext cx="654059"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sustainable design</a:t>
              </a:r>
            </a:p>
          </p:txBody>
        </p:sp>
      </p:grpSp>
      <p:grpSp>
        <p:nvGrpSpPr>
          <p:cNvPr id="40" name="Group 40"/>
          <p:cNvGrpSpPr/>
          <p:nvPr/>
        </p:nvGrpSpPr>
        <p:grpSpPr>
          <a:xfrm>
            <a:off x="386243" y="5262675"/>
            <a:ext cx="2373010" cy="1806833"/>
            <a:chOff x="0" y="0"/>
            <a:chExt cx="746368" cy="568292"/>
          </a:xfrm>
        </p:grpSpPr>
        <p:sp>
          <p:nvSpPr>
            <p:cNvPr id="41" name="Freeform 41"/>
            <p:cNvSpPr/>
            <p:nvPr/>
          </p:nvSpPr>
          <p:spPr>
            <a:xfrm>
              <a:off x="0" y="0"/>
              <a:ext cx="746368" cy="568292"/>
            </a:xfrm>
            <a:custGeom>
              <a:avLst/>
              <a:gdLst/>
              <a:ahLst/>
              <a:cxnLst/>
              <a:rect l="l" t="t" r="r" b="b"/>
              <a:pathLst>
                <a:path w="746368" h="568292">
                  <a:moveTo>
                    <a:pt x="0" y="0"/>
                  </a:moveTo>
                  <a:lnTo>
                    <a:pt x="746368" y="0"/>
                  </a:lnTo>
                  <a:lnTo>
                    <a:pt x="746368" y="568292"/>
                  </a:lnTo>
                  <a:lnTo>
                    <a:pt x="0" y="568292"/>
                  </a:lnTo>
                  <a:close/>
                </a:path>
              </a:pathLst>
            </a:custGeom>
            <a:solidFill>
              <a:srgbClr val="FFF3C2"/>
            </a:solidFill>
            <a:ln cap="sq">
              <a:noFill/>
              <a:prstDash val="solid"/>
              <a:miter/>
            </a:ln>
          </p:spPr>
          <p:txBody>
            <a:bodyPr/>
            <a:lstStyle/>
            <a:p>
              <a:endParaRPr lang="en-US"/>
            </a:p>
          </p:txBody>
        </p:sp>
        <p:sp>
          <p:nvSpPr>
            <p:cNvPr id="42" name="TextBox 42"/>
            <p:cNvSpPr txBox="1"/>
            <p:nvPr/>
          </p:nvSpPr>
          <p:spPr>
            <a:xfrm>
              <a:off x="0" y="38100"/>
              <a:ext cx="746368" cy="530192"/>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H1: </a:t>
              </a:r>
              <a:r>
                <a:rPr lang="en-US" sz="1599">
                  <a:solidFill>
                    <a:srgbClr val="000000"/>
                  </a:solidFill>
                  <a:latin typeface="Open Sans 1"/>
                  <a:ea typeface="Open Sans 1"/>
                  <a:cs typeface="Open Sans 1"/>
                  <a:sym typeface="Open Sans 1"/>
                </a:rPr>
                <a:t>Coworking spaces lower environmental impact through shared infrastructure and higher space utilization.</a:t>
              </a:r>
            </a:p>
          </p:txBody>
        </p:sp>
      </p:grpSp>
      <p:grpSp>
        <p:nvGrpSpPr>
          <p:cNvPr id="43" name="Group 43"/>
          <p:cNvGrpSpPr/>
          <p:nvPr/>
        </p:nvGrpSpPr>
        <p:grpSpPr>
          <a:xfrm>
            <a:off x="2987029" y="5314943"/>
            <a:ext cx="2211825" cy="1754565"/>
            <a:chOff x="0" y="0"/>
            <a:chExt cx="695671" cy="551852"/>
          </a:xfrm>
        </p:grpSpPr>
        <p:sp>
          <p:nvSpPr>
            <p:cNvPr id="44" name="Freeform 44"/>
            <p:cNvSpPr/>
            <p:nvPr/>
          </p:nvSpPr>
          <p:spPr>
            <a:xfrm>
              <a:off x="0" y="0"/>
              <a:ext cx="695671" cy="551852"/>
            </a:xfrm>
            <a:custGeom>
              <a:avLst/>
              <a:gdLst/>
              <a:ahLst/>
              <a:cxnLst/>
              <a:rect l="l" t="t" r="r" b="b"/>
              <a:pathLst>
                <a:path w="695671" h="551852">
                  <a:moveTo>
                    <a:pt x="0" y="0"/>
                  </a:moveTo>
                  <a:lnTo>
                    <a:pt x="695671" y="0"/>
                  </a:lnTo>
                  <a:lnTo>
                    <a:pt x="695671" y="551852"/>
                  </a:lnTo>
                  <a:lnTo>
                    <a:pt x="0" y="551852"/>
                  </a:lnTo>
                  <a:close/>
                </a:path>
              </a:pathLst>
            </a:custGeom>
            <a:solidFill>
              <a:srgbClr val="FFF3C2"/>
            </a:solidFill>
            <a:ln cap="sq">
              <a:noFill/>
              <a:prstDash val="solid"/>
              <a:miter/>
            </a:ln>
          </p:spPr>
          <p:txBody>
            <a:bodyPr/>
            <a:lstStyle/>
            <a:p>
              <a:endParaRPr lang="en-US"/>
            </a:p>
          </p:txBody>
        </p:sp>
        <p:sp>
          <p:nvSpPr>
            <p:cNvPr id="45" name="TextBox 45"/>
            <p:cNvSpPr txBox="1"/>
            <p:nvPr/>
          </p:nvSpPr>
          <p:spPr>
            <a:xfrm>
              <a:off x="0" y="38100"/>
              <a:ext cx="695671" cy="513752"/>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H2:</a:t>
              </a:r>
              <a:r>
                <a:rPr lang="en-US" sz="1599">
                  <a:solidFill>
                    <a:srgbClr val="000000"/>
                  </a:solidFill>
                  <a:latin typeface="Open Sans 1"/>
                  <a:ea typeface="Open Sans 1"/>
                  <a:cs typeface="Open Sans 1"/>
                  <a:sym typeface="Open Sans 1"/>
                </a:rPr>
                <a:t> Higher occupancy reduces unused desks and required floor area.</a:t>
              </a:r>
            </a:p>
          </p:txBody>
        </p:sp>
      </p:grpSp>
      <p:grpSp>
        <p:nvGrpSpPr>
          <p:cNvPr id="46" name="Group 46"/>
          <p:cNvGrpSpPr/>
          <p:nvPr/>
        </p:nvGrpSpPr>
        <p:grpSpPr>
          <a:xfrm>
            <a:off x="5368001" y="5314943"/>
            <a:ext cx="2150155" cy="1754565"/>
            <a:chOff x="0" y="0"/>
            <a:chExt cx="676275" cy="551852"/>
          </a:xfrm>
        </p:grpSpPr>
        <p:sp>
          <p:nvSpPr>
            <p:cNvPr id="47" name="Freeform 47"/>
            <p:cNvSpPr/>
            <p:nvPr/>
          </p:nvSpPr>
          <p:spPr>
            <a:xfrm>
              <a:off x="0" y="0"/>
              <a:ext cx="676275" cy="551852"/>
            </a:xfrm>
            <a:custGeom>
              <a:avLst/>
              <a:gdLst/>
              <a:ahLst/>
              <a:cxnLst/>
              <a:rect l="l" t="t" r="r" b="b"/>
              <a:pathLst>
                <a:path w="676275" h="551852">
                  <a:moveTo>
                    <a:pt x="0" y="0"/>
                  </a:moveTo>
                  <a:lnTo>
                    <a:pt x="676275" y="0"/>
                  </a:lnTo>
                  <a:lnTo>
                    <a:pt x="676275" y="551852"/>
                  </a:lnTo>
                  <a:lnTo>
                    <a:pt x="0" y="551852"/>
                  </a:lnTo>
                  <a:close/>
                </a:path>
              </a:pathLst>
            </a:custGeom>
            <a:solidFill>
              <a:srgbClr val="FFF3C2"/>
            </a:solidFill>
            <a:ln cap="sq">
              <a:noFill/>
              <a:prstDash val="solid"/>
              <a:miter/>
            </a:ln>
          </p:spPr>
          <p:txBody>
            <a:bodyPr/>
            <a:lstStyle/>
            <a:p>
              <a:endParaRPr lang="en-US"/>
            </a:p>
          </p:txBody>
        </p:sp>
        <p:sp>
          <p:nvSpPr>
            <p:cNvPr id="48" name="TextBox 48"/>
            <p:cNvSpPr txBox="1"/>
            <p:nvPr/>
          </p:nvSpPr>
          <p:spPr>
            <a:xfrm>
              <a:off x="0" y="38100"/>
              <a:ext cx="676275" cy="513752"/>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H3:</a:t>
              </a:r>
              <a:r>
                <a:rPr lang="en-US" sz="1599">
                  <a:solidFill>
                    <a:srgbClr val="000000"/>
                  </a:solidFill>
                  <a:latin typeface="Open Sans 1"/>
                  <a:ea typeface="Open Sans 1"/>
                  <a:cs typeface="Open Sans 1"/>
                  <a:sym typeface="Open Sans 1"/>
                </a:rPr>
                <a:t> Industrious supports greener buildings using certified, low-carbon, and adaptive-reuse design.</a:t>
              </a:r>
            </a:p>
          </p:txBody>
        </p:sp>
      </p:grpSp>
      <p:grpSp>
        <p:nvGrpSpPr>
          <p:cNvPr id="49" name="Group 49"/>
          <p:cNvGrpSpPr/>
          <p:nvPr/>
        </p:nvGrpSpPr>
        <p:grpSpPr>
          <a:xfrm>
            <a:off x="388032" y="7069508"/>
            <a:ext cx="2373010" cy="2483108"/>
            <a:chOff x="0" y="0"/>
            <a:chExt cx="746368" cy="780996"/>
          </a:xfrm>
        </p:grpSpPr>
        <p:sp>
          <p:nvSpPr>
            <p:cNvPr id="50" name="Freeform 50"/>
            <p:cNvSpPr/>
            <p:nvPr/>
          </p:nvSpPr>
          <p:spPr>
            <a:xfrm>
              <a:off x="0" y="0"/>
              <a:ext cx="746368" cy="780996"/>
            </a:xfrm>
            <a:custGeom>
              <a:avLst/>
              <a:gdLst/>
              <a:ahLst/>
              <a:cxnLst/>
              <a:rect l="l" t="t" r="r" b="b"/>
              <a:pathLst>
                <a:path w="746368" h="780996">
                  <a:moveTo>
                    <a:pt x="0" y="0"/>
                  </a:moveTo>
                  <a:lnTo>
                    <a:pt x="746368" y="0"/>
                  </a:lnTo>
                  <a:lnTo>
                    <a:pt x="746368" y="780996"/>
                  </a:lnTo>
                  <a:lnTo>
                    <a:pt x="0" y="780996"/>
                  </a:lnTo>
                  <a:close/>
                </a:path>
              </a:pathLst>
            </a:custGeom>
            <a:solidFill>
              <a:srgbClr val="FFFFFF"/>
            </a:solidFill>
            <a:ln w="38100" cap="sq">
              <a:solidFill>
                <a:srgbClr val="FFF3C2"/>
              </a:solidFill>
              <a:prstDash val="solid"/>
              <a:miter/>
            </a:ln>
          </p:spPr>
          <p:txBody>
            <a:bodyPr/>
            <a:lstStyle/>
            <a:p>
              <a:endParaRPr lang="en-US"/>
            </a:p>
          </p:txBody>
        </p:sp>
        <p:sp>
          <p:nvSpPr>
            <p:cNvPr id="51" name="TextBox 51"/>
            <p:cNvSpPr txBox="1"/>
            <p:nvPr/>
          </p:nvSpPr>
          <p:spPr>
            <a:xfrm>
              <a:off x="0" y="38100"/>
              <a:ext cx="746368" cy="742896"/>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49 kg CO₂e/m² vs 11 kg CO₂e/m² (flex)</a:t>
              </a:r>
            </a:p>
            <a:p>
              <a:pPr algn="l">
                <a:lnSpc>
                  <a:spcPts val="1599"/>
                </a:lnSpc>
              </a:pPr>
              <a:r>
                <a:rPr lang="en-US" sz="1599">
                  <a:solidFill>
                    <a:srgbClr val="000000"/>
                  </a:solidFill>
                  <a:latin typeface="Open Sans 1"/>
                  <a:ea typeface="Open Sans 1"/>
                  <a:cs typeface="Open Sans 1"/>
                  <a:sym typeface="Open Sans 1"/>
                </a:rPr>
                <a:t>• Shared lighting and HVAC</a:t>
              </a:r>
            </a:p>
            <a:p>
              <a:pPr algn="l">
                <a:lnSpc>
                  <a:spcPts val="1599"/>
                </a:lnSpc>
              </a:pPr>
              <a:r>
                <a:rPr lang="en-US" sz="1599">
                  <a:solidFill>
                    <a:srgbClr val="000000"/>
                  </a:solidFill>
                  <a:latin typeface="Open Sans 1"/>
                  <a:ea typeface="Open Sans 1"/>
                  <a:cs typeface="Open Sans 1"/>
                  <a:sym typeface="Open Sans 1"/>
                </a:rPr>
                <a:t>• Less equipment duplication</a:t>
              </a:r>
            </a:p>
            <a:p>
              <a:pPr algn="l">
                <a:lnSpc>
                  <a:spcPts val="1599"/>
                </a:lnSpc>
              </a:pPr>
              <a:r>
                <a:rPr lang="en-US" sz="1599">
                  <a:solidFill>
                    <a:srgbClr val="000000"/>
                  </a:solidFill>
                  <a:latin typeface="Open Sans 1"/>
                  <a:ea typeface="Open Sans 1"/>
                  <a:cs typeface="Open Sans 1"/>
                  <a:sym typeface="Open Sans 1"/>
                </a:rPr>
                <a:t>• Denser space use</a:t>
              </a:r>
            </a:p>
            <a:p>
              <a:pPr algn="l">
                <a:lnSpc>
                  <a:spcPts val="1599"/>
                </a:lnSpc>
              </a:pPr>
              <a:r>
                <a:rPr lang="en-US" sz="1599">
                  <a:solidFill>
                    <a:srgbClr val="000000"/>
                  </a:solidFill>
                  <a:latin typeface="Open Sans 1"/>
                  <a:ea typeface="Open Sans 1"/>
                  <a:cs typeface="Open Sans 1"/>
                  <a:sym typeface="Open Sans 1"/>
                </a:rPr>
                <a:t>• Lower CO₂ from commutes</a:t>
              </a:r>
            </a:p>
            <a:p>
              <a:pPr algn="l">
                <a:lnSpc>
                  <a:spcPts val="1599"/>
                </a:lnSpc>
              </a:pPr>
              <a:r>
                <a:rPr lang="en-US" sz="1599">
                  <a:solidFill>
                    <a:srgbClr val="000000"/>
                  </a:solidFill>
                  <a:latin typeface="Open Sans 1"/>
                  <a:ea typeface="Open Sans 1"/>
                  <a:cs typeface="Open Sans 1"/>
                  <a:sym typeface="Open Sans 1"/>
                </a:rPr>
                <a:t>• Smaller per-user footprint</a:t>
              </a:r>
            </a:p>
          </p:txBody>
        </p:sp>
      </p:grpSp>
      <p:grpSp>
        <p:nvGrpSpPr>
          <p:cNvPr id="52" name="Group 52"/>
          <p:cNvGrpSpPr/>
          <p:nvPr/>
        </p:nvGrpSpPr>
        <p:grpSpPr>
          <a:xfrm>
            <a:off x="2979445" y="7069508"/>
            <a:ext cx="2193081" cy="2483108"/>
            <a:chOff x="0" y="0"/>
            <a:chExt cx="689776" cy="780996"/>
          </a:xfrm>
        </p:grpSpPr>
        <p:sp>
          <p:nvSpPr>
            <p:cNvPr id="53" name="Freeform 53"/>
            <p:cNvSpPr/>
            <p:nvPr/>
          </p:nvSpPr>
          <p:spPr>
            <a:xfrm>
              <a:off x="0" y="0"/>
              <a:ext cx="689776" cy="780996"/>
            </a:xfrm>
            <a:custGeom>
              <a:avLst/>
              <a:gdLst/>
              <a:ahLst/>
              <a:cxnLst/>
              <a:rect l="l" t="t" r="r" b="b"/>
              <a:pathLst>
                <a:path w="689776" h="780996">
                  <a:moveTo>
                    <a:pt x="0" y="0"/>
                  </a:moveTo>
                  <a:lnTo>
                    <a:pt x="689776" y="0"/>
                  </a:lnTo>
                  <a:lnTo>
                    <a:pt x="689776" y="780996"/>
                  </a:lnTo>
                  <a:lnTo>
                    <a:pt x="0" y="780996"/>
                  </a:lnTo>
                  <a:close/>
                </a:path>
              </a:pathLst>
            </a:custGeom>
            <a:solidFill>
              <a:srgbClr val="FFFFFF"/>
            </a:solidFill>
            <a:ln w="38100" cap="sq">
              <a:solidFill>
                <a:srgbClr val="FFF3C2"/>
              </a:solidFill>
              <a:prstDash val="solid"/>
              <a:miter/>
            </a:ln>
          </p:spPr>
          <p:txBody>
            <a:bodyPr/>
            <a:lstStyle/>
            <a:p>
              <a:endParaRPr lang="en-US"/>
            </a:p>
          </p:txBody>
        </p:sp>
        <p:sp>
          <p:nvSpPr>
            <p:cNvPr id="54" name="TextBox 54"/>
            <p:cNvSpPr txBox="1"/>
            <p:nvPr/>
          </p:nvSpPr>
          <p:spPr>
            <a:xfrm>
              <a:off x="0" y="38100"/>
              <a:ext cx="689776" cy="742896"/>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~60 % avg desk use (traditional)</a:t>
              </a:r>
            </a:p>
            <a:p>
              <a:pPr algn="l">
                <a:lnSpc>
                  <a:spcPts val="1599"/>
                </a:lnSpc>
              </a:pPr>
              <a:r>
                <a:rPr lang="en-US" sz="1599">
                  <a:solidFill>
                    <a:srgbClr val="000000"/>
                  </a:solidFill>
                  <a:latin typeface="Open Sans 1"/>
                  <a:ea typeface="Open Sans 1"/>
                  <a:cs typeface="Open Sans 1"/>
                  <a:sym typeface="Open Sans 1"/>
                </a:rPr>
                <a:t>• 20–25 % desk reduction possible</a:t>
              </a:r>
            </a:p>
            <a:p>
              <a:pPr algn="l">
                <a:lnSpc>
                  <a:spcPts val="1599"/>
                </a:lnSpc>
              </a:pPr>
              <a:r>
                <a:rPr lang="en-US" sz="1599">
                  <a:solidFill>
                    <a:srgbClr val="000000"/>
                  </a:solidFill>
                  <a:latin typeface="Open Sans 1"/>
                  <a:ea typeface="Open Sans 1"/>
                  <a:cs typeface="Open Sans 1"/>
                  <a:sym typeface="Open Sans 1"/>
                </a:rPr>
                <a:t>• Fewer idle assets</a:t>
              </a:r>
            </a:p>
            <a:p>
              <a:pPr algn="l">
                <a:lnSpc>
                  <a:spcPts val="1599"/>
                </a:lnSpc>
              </a:pPr>
              <a:r>
                <a:rPr lang="en-US" sz="1599">
                  <a:solidFill>
                    <a:srgbClr val="000000"/>
                  </a:solidFill>
                  <a:latin typeface="Open Sans 1"/>
                  <a:ea typeface="Open Sans 1"/>
                  <a:cs typeface="Open Sans 1"/>
                  <a:sym typeface="Open Sans 1"/>
                </a:rPr>
                <a:t>• Lower energy per employee</a:t>
              </a:r>
            </a:p>
            <a:p>
              <a:pPr algn="l">
                <a:lnSpc>
                  <a:spcPts val="1599"/>
                </a:lnSpc>
              </a:pPr>
              <a:r>
                <a:rPr lang="en-US" sz="1599">
                  <a:solidFill>
                    <a:srgbClr val="000000"/>
                  </a:solidFill>
                  <a:latin typeface="Open Sans 1"/>
                  <a:ea typeface="Open Sans 1"/>
                  <a:cs typeface="Open Sans 1"/>
                  <a:sym typeface="Open Sans 1"/>
                </a:rPr>
                <a:t>• Urban space freed for housing</a:t>
              </a:r>
            </a:p>
          </p:txBody>
        </p:sp>
      </p:grpSp>
      <p:grpSp>
        <p:nvGrpSpPr>
          <p:cNvPr id="55" name="Group 55"/>
          <p:cNvGrpSpPr/>
          <p:nvPr/>
        </p:nvGrpSpPr>
        <p:grpSpPr>
          <a:xfrm>
            <a:off x="5368001" y="7069508"/>
            <a:ext cx="2150155" cy="2483108"/>
            <a:chOff x="0" y="0"/>
            <a:chExt cx="676275" cy="780996"/>
          </a:xfrm>
        </p:grpSpPr>
        <p:sp>
          <p:nvSpPr>
            <p:cNvPr id="56" name="Freeform 56"/>
            <p:cNvSpPr/>
            <p:nvPr/>
          </p:nvSpPr>
          <p:spPr>
            <a:xfrm>
              <a:off x="0" y="0"/>
              <a:ext cx="676275" cy="780996"/>
            </a:xfrm>
            <a:custGeom>
              <a:avLst/>
              <a:gdLst/>
              <a:ahLst/>
              <a:cxnLst/>
              <a:rect l="l" t="t" r="r" b="b"/>
              <a:pathLst>
                <a:path w="676275" h="780996">
                  <a:moveTo>
                    <a:pt x="0" y="0"/>
                  </a:moveTo>
                  <a:lnTo>
                    <a:pt x="676275" y="0"/>
                  </a:lnTo>
                  <a:lnTo>
                    <a:pt x="676275" y="780996"/>
                  </a:lnTo>
                  <a:lnTo>
                    <a:pt x="0" y="780996"/>
                  </a:lnTo>
                  <a:close/>
                </a:path>
              </a:pathLst>
            </a:custGeom>
            <a:solidFill>
              <a:srgbClr val="FFFFFF"/>
            </a:solidFill>
            <a:ln w="38100" cap="sq">
              <a:solidFill>
                <a:srgbClr val="FFF3C2"/>
              </a:solidFill>
              <a:prstDash val="solid"/>
              <a:miter/>
            </a:ln>
          </p:spPr>
          <p:txBody>
            <a:bodyPr/>
            <a:lstStyle/>
            <a:p>
              <a:endParaRPr lang="en-US"/>
            </a:p>
          </p:txBody>
        </p:sp>
        <p:sp>
          <p:nvSpPr>
            <p:cNvPr id="57" name="TextBox 57"/>
            <p:cNvSpPr txBox="1"/>
            <p:nvPr/>
          </p:nvSpPr>
          <p:spPr>
            <a:xfrm>
              <a:off x="0" y="38100"/>
              <a:ext cx="676275" cy="742896"/>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70% sites in green-certified buildings</a:t>
              </a:r>
            </a:p>
            <a:p>
              <a:pPr algn="l">
                <a:lnSpc>
                  <a:spcPts val="1599"/>
                </a:lnSpc>
              </a:pPr>
              <a:r>
                <a:rPr lang="en-US" sz="1599">
                  <a:solidFill>
                    <a:srgbClr val="000000"/>
                  </a:solidFill>
                  <a:latin typeface="Open Sans 1"/>
                  <a:ea typeface="Open Sans 1"/>
                  <a:cs typeface="Open Sans 1"/>
                  <a:sym typeface="Open Sans 1"/>
                </a:rPr>
                <a:t>• Low-carbon materials (LED, bamboo)</a:t>
              </a:r>
            </a:p>
            <a:p>
              <a:pPr algn="l">
                <a:lnSpc>
                  <a:spcPts val="1599"/>
                </a:lnSpc>
              </a:pPr>
              <a:r>
                <a:rPr lang="en-US" sz="1599">
                  <a:solidFill>
                    <a:srgbClr val="000000"/>
                  </a:solidFill>
                  <a:latin typeface="Open Sans 1"/>
                  <a:ea typeface="Open Sans 1"/>
                  <a:cs typeface="Open Sans 1"/>
                  <a:sym typeface="Open Sans 1"/>
                </a:rPr>
                <a:t>• Second-hand furniture use</a:t>
              </a:r>
            </a:p>
            <a:p>
              <a:pPr algn="l">
                <a:lnSpc>
                  <a:spcPts val="1599"/>
                </a:lnSpc>
              </a:pPr>
              <a:r>
                <a:rPr lang="en-US" sz="1599">
                  <a:solidFill>
                    <a:srgbClr val="000000"/>
                  </a:solidFill>
                  <a:latin typeface="Open Sans 1"/>
                  <a:ea typeface="Open Sans 1"/>
                  <a:cs typeface="Open Sans 1"/>
                  <a:sym typeface="Open Sans 1"/>
                </a:rPr>
                <a:t>• Energy savings</a:t>
              </a:r>
            </a:p>
            <a:p>
              <a:pPr algn="l">
                <a:lnSpc>
                  <a:spcPts val="1599"/>
                </a:lnSpc>
              </a:pPr>
              <a:r>
                <a:rPr lang="en-US" sz="1599">
                  <a:solidFill>
                    <a:srgbClr val="000000"/>
                  </a:solidFill>
                  <a:latin typeface="Open Sans 1"/>
                  <a:ea typeface="Open Sans 1"/>
                  <a:cs typeface="Open Sans 1"/>
                  <a:sym typeface="Open Sans 1"/>
                </a:rPr>
                <a:t>• Reduced fit-out waste</a:t>
              </a:r>
            </a:p>
          </p:txBody>
        </p:sp>
      </p:grpSp>
      <p:grpSp>
        <p:nvGrpSpPr>
          <p:cNvPr id="58" name="Group 58"/>
          <p:cNvGrpSpPr/>
          <p:nvPr/>
        </p:nvGrpSpPr>
        <p:grpSpPr>
          <a:xfrm>
            <a:off x="13211724" y="5143500"/>
            <a:ext cx="2171542" cy="1926008"/>
            <a:chOff x="0" y="0"/>
            <a:chExt cx="683001" cy="605775"/>
          </a:xfrm>
        </p:grpSpPr>
        <p:sp>
          <p:nvSpPr>
            <p:cNvPr id="59" name="Freeform 59"/>
            <p:cNvSpPr/>
            <p:nvPr/>
          </p:nvSpPr>
          <p:spPr>
            <a:xfrm>
              <a:off x="0" y="0"/>
              <a:ext cx="683001" cy="605775"/>
            </a:xfrm>
            <a:custGeom>
              <a:avLst/>
              <a:gdLst/>
              <a:ahLst/>
              <a:cxnLst/>
              <a:rect l="l" t="t" r="r" b="b"/>
              <a:pathLst>
                <a:path w="683001" h="605775">
                  <a:moveTo>
                    <a:pt x="0" y="0"/>
                  </a:moveTo>
                  <a:lnTo>
                    <a:pt x="683001" y="0"/>
                  </a:lnTo>
                  <a:lnTo>
                    <a:pt x="683001" y="605775"/>
                  </a:lnTo>
                  <a:lnTo>
                    <a:pt x="0" y="605775"/>
                  </a:lnTo>
                  <a:close/>
                </a:path>
              </a:pathLst>
            </a:custGeom>
            <a:solidFill>
              <a:srgbClr val="FFF3C2"/>
            </a:solidFill>
            <a:ln cap="sq">
              <a:noFill/>
              <a:prstDash val="solid"/>
              <a:miter/>
            </a:ln>
          </p:spPr>
          <p:txBody>
            <a:bodyPr/>
            <a:lstStyle/>
            <a:p>
              <a:endParaRPr lang="en-US"/>
            </a:p>
          </p:txBody>
        </p:sp>
        <p:sp>
          <p:nvSpPr>
            <p:cNvPr id="60" name="TextBox 60"/>
            <p:cNvSpPr txBox="1"/>
            <p:nvPr/>
          </p:nvSpPr>
          <p:spPr>
            <a:xfrm>
              <a:off x="0" y="38100"/>
              <a:ext cx="683001" cy="567675"/>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H6: </a:t>
              </a:r>
              <a:r>
                <a:rPr lang="en-US" sz="1599">
                  <a:solidFill>
                    <a:srgbClr val="000000"/>
                  </a:solidFill>
                  <a:latin typeface="Open Sans 1"/>
                  <a:ea typeface="Open Sans 1"/>
                  <a:cs typeface="Open Sans 1"/>
                  <a:sym typeface="Open Sans 1"/>
                </a:rPr>
                <a:t>Industrious raises sector standards through certifications and purpose-driven culture.</a:t>
              </a:r>
            </a:p>
          </p:txBody>
        </p:sp>
      </p:grpSp>
      <p:grpSp>
        <p:nvGrpSpPr>
          <p:cNvPr id="61" name="Group 61"/>
          <p:cNvGrpSpPr/>
          <p:nvPr/>
        </p:nvGrpSpPr>
        <p:grpSpPr>
          <a:xfrm>
            <a:off x="15659692" y="5370330"/>
            <a:ext cx="1866110" cy="2099228"/>
            <a:chOff x="0" y="0"/>
            <a:chExt cx="586936" cy="660257"/>
          </a:xfrm>
        </p:grpSpPr>
        <p:sp>
          <p:nvSpPr>
            <p:cNvPr id="62" name="Freeform 62"/>
            <p:cNvSpPr/>
            <p:nvPr/>
          </p:nvSpPr>
          <p:spPr>
            <a:xfrm>
              <a:off x="0" y="0"/>
              <a:ext cx="586936" cy="660257"/>
            </a:xfrm>
            <a:custGeom>
              <a:avLst/>
              <a:gdLst/>
              <a:ahLst/>
              <a:cxnLst/>
              <a:rect l="l" t="t" r="r" b="b"/>
              <a:pathLst>
                <a:path w="586936" h="660257">
                  <a:moveTo>
                    <a:pt x="0" y="0"/>
                  </a:moveTo>
                  <a:lnTo>
                    <a:pt x="586936" y="0"/>
                  </a:lnTo>
                  <a:lnTo>
                    <a:pt x="586936" y="660257"/>
                  </a:lnTo>
                  <a:lnTo>
                    <a:pt x="0" y="660257"/>
                  </a:lnTo>
                  <a:close/>
                </a:path>
              </a:pathLst>
            </a:custGeom>
            <a:solidFill>
              <a:srgbClr val="FFF3C2"/>
            </a:solidFill>
            <a:ln cap="sq">
              <a:noFill/>
              <a:prstDash val="solid"/>
              <a:miter/>
            </a:ln>
          </p:spPr>
          <p:txBody>
            <a:bodyPr/>
            <a:lstStyle/>
            <a:p>
              <a:endParaRPr lang="en-US"/>
            </a:p>
          </p:txBody>
        </p:sp>
        <p:sp>
          <p:nvSpPr>
            <p:cNvPr id="63" name="TextBox 63"/>
            <p:cNvSpPr txBox="1"/>
            <p:nvPr/>
          </p:nvSpPr>
          <p:spPr>
            <a:xfrm>
              <a:off x="0" y="38100"/>
              <a:ext cx="586936" cy="622157"/>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H7: </a:t>
              </a:r>
              <a:r>
                <a:rPr lang="en-US" sz="1599">
                  <a:solidFill>
                    <a:srgbClr val="000000"/>
                  </a:solidFill>
                  <a:latin typeface="Open Sans 1"/>
                  <a:ea typeface="Open Sans 1"/>
                  <a:cs typeface="Open Sans 1"/>
                  <a:sym typeface="Open Sans 1"/>
                </a:rPr>
                <a:t>Shared space models reduce workplace costs and improve access to sustainable environments</a:t>
              </a:r>
            </a:p>
          </p:txBody>
        </p:sp>
      </p:grpSp>
      <p:grpSp>
        <p:nvGrpSpPr>
          <p:cNvPr id="64" name="Group 64"/>
          <p:cNvGrpSpPr/>
          <p:nvPr/>
        </p:nvGrpSpPr>
        <p:grpSpPr>
          <a:xfrm>
            <a:off x="13192722" y="7069508"/>
            <a:ext cx="2209546" cy="2483108"/>
            <a:chOff x="0" y="0"/>
            <a:chExt cx="694954" cy="780996"/>
          </a:xfrm>
        </p:grpSpPr>
        <p:sp>
          <p:nvSpPr>
            <p:cNvPr id="65" name="Freeform 65"/>
            <p:cNvSpPr/>
            <p:nvPr/>
          </p:nvSpPr>
          <p:spPr>
            <a:xfrm>
              <a:off x="0" y="0"/>
              <a:ext cx="694954" cy="780996"/>
            </a:xfrm>
            <a:custGeom>
              <a:avLst/>
              <a:gdLst/>
              <a:ahLst/>
              <a:cxnLst/>
              <a:rect l="l" t="t" r="r" b="b"/>
              <a:pathLst>
                <a:path w="694954" h="780996">
                  <a:moveTo>
                    <a:pt x="0" y="0"/>
                  </a:moveTo>
                  <a:lnTo>
                    <a:pt x="694954" y="0"/>
                  </a:lnTo>
                  <a:lnTo>
                    <a:pt x="694954" y="780996"/>
                  </a:lnTo>
                  <a:lnTo>
                    <a:pt x="0" y="780996"/>
                  </a:lnTo>
                  <a:close/>
                </a:path>
              </a:pathLst>
            </a:custGeom>
            <a:solidFill>
              <a:srgbClr val="FFFFFF"/>
            </a:solidFill>
            <a:ln w="38100" cap="sq">
              <a:solidFill>
                <a:srgbClr val="FFF3C2"/>
              </a:solidFill>
              <a:prstDash val="solid"/>
              <a:miter/>
            </a:ln>
          </p:spPr>
          <p:txBody>
            <a:bodyPr/>
            <a:lstStyle/>
            <a:p>
              <a:endParaRPr lang="en-US"/>
            </a:p>
          </p:txBody>
        </p:sp>
        <p:sp>
          <p:nvSpPr>
            <p:cNvPr id="66" name="TextBox 66"/>
            <p:cNvSpPr txBox="1"/>
            <p:nvPr/>
          </p:nvSpPr>
          <p:spPr>
            <a:xfrm>
              <a:off x="0" y="38100"/>
              <a:ext cx="694954" cy="742896"/>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WELL certification; LEED-aligned spaces</a:t>
              </a:r>
            </a:p>
            <a:p>
              <a:pPr algn="l">
                <a:lnSpc>
                  <a:spcPts val="1599"/>
                </a:lnSpc>
              </a:pPr>
              <a:r>
                <a:rPr lang="en-US" sz="1599">
                  <a:solidFill>
                    <a:srgbClr val="000000"/>
                  </a:solidFill>
                  <a:latin typeface="Open Sans 1"/>
                  <a:ea typeface="Open Sans 1"/>
                  <a:cs typeface="Open Sans 1"/>
                  <a:sym typeface="Open Sans 1"/>
                </a:rPr>
                <a:t>• NPS 82 across 40,000+ members</a:t>
              </a:r>
            </a:p>
            <a:p>
              <a:pPr algn="l">
                <a:lnSpc>
                  <a:spcPts val="1599"/>
                </a:lnSpc>
              </a:pPr>
              <a:r>
                <a:rPr lang="en-US" sz="1599">
                  <a:solidFill>
                    <a:srgbClr val="000000"/>
                  </a:solidFill>
                  <a:latin typeface="Open Sans 1"/>
                  <a:ea typeface="Open Sans 1"/>
                  <a:cs typeface="Open Sans 1"/>
                  <a:sym typeface="Open Sans 1"/>
                </a:rPr>
                <a:t>• Purpose-driven campaigns shaping culture </a:t>
              </a:r>
            </a:p>
            <a:p>
              <a:pPr algn="l">
                <a:lnSpc>
                  <a:spcPts val="1599"/>
                </a:lnSpc>
              </a:pPr>
              <a:r>
                <a:rPr lang="en-US" sz="1599">
                  <a:solidFill>
                    <a:srgbClr val="000000"/>
                  </a:solidFill>
                  <a:latin typeface="Open Sans 1"/>
                  <a:ea typeface="Open Sans 1"/>
                  <a:cs typeface="Open Sans 1"/>
                  <a:sym typeface="Open Sans 1"/>
                </a:rPr>
                <a:t>• Increases sustainability awareness in coworking</a:t>
              </a:r>
            </a:p>
          </p:txBody>
        </p:sp>
      </p:grpSp>
      <p:grpSp>
        <p:nvGrpSpPr>
          <p:cNvPr id="67" name="Group 67"/>
          <p:cNvGrpSpPr/>
          <p:nvPr/>
        </p:nvGrpSpPr>
        <p:grpSpPr>
          <a:xfrm>
            <a:off x="15659692" y="7469558"/>
            <a:ext cx="1866110" cy="2083058"/>
            <a:chOff x="0" y="0"/>
            <a:chExt cx="586936" cy="655171"/>
          </a:xfrm>
        </p:grpSpPr>
        <p:sp>
          <p:nvSpPr>
            <p:cNvPr id="68" name="Freeform 68"/>
            <p:cNvSpPr/>
            <p:nvPr/>
          </p:nvSpPr>
          <p:spPr>
            <a:xfrm>
              <a:off x="0" y="0"/>
              <a:ext cx="586936" cy="655171"/>
            </a:xfrm>
            <a:custGeom>
              <a:avLst/>
              <a:gdLst/>
              <a:ahLst/>
              <a:cxnLst/>
              <a:rect l="l" t="t" r="r" b="b"/>
              <a:pathLst>
                <a:path w="586936" h="655171">
                  <a:moveTo>
                    <a:pt x="0" y="0"/>
                  </a:moveTo>
                  <a:lnTo>
                    <a:pt x="586936" y="0"/>
                  </a:lnTo>
                  <a:lnTo>
                    <a:pt x="586936" y="655171"/>
                  </a:lnTo>
                  <a:lnTo>
                    <a:pt x="0" y="655171"/>
                  </a:lnTo>
                  <a:close/>
                </a:path>
              </a:pathLst>
            </a:custGeom>
            <a:solidFill>
              <a:srgbClr val="FFFFFF"/>
            </a:solidFill>
            <a:ln w="38100" cap="sq">
              <a:solidFill>
                <a:srgbClr val="FFF3C2"/>
              </a:solidFill>
              <a:prstDash val="solid"/>
              <a:miter/>
            </a:ln>
          </p:spPr>
          <p:txBody>
            <a:bodyPr/>
            <a:lstStyle/>
            <a:p>
              <a:endParaRPr lang="en-US"/>
            </a:p>
          </p:txBody>
        </p:sp>
        <p:sp>
          <p:nvSpPr>
            <p:cNvPr id="69" name="TextBox 69"/>
            <p:cNvSpPr txBox="1"/>
            <p:nvPr/>
          </p:nvSpPr>
          <p:spPr>
            <a:xfrm>
              <a:off x="0" y="38100"/>
              <a:ext cx="586936" cy="617071"/>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Up to 40% lower workplace costs vs. traditional leases  </a:t>
              </a:r>
            </a:p>
            <a:p>
              <a:pPr algn="l">
                <a:lnSpc>
                  <a:spcPts val="1599"/>
                </a:lnSpc>
              </a:pPr>
              <a:r>
                <a:rPr lang="en-US" sz="1599">
                  <a:solidFill>
                    <a:srgbClr val="000000"/>
                  </a:solidFill>
                  <a:latin typeface="Open Sans 1"/>
                  <a:ea typeface="Open Sans 1"/>
                  <a:cs typeface="Open Sans 1"/>
                  <a:sym typeface="Open Sans 1"/>
                </a:rPr>
                <a:t>• &gt;80% occupancy and 20% cost savings via tech boost profitability</a:t>
              </a:r>
            </a:p>
          </p:txBody>
        </p:sp>
      </p:grpSp>
      <p:grpSp>
        <p:nvGrpSpPr>
          <p:cNvPr id="70" name="Group 70"/>
          <p:cNvGrpSpPr/>
          <p:nvPr/>
        </p:nvGrpSpPr>
        <p:grpSpPr>
          <a:xfrm>
            <a:off x="8079764" y="3457194"/>
            <a:ext cx="2252855" cy="1406783"/>
            <a:chOff x="0" y="0"/>
            <a:chExt cx="708576" cy="442466"/>
          </a:xfrm>
        </p:grpSpPr>
        <p:sp>
          <p:nvSpPr>
            <p:cNvPr id="71" name="Freeform 71"/>
            <p:cNvSpPr/>
            <p:nvPr/>
          </p:nvSpPr>
          <p:spPr>
            <a:xfrm>
              <a:off x="0" y="0"/>
              <a:ext cx="708576" cy="442466"/>
            </a:xfrm>
            <a:custGeom>
              <a:avLst/>
              <a:gdLst/>
              <a:ahLst/>
              <a:cxnLst/>
              <a:rect l="l" t="t" r="r" b="b"/>
              <a:pathLst>
                <a:path w="708576" h="442466">
                  <a:moveTo>
                    <a:pt x="0" y="0"/>
                  </a:moveTo>
                  <a:lnTo>
                    <a:pt x="708576" y="0"/>
                  </a:lnTo>
                  <a:lnTo>
                    <a:pt x="708576" y="442466"/>
                  </a:lnTo>
                  <a:lnTo>
                    <a:pt x="0" y="442466"/>
                  </a:lnTo>
                  <a:close/>
                </a:path>
              </a:pathLst>
            </a:custGeom>
            <a:solidFill>
              <a:srgbClr val="FFE67E"/>
            </a:solidFill>
          </p:spPr>
          <p:txBody>
            <a:bodyPr/>
            <a:lstStyle/>
            <a:p>
              <a:endParaRPr lang="en-US"/>
            </a:p>
          </p:txBody>
        </p:sp>
        <p:sp>
          <p:nvSpPr>
            <p:cNvPr id="72" name="TextBox 72"/>
            <p:cNvSpPr txBox="1"/>
            <p:nvPr/>
          </p:nvSpPr>
          <p:spPr>
            <a:xfrm>
              <a:off x="0" y="38100"/>
              <a:ext cx="708576" cy="404366"/>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2.1 Does the design and atmosphere of coworking spaces measurably improve client productivity and satisfaction?</a:t>
              </a:r>
            </a:p>
          </p:txBody>
        </p:sp>
      </p:grpSp>
      <p:grpSp>
        <p:nvGrpSpPr>
          <p:cNvPr id="73" name="Group 73"/>
          <p:cNvGrpSpPr/>
          <p:nvPr/>
        </p:nvGrpSpPr>
        <p:grpSpPr>
          <a:xfrm>
            <a:off x="7855386" y="4856018"/>
            <a:ext cx="2701613" cy="406658"/>
            <a:chOff x="0" y="0"/>
            <a:chExt cx="711536" cy="107103"/>
          </a:xfrm>
        </p:grpSpPr>
        <p:sp>
          <p:nvSpPr>
            <p:cNvPr id="74" name="Freeform 74"/>
            <p:cNvSpPr/>
            <p:nvPr/>
          </p:nvSpPr>
          <p:spPr>
            <a:xfrm>
              <a:off x="0" y="0"/>
              <a:ext cx="711536" cy="107103"/>
            </a:xfrm>
            <a:custGeom>
              <a:avLst/>
              <a:gdLst/>
              <a:ahLst/>
              <a:cxnLst/>
              <a:rect l="l" t="t" r="r" b="b"/>
              <a:pathLst>
                <a:path w="711536" h="107103">
                  <a:moveTo>
                    <a:pt x="0" y="0"/>
                  </a:moveTo>
                  <a:lnTo>
                    <a:pt x="711536" y="0"/>
                  </a:lnTo>
                  <a:lnTo>
                    <a:pt x="711536" y="107103"/>
                  </a:lnTo>
                  <a:lnTo>
                    <a:pt x="0" y="107103"/>
                  </a:lnTo>
                  <a:close/>
                </a:path>
              </a:pathLst>
            </a:custGeom>
          </p:spPr>
          <p:txBody>
            <a:bodyPr/>
            <a:lstStyle/>
            <a:p>
              <a:endParaRPr lang="en-US"/>
            </a:p>
          </p:txBody>
        </p:sp>
        <p:sp>
          <p:nvSpPr>
            <p:cNvPr id="75" name="TextBox 75"/>
            <p:cNvSpPr txBox="1"/>
            <p:nvPr/>
          </p:nvSpPr>
          <p:spPr>
            <a:xfrm>
              <a:off x="0" y="38100"/>
              <a:ext cx="711536"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design &amp; wellbeing</a:t>
              </a:r>
            </a:p>
          </p:txBody>
        </p:sp>
      </p:grpSp>
      <p:grpSp>
        <p:nvGrpSpPr>
          <p:cNvPr id="76" name="Group 76"/>
          <p:cNvGrpSpPr/>
          <p:nvPr/>
        </p:nvGrpSpPr>
        <p:grpSpPr>
          <a:xfrm>
            <a:off x="8047808" y="5314943"/>
            <a:ext cx="2316768" cy="1754565"/>
            <a:chOff x="0" y="0"/>
            <a:chExt cx="728678" cy="551852"/>
          </a:xfrm>
        </p:grpSpPr>
        <p:sp>
          <p:nvSpPr>
            <p:cNvPr id="77" name="Freeform 77"/>
            <p:cNvSpPr/>
            <p:nvPr/>
          </p:nvSpPr>
          <p:spPr>
            <a:xfrm>
              <a:off x="0" y="0"/>
              <a:ext cx="728678" cy="551852"/>
            </a:xfrm>
            <a:custGeom>
              <a:avLst/>
              <a:gdLst/>
              <a:ahLst/>
              <a:cxnLst/>
              <a:rect l="l" t="t" r="r" b="b"/>
              <a:pathLst>
                <a:path w="728678" h="551852">
                  <a:moveTo>
                    <a:pt x="0" y="0"/>
                  </a:moveTo>
                  <a:lnTo>
                    <a:pt x="728678" y="0"/>
                  </a:lnTo>
                  <a:lnTo>
                    <a:pt x="728678" y="551852"/>
                  </a:lnTo>
                  <a:lnTo>
                    <a:pt x="0" y="551852"/>
                  </a:lnTo>
                  <a:close/>
                </a:path>
              </a:pathLst>
            </a:custGeom>
            <a:solidFill>
              <a:srgbClr val="FFF3C2"/>
            </a:solidFill>
            <a:ln cap="sq">
              <a:noFill/>
              <a:prstDash val="solid"/>
              <a:miter/>
            </a:ln>
          </p:spPr>
          <p:txBody>
            <a:bodyPr/>
            <a:lstStyle/>
            <a:p>
              <a:endParaRPr lang="en-US"/>
            </a:p>
          </p:txBody>
        </p:sp>
        <p:sp>
          <p:nvSpPr>
            <p:cNvPr id="78" name="TextBox 78"/>
            <p:cNvSpPr txBox="1"/>
            <p:nvPr/>
          </p:nvSpPr>
          <p:spPr>
            <a:xfrm>
              <a:off x="0" y="38100"/>
              <a:ext cx="728678" cy="513752"/>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H4: </a:t>
              </a:r>
              <a:r>
                <a:rPr lang="en-US" sz="1599">
                  <a:solidFill>
                    <a:srgbClr val="000000"/>
                  </a:solidFill>
                  <a:latin typeface="Open Sans 1"/>
                  <a:ea typeface="Open Sans 1"/>
                  <a:cs typeface="Open Sans 1"/>
                  <a:sym typeface="Open Sans 1"/>
                </a:rPr>
                <a:t>Well-designed, wellbeing-focused environments improve satisfaction and productivity.</a:t>
              </a:r>
            </a:p>
          </p:txBody>
        </p:sp>
      </p:grpSp>
      <p:grpSp>
        <p:nvGrpSpPr>
          <p:cNvPr id="79" name="Group 79"/>
          <p:cNvGrpSpPr/>
          <p:nvPr/>
        </p:nvGrpSpPr>
        <p:grpSpPr>
          <a:xfrm>
            <a:off x="8055091" y="7069508"/>
            <a:ext cx="2302202" cy="2483108"/>
            <a:chOff x="0" y="0"/>
            <a:chExt cx="724097" cy="780996"/>
          </a:xfrm>
        </p:grpSpPr>
        <p:sp>
          <p:nvSpPr>
            <p:cNvPr id="80" name="Freeform 80"/>
            <p:cNvSpPr/>
            <p:nvPr/>
          </p:nvSpPr>
          <p:spPr>
            <a:xfrm>
              <a:off x="0" y="0"/>
              <a:ext cx="724097" cy="780996"/>
            </a:xfrm>
            <a:custGeom>
              <a:avLst/>
              <a:gdLst/>
              <a:ahLst/>
              <a:cxnLst/>
              <a:rect l="l" t="t" r="r" b="b"/>
              <a:pathLst>
                <a:path w="724097" h="780996">
                  <a:moveTo>
                    <a:pt x="0" y="0"/>
                  </a:moveTo>
                  <a:lnTo>
                    <a:pt x="724097" y="0"/>
                  </a:lnTo>
                  <a:lnTo>
                    <a:pt x="724097" y="780996"/>
                  </a:lnTo>
                  <a:lnTo>
                    <a:pt x="0" y="780996"/>
                  </a:lnTo>
                  <a:close/>
                </a:path>
              </a:pathLst>
            </a:custGeom>
            <a:solidFill>
              <a:srgbClr val="FFFFFF"/>
            </a:solidFill>
            <a:ln w="38100" cap="sq">
              <a:solidFill>
                <a:srgbClr val="FFF3C2"/>
              </a:solidFill>
              <a:prstDash val="solid"/>
              <a:miter/>
            </a:ln>
          </p:spPr>
          <p:txBody>
            <a:bodyPr/>
            <a:lstStyle/>
            <a:p>
              <a:endParaRPr lang="en-US"/>
            </a:p>
          </p:txBody>
        </p:sp>
        <p:sp>
          <p:nvSpPr>
            <p:cNvPr id="81" name="TextBox 81"/>
            <p:cNvSpPr txBox="1"/>
            <p:nvPr/>
          </p:nvSpPr>
          <p:spPr>
            <a:xfrm>
              <a:off x="0" y="38100"/>
              <a:ext cx="724097" cy="742896"/>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0.71 correlation (atmosphere &amp; satisfaction)</a:t>
              </a:r>
            </a:p>
            <a:p>
              <a:pPr algn="l">
                <a:lnSpc>
                  <a:spcPts val="1599"/>
                </a:lnSpc>
              </a:pPr>
              <a:r>
                <a:rPr lang="en-US" sz="1599">
                  <a:solidFill>
                    <a:srgbClr val="000000"/>
                  </a:solidFill>
                  <a:latin typeface="Open Sans 1"/>
                  <a:ea typeface="Open Sans 1"/>
                  <a:cs typeface="Open Sans 1"/>
                  <a:sym typeface="Open Sans 1"/>
                </a:rPr>
                <a:t>• +79 % service quality</a:t>
              </a:r>
            </a:p>
            <a:p>
              <a:pPr algn="l">
                <a:lnSpc>
                  <a:spcPts val="1599"/>
                </a:lnSpc>
              </a:pPr>
              <a:r>
                <a:rPr lang="en-US" sz="1599">
                  <a:solidFill>
                    <a:srgbClr val="000000"/>
                  </a:solidFill>
                  <a:latin typeface="Open Sans 1"/>
                  <a:ea typeface="Open Sans 1"/>
                  <a:cs typeface="Open Sans 1"/>
                  <a:sym typeface="Open Sans 1"/>
                </a:rPr>
                <a:t>• Optimized layouts reduce distraction</a:t>
              </a:r>
            </a:p>
            <a:p>
              <a:pPr algn="l">
                <a:lnSpc>
                  <a:spcPts val="1599"/>
                </a:lnSpc>
              </a:pPr>
              <a:r>
                <a:rPr lang="en-US" sz="1599">
                  <a:solidFill>
                    <a:srgbClr val="000000"/>
                  </a:solidFill>
                  <a:latin typeface="Open Sans 1"/>
                  <a:ea typeface="Open Sans 1"/>
                  <a:cs typeface="Open Sans 1"/>
                  <a:sym typeface="Open Sans 1"/>
                </a:rPr>
                <a:t>• Natural light &amp; zoning boost focus</a:t>
              </a:r>
            </a:p>
            <a:p>
              <a:pPr algn="l">
                <a:lnSpc>
                  <a:spcPts val="1599"/>
                </a:lnSpc>
              </a:pPr>
              <a:r>
                <a:rPr lang="en-US" sz="1599">
                  <a:solidFill>
                    <a:srgbClr val="000000"/>
                  </a:solidFill>
                  <a:latin typeface="Open Sans 1"/>
                  <a:ea typeface="Open Sans 1"/>
                  <a:cs typeface="Open Sans 1"/>
                  <a:sym typeface="Open Sans 1"/>
                </a:rPr>
                <a:t>• Design fosters productive flow</a:t>
              </a:r>
            </a:p>
          </p:txBody>
        </p:sp>
      </p:grpSp>
      <p:grpSp>
        <p:nvGrpSpPr>
          <p:cNvPr id="82" name="Group 82"/>
          <p:cNvGrpSpPr/>
          <p:nvPr/>
        </p:nvGrpSpPr>
        <p:grpSpPr>
          <a:xfrm>
            <a:off x="10666388" y="3457194"/>
            <a:ext cx="2042310" cy="1006733"/>
            <a:chOff x="0" y="0"/>
            <a:chExt cx="642355" cy="316641"/>
          </a:xfrm>
        </p:grpSpPr>
        <p:sp>
          <p:nvSpPr>
            <p:cNvPr id="83" name="Freeform 83"/>
            <p:cNvSpPr/>
            <p:nvPr/>
          </p:nvSpPr>
          <p:spPr>
            <a:xfrm>
              <a:off x="0" y="0"/>
              <a:ext cx="642355" cy="316641"/>
            </a:xfrm>
            <a:custGeom>
              <a:avLst/>
              <a:gdLst/>
              <a:ahLst/>
              <a:cxnLst/>
              <a:rect l="l" t="t" r="r" b="b"/>
              <a:pathLst>
                <a:path w="642355" h="316641">
                  <a:moveTo>
                    <a:pt x="0" y="0"/>
                  </a:moveTo>
                  <a:lnTo>
                    <a:pt x="642355" y="0"/>
                  </a:lnTo>
                  <a:lnTo>
                    <a:pt x="642355" y="316641"/>
                  </a:lnTo>
                  <a:lnTo>
                    <a:pt x="0" y="316641"/>
                  </a:lnTo>
                  <a:close/>
                </a:path>
              </a:pathLst>
            </a:custGeom>
            <a:solidFill>
              <a:srgbClr val="FFE67E"/>
            </a:solidFill>
          </p:spPr>
          <p:txBody>
            <a:bodyPr/>
            <a:lstStyle/>
            <a:p>
              <a:endParaRPr lang="en-US"/>
            </a:p>
          </p:txBody>
        </p:sp>
        <p:sp>
          <p:nvSpPr>
            <p:cNvPr id="84" name="TextBox 84"/>
            <p:cNvSpPr txBox="1"/>
            <p:nvPr/>
          </p:nvSpPr>
          <p:spPr>
            <a:xfrm>
              <a:off x="0" y="38100"/>
              <a:ext cx="642355" cy="278541"/>
            </a:xfrm>
            <a:prstGeom prst="rect">
              <a:avLst/>
            </a:prstGeom>
          </p:spPr>
          <p:txBody>
            <a:bodyPr lIns="50800" tIns="50800" rIns="50800" bIns="50800" rtlCol="0" anchor="ctr"/>
            <a:lstStyle/>
            <a:p>
              <a:pPr algn="ctr">
                <a:lnSpc>
                  <a:spcPts val="1599"/>
                </a:lnSpc>
              </a:pPr>
              <a:r>
                <a:rPr lang="en-US" sz="1599">
                  <a:solidFill>
                    <a:srgbClr val="000000"/>
                  </a:solidFill>
                  <a:latin typeface="Open Sans 1"/>
                  <a:ea typeface="Open Sans 1"/>
                  <a:cs typeface="Open Sans 1"/>
                  <a:sym typeface="Open Sans 1"/>
                </a:rPr>
                <a:t>2.2 Can coworking models increase the satisfaction of employees?</a:t>
              </a:r>
            </a:p>
          </p:txBody>
        </p:sp>
      </p:grpSp>
      <p:grpSp>
        <p:nvGrpSpPr>
          <p:cNvPr id="85" name="Group 85"/>
          <p:cNvGrpSpPr/>
          <p:nvPr/>
        </p:nvGrpSpPr>
        <p:grpSpPr>
          <a:xfrm>
            <a:off x="10386276" y="4479264"/>
            <a:ext cx="2602534" cy="406658"/>
            <a:chOff x="0" y="0"/>
            <a:chExt cx="685441" cy="107103"/>
          </a:xfrm>
        </p:grpSpPr>
        <p:sp>
          <p:nvSpPr>
            <p:cNvPr id="86" name="Freeform 86"/>
            <p:cNvSpPr/>
            <p:nvPr/>
          </p:nvSpPr>
          <p:spPr>
            <a:xfrm>
              <a:off x="0" y="0"/>
              <a:ext cx="685441" cy="107103"/>
            </a:xfrm>
            <a:custGeom>
              <a:avLst/>
              <a:gdLst/>
              <a:ahLst/>
              <a:cxnLst/>
              <a:rect l="l" t="t" r="r" b="b"/>
              <a:pathLst>
                <a:path w="685441" h="107103">
                  <a:moveTo>
                    <a:pt x="0" y="0"/>
                  </a:moveTo>
                  <a:lnTo>
                    <a:pt x="685441" y="0"/>
                  </a:lnTo>
                  <a:lnTo>
                    <a:pt x="685441" y="107103"/>
                  </a:lnTo>
                  <a:lnTo>
                    <a:pt x="0" y="107103"/>
                  </a:lnTo>
                  <a:close/>
                </a:path>
              </a:pathLst>
            </a:custGeom>
          </p:spPr>
          <p:txBody>
            <a:bodyPr/>
            <a:lstStyle/>
            <a:p>
              <a:endParaRPr lang="en-US"/>
            </a:p>
          </p:txBody>
        </p:sp>
        <p:sp>
          <p:nvSpPr>
            <p:cNvPr id="87" name="TextBox 87"/>
            <p:cNvSpPr txBox="1"/>
            <p:nvPr/>
          </p:nvSpPr>
          <p:spPr>
            <a:xfrm>
              <a:off x="0" y="38100"/>
              <a:ext cx="685441"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employee experience</a:t>
              </a:r>
            </a:p>
          </p:txBody>
        </p:sp>
      </p:grpSp>
      <p:grpSp>
        <p:nvGrpSpPr>
          <p:cNvPr id="88" name="Group 88"/>
          <p:cNvGrpSpPr/>
          <p:nvPr/>
        </p:nvGrpSpPr>
        <p:grpSpPr>
          <a:xfrm>
            <a:off x="10651850" y="4904972"/>
            <a:ext cx="2068153" cy="2164536"/>
            <a:chOff x="0" y="0"/>
            <a:chExt cx="650483" cy="680798"/>
          </a:xfrm>
        </p:grpSpPr>
        <p:sp>
          <p:nvSpPr>
            <p:cNvPr id="89" name="Freeform 89"/>
            <p:cNvSpPr/>
            <p:nvPr/>
          </p:nvSpPr>
          <p:spPr>
            <a:xfrm>
              <a:off x="0" y="0"/>
              <a:ext cx="650483" cy="680798"/>
            </a:xfrm>
            <a:custGeom>
              <a:avLst/>
              <a:gdLst/>
              <a:ahLst/>
              <a:cxnLst/>
              <a:rect l="l" t="t" r="r" b="b"/>
              <a:pathLst>
                <a:path w="650483" h="680798">
                  <a:moveTo>
                    <a:pt x="0" y="0"/>
                  </a:moveTo>
                  <a:lnTo>
                    <a:pt x="650483" y="0"/>
                  </a:lnTo>
                  <a:lnTo>
                    <a:pt x="650483" y="680798"/>
                  </a:lnTo>
                  <a:lnTo>
                    <a:pt x="0" y="680798"/>
                  </a:lnTo>
                  <a:close/>
                </a:path>
              </a:pathLst>
            </a:custGeom>
            <a:solidFill>
              <a:srgbClr val="FFF3C2"/>
            </a:solidFill>
            <a:ln cap="sq">
              <a:noFill/>
              <a:prstDash val="solid"/>
              <a:miter/>
            </a:ln>
          </p:spPr>
          <p:txBody>
            <a:bodyPr/>
            <a:lstStyle/>
            <a:p>
              <a:endParaRPr lang="en-US"/>
            </a:p>
          </p:txBody>
        </p:sp>
        <p:sp>
          <p:nvSpPr>
            <p:cNvPr id="90" name="TextBox 90"/>
            <p:cNvSpPr txBox="1"/>
            <p:nvPr/>
          </p:nvSpPr>
          <p:spPr>
            <a:xfrm>
              <a:off x="0" y="38100"/>
              <a:ext cx="650483" cy="642698"/>
            </a:xfrm>
            <a:prstGeom prst="rect">
              <a:avLst/>
            </a:prstGeom>
          </p:spPr>
          <p:txBody>
            <a:bodyPr lIns="50800" tIns="50800" rIns="50800" bIns="50800" rtlCol="0" anchor="ctr"/>
            <a:lstStyle/>
            <a:p>
              <a:pPr algn="ctr">
                <a:lnSpc>
                  <a:spcPts val="1599"/>
                </a:lnSpc>
              </a:pPr>
              <a:r>
                <a:rPr lang="en-US" sz="1599" b="1">
                  <a:solidFill>
                    <a:srgbClr val="000000"/>
                  </a:solidFill>
                  <a:latin typeface="Open Sans 1 Bold"/>
                  <a:ea typeface="Open Sans 1 Bold"/>
                  <a:cs typeface="Open Sans 1 Bold"/>
                  <a:sym typeface="Open Sans 1 Bold"/>
                </a:rPr>
                <a:t>H5:</a:t>
              </a:r>
              <a:r>
                <a:rPr lang="en-US" sz="1599">
                  <a:solidFill>
                    <a:srgbClr val="000000"/>
                  </a:solidFill>
                  <a:latin typeface="Open Sans 1"/>
                  <a:ea typeface="Open Sans 1"/>
                  <a:cs typeface="Open Sans 1"/>
                  <a:sym typeface="Open Sans 1"/>
                </a:rPr>
                <a:t> Coworking environments enhance wellbeing, autonomy, and sense of belonging.</a:t>
              </a:r>
            </a:p>
          </p:txBody>
        </p:sp>
      </p:grpSp>
      <p:grpSp>
        <p:nvGrpSpPr>
          <p:cNvPr id="91" name="Group 91"/>
          <p:cNvGrpSpPr/>
          <p:nvPr/>
        </p:nvGrpSpPr>
        <p:grpSpPr>
          <a:xfrm>
            <a:off x="10651850" y="7035495"/>
            <a:ext cx="2068153" cy="2517121"/>
            <a:chOff x="0" y="0"/>
            <a:chExt cx="650483" cy="791694"/>
          </a:xfrm>
        </p:grpSpPr>
        <p:sp>
          <p:nvSpPr>
            <p:cNvPr id="92" name="Freeform 92"/>
            <p:cNvSpPr/>
            <p:nvPr/>
          </p:nvSpPr>
          <p:spPr>
            <a:xfrm>
              <a:off x="0" y="0"/>
              <a:ext cx="650483" cy="791694"/>
            </a:xfrm>
            <a:custGeom>
              <a:avLst/>
              <a:gdLst/>
              <a:ahLst/>
              <a:cxnLst/>
              <a:rect l="l" t="t" r="r" b="b"/>
              <a:pathLst>
                <a:path w="650483" h="791694">
                  <a:moveTo>
                    <a:pt x="0" y="0"/>
                  </a:moveTo>
                  <a:lnTo>
                    <a:pt x="650483" y="0"/>
                  </a:lnTo>
                  <a:lnTo>
                    <a:pt x="650483" y="791694"/>
                  </a:lnTo>
                  <a:lnTo>
                    <a:pt x="0" y="791694"/>
                  </a:lnTo>
                  <a:close/>
                </a:path>
              </a:pathLst>
            </a:custGeom>
            <a:solidFill>
              <a:srgbClr val="FFFFFF"/>
            </a:solidFill>
            <a:ln w="38100" cap="sq">
              <a:solidFill>
                <a:srgbClr val="FFF3C2"/>
              </a:solidFill>
              <a:prstDash val="solid"/>
              <a:miter/>
            </a:ln>
          </p:spPr>
          <p:txBody>
            <a:bodyPr/>
            <a:lstStyle/>
            <a:p>
              <a:endParaRPr lang="en-US"/>
            </a:p>
          </p:txBody>
        </p:sp>
        <p:sp>
          <p:nvSpPr>
            <p:cNvPr id="93" name="TextBox 93"/>
            <p:cNvSpPr txBox="1"/>
            <p:nvPr/>
          </p:nvSpPr>
          <p:spPr>
            <a:xfrm>
              <a:off x="0" y="38100"/>
              <a:ext cx="650483" cy="753594"/>
            </a:xfrm>
            <a:prstGeom prst="rect">
              <a:avLst/>
            </a:prstGeom>
          </p:spPr>
          <p:txBody>
            <a:bodyPr lIns="50800" tIns="50800" rIns="50800" bIns="50800" rtlCol="0" anchor="ctr"/>
            <a:lstStyle/>
            <a:p>
              <a:pPr algn="l">
                <a:lnSpc>
                  <a:spcPts val="1599"/>
                </a:lnSpc>
              </a:pPr>
              <a:r>
                <a:rPr lang="en-US" sz="1599">
                  <a:solidFill>
                    <a:srgbClr val="000000"/>
                  </a:solidFill>
                  <a:latin typeface="Open Sans 1"/>
                  <a:ea typeface="Open Sans 1"/>
                  <a:cs typeface="Open Sans 1"/>
                  <a:sym typeface="Open Sans 1"/>
                </a:rPr>
                <a:t>• Higher wellbeing vs home or office</a:t>
              </a:r>
            </a:p>
            <a:p>
              <a:pPr algn="l">
                <a:lnSpc>
                  <a:spcPts val="1599"/>
                </a:lnSpc>
              </a:pPr>
              <a:r>
                <a:rPr lang="en-US" sz="1599">
                  <a:solidFill>
                    <a:srgbClr val="000000"/>
                  </a:solidFill>
                  <a:latin typeface="Open Sans 1"/>
                  <a:ea typeface="Open Sans 1"/>
                  <a:cs typeface="Open Sans 1"/>
                  <a:sym typeface="Open Sans 1"/>
                </a:rPr>
                <a:t>• Autonomy increases motivation</a:t>
              </a:r>
            </a:p>
            <a:p>
              <a:pPr algn="l">
                <a:lnSpc>
                  <a:spcPts val="1599"/>
                </a:lnSpc>
              </a:pPr>
              <a:r>
                <a:rPr lang="en-US" sz="1599">
                  <a:solidFill>
                    <a:srgbClr val="000000"/>
                  </a:solidFill>
                  <a:latin typeface="Open Sans 1"/>
                  <a:ea typeface="Open Sans 1"/>
                  <a:cs typeface="Open Sans 1"/>
                  <a:sym typeface="Open Sans 1"/>
                </a:rPr>
                <a:t>• Strong community &amp; meaningful interactions</a:t>
              </a:r>
            </a:p>
            <a:p>
              <a:pPr algn="l">
                <a:lnSpc>
                  <a:spcPts val="1599"/>
                </a:lnSpc>
              </a:pPr>
              <a:r>
                <a:rPr lang="en-US" sz="1599">
                  <a:solidFill>
                    <a:srgbClr val="000000"/>
                  </a:solidFill>
                  <a:latin typeface="Open Sans 1"/>
                  <a:ea typeface="Open Sans 1"/>
                  <a:cs typeface="Open Sans 1"/>
                  <a:sym typeface="Open Sans 1"/>
                </a:rPr>
                <a:t>• Greater satisfaction and performance</a:t>
              </a:r>
            </a:p>
          </p:txBody>
        </p:sp>
      </p:grpSp>
      <p:grpSp>
        <p:nvGrpSpPr>
          <p:cNvPr id="94" name="Group 94"/>
          <p:cNvGrpSpPr/>
          <p:nvPr/>
        </p:nvGrpSpPr>
        <p:grpSpPr>
          <a:xfrm>
            <a:off x="12988810" y="4736842"/>
            <a:ext cx="2602534" cy="406658"/>
            <a:chOff x="0" y="0"/>
            <a:chExt cx="685441" cy="107103"/>
          </a:xfrm>
        </p:grpSpPr>
        <p:sp>
          <p:nvSpPr>
            <p:cNvPr id="95" name="Freeform 95"/>
            <p:cNvSpPr/>
            <p:nvPr/>
          </p:nvSpPr>
          <p:spPr>
            <a:xfrm>
              <a:off x="0" y="0"/>
              <a:ext cx="685441" cy="107103"/>
            </a:xfrm>
            <a:custGeom>
              <a:avLst/>
              <a:gdLst/>
              <a:ahLst/>
              <a:cxnLst/>
              <a:rect l="l" t="t" r="r" b="b"/>
              <a:pathLst>
                <a:path w="685441" h="107103">
                  <a:moveTo>
                    <a:pt x="0" y="0"/>
                  </a:moveTo>
                  <a:lnTo>
                    <a:pt x="685441" y="0"/>
                  </a:lnTo>
                  <a:lnTo>
                    <a:pt x="685441" y="107103"/>
                  </a:lnTo>
                  <a:lnTo>
                    <a:pt x="0" y="107103"/>
                  </a:lnTo>
                  <a:close/>
                </a:path>
              </a:pathLst>
            </a:custGeom>
          </p:spPr>
          <p:txBody>
            <a:bodyPr/>
            <a:lstStyle/>
            <a:p>
              <a:endParaRPr lang="en-US"/>
            </a:p>
          </p:txBody>
        </p:sp>
        <p:sp>
          <p:nvSpPr>
            <p:cNvPr id="96" name="TextBox 96"/>
            <p:cNvSpPr txBox="1"/>
            <p:nvPr/>
          </p:nvSpPr>
          <p:spPr>
            <a:xfrm>
              <a:off x="0" y="38100"/>
              <a:ext cx="685441"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industry influence</a:t>
              </a:r>
            </a:p>
          </p:txBody>
        </p:sp>
      </p:grpSp>
      <p:grpSp>
        <p:nvGrpSpPr>
          <p:cNvPr id="97" name="Group 97"/>
          <p:cNvGrpSpPr/>
          <p:nvPr/>
        </p:nvGrpSpPr>
        <p:grpSpPr>
          <a:xfrm>
            <a:off x="15291480" y="4963672"/>
            <a:ext cx="2602534" cy="406658"/>
            <a:chOff x="0" y="0"/>
            <a:chExt cx="685441" cy="107103"/>
          </a:xfrm>
        </p:grpSpPr>
        <p:sp>
          <p:nvSpPr>
            <p:cNvPr id="98" name="Freeform 98"/>
            <p:cNvSpPr/>
            <p:nvPr/>
          </p:nvSpPr>
          <p:spPr>
            <a:xfrm>
              <a:off x="0" y="0"/>
              <a:ext cx="685441" cy="107103"/>
            </a:xfrm>
            <a:custGeom>
              <a:avLst/>
              <a:gdLst/>
              <a:ahLst/>
              <a:cxnLst/>
              <a:rect l="l" t="t" r="r" b="b"/>
              <a:pathLst>
                <a:path w="685441" h="107103">
                  <a:moveTo>
                    <a:pt x="0" y="0"/>
                  </a:moveTo>
                  <a:lnTo>
                    <a:pt x="685441" y="0"/>
                  </a:lnTo>
                  <a:lnTo>
                    <a:pt x="685441" y="107103"/>
                  </a:lnTo>
                  <a:lnTo>
                    <a:pt x="0" y="107103"/>
                  </a:lnTo>
                  <a:close/>
                </a:path>
              </a:pathLst>
            </a:custGeom>
          </p:spPr>
          <p:txBody>
            <a:bodyPr/>
            <a:lstStyle/>
            <a:p>
              <a:endParaRPr lang="en-US"/>
            </a:p>
          </p:txBody>
        </p:sp>
        <p:sp>
          <p:nvSpPr>
            <p:cNvPr id="99" name="TextBox 99"/>
            <p:cNvSpPr txBox="1"/>
            <p:nvPr/>
          </p:nvSpPr>
          <p:spPr>
            <a:xfrm>
              <a:off x="0" y="38100"/>
              <a:ext cx="685441" cy="69003"/>
            </a:xfrm>
            <a:prstGeom prst="rect">
              <a:avLst/>
            </a:prstGeom>
          </p:spPr>
          <p:txBody>
            <a:bodyPr lIns="50800" tIns="50800" rIns="50800" bIns="50800" rtlCol="0" anchor="ctr"/>
            <a:lstStyle/>
            <a:p>
              <a:pPr algn="ctr">
                <a:lnSpc>
                  <a:spcPts val="1599"/>
                </a:lnSpc>
              </a:pPr>
              <a:r>
                <a:rPr lang="en-US" sz="1599" b="1">
                  <a:solidFill>
                    <a:srgbClr val="FDD344"/>
                  </a:solidFill>
                  <a:latin typeface="Open Sans 2 Bold"/>
                  <a:ea typeface="Open Sans 2 Bold"/>
                  <a:cs typeface="Open Sans 2 Bold"/>
                  <a:sym typeface="Open Sans 2 Bold"/>
                </a:rPr>
                <a:t>economy of scale</a:t>
              </a:r>
            </a:p>
          </p:txBody>
        </p:sp>
      </p:grpSp>
      <p:sp>
        <p:nvSpPr>
          <p:cNvPr id="100" name="AutoShape 100"/>
          <p:cNvSpPr/>
          <p:nvPr/>
        </p:nvSpPr>
        <p:spPr>
          <a:xfrm>
            <a:off x="9144000" y="2059136"/>
            <a:ext cx="0" cy="314325"/>
          </a:xfrm>
          <a:prstGeom prst="line">
            <a:avLst/>
          </a:prstGeom>
          <a:ln w="38100" cap="flat">
            <a:solidFill>
              <a:srgbClr val="000000"/>
            </a:solidFill>
            <a:prstDash val="solid"/>
            <a:headEnd type="none" w="sm" len="sm"/>
            <a:tailEnd type="arrow" w="med" len="sm"/>
          </a:ln>
        </p:spPr>
        <p:txBody>
          <a:bodyPr/>
          <a:lstStyle/>
          <a:p>
            <a:endParaRPr lang="en-US"/>
          </a:p>
        </p:txBody>
      </p:sp>
      <p:sp>
        <p:nvSpPr>
          <p:cNvPr id="101" name="AutoShape 101"/>
          <p:cNvSpPr/>
          <p:nvPr/>
        </p:nvSpPr>
        <p:spPr>
          <a:xfrm flipH="1">
            <a:off x="4680323" y="2059136"/>
            <a:ext cx="0" cy="304800"/>
          </a:xfrm>
          <a:prstGeom prst="line">
            <a:avLst/>
          </a:prstGeom>
          <a:ln w="38100" cap="flat">
            <a:solidFill>
              <a:srgbClr val="000000"/>
            </a:solidFill>
            <a:prstDash val="solid"/>
            <a:headEnd type="none" w="sm" len="sm"/>
            <a:tailEnd type="arrow" w="med" len="sm"/>
          </a:ln>
        </p:spPr>
        <p:txBody>
          <a:bodyPr/>
          <a:lstStyle/>
          <a:p>
            <a:endParaRPr lang="en-US"/>
          </a:p>
        </p:txBody>
      </p:sp>
      <p:sp>
        <p:nvSpPr>
          <p:cNvPr id="102" name="AutoShape 102"/>
          <p:cNvSpPr/>
          <p:nvPr/>
        </p:nvSpPr>
        <p:spPr>
          <a:xfrm>
            <a:off x="13808428" y="2059136"/>
            <a:ext cx="18318" cy="314325"/>
          </a:xfrm>
          <a:prstGeom prst="line">
            <a:avLst/>
          </a:prstGeom>
          <a:ln w="38100" cap="flat">
            <a:solidFill>
              <a:srgbClr val="000000"/>
            </a:solidFill>
            <a:prstDash val="solid"/>
            <a:headEnd type="none" w="sm" len="sm"/>
            <a:tailEnd type="arrow" w="med" len="sm"/>
          </a:ln>
        </p:spPr>
        <p:txBody>
          <a:bodyPr/>
          <a:lstStyle/>
          <a:p>
            <a:endParaRPr lang="en-US"/>
          </a:p>
        </p:txBody>
      </p:sp>
      <p:sp>
        <p:nvSpPr>
          <p:cNvPr id="103" name="AutoShape 103"/>
          <p:cNvSpPr/>
          <p:nvPr/>
        </p:nvSpPr>
        <p:spPr>
          <a:xfrm flipH="1">
            <a:off x="1572748" y="3009519"/>
            <a:ext cx="0" cy="447675"/>
          </a:xfrm>
          <a:prstGeom prst="line">
            <a:avLst/>
          </a:prstGeom>
          <a:ln w="38100" cap="flat">
            <a:solidFill>
              <a:srgbClr val="FDD344"/>
            </a:solidFill>
            <a:prstDash val="solid"/>
            <a:headEnd type="none" w="sm" len="sm"/>
            <a:tailEnd type="arrow" w="med" len="sm"/>
          </a:ln>
        </p:spPr>
        <p:txBody>
          <a:bodyPr/>
          <a:lstStyle/>
          <a:p>
            <a:endParaRPr lang="en-US"/>
          </a:p>
        </p:txBody>
      </p:sp>
      <p:sp>
        <p:nvSpPr>
          <p:cNvPr id="104" name="AutoShape 104"/>
          <p:cNvSpPr/>
          <p:nvPr/>
        </p:nvSpPr>
        <p:spPr>
          <a:xfrm>
            <a:off x="4056936"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05" name="AutoShape 105"/>
          <p:cNvSpPr/>
          <p:nvPr/>
        </p:nvSpPr>
        <p:spPr>
          <a:xfrm>
            <a:off x="6443079"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06" name="AutoShape 106"/>
          <p:cNvSpPr/>
          <p:nvPr/>
        </p:nvSpPr>
        <p:spPr>
          <a:xfrm>
            <a:off x="9225242"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07" name="AutoShape 107"/>
          <p:cNvSpPr/>
          <p:nvPr/>
        </p:nvSpPr>
        <p:spPr>
          <a:xfrm>
            <a:off x="11668493"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08" name="AutoShape 108"/>
          <p:cNvSpPr/>
          <p:nvPr/>
        </p:nvSpPr>
        <p:spPr>
          <a:xfrm>
            <a:off x="14278445"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09" name="AutoShape 109"/>
          <p:cNvSpPr/>
          <p:nvPr/>
        </p:nvSpPr>
        <p:spPr>
          <a:xfrm>
            <a:off x="16611797" y="2945773"/>
            <a:ext cx="0" cy="511421"/>
          </a:xfrm>
          <a:prstGeom prst="line">
            <a:avLst/>
          </a:prstGeom>
          <a:ln w="38100" cap="flat">
            <a:solidFill>
              <a:srgbClr val="FDD344"/>
            </a:solidFill>
            <a:prstDash val="solid"/>
            <a:headEnd type="none" w="sm" len="sm"/>
            <a:tailEnd type="arrow" w="med" len="sm"/>
          </a:ln>
        </p:spPr>
        <p:txBody>
          <a:bodyPr/>
          <a:lstStyle/>
          <a:p>
            <a:endParaRPr lang="en-US"/>
          </a:p>
        </p:txBody>
      </p:sp>
      <p:sp>
        <p:nvSpPr>
          <p:cNvPr id="110" name="Freeform 110"/>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7304" y="2215909"/>
            <a:ext cx="17469363" cy="4546621"/>
            <a:chOff x="0" y="0"/>
            <a:chExt cx="4600985" cy="1197464"/>
          </a:xfrm>
        </p:grpSpPr>
        <p:sp>
          <p:nvSpPr>
            <p:cNvPr id="3" name="Freeform 3"/>
            <p:cNvSpPr/>
            <p:nvPr/>
          </p:nvSpPr>
          <p:spPr>
            <a:xfrm>
              <a:off x="0" y="0"/>
              <a:ext cx="4600985" cy="1197464"/>
            </a:xfrm>
            <a:custGeom>
              <a:avLst/>
              <a:gdLst/>
              <a:ahLst/>
              <a:cxnLst/>
              <a:rect l="l" t="t" r="r" b="b"/>
              <a:pathLst>
                <a:path w="4600985" h="1197464">
                  <a:moveTo>
                    <a:pt x="0" y="0"/>
                  </a:moveTo>
                  <a:lnTo>
                    <a:pt x="4600985" y="0"/>
                  </a:lnTo>
                  <a:lnTo>
                    <a:pt x="4600985" y="1197464"/>
                  </a:lnTo>
                  <a:lnTo>
                    <a:pt x="0" y="1197464"/>
                  </a:lnTo>
                  <a:close/>
                </a:path>
              </a:pathLst>
            </a:custGeom>
          </p:spPr>
          <p:txBody>
            <a:bodyPr/>
            <a:lstStyle/>
            <a:p>
              <a:endParaRPr lang="en-US"/>
            </a:p>
          </p:txBody>
        </p:sp>
        <p:sp>
          <p:nvSpPr>
            <p:cNvPr id="4" name="TextBox 4"/>
            <p:cNvSpPr txBox="1"/>
            <p:nvPr/>
          </p:nvSpPr>
          <p:spPr>
            <a:xfrm>
              <a:off x="0" y="-57150"/>
              <a:ext cx="4600985" cy="1254614"/>
            </a:xfrm>
            <a:prstGeom prst="rect">
              <a:avLst/>
            </a:prstGeom>
          </p:spPr>
          <p:txBody>
            <a:bodyPr lIns="50800" tIns="50800" rIns="50800" bIns="50800" rtlCol="0" anchor="ctr"/>
            <a:lstStyle/>
            <a:p>
              <a:pPr algn="just">
                <a:lnSpc>
                  <a:spcPts val="3212"/>
                </a:lnSpc>
              </a:pPr>
              <a:r>
                <a:rPr lang="en-US" sz="2200" b="1">
                  <a:solidFill>
                    <a:srgbClr val="000000"/>
                  </a:solidFill>
                  <a:latin typeface="Open Sans 1 Bold"/>
                  <a:ea typeface="Open Sans 1 Bold"/>
                  <a:cs typeface="Open Sans 1 Bold"/>
                  <a:sym typeface="Open Sans 1 Bold"/>
                </a:rPr>
                <a:t>1.1 Are coworking operations more environmentally sustainable than traditional office methods?</a:t>
              </a:r>
            </a:p>
            <a:p>
              <a:pPr algn="just">
                <a:lnSpc>
                  <a:spcPts val="876"/>
                </a:lnSpc>
              </a:pPr>
              <a:endParaRPr lang="en-US" sz="2200" b="1">
                <a:solidFill>
                  <a:srgbClr val="000000"/>
                </a:solidFill>
                <a:latin typeface="Open Sans 1 Bold"/>
                <a:ea typeface="Open Sans 1 Bold"/>
                <a:cs typeface="Open Sans 1 Bold"/>
                <a:sym typeface="Open Sans 1 Bold"/>
              </a:endParaRPr>
            </a:p>
            <a:p>
              <a:pPr marL="474981" lvl="1" indent="-237491" algn="just">
                <a:lnSpc>
                  <a:spcPts val="3212"/>
                </a:lnSpc>
                <a:buFont typeface="Arial"/>
                <a:buChar char="•"/>
              </a:pPr>
              <a:r>
                <a:rPr lang="en-US" sz="2200" b="1">
                  <a:solidFill>
                    <a:srgbClr val="000000"/>
                  </a:solidFill>
                  <a:latin typeface="Open Sans 1 Bold"/>
                  <a:ea typeface="Open Sans 1 Bold"/>
                  <a:cs typeface="Open Sans 1 Bold"/>
                  <a:sym typeface="Open Sans 1 Bold"/>
                </a:rPr>
                <a:t>Carbon intensity gap</a:t>
              </a:r>
              <a:r>
                <a:rPr lang="en-US" sz="2200">
                  <a:solidFill>
                    <a:srgbClr val="000000"/>
                  </a:solidFill>
                  <a:latin typeface="Open Sans 1"/>
                  <a:ea typeface="Open Sans 1"/>
                  <a:cs typeface="Open Sans 1"/>
                  <a:sym typeface="Open Sans 1"/>
                </a:rPr>
                <a:t> (utilization-adjusted). Across ~100 sites, flex averaged </a:t>
              </a:r>
              <a:r>
                <a:rPr lang="en-US" sz="2200" b="1">
                  <a:solidFill>
                    <a:srgbClr val="000000"/>
                  </a:solidFill>
                  <a:latin typeface="Open Sans 1 Bold"/>
                  <a:ea typeface="Open Sans 1 Bold"/>
                  <a:cs typeface="Open Sans 1 Bold"/>
                  <a:sym typeface="Open Sans 1 Bold"/>
                </a:rPr>
                <a:t>11 CO₂e “units”/m²</a:t>
              </a:r>
              <a:r>
                <a:rPr lang="en-US" sz="2200">
                  <a:solidFill>
                    <a:srgbClr val="000000"/>
                  </a:solidFill>
                  <a:latin typeface="Open Sans 1"/>
                  <a:ea typeface="Open Sans 1"/>
                  <a:cs typeface="Open Sans 1"/>
                  <a:sym typeface="Open Sans 1"/>
                </a:rPr>
                <a:t> vs leased 49; on a per-occupier basis leased space was ~</a:t>
              </a:r>
              <a:r>
                <a:rPr lang="en-US" sz="2200" b="1">
                  <a:solidFill>
                    <a:srgbClr val="000000"/>
                  </a:solidFill>
                  <a:latin typeface="Open Sans 1 Bold"/>
                  <a:ea typeface="Open Sans 1 Bold"/>
                  <a:cs typeface="Open Sans 1 Bold"/>
                  <a:sym typeface="Open Sans 1 Bold"/>
                </a:rPr>
                <a:t>3×</a:t>
              </a:r>
              <a:r>
                <a:rPr lang="en-US" sz="2200">
                  <a:solidFill>
                    <a:srgbClr val="000000"/>
                  </a:solidFill>
                  <a:latin typeface="Open Sans 1"/>
                  <a:ea typeface="Open Sans 1"/>
                  <a:cs typeface="Open Sans 1"/>
                  <a:sym typeface="Open Sans 1"/>
                </a:rPr>
                <a:t> more carbon-intensive due to unused desks and oversizing. </a:t>
              </a:r>
              <a:r>
                <a:rPr lang="en-US" sz="2200" b="1">
                  <a:solidFill>
                    <a:srgbClr val="000000"/>
                  </a:solidFill>
                  <a:latin typeface="Open Sans 1 Bold"/>
                  <a:ea typeface="Open Sans 1 Bold"/>
                  <a:cs typeface="Open Sans 1 Bold"/>
                  <a:sym typeface="Open Sans 1 Bold"/>
                </a:rPr>
                <a:t>Each unused desk ≈ </a:t>
              </a:r>
              <a:r>
                <a:rPr lang="en-US" sz="2200">
                  <a:solidFill>
                    <a:srgbClr val="000000"/>
                  </a:solidFill>
                  <a:latin typeface="Open Sans 1"/>
                  <a:ea typeface="Open Sans 1"/>
                  <a:cs typeface="Open Sans 1"/>
                  <a:sym typeface="Open Sans 1"/>
                </a:rPr>
                <a:t>~</a:t>
              </a:r>
              <a:r>
                <a:rPr lang="en-US" sz="2200" b="1">
                  <a:solidFill>
                    <a:srgbClr val="000000"/>
                  </a:solidFill>
                  <a:latin typeface="Open Sans 1 Bold"/>
                  <a:ea typeface="Open Sans 1 Bold"/>
                  <a:cs typeface="Open Sans 1 Bold"/>
                  <a:sym typeface="Open Sans 1 Bold"/>
                </a:rPr>
                <a:t>1 t CO₂/year</a:t>
              </a:r>
              <a:r>
                <a:rPr lang="en-US" sz="2200">
                  <a:solidFill>
                    <a:srgbClr val="000000"/>
                  </a:solidFill>
                  <a:latin typeface="Open Sans 1"/>
                  <a:ea typeface="Open Sans 1"/>
                  <a:cs typeface="Open Sans 1"/>
                  <a:sym typeface="Open Sans 1"/>
                </a:rPr>
                <a:t>, highlighting why utilization is decisive.</a:t>
              </a:r>
            </a:p>
            <a:p>
              <a:pPr algn="just">
                <a:lnSpc>
                  <a:spcPts val="876"/>
                </a:lnSpc>
              </a:pPr>
              <a:endParaRPr lang="en-US" sz="2200">
                <a:solidFill>
                  <a:srgbClr val="000000"/>
                </a:solidFill>
                <a:latin typeface="Open Sans 1"/>
                <a:ea typeface="Open Sans 1"/>
                <a:cs typeface="Open Sans 1"/>
                <a:sym typeface="Open Sans 1"/>
              </a:endParaRPr>
            </a:p>
            <a:p>
              <a:pPr marL="474981" lvl="1" indent="-237491" algn="just">
                <a:lnSpc>
                  <a:spcPts val="3212"/>
                </a:lnSpc>
                <a:buFont typeface="Arial"/>
                <a:buChar char="•"/>
              </a:pPr>
              <a:r>
                <a:rPr lang="en-US" sz="2200" b="1">
                  <a:solidFill>
                    <a:srgbClr val="000000"/>
                  </a:solidFill>
                  <a:latin typeface="Open Sans 1 Bold"/>
                  <a:ea typeface="Open Sans 1 Bold"/>
                  <a:cs typeface="Open Sans 1 Bold"/>
                  <a:sym typeface="Open Sans 1 Bold"/>
                </a:rPr>
                <a:t>Urban proximity reduces commute CO₂.</a:t>
              </a:r>
              <a:r>
                <a:rPr lang="en-US" sz="2200">
                  <a:solidFill>
                    <a:srgbClr val="000000"/>
                  </a:solidFill>
                  <a:latin typeface="Open Sans 1"/>
                  <a:ea typeface="Open Sans 1"/>
                  <a:cs typeface="Open Sans 1"/>
                  <a:sym typeface="Open Sans 1"/>
                </a:rPr>
                <a:t> Swiss data show ~</a:t>
              </a:r>
              <a:r>
                <a:rPr lang="en-US" sz="2200" b="1">
                  <a:solidFill>
                    <a:srgbClr val="000000"/>
                  </a:solidFill>
                  <a:latin typeface="Open Sans 1 Bold"/>
                  <a:ea typeface="Open Sans 1 Bold"/>
                  <a:cs typeface="Open Sans 1 Bold"/>
                  <a:sym typeface="Open Sans 1 Bold"/>
                </a:rPr>
                <a:t>350 kg CO₂/year</a:t>
              </a:r>
              <a:r>
                <a:rPr lang="en-US" sz="2200">
                  <a:solidFill>
                    <a:srgbClr val="000000"/>
                  </a:solidFill>
                  <a:latin typeface="Open Sans 1"/>
                  <a:ea typeface="Open Sans 1"/>
                  <a:cs typeface="Open Sans 1"/>
                  <a:sym typeface="Open Sans 1"/>
                </a:rPr>
                <a:t> for urban coworkers vs ~</a:t>
              </a:r>
              <a:r>
                <a:rPr lang="en-US" sz="2200" b="1">
                  <a:solidFill>
                    <a:srgbClr val="000000"/>
                  </a:solidFill>
                  <a:latin typeface="Open Sans 1 Bold"/>
                  <a:ea typeface="Open Sans 1 Bold"/>
                  <a:cs typeface="Open Sans 1 Bold"/>
                  <a:sym typeface="Open Sans 1 Bold"/>
                </a:rPr>
                <a:t>940 kg</a:t>
              </a:r>
              <a:r>
                <a:rPr lang="en-US" sz="2200">
                  <a:solidFill>
                    <a:srgbClr val="000000"/>
                  </a:solidFill>
                  <a:latin typeface="Open Sans 1"/>
                  <a:ea typeface="Open Sans 1"/>
                  <a:cs typeface="Open Sans 1"/>
                  <a:sym typeface="Open Sans 1"/>
                </a:rPr>
                <a:t> rural; if all trips shifted to the coworking site, </a:t>
              </a:r>
              <a:r>
                <a:rPr lang="en-US" sz="2200" b="1">
                  <a:solidFill>
                    <a:srgbClr val="000000"/>
                  </a:solidFill>
                  <a:latin typeface="Open Sans 1 Bold"/>
                  <a:ea typeface="Open Sans 1 Bold"/>
                  <a:cs typeface="Open Sans 1 Bold"/>
                  <a:sym typeface="Open Sans 1 Bold"/>
                </a:rPr>
                <a:t>commute CO₂ falls </a:t>
              </a:r>
              <a:r>
                <a:rPr lang="en-US" sz="2200">
                  <a:solidFill>
                    <a:srgbClr val="000000"/>
                  </a:solidFill>
                  <a:latin typeface="Open Sans 1"/>
                  <a:ea typeface="Open Sans 1"/>
                  <a:cs typeface="Open Sans 1"/>
                  <a:sym typeface="Open Sans 1"/>
                </a:rPr>
                <a:t>~</a:t>
              </a:r>
              <a:r>
                <a:rPr lang="en-US" sz="2200" b="1">
                  <a:solidFill>
                    <a:srgbClr val="000000"/>
                  </a:solidFill>
                  <a:latin typeface="Open Sans 1 Bold"/>
                  <a:ea typeface="Open Sans 1 Bold"/>
                  <a:cs typeface="Open Sans 1 Bold"/>
                  <a:sym typeface="Open Sans 1 Bold"/>
                </a:rPr>
                <a:t>10% </a:t>
              </a:r>
              <a:r>
                <a:rPr lang="en-US" sz="2200">
                  <a:solidFill>
                    <a:srgbClr val="000000"/>
                  </a:solidFill>
                  <a:latin typeface="Open Sans 1"/>
                  <a:ea typeface="Open Sans 1"/>
                  <a:cs typeface="Open Sans 1"/>
                  <a:sym typeface="Open Sans 1"/>
                </a:rPr>
                <a:t>(location choice is material). </a:t>
              </a:r>
            </a:p>
            <a:p>
              <a:pPr algn="just">
                <a:lnSpc>
                  <a:spcPts val="876"/>
                </a:lnSpc>
              </a:pPr>
              <a:endParaRPr lang="en-US" sz="2200">
                <a:solidFill>
                  <a:srgbClr val="000000"/>
                </a:solidFill>
                <a:latin typeface="Open Sans 1"/>
                <a:ea typeface="Open Sans 1"/>
                <a:cs typeface="Open Sans 1"/>
                <a:sym typeface="Open Sans 1"/>
              </a:endParaRPr>
            </a:p>
            <a:p>
              <a:pPr marL="474981" lvl="1" indent="-237491" algn="just">
                <a:lnSpc>
                  <a:spcPts val="3212"/>
                </a:lnSpc>
                <a:buFont typeface="Arial"/>
                <a:buChar char="•"/>
              </a:pPr>
              <a:r>
                <a:rPr lang="en-US" sz="2200" b="1">
                  <a:solidFill>
                    <a:srgbClr val="000000"/>
                  </a:solidFill>
                  <a:latin typeface="Open Sans 1 Bold"/>
                  <a:ea typeface="Open Sans 1 Bold"/>
                  <a:cs typeface="Open Sans 1 Bold"/>
                  <a:sym typeface="Open Sans 1 Bold"/>
                </a:rPr>
                <a:t>Direct + indirect effects framework</a:t>
              </a:r>
              <a:r>
                <a:rPr lang="en-US" sz="2200">
                  <a:solidFill>
                    <a:srgbClr val="000000"/>
                  </a:solidFill>
                  <a:latin typeface="Open Sans 1"/>
                  <a:ea typeface="Open Sans 1"/>
                  <a:cs typeface="Open Sans 1"/>
                  <a:sym typeface="Open Sans 1"/>
                </a:rPr>
                <a:t>. Co-working cuts </a:t>
              </a:r>
              <a:r>
                <a:rPr lang="en-US" sz="2200" b="1">
                  <a:solidFill>
                    <a:srgbClr val="000000"/>
                  </a:solidFill>
                  <a:latin typeface="Open Sans 1 Bold"/>
                  <a:ea typeface="Open Sans 1 Bold"/>
                  <a:cs typeface="Open Sans 1 Bold"/>
                  <a:sym typeface="Open Sans 1 Bold"/>
                </a:rPr>
                <a:t>direct </a:t>
              </a:r>
              <a:r>
                <a:rPr lang="en-US" sz="2200">
                  <a:solidFill>
                    <a:srgbClr val="000000"/>
                  </a:solidFill>
                  <a:latin typeface="Open Sans 1"/>
                  <a:ea typeface="Open Sans 1"/>
                  <a:cs typeface="Open Sans 1"/>
                  <a:sym typeface="Open Sans 1"/>
                </a:rPr>
                <a:t>impacts via shared space and travel changes, but </a:t>
              </a:r>
              <a:r>
                <a:rPr lang="en-US" sz="2200" b="1">
                  <a:solidFill>
                    <a:srgbClr val="000000"/>
                  </a:solidFill>
                  <a:latin typeface="Open Sans 1 Bold"/>
                  <a:ea typeface="Open Sans 1 Bold"/>
                  <a:cs typeface="Open Sans 1 Bold"/>
                  <a:sym typeface="Open Sans 1 Bold"/>
                </a:rPr>
                <a:t>indirect</a:t>
              </a:r>
              <a:r>
                <a:rPr lang="en-US" sz="2200">
                  <a:solidFill>
                    <a:srgbClr val="000000"/>
                  </a:solidFill>
                  <a:latin typeface="Open Sans 1"/>
                  <a:ea typeface="Open Sans 1"/>
                  <a:cs typeface="Open Sans 1"/>
                  <a:sym typeface="Open Sans 1"/>
                </a:rPr>
                <a:t>/</a:t>
              </a:r>
              <a:r>
                <a:rPr lang="en-US" sz="2200" b="1">
                  <a:solidFill>
                    <a:srgbClr val="000000"/>
                  </a:solidFill>
                  <a:latin typeface="Open Sans 1 Bold"/>
                  <a:ea typeface="Open Sans 1 Bold"/>
                  <a:cs typeface="Open Sans 1 Bold"/>
                  <a:sym typeface="Open Sans 1 Bold"/>
                </a:rPr>
                <a:t>rebound </a:t>
              </a:r>
              <a:r>
                <a:rPr lang="en-US" sz="2200">
                  <a:solidFill>
                    <a:srgbClr val="000000"/>
                  </a:solidFill>
                  <a:latin typeface="Open Sans 1"/>
                  <a:ea typeface="Open Sans 1"/>
                  <a:cs typeface="Open Sans 1"/>
                  <a:sym typeface="Open Sans 1"/>
                </a:rPr>
                <a:t>risks exist (extra equipment, added trips, duplicative space) unless operators right-size floor area and avoid inefficient add-ons.</a:t>
              </a:r>
            </a:p>
            <a:p>
              <a:pPr algn="just">
                <a:lnSpc>
                  <a:spcPts val="876"/>
                </a:lnSpc>
              </a:pPr>
              <a:endParaRPr lang="en-US" sz="2200">
                <a:solidFill>
                  <a:srgbClr val="000000"/>
                </a:solidFill>
                <a:latin typeface="Open Sans 1"/>
                <a:ea typeface="Open Sans 1"/>
                <a:cs typeface="Open Sans 1"/>
                <a:sym typeface="Open Sans 1"/>
              </a:endParaRPr>
            </a:p>
            <a:p>
              <a:pPr marL="474981" lvl="1" indent="-237491" algn="just">
                <a:lnSpc>
                  <a:spcPts val="3212"/>
                </a:lnSpc>
                <a:buFont typeface="Arial"/>
                <a:buChar char="•"/>
              </a:pPr>
              <a:r>
                <a:rPr lang="en-US" sz="2200" b="1">
                  <a:solidFill>
                    <a:srgbClr val="000000"/>
                  </a:solidFill>
                  <a:latin typeface="Open Sans 1 Bold"/>
                  <a:ea typeface="Open Sans 1 Bold"/>
                  <a:cs typeface="Open Sans 1 Bold"/>
                  <a:sym typeface="Open Sans 1 Bold"/>
                </a:rPr>
                <a:t>Behavior drives actual energy.</a:t>
              </a:r>
              <a:r>
                <a:rPr lang="en-US" sz="2200">
                  <a:solidFill>
                    <a:srgbClr val="000000"/>
                  </a:solidFill>
                  <a:latin typeface="Open Sans 1"/>
                  <a:ea typeface="Open Sans 1"/>
                  <a:cs typeface="Open Sans 1"/>
                  <a:sym typeface="Open Sans 1"/>
                </a:rPr>
                <a:t> Occupant practices (setpoints, plug loads, presence) explain large performance gaps; HVAC + lighting typically </a:t>
              </a:r>
              <a:r>
                <a:rPr lang="en-US" sz="2200" b="1">
                  <a:solidFill>
                    <a:srgbClr val="000000"/>
                  </a:solidFill>
                  <a:latin typeface="Open Sans 1 Bold"/>
                  <a:ea typeface="Open Sans 1 Bold"/>
                  <a:cs typeface="Open Sans 1 Bold"/>
                  <a:sym typeface="Open Sans 1 Bold"/>
                </a:rPr>
                <a:t>&gt;50%</a:t>
              </a:r>
              <a:r>
                <a:rPr lang="en-US" sz="2200">
                  <a:solidFill>
                    <a:srgbClr val="000000"/>
                  </a:solidFill>
                  <a:latin typeface="Open Sans 1"/>
                  <a:ea typeface="Open Sans 1"/>
                  <a:cs typeface="Open Sans 1"/>
                  <a:sym typeface="Open Sans 1"/>
                </a:rPr>
                <a:t> of office energy—higher, denser utilization must pair with active controls to lock in savings.</a:t>
              </a:r>
            </a:p>
          </p:txBody>
        </p:sp>
      </p:grpSp>
      <p:sp>
        <p:nvSpPr>
          <p:cNvPr id="5" name="TextBox 5"/>
          <p:cNvSpPr txBox="1"/>
          <p:nvPr/>
        </p:nvSpPr>
        <p:spPr>
          <a:xfrm>
            <a:off x="327304" y="498512"/>
            <a:ext cx="13137004" cy="782245"/>
          </a:xfrm>
          <a:prstGeom prst="rect">
            <a:avLst/>
          </a:prstGeom>
        </p:spPr>
        <p:txBody>
          <a:bodyPr lIns="0" tIns="0" rIns="0" bIns="0" rtlCol="0" anchor="t">
            <a:spAutoFit/>
          </a:bodyPr>
          <a:lstStyle/>
          <a:p>
            <a:pPr marL="0" lvl="0" indent="0" algn="just">
              <a:lnSpc>
                <a:spcPts val="5653"/>
              </a:lnSpc>
              <a:spcBef>
                <a:spcPct val="0"/>
              </a:spcBef>
            </a:pPr>
            <a:r>
              <a:rPr lang="en-US" sz="6281" b="1">
                <a:solidFill>
                  <a:srgbClr val="FDD344"/>
                </a:solidFill>
                <a:latin typeface="Montserrat Bold"/>
                <a:ea typeface="Montserrat Bold"/>
                <a:cs typeface="Montserrat Bold"/>
                <a:sym typeface="Montserrat Bold"/>
              </a:rPr>
              <a:t>INDUSTRIOUS’ NET POSITIVITY </a:t>
            </a:r>
          </a:p>
        </p:txBody>
      </p:sp>
      <p:sp>
        <p:nvSpPr>
          <p:cNvPr id="6" name="TextBox 6"/>
          <p:cNvSpPr txBox="1"/>
          <p:nvPr/>
        </p:nvSpPr>
        <p:spPr>
          <a:xfrm>
            <a:off x="402438" y="987387"/>
            <a:ext cx="17189927" cy="481965"/>
          </a:xfrm>
          <a:prstGeom prst="rect">
            <a:avLst/>
          </a:prstGeom>
        </p:spPr>
        <p:txBody>
          <a:bodyPr lIns="0" tIns="0" rIns="0" bIns="0" rtlCol="0" anchor="t">
            <a:spAutoFit/>
          </a:bodyPr>
          <a:lstStyle/>
          <a:p>
            <a:pPr marL="0" lvl="0" indent="0" algn="l">
              <a:lnSpc>
                <a:spcPts val="3600"/>
              </a:lnSpc>
            </a:pPr>
            <a:r>
              <a:rPr lang="en-US" sz="3600">
                <a:solidFill>
                  <a:srgbClr val="000000"/>
                </a:solidFill>
                <a:latin typeface="Halimum"/>
                <a:ea typeface="Halimum"/>
                <a:cs typeface="Halimum"/>
                <a:sym typeface="Halimum"/>
              </a:rPr>
              <a:t>Key Results</a:t>
            </a:r>
          </a:p>
        </p:txBody>
      </p:sp>
      <p:sp>
        <p:nvSpPr>
          <p:cNvPr id="7" name="TextBox 7"/>
          <p:cNvSpPr txBox="1"/>
          <p:nvPr/>
        </p:nvSpPr>
        <p:spPr>
          <a:xfrm>
            <a:off x="327304" y="1689493"/>
            <a:ext cx="13792818" cy="412115"/>
          </a:xfrm>
          <a:prstGeom prst="rect">
            <a:avLst/>
          </a:prstGeom>
        </p:spPr>
        <p:txBody>
          <a:bodyPr lIns="0" tIns="0" rIns="0" bIns="0" rtlCol="0" anchor="t">
            <a:spAutoFit/>
          </a:bodyPr>
          <a:lstStyle/>
          <a:p>
            <a:pPr marL="0" lvl="0" indent="0" algn="just">
              <a:lnSpc>
                <a:spcPts val="3100"/>
              </a:lnSpc>
            </a:pPr>
            <a:r>
              <a:rPr lang="en-US" sz="3100" b="1">
                <a:solidFill>
                  <a:srgbClr val="FDD344"/>
                </a:solidFill>
                <a:latin typeface="Open Sans 1 Bold"/>
                <a:ea typeface="Open Sans 1 Bold"/>
                <a:cs typeface="Open Sans 1 Bold"/>
                <a:sym typeface="Open Sans 1 Bold"/>
              </a:rPr>
              <a:t>1. How does Industrious reduce its environmental footprint?</a:t>
            </a:r>
          </a:p>
        </p:txBody>
      </p:sp>
      <p:grpSp>
        <p:nvGrpSpPr>
          <p:cNvPr id="8" name="Group 8"/>
          <p:cNvGrpSpPr/>
          <p:nvPr/>
        </p:nvGrpSpPr>
        <p:grpSpPr>
          <a:xfrm>
            <a:off x="409318" y="6953030"/>
            <a:ext cx="17469363" cy="3036494"/>
            <a:chOff x="0" y="0"/>
            <a:chExt cx="4600985" cy="799735"/>
          </a:xfrm>
        </p:grpSpPr>
        <p:sp>
          <p:nvSpPr>
            <p:cNvPr id="9" name="Freeform 9"/>
            <p:cNvSpPr/>
            <p:nvPr/>
          </p:nvSpPr>
          <p:spPr>
            <a:xfrm>
              <a:off x="0" y="0"/>
              <a:ext cx="4600985" cy="799735"/>
            </a:xfrm>
            <a:custGeom>
              <a:avLst/>
              <a:gdLst/>
              <a:ahLst/>
              <a:cxnLst/>
              <a:rect l="l" t="t" r="r" b="b"/>
              <a:pathLst>
                <a:path w="4600985" h="799735">
                  <a:moveTo>
                    <a:pt x="0" y="0"/>
                  </a:moveTo>
                  <a:lnTo>
                    <a:pt x="4600985" y="0"/>
                  </a:lnTo>
                  <a:lnTo>
                    <a:pt x="4600985" y="799735"/>
                  </a:lnTo>
                  <a:lnTo>
                    <a:pt x="0" y="799735"/>
                  </a:lnTo>
                  <a:close/>
                </a:path>
              </a:pathLst>
            </a:custGeom>
            <a:solidFill>
              <a:srgbClr val="FFF3C2"/>
            </a:solidFill>
          </p:spPr>
          <p:txBody>
            <a:bodyPr/>
            <a:lstStyle/>
            <a:p>
              <a:endParaRPr lang="en-US"/>
            </a:p>
          </p:txBody>
        </p:sp>
        <p:sp>
          <p:nvSpPr>
            <p:cNvPr id="10" name="TextBox 10"/>
            <p:cNvSpPr txBox="1"/>
            <p:nvPr/>
          </p:nvSpPr>
          <p:spPr>
            <a:xfrm>
              <a:off x="0" y="-57150"/>
              <a:ext cx="4600985" cy="856885"/>
            </a:xfrm>
            <a:prstGeom prst="rect">
              <a:avLst/>
            </a:prstGeom>
          </p:spPr>
          <p:txBody>
            <a:bodyPr lIns="50800" tIns="50800" rIns="50800" bIns="50800" rtlCol="0" anchor="ctr"/>
            <a:lstStyle/>
            <a:p>
              <a:pPr algn="just">
                <a:lnSpc>
                  <a:spcPts val="3212"/>
                </a:lnSpc>
              </a:pPr>
              <a:r>
                <a:rPr lang="en-US" sz="2200" b="1" u="sng">
                  <a:solidFill>
                    <a:srgbClr val="000000"/>
                  </a:solidFill>
                  <a:latin typeface="Open Sans 1 Bold"/>
                  <a:ea typeface="Open Sans 1 Bold"/>
                  <a:cs typeface="Open Sans 1 Bold"/>
                  <a:sym typeface="Open Sans 1 Bold"/>
                </a:rPr>
                <a:t>Industrious’ business model structurally supports lower per-occupier emissions and long-term resource efficiency.</a:t>
              </a:r>
            </a:p>
            <a:p>
              <a:pPr marL="474981" lvl="1" indent="-237491" algn="just">
                <a:lnSpc>
                  <a:spcPts val="3212"/>
                </a:lnSpc>
                <a:buFont typeface="Arial"/>
                <a:buChar char="•"/>
              </a:pPr>
              <a:r>
                <a:rPr lang="en-US" sz="2200">
                  <a:solidFill>
                    <a:srgbClr val="000000"/>
                  </a:solidFill>
                  <a:latin typeface="Open Sans 1"/>
                  <a:ea typeface="Open Sans 1"/>
                  <a:cs typeface="Open Sans 1"/>
                  <a:sym typeface="Open Sans 1"/>
                </a:rPr>
                <a:t>Operates under a </a:t>
              </a:r>
              <a:r>
                <a:rPr lang="en-US" sz="2200" b="1">
                  <a:solidFill>
                    <a:srgbClr val="000000"/>
                  </a:solidFill>
                  <a:latin typeface="Open Sans 1 Bold"/>
                  <a:ea typeface="Open Sans 1 Bold"/>
                  <a:cs typeface="Open Sans 1 Bold"/>
                  <a:sym typeface="Open Sans 1 Bold"/>
                </a:rPr>
                <a:t>partnership-based model </a:t>
              </a:r>
              <a:r>
                <a:rPr lang="en-US" sz="2200">
                  <a:solidFill>
                    <a:srgbClr val="000000"/>
                  </a:solidFill>
                  <a:latin typeface="Open Sans 1"/>
                  <a:ea typeface="Open Sans 1"/>
                  <a:cs typeface="Open Sans 1"/>
                  <a:sym typeface="Open Sans 1"/>
                </a:rPr>
                <a:t>where it co-manages spaces with landlords rather than leasing them outright.</a:t>
              </a:r>
            </a:p>
            <a:p>
              <a:pPr marL="949962" lvl="2" indent="-316654" algn="just">
                <a:lnSpc>
                  <a:spcPts val="3212"/>
                </a:lnSpc>
                <a:buFont typeface="Arial"/>
                <a:buChar char="⚬"/>
              </a:pPr>
              <a:r>
                <a:rPr lang="en-US" sz="2200">
                  <a:solidFill>
                    <a:srgbClr val="000000"/>
                  </a:solidFill>
                  <a:latin typeface="Open Sans 1"/>
                  <a:ea typeface="Open Sans 1"/>
                  <a:cs typeface="Open Sans 1"/>
                  <a:sym typeface="Open Sans 1"/>
                </a:rPr>
                <a:t>This approach </a:t>
              </a:r>
              <a:r>
                <a:rPr lang="en-US" sz="2200" b="1">
                  <a:solidFill>
                    <a:srgbClr val="000000"/>
                  </a:solidFill>
                  <a:latin typeface="Open Sans 1 Bold"/>
                  <a:ea typeface="Open Sans 1 Bold"/>
                  <a:cs typeface="Open Sans 1 Bold"/>
                  <a:sym typeface="Open Sans 1 Bold"/>
                </a:rPr>
                <a:t>reduces unused space and repeated fit-outs</a:t>
              </a:r>
              <a:r>
                <a:rPr lang="en-US" sz="2200">
                  <a:solidFill>
                    <a:srgbClr val="000000"/>
                  </a:solidFill>
                  <a:latin typeface="Open Sans 1"/>
                  <a:ea typeface="Open Sans 1"/>
                  <a:cs typeface="Open Sans 1"/>
                  <a:sym typeface="Open Sans 1"/>
                </a:rPr>
                <a:t>, cutting embodied and operational emissions compared to typical coworking operators that frequently open and close leased sites.</a:t>
              </a:r>
            </a:p>
            <a:p>
              <a:pPr marL="474981" lvl="1" indent="-237491" algn="just">
                <a:lnSpc>
                  <a:spcPts val="3212"/>
                </a:lnSpc>
                <a:buFont typeface="Arial"/>
                <a:buChar char="•"/>
              </a:pPr>
              <a:r>
                <a:rPr lang="en-US" sz="2200">
                  <a:solidFill>
                    <a:srgbClr val="000000"/>
                  </a:solidFill>
                  <a:latin typeface="Open Sans 1"/>
                  <a:ea typeface="Open Sans 1"/>
                  <a:cs typeface="Open Sans 1"/>
                  <a:sym typeface="Open Sans 1"/>
                </a:rPr>
                <a:t>Achieves a more stable and resource-efficient footprint by </a:t>
              </a:r>
              <a:r>
                <a:rPr lang="en-US" sz="2200" b="1">
                  <a:solidFill>
                    <a:srgbClr val="000000"/>
                  </a:solidFill>
                  <a:latin typeface="Open Sans 1 Bold"/>
                  <a:ea typeface="Open Sans 1 Bold"/>
                  <a:cs typeface="Open Sans 1 Bold"/>
                  <a:sym typeface="Open Sans 1 Bold"/>
                </a:rPr>
                <a:t>right-sizing floor area</a:t>
              </a:r>
              <a:r>
                <a:rPr lang="en-US" sz="2200">
                  <a:solidFill>
                    <a:srgbClr val="000000"/>
                  </a:solidFill>
                  <a:latin typeface="Open Sans 1"/>
                  <a:ea typeface="Open Sans 1"/>
                  <a:cs typeface="Open Sans 1"/>
                  <a:sym typeface="Open Sans 1"/>
                </a:rPr>
                <a:t> and sharing infrastructure,</a:t>
              </a:r>
            </a:p>
            <a:p>
              <a:pPr algn="just">
                <a:lnSpc>
                  <a:spcPts val="3212"/>
                </a:lnSpc>
              </a:pPr>
              <a:r>
                <a:rPr lang="en-US" sz="2200" b="1" i="1">
                  <a:solidFill>
                    <a:srgbClr val="000000"/>
                  </a:solidFill>
                  <a:latin typeface="Open Sans 1 Bold Italics"/>
                  <a:ea typeface="Open Sans 1 Bold Italics"/>
                  <a:cs typeface="Open Sans 1 Bold Italics"/>
                  <a:sym typeface="Open Sans 1 Bold Italics"/>
                </a:rPr>
                <a:t>Improvement opportunity:</a:t>
              </a:r>
              <a:r>
                <a:rPr lang="en-US" sz="2200" i="1">
                  <a:solidFill>
                    <a:srgbClr val="000000"/>
                  </a:solidFill>
                  <a:latin typeface="Open Sans 1 Italics"/>
                  <a:ea typeface="Open Sans 1 Italics"/>
                  <a:cs typeface="Open Sans 1 Italics"/>
                  <a:sym typeface="Open Sans 1 Italics"/>
                </a:rPr>
                <a:t> expand transparent tracking of per-user CO₂ performance and share efficiency data publicly to benchmark sustainability progress.</a:t>
              </a:r>
            </a:p>
          </p:txBody>
        </p:sp>
      </p:grpSp>
      <p:sp>
        <p:nvSpPr>
          <p:cNvPr id="11" name="Freeform 11"/>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7909" y="2183765"/>
            <a:ext cx="7810321" cy="4423153"/>
            <a:chOff x="0" y="0"/>
            <a:chExt cx="2057039" cy="1164946"/>
          </a:xfrm>
        </p:grpSpPr>
        <p:sp>
          <p:nvSpPr>
            <p:cNvPr id="3" name="Freeform 3"/>
            <p:cNvSpPr/>
            <p:nvPr/>
          </p:nvSpPr>
          <p:spPr>
            <a:xfrm>
              <a:off x="0" y="0"/>
              <a:ext cx="2057039" cy="1164946"/>
            </a:xfrm>
            <a:custGeom>
              <a:avLst/>
              <a:gdLst/>
              <a:ahLst/>
              <a:cxnLst/>
              <a:rect l="l" t="t" r="r" b="b"/>
              <a:pathLst>
                <a:path w="2057039" h="1164946">
                  <a:moveTo>
                    <a:pt x="0" y="0"/>
                  </a:moveTo>
                  <a:lnTo>
                    <a:pt x="2057039" y="0"/>
                  </a:lnTo>
                  <a:lnTo>
                    <a:pt x="2057039" y="1164946"/>
                  </a:lnTo>
                  <a:lnTo>
                    <a:pt x="0" y="1164946"/>
                  </a:lnTo>
                  <a:close/>
                </a:path>
              </a:pathLst>
            </a:custGeom>
            <a:ln cap="sq">
              <a:noFill/>
              <a:prstDash val="solid"/>
              <a:miter/>
            </a:ln>
          </p:spPr>
          <p:txBody>
            <a:bodyPr/>
            <a:lstStyle/>
            <a:p>
              <a:endParaRPr lang="en-US"/>
            </a:p>
          </p:txBody>
        </p:sp>
        <p:sp>
          <p:nvSpPr>
            <p:cNvPr id="4" name="TextBox 4"/>
            <p:cNvSpPr txBox="1"/>
            <p:nvPr/>
          </p:nvSpPr>
          <p:spPr>
            <a:xfrm>
              <a:off x="0" y="0"/>
              <a:ext cx="2057039" cy="1164946"/>
            </a:xfrm>
            <a:prstGeom prst="rect">
              <a:avLst/>
            </a:prstGeom>
          </p:spPr>
          <p:txBody>
            <a:bodyPr lIns="50800" tIns="50800" rIns="50800" bIns="50800" rtlCol="0" anchor="ctr"/>
            <a:lstStyle/>
            <a:p>
              <a:pPr algn="l">
                <a:lnSpc>
                  <a:spcPts val="2639"/>
                </a:lnSpc>
              </a:pPr>
              <a:r>
                <a:rPr lang="en-US" sz="2199" b="1">
                  <a:solidFill>
                    <a:srgbClr val="000000"/>
                  </a:solidFill>
                  <a:latin typeface="Open Sans 1 Bold"/>
                  <a:ea typeface="Open Sans 1 Bold"/>
                  <a:cs typeface="Open Sans 1 Bold"/>
                  <a:sym typeface="Open Sans 1 Bold"/>
                </a:rPr>
                <a:t>1.2 Would higher occupancy in shared workplaces reduce unoccupied dedicated workplaces?</a:t>
              </a:r>
            </a:p>
            <a:p>
              <a:pPr algn="just">
                <a:lnSpc>
                  <a:spcPts val="839"/>
                </a:lnSpc>
              </a:pPr>
              <a:endParaRPr lang="en-US" sz="2199" b="1">
                <a:solidFill>
                  <a:srgbClr val="000000"/>
                </a:solidFill>
                <a:latin typeface="Open Sans 1 Bold"/>
                <a:ea typeface="Open Sans 1 Bold"/>
                <a:cs typeface="Open Sans 1 Bold"/>
                <a:sym typeface="Open Sans 1 Bold"/>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Dedicated desks underused.</a:t>
              </a:r>
              <a:r>
                <a:rPr lang="en-US" sz="1999">
                  <a:solidFill>
                    <a:srgbClr val="000000"/>
                  </a:solidFill>
                  <a:latin typeface="Open Sans 1"/>
                  <a:ea typeface="Open Sans 1"/>
                  <a:cs typeface="Open Sans 1"/>
                  <a:sym typeface="Open Sans 1"/>
                </a:rPr>
                <a:t> Traditional offices rarely exceed ~60% occupancy, leaving ~40% of desks idle, driving wasted energy and embedded carbon.</a:t>
              </a:r>
            </a:p>
            <a:p>
              <a:pPr algn="just">
                <a:lnSpc>
                  <a:spcPts val="840"/>
                </a:lnSpc>
              </a:pPr>
              <a:endParaRPr lang="en-US" sz="1999">
                <a:solidFill>
                  <a:srgbClr val="000000"/>
                </a:solidFill>
                <a:latin typeface="Open Sans 1"/>
                <a:ea typeface="Open Sans 1"/>
                <a:cs typeface="Open Sans 1"/>
                <a:sym typeface="Open Sans 1"/>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Right-sizing via sensors &amp; booking.</a:t>
              </a:r>
              <a:r>
                <a:rPr lang="en-US" sz="1999">
                  <a:solidFill>
                    <a:srgbClr val="000000"/>
                  </a:solidFill>
                  <a:latin typeface="Open Sans 1"/>
                  <a:ea typeface="Open Sans 1"/>
                  <a:cs typeface="Open Sans 1"/>
                  <a:sym typeface="Open Sans 1"/>
                </a:rPr>
                <a:t> Example: a 100-person company → 80 workstations (-20%) by tracking presence and shifting to reservations. Capex for sensors/apps is ~€100 per desk, &lt;1% of annual desk cost, with meaningful real-estate savings.</a:t>
              </a:r>
            </a:p>
            <a:p>
              <a:pPr algn="just">
                <a:lnSpc>
                  <a:spcPts val="840"/>
                </a:lnSpc>
              </a:pPr>
              <a:endParaRPr lang="en-US" sz="1999">
                <a:solidFill>
                  <a:srgbClr val="000000"/>
                </a:solidFill>
                <a:latin typeface="Open Sans 1"/>
                <a:ea typeface="Open Sans 1"/>
                <a:cs typeface="Open Sans 1"/>
                <a:sym typeface="Open Sans 1"/>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Smaller footprint = lower ops energy.</a:t>
              </a:r>
              <a:r>
                <a:rPr lang="en-US" sz="1999">
                  <a:solidFill>
                    <a:srgbClr val="000000"/>
                  </a:solidFill>
                  <a:latin typeface="Open Sans 1"/>
                  <a:ea typeface="Open Sans 1"/>
                  <a:cs typeface="Open Sans 1"/>
                  <a:sym typeface="Open Sans 1"/>
                </a:rPr>
                <a:t> Less area to heat/cool/light reduces energy use. Hybrid work further cuts commute emissions when paired with local coworking access.</a:t>
              </a:r>
            </a:p>
          </p:txBody>
        </p:sp>
      </p:grpSp>
      <p:sp>
        <p:nvSpPr>
          <p:cNvPr id="5" name="TextBox 5"/>
          <p:cNvSpPr txBox="1"/>
          <p:nvPr/>
        </p:nvSpPr>
        <p:spPr>
          <a:xfrm>
            <a:off x="327304" y="498512"/>
            <a:ext cx="12908843" cy="782245"/>
          </a:xfrm>
          <a:prstGeom prst="rect">
            <a:avLst/>
          </a:prstGeom>
        </p:spPr>
        <p:txBody>
          <a:bodyPr lIns="0" tIns="0" rIns="0" bIns="0" rtlCol="0" anchor="t">
            <a:spAutoFit/>
          </a:bodyPr>
          <a:lstStyle/>
          <a:p>
            <a:pPr marL="0" lvl="0" indent="0" algn="just">
              <a:lnSpc>
                <a:spcPts val="5653"/>
              </a:lnSpc>
              <a:spcBef>
                <a:spcPct val="0"/>
              </a:spcBef>
            </a:pPr>
            <a:r>
              <a:rPr lang="en-US" sz="6281" b="1">
                <a:solidFill>
                  <a:srgbClr val="FDD344"/>
                </a:solidFill>
                <a:latin typeface="Montserrat Bold"/>
                <a:ea typeface="Montserrat Bold"/>
                <a:cs typeface="Montserrat Bold"/>
                <a:sym typeface="Montserrat Bold"/>
              </a:rPr>
              <a:t>INDUSTRIOUS’ NET POSITIVITY </a:t>
            </a:r>
          </a:p>
        </p:txBody>
      </p:sp>
      <p:sp>
        <p:nvSpPr>
          <p:cNvPr id="6" name="TextBox 6"/>
          <p:cNvSpPr txBox="1"/>
          <p:nvPr/>
        </p:nvSpPr>
        <p:spPr>
          <a:xfrm>
            <a:off x="384454" y="1003934"/>
            <a:ext cx="17189927" cy="481965"/>
          </a:xfrm>
          <a:prstGeom prst="rect">
            <a:avLst/>
          </a:prstGeom>
        </p:spPr>
        <p:txBody>
          <a:bodyPr lIns="0" tIns="0" rIns="0" bIns="0" rtlCol="0" anchor="t">
            <a:spAutoFit/>
          </a:bodyPr>
          <a:lstStyle/>
          <a:p>
            <a:pPr marL="0" lvl="0" indent="0" algn="l">
              <a:lnSpc>
                <a:spcPts val="3600"/>
              </a:lnSpc>
            </a:pPr>
            <a:r>
              <a:rPr lang="en-US" sz="3600">
                <a:solidFill>
                  <a:srgbClr val="000000"/>
                </a:solidFill>
                <a:latin typeface="Halimum"/>
                <a:ea typeface="Halimum"/>
                <a:cs typeface="Halimum"/>
                <a:sym typeface="Halimum"/>
              </a:rPr>
              <a:t>Key Results</a:t>
            </a:r>
          </a:p>
        </p:txBody>
      </p:sp>
      <p:sp>
        <p:nvSpPr>
          <p:cNvPr id="7" name="TextBox 7"/>
          <p:cNvSpPr txBox="1"/>
          <p:nvPr/>
        </p:nvSpPr>
        <p:spPr>
          <a:xfrm>
            <a:off x="384454" y="1624012"/>
            <a:ext cx="13792818" cy="412115"/>
          </a:xfrm>
          <a:prstGeom prst="rect">
            <a:avLst/>
          </a:prstGeom>
        </p:spPr>
        <p:txBody>
          <a:bodyPr lIns="0" tIns="0" rIns="0" bIns="0" rtlCol="0" anchor="t">
            <a:spAutoFit/>
          </a:bodyPr>
          <a:lstStyle/>
          <a:p>
            <a:pPr marL="0" lvl="0" indent="0" algn="just">
              <a:lnSpc>
                <a:spcPts val="3100"/>
              </a:lnSpc>
            </a:pPr>
            <a:r>
              <a:rPr lang="en-US" sz="3100" b="1">
                <a:solidFill>
                  <a:srgbClr val="FDD344"/>
                </a:solidFill>
                <a:latin typeface="Open Sans 1 Bold"/>
                <a:ea typeface="Open Sans 1 Bold"/>
                <a:cs typeface="Open Sans 1 Bold"/>
                <a:sym typeface="Open Sans 1 Bold"/>
              </a:rPr>
              <a:t>1. How does Industrious reduce its environmental footprint?</a:t>
            </a:r>
          </a:p>
        </p:txBody>
      </p:sp>
      <p:grpSp>
        <p:nvGrpSpPr>
          <p:cNvPr id="8" name="Group 8"/>
          <p:cNvGrpSpPr/>
          <p:nvPr/>
        </p:nvGrpSpPr>
        <p:grpSpPr>
          <a:xfrm>
            <a:off x="8194775" y="2036127"/>
            <a:ext cx="9707503" cy="4337428"/>
            <a:chOff x="0" y="0"/>
            <a:chExt cx="2556709" cy="1142368"/>
          </a:xfrm>
        </p:grpSpPr>
        <p:sp>
          <p:nvSpPr>
            <p:cNvPr id="9" name="Freeform 9"/>
            <p:cNvSpPr/>
            <p:nvPr/>
          </p:nvSpPr>
          <p:spPr>
            <a:xfrm>
              <a:off x="0" y="0"/>
              <a:ext cx="2556709" cy="1142368"/>
            </a:xfrm>
            <a:custGeom>
              <a:avLst/>
              <a:gdLst/>
              <a:ahLst/>
              <a:cxnLst/>
              <a:rect l="l" t="t" r="r" b="b"/>
              <a:pathLst>
                <a:path w="2556709" h="1142368">
                  <a:moveTo>
                    <a:pt x="0" y="0"/>
                  </a:moveTo>
                  <a:lnTo>
                    <a:pt x="2556709" y="0"/>
                  </a:lnTo>
                  <a:lnTo>
                    <a:pt x="2556709" y="1142368"/>
                  </a:lnTo>
                  <a:lnTo>
                    <a:pt x="0" y="1142368"/>
                  </a:lnTo>
                  <a:close/>
                </a:path>
              </a:pathLst>
            </a:custGeom>
            <a:ln cap="sq">
              <a:noFill/>
              <a:prstDash val="solid"/>
              <a:miter/>
            </a:ln>
          </p:spPr>
          <p:txBody>
            <a:bodyPr/>
            <a:lstStyle/>
            <a:p>
              <a:endParaRPr lang="en-US"/>
            </a:p>
          </p:txBody>
        </p:sp>
        <p:sp>
          <p:nvSpPr>
            <p:cNvPr id="10" name="TextBox 10"/>
            <p:cNvSpPr txBox="1"/>
            <p:nvPr/>
          </p:nvSpPr>
          <p:spPr>
            <a:xfrm>
              <a:off x="0" y="0"/>
              <a:ext cx="2556709" cy="1142368"/>
            </a:xfrm>
            <a:prstGeom prst="rect">
              <a:avLst/>
            </a:prstGeom>
          </p:spPr>
          <p:txBody>
            <a:bodyPr lIns="50800" tIns="50800" rIns="50800" bIns="50800" rtlCol="0" anchor="ctr"/>
            <a:lstStyle/>
            <a:p>
              <a:pPr algn="l">
                <a:lnSpc>
                  <a:spcPts val="2639"/>
                </a:lnSpc>
              </a:pPr>
              <a:r>
                <a:rPr lang="en-US" sz="2199" b="1">
                  <a:solidFill>
                    <a:srgbClr val="000000"/>
                  </a:solidFill>
                  <a:latin typeface="Open Sans 1 Bold"/>
                  <a:ea typeface="Open Sans 1 Bold"/>
                  <a:cs typeface="Open Sans 1 Bold"/>
                  <a:sym typeface="Open Sans 1 Bold"/>
                </a:rPr>
                <a:t>1.3 Can a specialized business optimize construction for more sustainable buildings?</a:t>
              </a:r>
            </a:p>
            <a:p>
              <a:pPr algn="just">
                <a:lnSpc>
                  <a:spcPts val="840"/>
                </a:lnSpc>
              </a:pPr>
              <a:endParaRPr lang="en-US" sz="2199" b="1">
                <a:solidFill>
                  <a:srgbClr val="000000"/>
                </a:solidFill>
                <a:latin typeface="Open Sans 1 Bold"/>
                <a:ea typeface="Open Sans 1 Bold"/>
                <a:cs typeface="Open Sans 1 Bold"/>
                <a:sym typeface="Open Sans 1 Bold"/>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Operate for performance</a:t>
              </a:r>
              <a:r>
                <a:rPr lang="en-US" sz="1999">
                  <a:solidFill>
                    <a:srgbClr val="000000"/>
                  </a:solidFill>
                  <a:latin typeface="Open Sans 1"/>
                  <a:ea typeface="Open Sans 1"/>
                  <a:cs typeface="Open Sans 1"/>
                  <a:sym typeface="Open Sans 1"/>
                </a:rPr>
                <a:t>. Instant Group flags three levers: </a:t>
              </a:r>
              <a:r>
                <a:rPr lang="en-US" sz="1999" b="1">
                  <a:solidFill>
                    <a:srgbClr val="000000"/>
                  </a:solidFill>
                  <a:latin typeface="Open Sans 1 Bold"/>
                  <a:ea typeface="Open Sans 1 Bold"/>
                  <a:cs typeface="Open Sans 1 Bold"/>
                  <a:sym typeface="Open Sans 1 Bold"/>
                </a:rPr>
                <a:t>energy </a:t>
              </a:r>
              <a:r>
                <a:rPr lang="en-US" sz="1999">
                  <a:solidFill>
                    <a:srgbClr val="000000"/>
                  </a:solidFill>
                  <a:latin typeface="Open Sans 1"/>
                  <a:ea typeface="Open Sans 1"/>
                  <a:cs typeface="Open Sans 1"/>
                  <a:sym typeface="Open Sans 1"/>
                </a:rPr>
                <a:t>(green tariffs, night audits, setpoint discipline),</a:t>
              </a:r>
              <a:r>
                <a:rPr lang="en-US" sz="1999" b="1">
                  <a:solidFill>
                    <a:srgbClr val="000000"/>
                  </a:solidFill>
                  <a:latin typeface="Open Sans 1 Bold"/>
                  <a:ea typeface="Open Sans 1 Bold"/>
                  <a:cs typeface="Open Sans 1 Bold"/>
                  <a:sym typeface="Open Sans 1 Bold"/>
                </a:rPr>
                <a:t> supply chain</a:t>
              </a:r>
              <a:r>
                <a:rPr lang="en-US" sz="1999">
                  <a:solidFill>
                    <a:srgbClr val="000000"/>
                  </a:solidFill>
                  <a:latin typeface="Open Sans 1"/>
                  <a:ea typeface="Open Sans 1"/>
                  <a:cs typeface="Open Sans 1"/>
                  <a:sym typeface="Open Sans 1"/>
                </a:rPr>
                <a:t> (screen suppliers for GHG targets), and </a:t>
              </a:r>
              <a:r>
                <a:rPr lang="en-US" sz="1999" b="1">
                  <a:solidFill>
                    <a:srgbClr val="000000"/>
                  </a:solidFill>
                  <a:latin typeface="Open Sans 1 Bold"/>
                  <a:ea typeface="Open Sans 1 Bold"/>
                  <a:cs typeface="Open Sans 1 Bold"/>
                  <a:sym typeface="Open Sans 1 Bold"/>
                </a:rPr>
                <a:t>data </a:t>
              </a:r>
              <a:r>
                <a:rPr lang="en-US" sz="1999">
                  <a:solidFill>
                    <a:srgbClr val="000000"/>
                  </a:solidFill>
                  <a:latin typeface="Open Sans 1"/>
                  <a:ea typeface="Open Sans 1"/>
                  <a:cs typeface="Open Sans 1"/>
                  <a:sym typeface="Open Sans 1"/>
                </a:rPr>
                <a:t>(shared, transparent metrics). These push down operational energy that operators directly control. </a:t>
              </a:r>
            </a:p>
            <a:p>
              <a:pPr algn="just">
                <a:lnSpc>
                  <a:spcPts val="840"/>
                </a:lnSpc>
              </a:pPr>
              <a:endParaRPr lang="en-US" sz="1999">
                <a:solidFill>
                  <a:srgbClr val="000000"/>
                </a:solidFill>
                <a:latin typeface="Open Sans 1"/>
                <a:ea typeface="Open Sans 1"/>
                <a:cs typeface="Open Sans 1"/>
                <a:sym typeface="Open Sans 1"/>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Retrofit &gt; new build</a:t>
              </a:r>
              <a:r>
                <a:rPr lang="en-US" sz="1999">
                  <a:solidFill>
                    <a:srgbClr val="000000"/>
                  </a:solidFill>
                  <a:latin typeface="Open Sans 1"/>
                  <a:ea typeface="Open Sans 1"/>
                  <a:cs typeface="Open Sans 1"/>
                  <a:sym typeface="Open Sans 1"/>
                </a:rPr>
                <a:t>. </a:t>
              </a:r>
            </a:p>
            <a:p>
              <a:pPr algn="just">
                <a:lnSpc>
                  <a:spcPts val="840"/>
                </a:lnSpc>
              </a:pPr>
              <a:endParaRPr lang="en-US" sz="1999">
                <a:solidFill>
                  <a:srgbClr val="000000"/>
                </a:solidFill>
                <a:latin typeface="Open Sans 1"/>
                <a:ea typeface="Open Sans 1"/>
                <a:cs typeface="Open Sans 1"/>
                <a:sym typeface="Open Sans 1"/>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Tactics in practice for lowering both embodied and operational loads.</a:t>
              </a:r>
              <a:r>
                <a:rPr lang="en-US" sz="1999">
                  <a:solidFill>
                    <a:srgbClr val="000000"/>
                  </a:solidFill>
                  <a:latin typeface="Open Sans 1"/>
                  <a:ea typeface="Open Sans 1"/>
                  <a:cs typeface="Open Sans 1"/>
                  <a:sym typeface="Open Sans 1"/>
                </a:rPr>
                <a:t> Eco-conscious operators deploy LED, smart controls, low-tox finishes, bamboo/renewable materials, bike storage, recycling &amp; smart tech.</a:t>
              </a:r>
            </a:p>
          </p:txBody>
        </p:sp>
      </p:grpSp>
      <p:grpSp>
        <p:nvGrpSpPr>
          <p:cNvPr id="11" name="Group 11"/>
          <p:cNvGrpSpPr/>
          <p:nvPr/>
        </p:nvGrpSpPr>
        <p:grpSpPr>
          <a:xfrm>
            <a:off x="443302" y="6754555"/>
            <a:ext cx="7574928" cy="3379951"/>
            <a:chOff x="0" y="0"/>
            <a:chExt cx="1995043" cy="890193"/>
          </a:xfrm>
        </p:grpSpPr>
        <p:sp>
          <p:nvSpPr>
            <p:cNvPr id="12" name="Freeform 12"/>
            <p:cNvSpPr/>
            <p:nvPr/>
          </p:nvSpPr>
          <p:spPr>
            <a:xfrm>
              <a:off x="0" y="0"/>
              <a:ext cx="1995043" cy="890193"/>
            </a:xfrm>
            <a:custGeom>
              <a:avLst/>
              <a:gdLst/>
              <a:ahLst/>
              <a:cxnLst/>
              <a:rect l="l" t="t" r="r" b="b"/>
              <a:pathLst>
                <a:path w="1995043" h="890193">
                  <a:moveTo>
                    <a:pt x="0" y="0"/>
                  </a:moveTo>
                  <a:lnTo>
                    <a:pt x="1995043" y="0"/>
                  </a:lnTo>
                  <a:lnTo>
                    <a:pt x="1995043" y="890193"/>
                  </a:lnTo>
                  <a:lnTo>
                    <a:pt x="0" y="890193"/>
                  </a:lnTo>
                  <a:close/>
                </a:path>
              </a:pathLst>
            </a:custGeom>
            <a:solidFill>
              <a:srgbClr val="FFF3C2"/>
            </a:solidFill>
          </p:spPr>
          <p:txBody>
            <a:bodyPr/>
            <a:lstStyle/>
            <a:p>
              <a:endParaRPr lang="en-US"/>
            </a:p>
          </p:txBody>
        </p:sp>
        <p:sp>
          <p:nvSpPr>
            <p:cNvPr id="13" name="TextBox 13"/>
            <p:cNvSpPr txBox="1"/>
            <p:nvPr/>
          </p:nvSpPr>
          <p:spPr>
            <a:xfrm>
              <a:off x="0" y="-57150"/>
              <a:ext cx="1995043" cy="947343"/>
            </a:xfrm>
            <a:prstGeom prst="rect">
              <a:avLst/>
            </a:prstGeom>
          </p:spPr>
          <p:txBody>
            <a:bodyPr lIns="50800" tIns="50800" rIns="50800" bIns="50800" rtlCol="0" anchor="ctr"/>
            <a:lstStyle/>
            <a:p>
              <a:pPr algn="l">
                <a:lnSpc>
                  <a:spcPts val="2920"/>
                </a:lnSpc>
              </a:pPr>
              <a:r>
                <a:rPr lang="en-US" sz="2000" b="1" u="sng">
                  <a:solidFill>
                    <a:srgbClr val="000000"/>
                  </a:solidFill>
                  <a:latin typeface="Open Sans 1 Bold"/>
                  <a:ea typeface="Open Sans 1 Bold"/>
                  <a:cs typeface="Open Sans 1 Bold"/>
                  <a:sym typeface="Open Sans 1 Bold"/>
                </a:rPr>
                <a:t>Industrious’ model already embodies the high-utilization principles central to sustainable real estate.</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Revenue alignment with landlords incentivizes high occupancy and low vacancy.</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Spaces can scale dynamically with demand, avoiding fixed-lease inefficiencies.</a:t>
              </a:r>
            </a:p>
            <a:p>
              <a:pPr algn="l">
                <a:lnSpc>
                  <a:spcPts val="2920"/>
                </a:lnSpc>
              </a:pPr>
              <a:r>
                <a:rPr lang="en-US" sz="2000" b="1" i="1">
                  <a:solidFill>
                    <a:srgbClr val="000000"/>
                  </a:solidFill>
                  <a:latin typeface="Open Sans 1 Bold Italics"/>
                  <a:ea typeface="Open Sans 1 Bold Italics"/>
                  <a:cs typeface="Open Sans 1 Bold Italics"/>
                  <a:sym typeface="Open Sans 1 Bold Italics"/>
                </a:rPr>
                <a:t>Improvement</a:t>
              </a:r>
              <a:r>
                <a:rPr lang="en-US" sz="2000" i="1">
                  <a:solidFill>
                    <a:srgbClr val="000000"/>
                  </a:solidFill>
                  <a:latin typeface="Open Sans 1 Italics"/>
                  <a:ea typeface="Open Sans 1 Italics"/>
                  <a:cs typeface="Open Sans 1 Italics"/>
                  <a:sym typeface="Open Sans 1 Italics"/>
                </a:rPr>
                <a:t>: deploy detailed occupancy analytics across all sites to identify low-use areas and optimize space allocation.</a:t>
              </a:r>
            </a:p>
          </p:txBody>
        </p:sp>
      </p:grpSp>
      <p:grpSp>
        <p:nvGrpSpPr>
          <p:cNvPr id="14" name="Group 14"/>
          <p:cNvGrpSpPr/>
          <p:nvPr/>
        </p:nvGrpSpPr>
        <p:grpSpPr>
          <a:xfrm>
            <a:off x="8194775" y="6392605"/>
            <a:ext cx="9707503" cy="3741901"/>
            <a:chOff x="0" y="0"/>
            <a:chExt cx="2556709" cy="985521"/>
          </a:xfrm>
        </p:grpSpPr>
        <p:sp>
          <p:nvSpPr>
            <p:cNvPr id="15" name="Freeform 15"/>
            <p:cNvSpPr/>
            <p:nvPr/>
          </p:nvSpPr>
          <p:spPr>
            <a:xfrm>
              <a:off x="0" y="0"/>
              <a:ext cx="2556709" cy="985521"/>
            </a:xfrm>
            <a:custGeom>
              <a:avLst/>
              <a:gdLst/>
              <a:ahLst/>
              <a:cxnLst/>
              <a:rect l="l" t="t" r="r" b="b"/>
              <a:pathLst>
                <a:path w="2556709" h="985521">
                  <a:moveTo>
                    <a:pt x="0" y="0"/>
                  </a:moveTo>
                  <a:lnTo>
                    <a:pt x="2556709" y="0"/>
                  </a:lnTo>
                  <a:lnTo>
                    <a:pt x="2556709" y="985521"/>
                  </a:lnTo>
                  <a:lnTo>
                    <a:pt x="0" y="985521"/>
                  </a:lnTo>
                  <a:close/>
                </a:path>
              </a:pathLst>
            </a:custGeom>
            <a:solidFill>
              <a:srgbClr val="FFF3C2"/>
            </a:solidFill>
          </p:spPr>
          <p:txBody>
            <a:bodyPr/>
            <a:lstStyle/>
            <a:p>
              <a:endParaRPr lang="en-US"/>
            </a:p>
          </p:txBody>
        </p:sp>
        <p:sp>
          <p:nvSpPr>
            <p:cNvPr id="16" name="TextBox 16"/>
            <p:cNvSpPr txBox="1"/>
            <p:nvPr/>
          </p:nvSpPr>
          <p:spPr>
            <a:xfrm>
              <a:off x="0" y="-57150"/>
              <a:ext cx="2556709" cy="1042671"/>
            </a:xfrm>
            <a:prstGeom prst="rect">
              <a:avLst/>
            </a:prstGeom>
          </p:spPr>
          <p:txBody>
            <a:bodyPr lIns="50800" tIns="50800" rIns="50800" bIns="50800" rtlCol="0" anchor="ctr"/>
            <a:lstStyle/>
            <a:p>
              <a:pPr algn="l">
                <a:lnSpc>
                  <a:spcPts val="2920"/>
                </a:lnSpc>
              </a:pPr>
              <a:r>
                <a:rPr lang="en-US" sz="2000" b="1" u="sng">
                  <a:solidFill>
                    <a:srgbClr val="000000"/>
                  </a:solidFill>
                  <a:latin typeface="Open Sans 1 Bold"/>
                  <a:ea typeface="Open Sans 1 Bold"/>
                  <a:cs typeface="Open Sans 1 Bold"/>
                  <a:sym typeface="Open Sans 1 Bold"/>
                </a:rPr>
                <a:t>Collaborative approach positions Industrious ahead of many coworking firms in advancing low-carbon and circular workspace design.</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Working directly with landlords allows Industrious to influence retrofit and design decisions early.</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Adaptive reuse rather than new construction, significantly lowering embodied carbon while modernizing existing assets.</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Shared capital investment with property owners enables sustainable materials, efficient systems, and circular fit-outs without overextending costs.</a:t>
              </a:r>
            </a:p>
            <a:p>
              <a:pPr algn="l">
                <a:lnSpc>
                  <a:spcPts val="2920"/>
                </a:lnSpc>
              </a:pPr>
              <a:r>
                <a:rPr lang="en-US" sz="2000" b="1" i="1">
                  <a:solidFill>
                    <a:srgbClr val="000000"/>
                  </a:solidFill>
                  <a:latin typeface="Open Sans 1 Bold Italics"/>
                  <a:ea typeface="Open Sans 1 Bold Italics"/>
                  <a:cs typeface="Open Sans 1 Bold Italics"/>
                  <a:sym typeface="Open Sans 1 Bold Italics"/>
                </a:rPr>
                <a:t>Improvement</a:t>
              </a:r>
              <a:r>
                <a:rPr lang="en-US" sz="2000" i="1">
                  <a:solidFill>
                    <a:srgbClr val="000000"/>
                  </a:solidFill>
                  <a:latin typeface="Open Sans 1 Italics"/>
                  <a:ea typeface="Open Sans 1 Italics"/>
                  <a:cs typeface="Open Sans 1 Italics"/>
                  <a:sym typeface="Open Sans 1 Italics"/>
                </a:rPr>
                <a:t>: formalize sustainable design guidelines and integrate embodied carbon tracking across projects.</a:t>
              </a:r>
            </a:p>
          </p:txBody>
        </p:sp>
      </p:grpSp>
      <p:sp>
        <p:nvSpPr>
          <p:cNvPr id="17" name="Freeform 17"/>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7304" y="2050967"/>
            <a:ext cx="8076053" cy="4482337"/>
            <a:chOff x="0" y="0"/>
            <a:chExt cx="2127026" cy="1180533"/>
          </a:xfrm>
        </p:grpSpPr>
        <p:sp>
          <p:nvSpPr>
            <p:cNvPr id="3" name="Freeform 3"/>
            <p:cNvSpPr/>
            <p:nvPr/>
          </p:nvSpPr>
          <p:spPr>
            <a:xfrm>
              <a:off x="0" y="0"/>
              <a:ext cx="2127026" cy="1180533"/>
            </a:xfrm>
            <a:custGeom>
              <a:avLst/>
              <a:gdLst/>
              <a:ahLst/>
              <a:cxnLst/>
              <a:rect l="l" t="t" r="r" b="b"/>
              <a:pathLst>
                <a:path w="2127026" h="1180533">
                  <a:moveTo>
                    <a:pt x="0" y="0"/>
                  </a:moveTo>
                  <a:lnTo>
                    <a:pt x="2127026" y="0"/>
                  </a:lnTo>
                  <a:lnTo>
                    <a:pt x="2127026" y="1180533"/>
                  </a:lnTo>
                  <a:lnTo>
                    <a:pt x="0" y="1180533"/>
                  </a:lnTo>
                  <a:close/>
                </a:path>
              </a:pathLst>
            </a:custGeom>
          </p:spPr>
          <p:txBody>
            <a:bodyPr/>
            <a:lstStyle/>
            <a:p>
              <a:endParaRPr lang="en-US"/>
            </a:p>
          </p:txBody>
        </p:sp>
        <p:sp>
          <p:nvSpPr>
            <p:cNvPr id="4" name="TextBox 4"/>
            <p:cNvSpPr txBox="1"/>
            <p:nvPr/>
          </p:nvSpPr>
          <p:spPr>
            <a:xfrm>
              <a:off x="0" y="47625"/>
              <a:ext cx="2127026" cy="1132908"/>
            </a:xfrm>
            <a:prstGeom prst="rect">
              <a:avLst/>
            </a:prstGeom>
          </p:spPr>
          <p:txBody>
            <a:bodyPr lIns="50800" tIns="50800" rIns="50800" bIns="50800" rtlCol="0" anchor="ctr"/>
            <a:lstStyle/>
            <a:p>
              <a:pPr algn="just">
                <a:lnSpc>
                  <a:spcPts val="2199"/>
                </a:lnSpc>
              </a:pPr>
              <a:r>
                <a:rPr lang="en-US" sz="2199" b="1">
                  <a:solidFill>
                    <a:srgbClr val="000000"/>
                  </a:solidFill>
                  <a:latin typeface="Open Sans 1 Bold"/>
                  <a:ea typeface="Open Sans 1 Bold"/>
                  <a:cs typeface="Open Sans 1 Bold"/>
                  <a:sym typeface="Open Sans 1 Bold"/>
                </a:rPr>
                <a:t>2.1 Does the design and atmosphere of coworking spaces measurably improve client productivity and satisfaction?</a:t>
              </a:r>
            </a:p>
            <a:p>
              <a:pPr algn="just">
                <a:lnSpc>
                  <a:spcPts val="999"/>
                </a:lnSpc>
              </a:pPr>
              <a:endParaRPr lang="en-US" sz="2199" b="1">
                <a:solidFill>
                  <a:srgbClr val="000000"/>
                </a:solidFill>
                <a:latin typeface="Open Sans 1 Bold"/>
                <a:ea typeface="Open Sans 1 Bold"/>
                <a:cs typeface="Open Sans 1 Bold"/>
                <a:sym typeface="Open Sans 1 Bold"/>
              </a:endParaRPr>
            </a:p>
            <a:p>
              <a:pPr marL="431799" lvl="1" indent="-215899" algn="just">
                <a:lnSpc>
                  <a:spcPts val="1999"/>
                </a:lnSpc>
                <a:buFont typeface="Arial"/>
                <a:buChar char="•"/>
              </a:pPr>
              <a:r>
                <a:rPr lang="en-US" sz="1999" b="1">
                  <a:solidFill>
                    <a:srgbClr val="000000"/>
                  </a:solidFill>
                  <a:latin typeface="Open Sans 1 Bold"/>
                  <a:ea typeface="Open Sans 1 Bold"/>
                  <a:cs typeface="Open Sans 1 Bold"/>
                  <a:sym typeface="Open Sans 1 Bold"/>
                </a:rPr>
                <a:t>Atmosphere × satisfaction link.</a:t>
              </a:r>
              <a:r>
                <a:rPr lang="en-US" sz="1999">
                  <a:solidFill>
                    <a:srgbClr val="000000"/>
                  </a:solidFill>
                  <a:latin typeface="Open Sans 1"/>
                  <a:ea typeface="Open Sans 1"/>
                  <a:cs typeface="Open Sans 1"/>
                  <a:sym typeface="Open Sans 1"/>
                </a:rPr>
                <a:t> Research shows a strong correlation (~0.71) between coworking atmosphere and client satisfaction, rising to ~0.79 when service quality (design + hospitality) is included. </a:t>
              </a:r>
            </a:p>
            <a:p>
              <a:pPr algn="just">
                <a:lnSpc>
                  <a:spcPts val="999"/>
                </a:lnSpc>
              </a:pPr>
              <a:endParaRPr lang="en-US" sz="1999">
                <a:solidFill>
                  <a:srgbClr val="000000"/>
                </a:solidFill>
                <a:latin typeface="Open Sans 1"/>
                <a:ea typeface="Open Sans 1"/>
                <a:cs typeface="Open Sans 1"/>
                <a:sym typeface="Open Sans 1"/>
              </a:endParaRPr>
            </a:p>
            <a:p>
              <a:pPr marL="431799" lvl="1" indent="-215899" algn="just">
                <a:lnSpc>
                  <a:spcPts val="1999"/>
                </a:lnSpc>
                <a:buFont typeface="Arial"/>
                <a:buChar char="•"/>
              </a:pPr>
              <a:r>
                <a:rPr lang="en-US" sz="1999" b="1">
                  <a:solidFill>
                    <a:srgbClr val="000000"/>
                  </a:solidFill>
                  <a:latin typeface="Open Sans 1 Bold"/>
                  <a:ea typeface="Open Sans 1 Bold"/>
                  <a:cs typeface="Open Sans 1 Bold"/>
                  <a:sym typeface="Open Sans 1 Bold"/>
                </a:rPr>
                <a:t>Design mechanisms. </a:t>
              </a:r>
              <a:r>
                <a:rPr lang="en-US" sz="1999">
                  <a:solidFill>
                    <a:srgbClr val="000000"/>
                  </a:solidFill>
                  <a:latin typeface="Open Sans 1"/>
                  <a:ea typeface="Open Sans 1"/>
                  <a:cs typeface="Open Sans 1"/>
                  <a:sym typeface="Open Sans 1"/>
                </a:rPr>
                <a:t>Intentional layouts, task-based zoning (quiet, collaboration, meeting), and quality lighting reduce distraction and improve perceived productivity vs. home settings.</a:t>
              </a:r>
            </a:p>
            <a:p>
              <a:pPr algn="just">
                <a:lnSpc>
                  <a:spcPts val="999"/>
                </a:lnSpc>
              </a:pPr>
              <a:endParaRPr lang="en-US" sz="1999">
                <a:solidFill>
                  <a:srgbClr val="000000"/>
                </a:solidFill>
                <a:latin typeface="Open Sans 1"/>
                <a:ea typeface="Open Sans 1"/>
                <a:cs typeface="Open Sans 1"/>
                <a:sym typeface="Open Sans 1"/>
              </a:endParaRPr>
            </a:p>
            <a:p>
              <a:pPr marL="431799" lvl="1" indent="-215899" algn="just">
                <a:lnSpc>
                  <a:spcPts val="1999"/>
                </a:lnSpc>
                <a:buFont typeface="Arial"/>
                <a:buChar char="•"/>
              </a:pPr>
              <a:r>
                <a:rPr lang="en-US" sz="1999" b="1">
                  <a:solidFill>
                    <a:srgbClr val="000000"/>
                  </a:solidFill>
                  <a:latin typeface="Open Sans 1 Bold"/>
                  <a:ea typeface="Open Sans 1 Bold"/>
                  <a:cs typeface="Open Sans 1 Bold"/>
                  <a:sym typeface="Open Sans 1 Bold"/>
                </a:rPr>
                <a:t>Professional environment effect.</a:t>
              </a:r>
              <a:r>
                <a:rPr lang="en-US" sz="1999">
                  <a:solidFill>
                    <a:srgbClr val="000000"/>
                  </a:solidFill>
                  <a:latin typeface="Open Sans 1"/>
                  <a:ea typeface="Open Sans 1"/>
                  <a:cs typeface="Open Sans 1"/>
                  <a:sym typeface="Open Sans 1"/>
                </a:rPr>
                <a:t> Structured, dedicated spaces foster accountability, fewer interruptions, and better amenities (meeting rooms, reliable Wi-Fi), consistently cited as productivity drivers.</a:t>
              </a:r>
            </a:p>
          </p:txBody>
        </p:sp>
      </p:grpSp>
      <p:grpSp>
        <p:nvGrpSpPr>
          <p:cNvPr id="5" name="Group 5"/>
          <p:cNvGrpSpPr/>
          <p:nvPr/>
        </p:nvGrpSpPr>
        <p:grpSpPr>
          <a:xfrm>
            <a:off x="384454" y="6348601"/>
            <a:ext cx="8059629" cy="3871724"/>
            <a:chOff x="0" y="0"/>
            <a:chExt cx="2122701" cy="1019713"/>
          </a:xfrm>
        </p:grpSpPr>
        <p:sp>
          <p:nvSpPr>
            <p:cNvPr id="6" name="Freeform 6"/>
            <p:cNvSpPr/>
            <p:nvPr/>
          </p:nvSpPr>
          <p:spPr>
            <a:xfrm>
              <a:off x="0" y="0"/>
              <a:ext cx="2122701" cy="1019713"/>
            </a:xfrm>
            <a:custGeom>
              <a:avLst/>
              <a:gdLst/>
              <a:ahLst/>
              <a:cxnLst/>
              <a:rect l="l" t="t" r="r" b="b"/>
              <a:pathLst>
                <a:path w="2122701" h="1019713">
                  <a:moveTo>
                    <a:pt x="0" y="0"/>
                  </a:moveTo>
                  <a:lnTo>
                    <a:pt x="2122701" y="0"/>
                  </a:lnTo>
                  <a:lnTo>
                    <a:pt x="2122701" y="1019713"/>
                  </a:lnTo>
                  <a:lnTo>
                    <a:pt x="0" y="1019713"/>
                  </a:lnTo>
                  <a:close/>
                </a:path>
              </a:pathLst>
            </a:custGeom>
          </p:spPr>
          <p:txBody>
            <a:bodyPr/>
            <a:lstStyle/>
            <a:p>
              <a:endParaRPr lang="en-US"/>
            </a:p>
          </p:txBody>
        </p:sp>
        <p:sp>
          <p:nvSpPr>
            <p:cNvPr id="7" name="TextBox 7"/>
            <p:cNvSpPr txBox="1"/>
            <p:nvPr/>
          </p:nvSpPr>
          <p:spPr>
            <a:xfrm>
              <a:off x="0" y="0"/>
              <a:ext cx="2122701" cy="1019713"/>
            </a:xfrm>
            <a:prstGeom prst="rect">
              <a:avLst/>
            </a:prstGeom>
          </p:spPr>
          <p:txBody>
            <a:bodyPr lIns="50800" tIns="50800" rIns="50800" bIns="50800" rtlCol="0" anchor="ctr"/>
            <a:lstStyle/>
            <a:p>
              <a:pPr algn="just">
                <a:lnSpc>
                  <a:spcPts val="2639"/>
                </a:lnSpc>
              </a:pPr>
              <a:r>
                <a:rPr lang="en-US" sz="2199" b="1">
                  <a:solidFill>
                    <a:srgbClr val="000000"/>
                  </a:solidFill>
                  <a:latin typeface="Open Sans 1 Bold"/>
                  <a:ea typeface="Open Sans 1 Bold"/>
                  <a:cs typeface="Open Sans 1 Bold"/>
                  <a:sym typeface="Open Sans 1 Bold"/>
                </a:rPr>
                <a:t>2.2 Can coworking models increase the satisfaction of employees?</a:t>
              </a:r>
            </a:p>
            <a:p>
              <a:pPr algn="just">
                <a:lnSpc>
                  <a:spcPts val="1199"/>
                </a:lnSpc>
              </a:pPr>
              <a:endParaRPr lang="en-US" sz="2199" b="1">
                <a:solidFill>
                  <a:srgbClr val="000000"/>
                </a:solidFill>
                <a:latin typeface="Open Sans 1 Bold"/>
                <a:ea typeface="Open Sans 1 Bold"/>
                <a:cs typeface="Open Sans 1 Bold"/>
                <a:sym typeface="Open Sans 1 Bold"/>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Wellbeing advantage vs home/HQ</a:t>
              </a:r>
              <a:r>
                <a:rPr lang="en-US" sz="1999">
                  <a:solidFill>
                    <a:srgbClr val="000000"/>
                  </a:solidFill>
                  <a:latin typeface="Open Sans 1"/>
                  <a:ea typeface="Open Sans 1"/>
                  <a:cs typeface="Open Sans 1"/>
                  <a:sym typeface="Open Sans 1"/>
                </a:rPr>
                <a:t>. Large-scale HBR studies show coworkers experience greater social fulfillment due to autonomy in choosing where and with whom to work. Coworking enables relational job crafting, improving meaning and satisfaction</a:t>
              </a:r>
            </a:p>
            <a:p>
              <a:pPr algn="just">
                <a:lnSpc>
                  <a:spcPts val="1199"/>
                </a:lnSpc>
              </a:pPr>
              <a:endParaRPr lang="en-US" sz="1999">
                <a:solidFill>
                  <a:srgbClr val="000000"/>
                </a:solidFill>
                <a:latin typeface="Open Sans 1"/>
                <a:ea typeface="Open Sans 1"/>
                <a:cs typeface="Open Sans 1"/>
                <a:sym typeface="Open Sans 1"/>
              </a:endParaRPr>
            </a:p>
            <a:p>
              <a:pPr marL="431799" lvl="1" indent="-215899" algn="just">
                <a:lnSpc>
                  <a:spcPts val="2399"/>
                </a:lnSpc>
                <a:buFont typeface="Arial"/>
                <a:buChar char="•"/>
              </a:pPr>
              <a:r>
                <a:rPr lang="en-US" sz="1999" b="1">
                  <a:solidFill>
                    <a:srgbClr val="000000"/>
                  </a:solidFill>
                  <a:latin typeface="Open Sans 1 Bold"/>
                  <a:ea typeface="Open Sans 1 Bold"/>
                  <a:cs typeface="Open Sans 1 Bold"/>
                  <a:sym typeface="Open Sans 1 Bold"/>
                </a:rPr>
                <a:t>Mechanisms that matter</a:t>
              </a:r>
              <a:r>
                <a:rPr lang="en-US" sz="1999">
                  <a:solidFill>
                    <a:srgbClr val="000000"/>
                  </a:solidFill>
                  <a:latin typeface="Open Sans 1"/>
                  <a:ea typeface="Open Sans 1"/>
                  <a:cs typeface="Open Sans 1"/>
                  <a:sym typeface="Open Sans 1"/>
                </a:rPr>
                <a:t>. Autonomy (choice of zone/people), community interactions, and varied amenities underpin higher satisfaction and can translate into engagement/retention gains when adopted at scale.</a:t>
              </a:r>
            </a:p>
          </p:txBody>
        </p:sp>
      </p:grpSp>
      <p:sp>
        <p:nvSpPr>
          <p:cNvPr id="8" name="TextBox 8"/>
          <p:cNvSpPr txBox="1"/>
          <p:nvPr/>
        </p:nvSpPr>
        <p:spPr>
          <a:xfrm>
            <a:off x="327304" y="498512"/>
            <a:ext cx="13137004" cy="782245"/>
          </a:xfrm>
          <a:prstGeom prst="rect">
            <a:avLst/>
          </a:prstGeom>
        </p:spPr>
        <p:txBody>
          <a:bodyPr lIns="0" tIns="0" rIns="0" bIns="0" rtlCol="0" anchor="t">
            <a:spAutoFit/>
          </a:bodyPr>
          <a:lstStyle/>
          <a:p>
            <a:pPr marL="0" lvl="0" indent="0" algn="just">
              <a:lnSpc>
                <a:spcPts val="5653"/>
              </a:lnSpc>
              <a:spcBef>
                <a:spcPct val="0"/>
              </a:spcBef>
            </a:pPr>
            <a:r>
              <a:rPr lang="en-US" sz="6281" b="1">
                <a:solidFill>
                  <a:srgbClr val="FDD344"/>
                </a:solidFill>
                <a:latin typeface="Montserrat Bold"/>
                <a:ea typeface="Montserrat Bold"/>
                <a:cs typeface="Montserrat Bold"/>
                <a:sym typeface="Montserrat Bold"/>
              </a:rPr>
              <a:t>INDUSTRIOUS’ NET </a:t>
            </a:r>
            <a:r>
              <a:rPr lang="en-US" sz="6281" b="1">
                <a:solidFill>
                  <a:srgbClr val="FFFFFF"/>
                </a:solidFill>
                <a:latin typeface="Montserrat Bold"/>
                <a:ea typeface="Montserrat Bold"/>
                <a:cs typeface="Montserrat Bold"/>
                <a:sym typeface="Montserrat Bold"/>
              </a:rPr>
              <a:t>POSITIVITY </a:t>
            </a:r>
          </a:p>
        </p:txBody>
      </p:sp>
      <p:sp>
        <p:nvSpPr>
          <p:cNvPr id="9" name="TextBox 9"/>
          <p:cNvSpPr txBox="1"/>
          <p:nvPr/>
        </p:nvSpPr>
        <p:spPr>
          <a:xfrm>
            <a:off x="384454" y="1025487"/>
            <a:ext cx="17189927" cy="481965"/>
          </a:xfrm>
          <a:prstGeom prst="rect">
            <a:avLst/>
          </a:prstGeom>
        </p:spPr>
        <p:txBody>
          <a:bodyPr lIns="0" tIns="0" rIns="0" bIns="0" rtlCol="0" anchor="t">
            <a:spAutoFit/>
          </a:bodyPr>
          <a:lstStyle/>
          <a:p>
            <a:pPr marL="0" lvl="0" indent="0" algn="l">
              <a:lnSpc>
                <a:spcPts val="3600"/>
              </a:lnSpc>
            </a:pPr>
            <a:r>
              <a:rPr lang="en-US" sz="3600">
                <a:solidFill>
                  <a:srgbClr val="000000"/>
                </a:solidFill>
                <a:latin typeface="Halimum"/>
                <a:ea typeface="Halimum"/>
                <a:cs typeface="Halimum"/>
                <a:sym typeface="Halimum"/>
              </a:rPr>
              <a:t>Key Results</a:t>
            </a:r>
          </a:p>
        </p:txBody>
      </p:sp>
      <p:sp>
        <p:nvSpPr>
          <p:cNvPr id="10" name="TextBox 10"/>
          <p:cNvSpPr txBox="1"/>
          <p:nvPr/>
        </p:nvSpPr>
        <p:spPr>
          <a:xfrm>
            <a:off x="327304" y="1638852"/>
            <a:ext cx="15240576" cy="412115"/>
          </a:xfrm>
          <a:prstGeom prst="rect">
            <a:avLst/>
          </a:prstGeom>
        </p:spPr>
        <p:txBody>
          <a:bodyPr lIns="0" tIns="0" rIns="0" bIns="0" rtlCol="0" anchor="t">
            <a:spAutoFit/>
          </a:bodyPr>
          <a:lstStyle/>
          <a:p>
            <a:pPr marL="0" lvl="0" indent="0" algn="just">
              <a:lnSpc>
                <a:spcPts val="3100"/>
              </a:lnSpc>
            </a:pPr>
            <a:r>
              <a:rPr lang="en-US" sz="3100" b="1">
                <a:solidFill>
                  <a:srgbClr val="FDD344"/>
                </a:solidFill>
                <a:latin typeface="Open Sans 1 Bold"/>
                <a:ea typeface="Open Sans 1 Bold"/>
                <a:cs typeface="Open Sans 1 Bold"/>
                <a:sym typeface="Open Sans 1 Bold"/>
              </a:rPr>
              <a:t>2. How does Industrious embed sustainability into its operations and culture?</a:t>
            </a:r>
          </a:p>
        </p:txBody>
      </p:sp>
      <p:grpSp>
        <p:nvGrpSpPr>
          <p:cNvPr id="11" name="Group 11"/>
          <p:cNvGrpSpPr/>
          <p:nvPr/>
        </p:nvGrpSpPr>
        <p:grpSpPr>
          <a:xfrm>
            <a:off x="8705440" y="2298617"/>
            <a:ext cx="9030866" cy="7652228"/>
            <a:chOff x="0" y="0"/>
            <a:chExt cx="2378500" cy="2015402"/>
          </a:xfrm>
        </p:grpSpPr>
        <p:sp>
          <p:nvSpPr>
            <p:cNvPr id="12" name="Freeform 12"/>
            <p:cNvSpPr/>
            <p:nvPr/>
          </p:nvSpPr>
          <p:spPr>
            <a:xfrm>
              <a:off x="0" y="0"/>
              <a:ext cx="2378500" cy="2015402"/>
            </a:xfrm>
            <a:custGeom>
              <a:avLst/>
              <a:gdLst/>
              <a:ahLst/>
              <a:cxnLst/>
              <a:rect l="l" t="t" r="r" b="b"/>
              <a:pathLst>
                <a:path w="2378500" h="2015402">
                  <a:moveTo>
                    <a:pt x="0" y="0"/>
                  </a:moveTo>
                  <a:lnTo>
                    <a:pt x="2378500" y="0"/>
                  </a:lnTo>
                  <a:lnTo>
                    <a:pt x="2378500" y="2015402"/>
                  </a:lnTo>
                  <a:lnTo>
                    <a:pt x="0" y="2015402"/>
                  </a:lnTo>
                  <a:close/>
                </a:path>
              </a:pathLst>
            </a:custGeom>
            <a:solidFill>
              <a:srgbClr val="FFF3C2"/>
            </a:solidFill>
          </p:spPr>
          <p:txBody>
            <a:bodyPr/>
            <a:lstStyle/>
            <a:p>
              <a:endParaRPr lang="en-US"/>
            </a:p>
          </p:txBody>
        </p:sp>
        <p:sp>
          <p:nvSpPr>
            <p:cNvPr id="13" name="TextBox 13"/>
            <p:cNvSpPr txBox="1"/>
            <p:nvPr/>
          </p:nvSpPr>
          <p:spPr>
            <a:xfrm>
              <a:off x="0" y="-57150"/>
              <a:ext cx="2378500" cy="2072552"/>
            </a:xfrm>
            <a:prstGeom prst="rect">
              <a:avLst/>
            </a:prstGeom>
          </p:spPr>
          <p:txBody>
            <a:bodyPr lIns="50800" tIns="50800" rIns="50800" bIns="50800" rtlCol="0" anchor="ctr"/>
            <a:lstStyle/>
            <a:p>
              <a:pPr algn="l">
                <a:lnSpc>
                  <a:spcPts val="2920"/>
                </a:lnSpc>
              </a:pPr>
              <a:r>
                <a:rPr lang="en-US" sz="2000" b="1">
                  <a:solidFill>
                    <a:srgbClr val="000000"/>
                  </a:solidFill>
                  <a:latin typeface="Open Sans 1 Bold"/>
                  <a:ea typeface="Open Sans 1 Bold"/>
                  <a:cs typeface="Open Sans 1 Bold"/>
                  <a:sym typeface="Open Sans 1 Bold"/>
                </a:rPr>
                <a:t>Industrious connects operational stability with employee and member wellbeing, and demonstrates how financial sustainability directly enables human-centric, high-quality work environments.</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Partnership-based model allows co-investment with landlords in design quality, user comfort, and workplace wellbeing across its network.</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Shared funding maintains high design and hospitality standards, directly supporting focus and productivity.</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Operational stability enables consistent community programs, wellness initiatives, and social engagement that strengthen belonging and mental wellbeing.</a:t>
              </a:r>
            </a:p>
            <a:p>
              <a:pPr marL="431802" lvl="1" indent="-215901" algn="l">
                <a:lnSpc>
                  <a:spcPts val="2920"/>
                </a:lnSpc>
                <a:buFont typeface="Arial"/>
                <a:buChar char="•"/>
              </a:pPr>
              <a:r>
                <a:rPr lang="en-US" sz="2000">
                  <a:solidFill>
                    <a:srgbClr val="000000"/>
                  </a:solidFill>
                  <a:latin typeface="Open Sans 1"/>
                  <a:ea typeface="Open Sans 1"/>
                  <a:cs typeface="Open Sans 1"/>
                  <a:sym typeface="Open Sans 1"/>
                </a:rPr>
                <a:t>Durable, people-centered communities that align with its net-positive culture goals (unlike operators with volatile lease cycles).</a:t>
              </a:r>
            </a:p>
            <a:p>
              <a:pPr algn="l">
                <a:lnSpc>
                  <a:spcPts val="2920"/>
                </a:lnSpc>
              </a:pPr>
              <a:r>
                <a:rPr lang="en-US" sz="2000" b="1" i="1">
                  <a:solidFill>
                    <a:srgbClr val="000000"/>
                  </a:solidFill>
                  <a:latin typeface="Open Sans 1 Bold Italics"/>
                  <a:ea typeface="Open Sans 1 Bold Italics"/>
                  <a:cs typeface="Open Sans 1 Bold Italics"/>
                  <a:sym typeface="Open Sans 1 Bold Italics"/>
                </a:rPr>
                <a:t>Improvement opportunities:</a:t>
              </a:r>
            </a:p>
            <a:p>
              <a:pPr marL="431802" lvl="1" indent="-215901" algn="l">
                <a:lnSpc>
                  <a:spcPts val="2920"/>
                </a:lnSpc>
                <a:buFont typeface="Arial"/>
                <a:buChar char="•"/>
              </a:pPr>
              <a:r>
                <a:rPr lang="en-US" sz="2000" i="1">
                  <a:solidFill>
                    <a:srgbClr val="000000"/>
                  </a:solidFill>
                  <a:latin typeface="Open Sans 1 Italics"/>
                  <a:ea typeface="Open Sans 1 Italics"/>
                  <a:cs typeface="Open Sans 1 Italics"/>
                  <a:sym typeface="Open Sans 1 Italics"/>
                </a:rPr>
                <a:t>Systematize wellbeing and satisfaction tracking (e.g., NPS, engagement, focus metrics) and include these outcomes in sustainability reporting to demonstrate social impact over time.</a:t>
              </a:r>
            </a:p>
            <a:p>
              <a:pPr marL="431802" lvl="1" indent="-215901" algn="l">
                <a:lnSpc>
                  <a:spcPts val="2920"/>
                </a:lnSpc>
                <a:buFont typeface="Arial"/>
                <a:buChar char="•"/>
              </a:pPr>
              <a:r>
                <a:rPr lang="en-US" sz="2000" i="1">
                  <a:solidFill>
                    <a:srgbClr val="000000"/>
                  </a:solidFill>
                  <a:latin typeface="Open Sans 1 Italics"/>
                  <a:ea typeface="Open Sans 1 Italics"/>
                  <a:cs typeface="Open Sans 1 Italics"/>
                  <a:sym typeface="Open Sans 1 Italics"/>
                </a:rPr>
                <a:t>Scale structured wellness programs: while local wellness and community events exist, Industrious could standardize company-wide wellbeing frameworks (mental health partnerships, active-commute incentives, air quality monitoring) across all markets.</a:t>
              </a:r>
            </a:p>
          </p:txBody>
        </p:sp>
      </p:grpSp>
      <p:sp>
        <p:nvSpPr>
          <p:cNvPr id="14" name="Freeform 14"/>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9661" y="1880138"/>
            <a:ext cx="14771043" cy="393065"/>
          </a:xfrm>
          <a:prstGeom prst="rect">
            <a:avLst/>
          </a:prstGeom>
        </p:spPr>
        <p:txBody>
          <a:bodyPr lIns="0" tIns="0" rIns="0" bIns="0" rtlCol="0" anchor="t">
            <a:spAutoFit/>
          </a:bodyPr>
          <a:lstStyle/>
          <a:p>
            <a:pPr algn="ctr">
              <a:lnSpc>
                <a:spcPts val="3099"/>
              </a:lnSpc>
              <a:spcBef>
                <a:spcPct val="0"/>
              </a:spcBef>
            </a:pPr>
            <a:r>
              <a:rPr lang="en-US" sz="3099" b="1">
                <a:solidFill>
                  <a:srgbClr val="FDD344"/>
                </a:solidFill>
                <a:latin typeface="Open Sans 1 Bold"/>
                <a:ea typeface="Open Sans 1 Bold"/>
                <a:cs typeface="Open Sans 1 Bold"/>
                <a:sym typeface="Open Sans 1 Bold"/>
              </a:rPr>
              <a:t>3. How does Industrious act as a systemic catalyst for a net positive future?</a:t>
            </a:r>
          </a:p>
        </p:txBody>
      </p:sp>
      <p:sp>
        <p:nvSpPr>
          <p:cNvPr id="3" name="TextBox 3"/>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ISSUE ANALYSIS</a:t>
            </a:r>
          </a:p>
        </p:txBody>
      </p:sp>
      <p:sp>
        <p:nvSpPr>
          <p:cNvPr id="4" name="TextBox 4"/>
          <p:cNvSpPr txBox="1"/>
          <p:nvPr/>
        </p:nvSpPr>
        <p:spPr>
          <a:xfrm>
            <a:off x="384454" y="962260"/>
            <a:ext cx="14941863"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Net Positive Catalyst Assessment</a:t>
            </a:r>
          </a:p>
        </p:txBody>
      </p:sp>
      <p:sp>
        <p:nvSpPr>
          <p:cNvPr id="5" name="TextBox 5"/>
          <p:cNvSpPr txBox="1"/>
          <p:nvPr/>
        </p:nvSpPr>
        <p:spPr>
          <a:xfrm>
            <a:off x="384454" y="2551702"/>
            <a:ext cx="6758108" cy="7476090"/>
          </a:xfrm>
          <a:prstGeom prst="rect">
            <a:avLst/>
          </a:prstGeom>
        </p:spPr>
        <p:txBody>
          <a:bodyPr lIns="0" tIns="0" rIns="0" bIns="0" rtlCol="0" anchor="t">
            <a:spAutoFit/>
          </a:bodyPr>
          <a:lstStyle/>
          <a:p>
            <a:pPr algn="l">
              <a:lnSpc>
                <a:spcPts val="2640"/>
              </a:lnSpc>
            </a:pPr>
            <a:r>
              <a:rPr lang="en-US" sz="2200" b="1">
                <a:solidFill>
                  <a:srgbClr val="000000"/>
                </a:solidFill>
                <a:latin typeface="Open Sans 1 Bold"/>
                <a:ea typeface="Open Sans 1 Bold"/>
                <a:cs typeface="Open Sans 1 Bold"/>
                <a:sym typeface="Open Sans 1 Bold"/>
              </a:rPr>
              <a:t>3.1 Is Industrious influencing industry norms, regulation, or consumer awareness?</a:t>
            </a:r>
          </a:p>
          <a:p>
            <a:pPr algn="ctr">
              <a:lnSpc>
                <a:spcPts val="960"/>
              </a:lnSpc>
            </a:pPr>
            <a:endParaRPr lang="en-US" sz="2200" b="1">
              <a:solidFill>
                <a:srgbClr val="000000"/>
              </a:solidFill>
              <a:latin typeface="Open Sans 1 Bold"/>
              <a:ea typeface="Open Sans 1 Bold"/>
              <a:cs typeface="Open Sans 1 Bold"/>
              <a:sym typeface="Open Sans 1 Bold"/>
            </a:endParaRPr>
          </a:p>
          <a:p>
            <a:pPr marL="431798" lvl="1" indent="-215899" algn="just">
              <a:lnSpc>
                <a:spcPts val="2399"/>
              </a:lnSpc>
              <a:buFont typeface="Arial"/>
              <a:buChar char="•"/>
            </a:pPr>
            <a:r>
              <a:rPr lang="en-US" sz="1999" spc="23">
                <a:solidFill>
                  <a:srgbClr val="000000"/>
                </a:solidFill>
                <a:latin typeface="Open Sans 1"/>
                <a:ea typeface="Open Sans 1"/>
                <a:cs typeface="Open Sans 1"/>
                <a:sym typeface="Open Sans 1"/>
              </a:rPr>
              <a:t>Industrious became </a:t>
            </a:r>
            <a:r>
              <a:rPr lang="en-US" sz="1999" b="1" spc="23">
                <a:solidFill>
                  <a:srgbClr val="000000"/>
                </a:solidFill>
                <a:latin typeface="Open Sans 1 Bold"/>
                <a:ea typeface="Open Sans 1 Bold"/>
                <a:cs typeface="Open Sans 1 Bold"/>
                <a:sym typeface="Open Sans 1 Bold"/>
              </a:rPr>
              <a:t>the first coworking provider to obtain the WELL Coworking Rating</a:t>
            </a:r>
            <a:r>
              <a:rPr lang="en-US" sz="1999" spc="23">
                <a:solidFill>
                  <a:srgbClr val="000000"/>
                </a:solidFill>
                <a:latin typeface="Open Sans 1"/>
                <a:ea typeface="Open Sans 1"/>
                <a:cs typeface="Open Sans 1"/>
                <a:sym typeface="Open Sans 1"/>
              </a:rPr>
              <a:t> (7 sites across London &amp; Manchester), now part of a global network of 250+ locations in 65 cities (Propmodo, 2023).</a:t>
            </a:r>
          </a:p>
          <a:p>
            <a:pPr algn="just">
              <a:lnSpc>
                <a:spcPts val="960"/>
              </a:lnSpc>
            </a:pPr>
            <a:endParaRPr lang="en-US" sz="1999" spc="23">
              <a:solidFill>
                <a:srgbClr val="000000"/>
              </a:solidFill>
              <a:latin typeface="Open Sans 1"/>
              <a:ea typeface="Open Sans 1"/>
              <a:cs typeface="Open Sans 1"/>
              <a:sym typeface="Open Sans 1"/>
            </a:endParaRPr>
          </a:p>
          <a:p>
            <a:pPr marL="431798" lvl="1" indent="-215899" algn="just">
              <a:lnSpc>
                <a:spcPts val="2399"/>
              </a:lnSpc>
              <a:buFont typeface="Arial"/>
              <a:buChar char="•"/>
            </a:pPr>
            <a:r>
              <a:rPr lang="en-US" sz="1999" spc="23">
                <a:solidFill>
                  <a:srgbClr val="000000"/>
                </a:solidFill>
                <a:latin typeface="Open Sans 1"/>
                <a:ea typeface="Open Sans 1"/>
                <a:cs typeface="Open Sans 1"/>
                <a:sym typeface="Open Sans 1"/>
              </a:rPr>
              <a:t>This recognition sets </a:t>
            </a:r>
            <a:r>
              <a:rPr lang="en-US" sz="1999" b="1" spc="23">
                <a:solidFill>
                  <a:srgbClr val="000000"/>
                </a:solidFill>
                <a:latin typeface="Open Sans 1 Bold"/>
                <a:ea typeface="Open Sans 1 Bold"/>
                <a:cs typeface="Open Sans 1 Bold"/>
                <a:sym typeface="Open Sans 1 Bold"/>
              </a:rPr>
              <a:t>a new industry benchmark</a:t>
            </a:r>
            <a:r>
              <a:rPr lang="en-US" sz="1999" spc="23">
                <a:solidFill>
                  <a:srgbClr val="000000"/>
                </a:solidFill>
                <a:latin typeface="Open Sans 1"/>
                <a:ea typeface="Open Sans 1"/>
                <a:cs typeface="Open Sans 1"/>
                <a:sym typeface="Open Sans 1"/>
              </a:rPr>
              <a:t> for health and wellness in flexible workplaces.</a:t>
            </a:r>
          </a:p>
          <a:p>
            <a:pPr algn="just">
              <a:lnSpc>
                <a:spcPts val="960"/>
              </a:lnSpc>
            </a:pPr>
            <a:endParaRPr lang="en-US" sz="1999" spc="23">
              <a:solidFill>
                <a:srgbClr val="000000"/>
              </a:solidFill>
              <a:latin typeface="Open Sans 1"/>
              <a:ea typeface="Open Sans 1"/>
              <a:cs typeface="Open Sans 1"/>
              <a:sym typeface="Open Sans 1"/>
            </a:endParaRPr>
          </a:p>
          <a:p>
            <a:pPr marL="431798" lvl="1" indent="-215899" algn="just">
              <a:lnSpc>
                <a:spcPts val="2399"/>
              </a:lnSpc>
              <a:buFont typeface="Arial"/>
              <a:buChar char="•"/>
            </a:pPr>
            <a:r>
              <a:rPr lang="en-US" sz="1999" spc="23">
                <a:solidFill>
                  <a:srgbClr val="000000"/>
                </a:solidFill>
                <a:latin typeface="Open Sans 1"/>
                <a:ea typeface="Open Sans 1"/>
                <a:cs typeface="Open Sans 1"/>
                <a:sym typeface="Open Sans 1"/>
              </a:rPr>
              <a:t>Through collaboration with The Instant Group, Industrious’ WELL-certified spaces are now searchable across </a:t>
            </a:r>
            <a:r>
              <a:rPr lang="en-US" sz="1999" b="1" spc="23">
                <a:solidFill>
                  <a:srgbClr val="000000"/>
                </a:solidFill>
                <a:latin typeface="Open Sans 1 Bold"/>
                <a:ea typeface="Open Sans 1 Bold"/>
                <a:cs typeface="Open Sans 1 Bold"/>
                <a:sym typeface="Open Sans 1 Bold"/>
              </a:rPr>
              <a:t>350,000 flexible workplaces,</a:t>
            </a:r>
            <a:r>
              <a:rPr lang="en-US" sz="1999" spc="23">
                <a:solidFill>
                  <a:srgbClr val="000000"/>
                </a:solidFill>
                <a:latin typeface="Open Sans 1"/>
                <a:ea typeface="Open Sans 1"/>
                <a:cs typeface="Open Sans 1"/>
                <a:sym typeface="Open Sans 1"/>
              </a:rPr>
              <a:t> improving transparency and awareness among workspace users (Propmodo, 2023).</a:t>
            </a:r>
          </a:p>
          <a:p>
            <a:pPr algn="just">
              <a:lnSpc>
                <a:spcPts val="960"/>
              </a:lnSpc>
            </a:pPr>
            <a:endParaRPr lang="en-US" sz="1999" spc="23">
              <a:solidFill>
                <a:srgbClr val="000000"/>
              </a:solidFill>
              <a:latin typeface="Open Sans 1"/>
              <a:ea typeface="Open Sans 1"/>
              <a:cs typeface="Open Sans 1"/>
              <a:sym typeface="Open Sans 1"/>
            </a:endParaRPr>
          </a:p>
          <a:p>
            <a:pPr marL="431798" lvl="1" indent="-215899" algn="just">
              <a:lnSpc>
                <a:spcPts val="2399"/>
              </a:lnSpc>
              <a:buFont typeface="Arial"/>
              <a:buChar char="•"/>
            </a:pPr>
            <a:r>
              <a:rPr lang="en-US" sz="1999" spc="23">
                <a:solidFill>
                  <a:srgbClr val="000000"/>
                </a:solidFill>
                <a:latin typeface="Open Sans 1"/>
                <a:ea typeface="Open Sans 1"/>
                <a:cs typeface="Open Sans 1"/>
                <a:sym typeface="Open Sans 1"/>
              </a:rPr>
              <a:t>Its NPS of 82 among 40,000+ members demonstrates world-class satisfaction, reinforcing the brand’s leadership and positive reputation (Industrious, 2023).</a:t>
            </a:r>
          </a:p>
          <a:p>
            <a:pPr algn="just">
              <a:lnSpc>
                <a:spcPts val="960"/>
              </a:lnSpc>
            </a:pPr>
            <a:endParaRPr lang="en-US" sz="1999" spc="23">
              <a:solidFill>
                <a:srgbClr val="000000"/>
              </a:solidFill>
              <a:latin typeface="Open Sans 1"/>
              <a:ea typeface="Open Sans 1"/>
              <a:cs typeface="Open Sans 1"/>
              <a:sym typeface="Open Sans 1"/>
            </a:endParaRPr>
          </a:p>
          <a:p>
            <a:pPr marL="431798" lvl="1" indent="-215899" algn="just">
              <a:lnSpc>
                <a:spcPts val="2399"/>
              </a:lnSpc>
              <a:buFont typeface="Arial"/>
              <a:buChar char="•"/>
            </a:pPr>
            <a:r>
              <a:rPr lang="en-US" sz="1999" spc="23">
                <a:solidFill>
                  <a:srgbClr val="000000"/>
                </a:solidFill>
                <a:latin typeface="Open Sans 1"/>
                <a:ea typeface="Open Sans 1"/>
                <a:cs typeface="Open Sans 1"/>
                <a:sym typeface="Open Sans 1"/>
              </a:rPr>
              <a:t>Brand initiatives such as “Industrious You” and Powering Purpose emphasize human-centered, community-oriented culture, influencing expectations across the coworking industry (Industrious, 2023).</a:t>
            </a:r>
          </a:p>
        </p:txBody>
      </p:sp>
      <p:sp>
        <p:nvSpPr>
          <p:cNvPr id="6" name="TextBox 6"/>
          <p:cNvSpPr txBox="1"/>
          <p:nvPr/>
        </p:nvSpPr>
        <p:spPr>
          <a:xfrm>
            <a:off x="7709560" y="2589802"/>
            <a:ext cx="7304599" cy="6283556"/>
          </a:xfrm>
          <a:prstGeom prst="rect">
            <a:avLst/>
          </a:prstGeom>
        </p:spPr>
        <p:txBody>
          <a:bodyPr lIns="0" tIns="0" rIns="0" bIns="0" rtlCol="0" anchor="t">
            <a:spAutoFit/>
          </a:bodyPr>
          <a:lstStyle/>
          <a:p>
            <a:pPr algn="just">
              <a:lnSpc>
                <a:spcPts val="2200"/>
              </a:lnSpc>
              <a:spcBef>
                <a:spcPct val="0"/>
              </a:spcBef>
            </a:pPr>
            <a:r>
              <a:rPr lang="en-US" sz="2200" b="1">
                <a:solidFill>
                  <a:srgbClr val="000000"/>
                </a:solidFill>
                <a:latin typeface="Open Sans 1 Bold"/>
                <a:ea typeface="Open Sans 1 Bold"/>
                <a:cs typeface="Open Sans 1 Bold"/>
                <a:sym typeface="Open Sans 1 Bold"/>
              </a:rPr>
              <a:t>3.2 Could it create an economy of scale allowing companies to spend less on workplaces?</a:t>
            </a:r>
          </a:p>
          <a:p>
            <a:pPr algn="just">
              <a:lnSpc>
                <a:spcPts val="800"/>
              </a:lnSpc>
              <a:spcBef>
                <a:spcPct val="0"/>
              </a:spcBef>
            </a:pPr>
            <a:endParaRPr lang="en-US" sz="2200" b="1">
              <a:solidFill>
                <a:srgbClr val="000000"/>
              </a:solidFill>
              <a:latin typeface="Open Sans 1 Bold"/>
              <a:ea typeface="Open Sans 1 Bold"/>
              <a:cs typeface="Open Sans 1 Bold"/>
              <a:sym typeface="Open Sans 1 Bold"/>
            </a:endParaRPr>
          </a:p>
          <a:p>
            <a:pPr marL="431798" lvl="1" indent="-215899" algn="just">
              <a:lnSpc>
                <a:spcPts val="2619"/>
              </a:lnSpc>
              <a:buFont typeface="Arial"/>
              <a:buChar char="•"/>
            </a:pPr>
            <a:r>
              <a:rPr lang="en-US" sz="1999" spc="23">
                <a:solidFill>
                  <a:srgbClr val="000000"/>
                </a:solidFill>
                <a:latin typeface="Open Sans 1"/>
                <a:ea typeface="Open Sans 1"/>
                <a:cs typeface="Open Sans 1"/>
                <a:sym typeface="Open Sans 1"/>
              </a:rPr>
              <a:t>The coworking model allows businesses </a:t>
            </a:r>
            <a:r>
              <a:rPr lang="en-US" sz="1999" b="1" spc="23">
                <a:solidFill>
                  <a:srgbClr val="000000"/>
                </a:solidFill>
                <a:latin typeface="Open Sans 1 Bold"/>
                <a:ea typeface="Open Sans 1 Bold"/>
                <a:cs typeface="Open Sans 1 Bold"/>
                <a:sym typeface="Open Sans 1 Bold"/>
              </a:rPr>
              <a:t>to avoid long-term leases and benefit from shared utilities and amenities</a:t>
            </a:r>
            <a:r>
              <a:rPr lang="en-US" sz="1999" spc="23">
                <a:solidFill>
                  <a:srgbClr val="000000"/>
                </a:solidFill>
                <a:latin typeface="Open Sans 1"/>
                <a:ea typeface="Open Sans 1"/>
                <a:cs typeface="Open Sans 1"/>
                <a:sym typeface="Open Sans 1"/>
              </a:rPr>
              <a:t>, significantly reducing fixed overheads per user (Office Hub, 2023).</a:t>
            </a:r>
          </a:p>
          <a:p>
            <a:pPr algn="just">
              <a:lnSpc>
                <a:spcPts val="1048"/>
              </a:lnSpc>
            </a:pPr>
            <a:endParaRPr lang="en-US" sz="1999" spc="23">
              <a:solidFill>
                <a:srgbClr val="000000"/>
              </a:solidFill>
              <a:latin typeface="Open Sans 1"/>
              <a:ea typeface="Open Sans 1"/>
              <a:cs typeface="Open Sans 1"/>
              <a:sym typeface="Open Sans 1"/>
            </a:endParaRPr>
          </a:p>
          <a:p>
            <a:pPr marL="431798" lvl="1" indent="-215899" algn="just">
              <a:lnSpc>
                <a:spcPts val="2619"/>
              </a:lnSpc>
              <a:buFont typeface="Arial"/>
              <a:buChar char="•"/>
            </a:pPr>
            <a:r>
              <a:rPr lang="en-US" sz="1999" spc="23">
                <a:solidFill>
                  <a:srgbClr val="000000"/>
                </a:solidFill>
                <a:latin typeface="Open Sans 1"/>
                <a:ea typeface="Open Sans 1"/>
                <a:cs typeface="Open Sans 1"/>
                <a:sym typeface="Open Sans 1"/>
              </a:rPr>
              <a:t>Scaling across multiple locations enables Industrious to negotiate supplier deals, standardize operations, and achieve economies of scale (Coworking Resources, 2023).</a:t>
            </a:r>
          </a:p>
          <a:p>
            <a:pPr algn="just">
              <a:lnSpc>
                <a:spcPts val="1048"/>
              </a:lnSpc>
            </a:pPr>
            <a:endParaRPr lang="en-US" sz="1999" spc="23">
              <a:solidFill>
                <a:srgbClr val="000000"/>
              </a:solidFill>
              <a:latin typeface="Open Sans 1"/>
              <a:ea typeface="Open Sans 1"/>
              <a:cs typeface="Open Sans 1"/>
              <a:sym typeface="Open Sans 1"/>
            </a:endParaRPr>
          </a:p>
          <a:p>
            <a:pPr marL="431798" lvl="1" indent="-215899" algn="just">
              <a:lnSpc>
                <a:spcPts val="2619"/>
              </a:lnSpc>
              <a:buFont typeface="Arial"/>
              <a:buChar char="•"/>
            </a:pPr>
            <a:r>
              <a:rPr lang="en-US" sz="1999" spc="23">
                <a:solidFill>
                  <a:srgbClr val="000000"/>
                </a:solidFill>
                <a:latin typeface="Open Sans 1"/>
                <a:ea typeface="Open Sans 1"/>
                <a:cs typeface="Open Sans 1"/>
                <a:sym typeface="Open Sans 1"/>
              </a:rPr>
              <a:t>With occupancy rates above </a:t>
            </a:r>
            <a:r>
              <a:rPr lang="en-US" sz="1999" b="1" spc="23">
                <a:solidFill>
                  <a:srgbClr val="000000"/>
                </a:solidFill>
                <a:latin typeface="Open Sans 1 Bold"/>
                <a:ea typeface="Open Sans 1 Bold"/>
                <a:cs typeface="Open Sans 1 Bold"/>
                <a:sym typeface="Open Sans 1 Bold"/>
              </a:rPr>
              <a:t>80%, and ~20% lower operational costs</a:t>
            </a:r>
            <a:r>
              <a:rPr lang="en-US" sz="1999" spc="23">
                <a:solidFill>
                  <a:srgbClr val="000000"/>
                </a:solidFill>
                <a:latin typeface="Open Sans 1"/>
                <a:ea typeface="Open Sans 1"/>
                <a:cs typeface="Open Sans 1"/>
                <a:sym typeface="Open Sans 1"/>
              </a:rPr>
              <a:t> through technology and centralized management, Industrious delivers a profitable, efficient, and sustainable workspace model (FinModelsLab, 2023).</a:t>
            </a:r>
          </a:p>
          <a:p>
            <a:pPr algn="just">
              <a:lnSpc>
                <a:spcPts val="1048"/>
              </a:lnSpc>
            </a:pPr>
            <a:endParaRPr lang="en-US" sz="1999" spc="23">
              <a:solidFill>
                <a:srgbClr val="000000"/>
              </a:solidFill>
              <a:latin typeface="Open Sans 1"/>
              <a:ea typeface="Open Sans 1"/>
              <a:cs typeface="Open Sans 1"/>
              <a:sym typeface="Open Sans 1"/>
            </a:endParaRPr>
          </a:p>
          <a:p>
            <a:pPr marL="431798" lvl="1" indent="-215899" algn="just">
              <a:lnSpc>
                <a:spcPts val="2619"/>
              </a:lnSpc>
              <a:buFont typeface="Arial"/>
              <a:buChar char="•"/>
            </a:pPr>
            <a:r>
              <a:rPr lang="en-US" sz="1999" spc="23">
                <a:solidFill>
                  <a:srgbClr val="000000"/>
                </a:solidFill>
                <a:latin typeface="Open Sans 1"/>
                <a:ea typeface="Open Sans 1"/>
                <a:cs typeface="Open Sans 1"/>
                <a:sym typeface="Open Sans 1"/>
              </a:rPr>
              <a:t>Supported by CBRE’s full acquisition in 2025 </a:t>
            </a:r>
            <a:r>
              <a:rPr lang="en-US" sz="1999" b="1" spc="23">
                <a:solidFill>
                  <a:srgbClr val="000000"/>
                </a:solidFill>
                <a:latin typeface="Open Sans 1 Bold"/>
                <a:ea typeface="Open Sans 1 Bold"/>
                <a:cs typeface="Open Sans 1 Bold"/>
                <a:sym typeface="Open Sans 1 Bold"/>
              </a:rPr>
              <a:t>(valuing Industrious at ~$800M),</a:t>
            </a:r>
            <a:r>
              <a:rPr lang="en-US" sz="1999" spc="23">
                <a:solidFill>
                  <a:srgbClr val="000000"/>
                </a:solidFill>
                <a:latin typeface="Open Sans 1"/>
                <a:ea typeface="Open Sans 1"/>
                <a:cs typeface="Open Sans 1"/>
                <a:sym typeface="Open Sans 1"/>
              </a:rPr>
              <a:t> the model has proven its economic resilience and scalability (CBRE, 2025).</a:t>
            </a:r>
          </a:p>
          <a:p>
            <a:pPr algn="just">
              <a:lnSpc>
                <a:spcPts val="2619"/>
              </a:lnSpc>
            </a:pPr>
            <a:endParaRPr lang="en-US" sz="1999" spc="23">
              <a:solidFill>
                <a:srgbClr val="000000"/>
              </a:solidFill>
              <a:latin typeface="Open Sans 1"/>
              <a:ea typeface="Open Sans 1"/>
              <a:cs typeface="Open Sans 1"/>
              <a:sym typeface="Open Sans 1"/>
            </a:endParaRPr>
          </a:p>
        </p:txBody>
      </p:sp>
      <p:sp>
        <p:nvSpPr>
          <p:cNvPr id="7" name="Freeform 7"/>
          <p:cNvSpPr/>
          <p:nvPr/>
        </p:nvSpPr>
        <p:spPr>
          <a:xfrm>
            <a:off x="16460008" y="312742"/>
            <a:ext cx="935061" cy="1357620"/>
          </a:xfrm>
          <a:custGeom>
            <a:avLst/>
            <a:gdLst/>
            <a:ahLst/>
            <a:cxnLst/>
            <a:rect l="l" t="t" r="r" b="b"/>
            <a:pathLst>
              <a:path w="935061" h="1357620">
                <a:moveTo>
                  <a:pt x="0" y="0"/>
                </a:moveTo>
                <a:lnTo>
                  <a:pt x="935061" y="0"/>
                </a:lnTo>
                <a:lnTo>
                  <a:pt x="935061" y="1357620"/>
                </a:lnTo>
                <a:lnTo>
                  <a:pt x="0" y="1357620"/>
                </a:lnTo>
                <a:lnTo>
                  <a:pt x="0" y="0"/>
                </a:lnTo>
                <a:close/>
              </a:path>
            </a:pathLst>
          </a:custGeom>
          <a:blipFill>
            <a:blip r:embed="rId2"/>
            <a:stretch>
              <a:fillRect/>
            </a:stretch>
          </a:blipFill>
        </p:spPr>
        <p:txBody>
          <a:bodyPr/>
          <a:lstStyle/>
          <a:p>
            <a:endParaRPr lang="en-US"/>
          </a:p>
        </p:txBody>
      </p:sp>
      <p:sp>
        <p:nvSpPr>
          <p:cNvPr id="8" name="TextBox 8"/>
          <p:cNvSpPr txBox="1"/>
          <p:nvPr/>
        </p:nvSpPr>
        <p:spPr>
          <a:xfrm>
            <a:off x="15934415" y="1895595"/>
            <a:ext cx="1986247" cy="1868805"/>
          </a:xfrm>
          <a:prstGeom prst="rect">
            <a:avLst/>
          </a:prstGeom>
        </p:spPr>
        <p:txBody>
          <a:bodyPr lIns="0" tIns="0" rIns="0" bIns="0" rtlCol="0" anchor="t">
            <a:spAutoFit/>
          </a:bodyPr>
          <a:lstStyle/>
          <a:p>
            <a:pPr algn="ctr">
              <a:lnSpc>
                <a:spcPts val="2519"/>
              </a:lnSpc>
              <a:spcBef>
                <a:spcPct val="0"/>
              </a:spcBef>
            </a:pPr>
            <a:r>
              <a:rPr lang="en-US" sz="1799" b="1">
                <a:solidFill>
                  <a:srgbClr val="FDD344"/>
                </a:solidFill>
                <a:latin typeface="Open Sans 1 Bold"/>
                <a:ea typeface="Open Sans 1 Bold"/>
                <a:cs typeface="Open Sans 1 Bold"/>
                <a:sym typeface="Open Sans 1 Bold"/>
              </a:rPr>
              <a:t>WELL Coworking Rating (UK)</a:t>
            </a:r>
          </a:p>
          <a:p>
            <a:pPr algn="ctr">
              <a:lnSpc>
                <a:spcPts val="2519"/>
              </a:lnSpc>
              <a:spcBef>
                <a:spcPct val="0"/>
              </a:spcBef>
            </a:pPr>
            <a:r>
              <a:rPr lang="en-US" sz="1799">
                <a:solidFill>
                  <a:srgbClr val="FDD344"/>
                </a:solidFill>
                <a:latin typeface="Open Sans 1"/>
                <a:ea typeface="Open Sans 1"/>
                <a:cs typeface="Open Sans 1"/>
                <a:sym typeface="Open Sans 1"/>
              </a:rPr>
              <a:t> Recognized for health, comfort &amp; sustainability in workspace design.</a:t>
            </a:r>
          </a:p>
        </p:txBody>
      </p:sp>
      <p:grpSp>
        <p:nvGrpSpPr>
          <p:cNvPr id="9" name="Group 9"/>
          <p:cNvGrpSpPr/>
          <p:nvPr/>
        </p:nvGrpSpPr>
        <p:grpSpPr>
          <a:xfrm>
            <a:off x="7709560" y="8714607"/>
            <a:ext cx="10211102" cy="1313185"/>
            <a:chOff x="0" y="0"/>
            <a:chExt cx="2689344" cy="345859"/>
          </a:xfrm>
        </p:grpSpPr>
        <p:sp>
          <p:nvSpPr>
            <p:cNvPr id="10" name="Freeform 10"/>
            <p:cNvSpPr/>
            <p:nvPr/>
          </p:nvSpPr>
          <p:spPr>
            <a:xfrm>
              <a:off x="0" y="0"/>
              <a:ext cx="2689344" cy="345859"/>
            </a:xfrm>
            <a:custGeom>
              <a:avLst/>
              <a:gdLst/>
              <a:ahLst/>
              <a:cxnLst/>
              <a:rect l="l" t="t" r="r" b="b"/>
              <a:pathLst>
                <a:path w="2689344" h="345859">
                  <a:moveTo>
                    <a:pt x="0" y="0"/>
                  </a:moveTo>
                  <a:lnTo>
                    <a:pt x="2689344" y="0"/>
                  </a:lnTo>
                  <a:lnTo>
                    <a:pt x="2689344" y="345859"/>
                  </a:lnTo>
                  <a:lnTo>
                    <a:pt x="0" y="345859"/>
                  </a:lnTo>
                  <a:close/>
                </a:path>
              </a:pathLst>
            </a:custGeom>
            <a:solidFill>
              <a:srgbClr val="FFF3C2"/>
            </a:solidFill>
          </p:spPr>
          <p:txBody>
            <a:bodyPr/>
            <a:lstStyle/>
            <a:p>
              <a:endParaRPr lang="en-US"/>
            </a:p>
          </p:txBody>
        </p:sp>
        <p:sp>
          <p:nvSpPr>
            <p:cNvPr id="11" name="TextBox 11"/>
            <p:cNvSpPr txBox="1"/>
            <p:nvPr/>
          </p:nvSpPr>
          <p:spPr>
            <a:xfrm>
              <a:off x="0" y="-57150"/>
              <a:ext cx="2689344" cy="403009"/>
            </a:xfrm>
            <a:prstGeom prst="rect">
              <a:avLst/>
            </a:prstGeom>
          </p:spPr>
          <p:txBody>
            <a:bodyPr lIns="50800" tIns="50800" rIns="50800" bIns="50800" rtlCol="0" anchor="ctr"/>
            <a:lstStyle/>
            <a:p>
              <a:pPr algn="l">
                <a:lnSpc>
                  <a:spcPts val="2920"/>
                </a:lnSpc>
              </a:pPr>
              <a:r>
                <a:rPr lang="en-US" sz="2000" b="1">
                  <a:solidFill>
                    <a:srgbClr val="000000"/>
                  </a:solidFill>
                  <a:latin typeface="Open Sans 1 Bold"/>
                  <a:ea typeface="Open Sans 1 Bold"/>
                  <a:cs typeface="Open Sans 1 Bold"/>
                  <a:sym typeface="Open Sans 1 Bold"/>
                </a:rPr>
                <a:t>Industrious sets a replicable model for the real-estate sector, shifting from rent-driven to performance-driven value creation, advancing both economic and environmental sustainability.</a:t>
              </a:r>
            </a:p>
          </p:txBody>
        </p:sp>
      </p:grpSp>
      <p:sp>
        <p:nvSpPr>
          <p:cNvPr id="12" name="TextBox 12"/>
          <p:cNvSpPr txBox="1"/>
          <p:nvPr/>
        </p:nvSpPr>
        <p:spPr>
          <a:xfrm>
            <a:off x="15463630" y="4126505"/>
            <a:ext cx="2457032" cy="4288385"/>
          </a:xfrm>
          <a:prstGeom prst="rect">
            <a:avLst/>
          </a:prstGeom>
        </p:spPr>
        <p:txBody>
          <a:bodyPr lIns="0" tIns="0" rIns="0" bIns="0" rtlCol="0" anchor="t">
            <a:spAutoFit/>
          </a:bodyPr>
          <a:lstStyle/>
          <a:p>
            <a:pPr algn="l">
              <a:lnSpc>
                <a:spcPts val="2799"/>
              </a:lnSpc>
              <a:spcBef>
                <a:spcPct val="0"/>
              </a:spcBef>
            </a:pPr>
            <a:r>
              <a:rPr lang="en-US" sz="1999" b="1" i="1">
                <a:solidFill>
                  <a:srgbClr val="FDD344"/>
                </a:solidFill>
                <a:latin typeface="Open Sans 1 Bold Italics"/>
                <a:ea typeface="Open Sans 1 Bold Italics"/>
                <a:cs typeface="Open Sans 1 Bold Italics"/>
                <a:sym typeface="Open Sans 1 Bold Italics"/>
              </a:rPr>
              <a:t>“At Industrious, we’re building a new kind of workplace, one which puts employees’ needs at its center and empowers them to choose where and how they work.”</a:t>
            </a:r>
          </a:p>
          <a:p>
            <a:pPr algn="l">
              <a:lnSpc>
                <a:spcPts val="1120"/>
              </a:lnSpc>
              <a:spcBef>
                <a:spcPct val="0"/>
              </a:spcBef>
            </a:pPr>
            <a:endParaRPr lang="en-US" sz="1999" b="1" i="1">
              <a:solidFill>
                <a:srgbClr val="FDD344"/>
              </a:solidFill>
              <a:latin typeface="Open Sans 1 Bold Italics"/>
              <a:ea typeface="Open Sans 1 Bold Italics"/>
              <a:cs typeface="Open Sans 1 Bold Italics"/>
              <a:sym typeface="Open Sans 1 Bold Italics"/>
            </a:endParaRPr>
          </a:p>
          <a:p>
            <a:pPr algn="r">
              <a:lnSpc>
                <a:spcPts val="2799"/>
              </a:lnSpc>
              <a:spcBef>
                <a:spcPct val="0"/>
              </a:spcBef>
            </a:pPr>
            <a:r>
              <a:rPr lang="en-US" sz="1999" i="1">
                <a:solidFill>
                  <a:srgbClr val="FDD344"/>
                </a:solidFill>
                <a:latin typeface="Open Sans 1 Italics"/>
                <a:ea typeface="Open Sans 1 Italics"/>
                <a:cs typeface="Open Sans 1 Italics"/>
                <a:sym typeface="Open Sans 1 Italics"/>
              </a:rPr>
              <a:t>JAMIE HODARI,</a:t>
            </a:r>
          </a:p>
          <a:p>
            <a:pPr algn="r">
              <a:lnSpc>
                <a:spcPts val="2799"/>
              </a:lnSpc>
              <a:spcBef>
                <a:spcPct val="0"/>
              </a:spcBef>
            </a:pPr>
            <a:r>
              <a:rPr lang="en-US" sz="1999" i="1">
                <a:solidFill>
                  <a:srgbClr val="FDD344"/>
                </a:solidFill>
                <a:latin typeface="Open Sans 1 Italics"/>
                <a:ea typeface="Open Sans 1 Italics"/>
                <a:cs typeface="Open Sans 1 Italics"/>
                <a:sym typeface="Open Sans 1 Italics"/>
              </a:rPr>
              <a:t>COFOUNDER &amp; CEO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3137" y="3232296"/>
            <a:ext cx="6675841" cy="6703438"/>
            <a:chOff x="0" y="0"/>
            <a:chExt cx="1758246" cy="1765514"/>
          </a:xfrm>
        </p:grpSpPr>
        <p:sp>
          <p:nvSpPr>
            <p:cNvPr id="3" name="Freeform 3"/>
            <p:cNvSpPr/>
            <p:nvPr/>
          </p:nvSpPr>
          <p:spPr>
            <a:xfrm>
              <a:off x="0" y="0"/>
              <a:ext cx="1758246" cy="1765515"/>
            </a:xfrm>
            <a:custGeom>
              <a:avLst/>
              <a:gdLst/>
              <a:ahLst/>
              <a:cxnLst/>
              <a:rect l="l" t="t" r="r" b="b"/>
              <a:pathLst>
                <a:path w="1758246" h="1765515">
                  <a:moveTo>
                    <a:pt x="0" y="0"/>
                  </a:moveTo>
                  <a:lnTo>
                    <a:pt x="1758246" y="0"/>
                  </a:lnTo>
                  <a:lnTo>
                    <a:pt x="1758246" y="1765515"/>
                  </a:lnTo>
                  <a:lnTo>
                    <a:pt x="0" y="1765515"/>
                  </a:lnTo>
                  <a:close/>
                </a:path>
              </a:pathLst>
            </a:custGeom>
            <a:ln w="38100" cap="sq">
              <a:solidFill>
                <a:srgbClr val="FFE67E"/>
              </a:solidFill>
              <a:prstDash val="solid"/>
              <a:miter/>
            </a:ln>
          </p:spPr>
          <p:txBody>
            <a:bodyPr/>
            <a:lstStyle/>
            <a:p>
              <a:endParaRPr lang="en-US"/>
            </a:p>
          </p:txBody>
        </p:sp>
        <p:sp>
          <p:nvSpPr>
            <p:cNvPr id="4" name="TextBox 4"/>
            <p:cNvSpPr txBox="1"/>
            <p:nvPr/>
          </p:nvSpPr>
          <p:spPr>
            <a:xfrm>
              <a:off x="0" y="-38100"/>
              <a:ext cx="1758246" cy="1803614"/>
            </a:xfrm>
            <a:prstGeom prst="rect">
              <a:avLst/>
            </a:prstGeom>
          </p:spPr>
          <p:txBody>
            <a:bodyPr lIns="50800" tIns="50800" rIns="50800" bIns="50800" rtlCol="0" anchor="ctr"/>
            <a:lstStyle/>
            <a:p>
              <a:pPr algn="l">
                <a:lnSpc>
                  <a:spcPts val="3079"/>
                </a:lnSpc>
              </a:pPr>
              <a:r>
                <a:rPr lang="en-US" sz="2199" b="1">
                  <a:solidFill>
                    <a:srgbClr val="000000"/>
                  </a:solidFill>
                  <a:latin typeface="Open Sans 1 Bold"/>
                  <a:ea typeface="Open Sans 1 Bold"/>
                  <a:cs typeface="Open Sans 1 Bold"/>
                  <a:sym typeface="Open Sans 1 Bold"/>
                </a:rPr>
                <a:t>Business Model Mechanics</a:t>
              </a:r>
            </a:p>
            <a:p>
              <a:pPr algn="l">
                <a:lnSpc>
                  <a:spcPts val="839"/>
                </a:lnSpc>
              </a:pPr>
              <a:endParaRPr lang="en-US" sz="2199" b="1">
                <a:solidFill>
                  <a:srgbClr val="000000"/>
                </a:solidFill>
                <a:latin typeface="Open Sans 1 Bold"/>
                <a:ea typeface="Open Sans 1 Bold"/>
                <a:cs typeface="Open Sans 1 Bold"/>
                <a:sym typeface="Open Sans 1 Bold"/>
              </a:endParaRP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Asset-light scalability:</a:t>
              </a:r>
              <a:r>
                <a:rPr lang="en-US" sz="1999">
                  <a:solidFill>
                    <a:srgbClr val="000000"/>
                  </a:solidFill>
                  <a:latin typeface="Open Sans 1"/>
                  <a:ea typeface="Open Sans 1"/>
                  <a:cs typeface="Open Sans 1"/>
                  <a:sym typeface="Open Sans 1"/>
                </a:rPr>
                <a:t> Management agreements with landlords reduce fixed costs and capital exposure, allowing rapid replication across 160+ locations in 65+ cities.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High utilization, low carbon: </a:t>
              </a:r>
              <a:r>
                <a:rPr lang="en-US" sz="1999">
                  <a:solidFill>
                    <a:srgbClr val="000000"/>
                  </a:solidFill>
                  <a:latin typeface="Open Sans 1"/>
                  <a:ea typeface="Open Sans 1"/>
                  <a:cs typeface="Open Sans 1"/>
                  <a:sym typeface="Open Sans 1"/>
                </a:rPr>
                <a:t>Shared infrastructure achieves 11 kg CO₂e/m² vs 49 kg CO₂e/m² in traditional offices—~4× lower per-occupier emissions.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Adaptive reuse priority: </a:t>
              </a:r>
              <a:r>
                <a:rPr lang="en-US" sz="1999">
                  <a:solidFill>
                    <a:srgbClr val="000000"/>
                  </a:solidFill>
                  <a:latin typeface="Open Sans 1"/>
                  <a:ea typeface="Open Sans 1"/>
                  <a:cs typeface="Open Sans 1"/>
                  <a:sym typeface="Open Sans 1"/>
                </a:rPr>
                <a:t>70 % of sites located in green-certified or retrofitted buildings; focus on WELL and LEED standards.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Technology integration</a:t>
              </a:r>
              <a:r>
                <a:rPr lang="en-US" sz="1999">
                  <a:solidFill>
                    <a:srgbClr val="000000"/>
                  </a:solidFill>
                  <a:latin typeface="Open Sans 1"/>
                  <a:ea typeface="Open Sans 1"/>
                  <a:cs typeface="Open Sans 1"/>
                  <a:sym typeface="Open Sans 1"/>
                </a:rPr>
                <a:t>: Digital booking, analytics, and energy monitoring systems enable occupancy optimization and operational efficiency.</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Human-centered operations:</a:t>
              </a:r>
              <a:r>
                <a:rPr lang="en-US" sz="1999">
                  <a:solidFill>
                    <a:srgbClr val="000000"/>
                  </a:solidFill>
                  <a:latin typeface="Open Sans 1"/>
                  <a:ea typeface="Open Sans 1"/>
                  <a:cs typeface="Open Sans 1"/>
                  <a:sym typeface="Open Sans 1"/>
                </a:rPr>
                <a:t> Community managers and wellness programs strengthen satisfaction, retention (60–80 %), and productivity.</a:t>
              </a:r>
            </a:p>
          </p:txBody>
        </p:sp>
      </p:grpSp>
      <p:grpSp>
        <p:nvGrpSpPr>
          <p:cNvPr id="5" name="Group 5"/>
          <p:cNvGrpSpPr/>
          <p:nvPr/>
        </p:nvGrpSpPr>
        <p:grpSpPr>
          <a:xfrm>
            <a:off x="7610472" y="3446609"/>
            <a:ext cx="6165823" cy="6274813"/>
            <a:chOff x="0" y="0"/>
            <a:chExt cx="1623920" cy="1652626"/>
          </a:xfrm>
        </p:grpSpPr>
        <p:sp>
          <p:nvSpPr>
            <p:cNvPr id="6" name="Freeform 6"/>
            <p:cNvSpPr/>
            <p:nvPr/>
          </p:nvSpPr>
          <p:spPr>
            <a:xfrm>
              <a:off x="0" y="0"/>
              <a:ext cx="1623920" cy="1652626"/>
            </a:xfrm>
            <a:custGeom>
              <a:avLst/>
              <a:gdLst/>
              <a:ahLst/>
              <a:cxnLst/>
              <a:rect l="l" t="t" r="r" b="b"/>
              <a:pathLst>
                <a:path w="1623920" h="1652626">
                  <a:moveTo>
                    <a:pt x="0" y="0"/>
                  </a:moveTo>
                  <a:lnTo>
                    <a:pt x="1623920" y="0"/>
                  </a:lnTo>
                  <a:lnTo>
                    <a:pt x="1623920" y="1652626"/>
                  </a:lnTo>
                  <a:lnTo>
                    <a:pt x="0" y="1652626"/>
                  </a:lnTo>
                  <a:close/>
                </a:path>
              </a:pathLst>
            </a:custGeom>
            <a:solidFill>
              <a:srgbClr val="FFF3C2"/>
            </a:solidFill>
            <a:ln cap="sq">
              <a:noFill/>
              <a:prstDash val="solid"/>
              <a:miter/>
            </a:ln>
          </p:spPr>
          <p:txBody>
            <a:bodyPr/>
            <a:lstStyle/>
            <a:p>
              <a:endParaRPr lang="en-US"/>
            </a:p>
          </p:txBody>
        </p:sp>
        <p:sp>
          <p:nvSpPr>
            <p:cNvPr id="7" name="TextBox 7"/>
            <p:cNvSpPr txBox="1"/>
            <p:nvPr/>
          </p:nvSpPr>
          <p:spPr>
            <a:xfrm>
              <a:off x="0" y="-38100"/>
              <a:ext cx="1623920" cy="1690726"/>
            </a:xfrm>
            <a:prstGeom prst="rect">
              <a:avLst/>
            </a:prstGeom>
          </p:spPr>
          <p:txBody>
            <a:bodyPr lIns="50800" tIns="50800" rIns="50800" bIns="50800" rtlCol="0" anchor="ctr"/>
            <a:lstStyle/>
            <a:p>
              <a:pPr algn="l">
                <a:lnSpc>
                  <a:spcPts val="3079"/>
                </a:lnSpc>
              </a:pPr>
              <a:r>
                <a:rPr lang="en-US" sz="2199" b="1">
                  <a:solidFill>
                    <a:srgbClr val="000000"/>
                  </a:solidFill>
                  <a:latin typeface="Open Sans 1 Bold"/>
                  <a:ea typeface="Open Sans 1 Bold"/>
                  <a:cs typeface="Open Sans 1 Bold"/>
                  <a:sym typeface="Open Sans 1 Bold"/>
                </a:rPr>
                <a:t>Catalytic Effects on the Industry</a:t>
              </a:r>
            </a:p>
            <a:p>
              <a:pPr algn="l">
                <a:lnSpc>
                  <a:spcPts val="840"/>
                </a:lnSpc>
              </a:pPr>
              <a:endParaRPr lang="en-US" sz="2199" b="1">
                <a:solidFill>
                  <a:srgbClr val="000000"/>
                </a:solidFill>
                <a:latin typeface="Open Sans 1 Bold"/>
                <a:ea typeface="Open Sans 1 Bold"/>
                <a:cs typeface="Open Sans 1 Bold"/>
                <a:sym typeface="Open Sans 1 Bold"/>
              </a:endParaRP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Environmental impact: </a:t>
              </a:r>
              <a:r>
                <a:rPr lang="en-US" sz="1999">
                  <a:solidFill>
                    <a:srgbClr val="000000"/>
                  </a:solidFill>
                  <a:latin typeface="Open Sans 1"/>
                  <a:ea typeface="Open Sans 1"/>
                  <a:cs typeface="Open Sans 1"/>
                  <a:sym typeface="Open Sans 1"/>
                </a:rPr>
                <a:t>Shared infrastructure and retrofit-first approach reduce construction waste, embodied carbon, and commuting emissions.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Social value: </a:t>
              </a:r>
              <a:r>
                <a:rPr lang="en-US" sz="1999">
                  <a:solidFill>
                    <a:srgbClr val="000000"/>
                  </a:solidFill>
                  <a:latin typeface="Open Sans 1"/>
                  <a:ea typeface="Open Sans 1"/>
                  <a:cs typeface="Open Sans 1"/>
                  <a:sym typeface="Open Sans 1"/>
                </a:rPr>
                <a:t>WELL-certified spaces enhance wellbeing, autonomy, and belonging—creating healthier, more inclusive workplaces.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Economic inclusion: </a:t>
              </a:r>
              <a:r>
                <a:rPr lang="en-US" sz="1999">
                  <a:solidFill>
                    <a:srgbClr val="000000"/>
                  </a:solidFill>
                  <a:latin typeface="Open Sans 1"/>
                  <a:ea typeface="Open Sans 1"/>
                  <a:cs typeface="Open Sans 1"/>
                  <a:sym typeface="Open Sans 1"/>
                </a:rPr>
                <a:t>Shared leases cut costs by ~40 %, making premium work environments accessible to SMEs and startups.</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Industry influence: </a:t>
              </a:r>
              <a:r>
                <a:rPr lang="en-US" sz="1999">
                  <a:solidFill>
                    <a:srgbClr val="000000"/>
                  </a:solidFill>
                  <a:latin typeface="Open Sans 1"/>
                  <a:ea typeface="Open Sans 1"/>
                  <a:cs typeface="Open Sans 1"/>
                  <a:sym typeface="Open Sans 1"/>
                </a:rPr>
                <a:t>First coworking provider with the WELL Coworking Rating, setting new norms for health and sustainability.</a:t>
              </a:r>
            </a:p>
            <a:p>
              <a:pPr marL="431797" lvl="1" indent="-215899" algn="l">
                <a:lnSpc>
                  <a:spcPts val="2799"/>
                </a:lnSpc>
                <a:buFont typeface="Arial"/>
                <a:buChar char="•"/>
              </a:pPr>
              <a:r>
                <a:rPr lang="en-US" sz="1999" b="1">
                  <a:solidFill>
                    <a:srgbClr val="000000"/>
                  </a:solidFill>
                  <a:latin typeface="Open Sans 1 Bold"/>
                  <a:ea typeface="Open Sans 1 Bold"/>
                  <a:cs typeface="Open Sans 1 Bold"/>
                  <a:sym typeface="Open Sans 1 Bold"/>
                </a:rPr>
                <a:t>Investor validation: </a:t>
              </a:r>
              <a:r>
                <a:rPr lang="en-US" sz="1999">
                  <a:solidFill>
                    <a:srgbClr val="000000"/>
                  </a:solidFill>
                  <a:latin typeface="Open Sans 1"/>
                  <a:ea typeface="Open Sans 1"/>
                  <a:cs typeface="Open Sans 1"/>
                  <a:sym typeface="Open Sans 1"/>
                </a:rPr>
                <a:t>Acquisition by CBRE (2025) confirms the model’s resilience, credibility, and global scaling potential.</a:t>
              </a:r>
            </a:p>
          </p:txBody>
        </p:sp>
      </p:grpSp>
      <p:grpSp>
        <p:nvGrpSpPr>
          <p:cNvPr id="8" name="Group 8"/>
          <p:cNvGrpSpPr/>
          <p:nvPr/>
        </p:nvGrpSpPr>
        <p:grpSpPr>
          <a:xfrm>
            <a:off x="14237789" y="3872007"/>
            <a:ext cx="3577074" cy="5424016"/>
            <a:chOff x="0" y="0"/>
            <a:chExt cx="942110" cy="1428547"/>
          </a:xfrm>
        </p:grpSpPr>
        <p:sp>
          <p:nvSpPr>
            <p:cNvPr id="9" name="Freeform 9"/>
            <p:cNvSpPr/>
            <p:nvPr/>
          </p:nvSpPr>
          <p:spPr>
            <a:xfrm>
              <a:off x="0" y="0"/>
              <a:ext cx="942110" cy="1428547"/>
            </a:xfrm>
            <a:custGeom>
              <a:avLst/>
              <a:gdLst/>
              <a:ahLst/>
              <a:cxnLst/>
              <a:rect l="l" t="t" r="r" b="b"/>
              <a:pathLst>
                <a:path w="942110" h="1428547">
                  <a:moveTo>
                    <a:pt x="0" y="0"/>
                  </a:moveTo>
                  <a:lnTo>
                    <a:pt x="942110" y="0"/>
                  </a:lnTo>
                  <a:lnTo>
                    <a:pt x="942110" y="1428547"/>
                  </a:lnTo>
                  <a:lnTo>
                    <a:pt x="0" y="1428547"/>
                  </a:lnTo>
                  <a:close/>
                </a:path>
              </a:pathLst>
            </a:custGeom>
            <a:solidFill>
              <a:srgbClr val="FFE67E"/>
            </a:solidFill>
            <a:ln cap="sq">
              <a:noFill/>
              <a:prstDash val="solid"/>
              <a:miter/>
            </a:ln>
          </p:spPr>
          <p:txBody>
            <a:bodyPr/>
            <a:lstStyle/>
            <a:p>
              <a:endParaRPr lang="en-US"/>
            </a:p>
          </p:txBody>
        </p:sp>
        <p:sp>
          <p:nvSpPr>
            <p:cNvPr id="10" name="TextBox 10"/>
            <p:cNvSpPr txBox="1"/>
            <p:nvPr/>
          </p:nvSpPr>
          <p:spPr>
            <a:xfrm>
              <a:off x="0" y="-38100"/>
              <a:ext cx="942110" cy="1466647"/>
            </a:xfrm>
            <a:prstGeom prst="rect">
              <a:avLst/>
            </a:prstGeom>
          </p:spPr>
          <p:txBody>
            <a:bodyPr lIns="50800" tIns="50800" rIns="50800" bIns="50800" rtlCol="0" anchor="ctr"/>
            <a:lstStyle/>
            <a:p>
              <a:pPr algn="l">
                <a:lnSpc>
                  <a:spcPts val="2799"/>
                </a:lnSpc>
              </a:pPr>
              <a:r>
                <a:rPr lang="en-US" sz="1999" b="1">
                  <a:solidFill>
                    <a:srgbClr val="000000"/>
                  </a:solidFill>
                  <a:latin typeface="Open Sans 1 Bold"/>
                  <a:ea typeface="Open Sans 1 Bold"/>
                  <a:cs typeface="Open Sans 1 Bold"/>
                  <a:sym typeface="Open Sans 1 Bold"/>
                </a:rPr>
                <a:t>Industrious </a:t>
              </a:r>
              <a:r>
                <a:rPr lang="en-US" sz="1999">
                  <a:solidFill>
                    <a:srgbClr val="000000"/>
                  </a:solidFill>
                  <a:latin typeface="Open Sans 1"/>
                  <a:ea typeface="Open Sans 1"/>
                  <a:cs typeface="Open Sans 1"/>
                  <a:sym typeface="Open Sans 1"/>
                </a:rPr>
                <a:t>exemplifies a</a:t>
              </a:r>
              <a:r>
                <a:rPr lang="en-US" sz="1999" b="1">
                  <a:solidFill>
                    <a:srgbClr val="000000"/>
                  </a:solidFill>
                  <a:latin typeface="Open Sans 1 Bold"/>
                  <a:ea typeface="Open Sans 1 Bold"/>
                  <a:cs typeface="Open Sans 1 Bold"/>
                  <a:sym typeface="Open Sans 1 Bold"/>
                </a:rPr>
                <a:t> Net Positive Workplace Catalyst</a:t>
              </a:r>
              <a:r>
                <a:rPr lang="en-US" sz="1999">
                  <a:solidFill>
                    <a:srgbClr val="000000"/>
                  </a:solidFill>
                  <a:latin typeface="Open Sans 1"/>
                  <a:ea typeface="Open Sans 1"/>
                  <a:cs typeface="Open Sans 1"/>
                  <a:sym typeface="Open Sans 1"/>
                </a:rPr>
                <a:t>—transforming commercial real estate from static, high-emission assets into adaptive, wellness-driven ecosystems. Its model integrates </a:t>
              </a:r>
              <a:r>
                <a:rPr lang="en-US" sz="1999" b="1">
                  <a:solidFill>
                    <a:srgbClr val="000000"/>
                  </a:solidFill>
                  <a:latin typeface="Open Sans 1 Bold"/>
                  <a:ea typeface="Open Sans 1 Bold"/>
                  <a:cs typeface="Open Sans 1 Bold"/>
                  <a:sym typeface="Open Sans 1 Bold"/>
                </a:rPr>
                <a:t>economic scalability, social wellbeing, and environmental efficiency,</a:t>
              </a:r>
              <a:r>
                <a:rPr lang="en-US" sz="1999">
                  <a:solidFill>
                    <a:srgbClr val="000000"/>
                  </a:solidFill>
                  <a:latin typeface="Open Sans 1"/>
                  <a:ea typeface="Open Sans 1"/>
                  <a:cs typeface="Open Sans 1"/>
                  <a:sym typeface="Open Sans 1"/>
                </a:rPr>
                <a:t> positioning it as a template for the future of sustainable, human-centered workspaces.</a:t>
              </a:r>
            </a:p>
          </p:txBody>
        </p:sp>
      </p:grpSp>
      <p:grpSp>
        <p:nvGrpSpPr>
          <p:cNvPr id="11" name="Group 11"/>
          <p:cNvGrpSpPr/>
          <p:nvPr/>
        </p:nvGrpSpPr>
        <p:grpSpPr>
          <a:xfrm>
            <a:off x="473137" y="1544359"/>
            <a:ext cx="17341727" cy="1585441"/>
            <a:chOff x="0" y="0"/>
            <a:chExt cx="4567368" cy="417565"/>
          </a:xfrm>
        </p:grpSpPr>
        <p:sp>
          <p:nvSpPr>
            <p:cNvPr id="12" name="Freeform 12"/>
            <p:cNvSpPr/>
            <p:nvPr/>
          </p:nvSpPr>
          <p:spPr>
            <a:xfrm>
              <a:off x="0" y="0"/>
              <a:ext cx="4567368" cy="417565"/>
            </a:xfrm>
            <a:custGeom>
              <a:avLst/>
              <a:gdLst/>
              <a:ahLst/>
              <a:cxnLst/>
              <a:rect l="l" t="t" r="r" b="b"/>
              <a:pathLst>
                <a:path w="4567368" h="417565">
                  <a:moveTo>
                    <a:pt x="0" y="0"/>
                  </a:moveTo>
                  <a:lnTo>
                    <a:pt x="4567368" y="0"/>
                  </a:lnTo>
                  <a:lnTo>
                    <a:pt x="4567368" y="417565"/>
                  </a:lnTo>
                  <a:lnTo>
                    <a:pt x="0" y="417565"/>
                  </a:lnTo>
                  <a:close/>
                </a:path>
              </a:pathLst>
            </a:custGeom>
            <a:solidFill>
              <a:srgbClr val="F5F5F5"/>
            </a:solidFill>
            <a:ln cap="sq">
              <a:noFill/>
              <a:prstDash val="solid"/>
              <a:miter/>
            </a:ln>
          </p:spPr>
          <p:txBody>
            <a:bodyPr/>
            <a:lstStyle/>
            <a:p>
              <a:endParaRPr lang="en-US"/>
            </a:p>
          </p:txBody>
        </p:sp>
        <p:sp>
          <p:nvSpPr>
            <p:cNvPr id="13" name="TextBox 13"/>
            <p:cNvSpPr txBox="1"/>
            <p:nvPr/>
          </p:nvSpPr>
          <p:spPr>
            <a:xfrm>
              <a:off x="0" y="-38100"/>
              <a:ext cx="4567368" cy="455665"/>
            </a:xfrm>
            <a:prstGeom prst="rect">
              <a:avLst/>
            </a:prstGeom>
          </p:spPr>
          <p:txBody>
            <a:bodyPr lIns="76200" tIns="76200" rIns="76200" bIns="76200" rtlCol="0" anchor="ctr"/>
            <a:lstStyle/>
            <a:p>
              <a:pPr algn="ctr">
                <a:lnSpc>
                  <a:spcPts val="2799"/>
                </a:lnSpc>
              </a:pPr>
              <a:r>
                <a:rPr lang="en-US" sz="1999">
                  <a:solidFill>
                    <a:srgbClr val="000000"/>
                  </a:solidFill>
                  <a:latin typeface="Open Sans 1"/>
                  <a:ea typeface="Open Sans 1"/>
                  <a:cs typeface="Open Sans 1"/>
                  <a:sym typeface="Open Sans 1"/>
                </a:rPr>
                <a:t>Industrious qualifies as a financially viable, scalable, and net positive catalyst. Its partnership-based model enables profitable growth while advancing social and environmental sustainability in the workspace industry. By combining flexible design, wellbeing-centered service, and adaptive reuse of real estate, Industrious demonstrates how the coworking model can create long-term shared value for people, planet, and profit.</a:t>
              </a:r>
            </a:p>
          </p:txBody>
        </p:sp>
      </p:grpSp>
      <p:sp>
        <p:nvSpPr>
          <p:cNvPr id="14" name="Freeform 14"/>
          <p:cNvSpPr/>
          <p:nvPr/>
        </p:nvSpPr>
        <p:spPr>
          <a:xfrm>
            <a:off x="7162637" y="3851261"/>
            <a:ext cx="438310" cy="5407039"/>
          </a:xfrm>
          <a:custGeom>
            <a:avLst/>
            <a:gdLst/>
            <a:ahLst/>
            <a:cxnLst/>
            <a:rect l="l" t="t" r="r" b="b"/>
            <a:pathLst>
              <a:path w="438310" h="5407039">
                <a:moveTo>
                  <a:pt x="0" y="0"/>
                </a:moveTo>
                <a:lnTo>
                  <a:pt x="438310" y="0"/>
                </a:lnTo>
                <a:lnTo>
                  <a:pt x="438310" y="5407039"/>
                </a:lnTo>
                <a:lnTo>
                  <a:pt x="0" y="5407039"/>
                </a:lnTo>
                <a:lnTo>
                  <a:pt x="0" y="0"/>
                </a:lnTo>
                <a:close/>
              </a:path>
            </a:pathLst>
          </a:custGeom>
          <a:blipFill>
            <a:blip r:embed="rId2"/>
            <a:stretch>
              <a:fillRect r="-26787"/>
            </a:stretch>
          </a:blipFill>
        </p:spPr>
        <p:txBody>
          <a:bodyPr/>
          <a:lstStyle/>
          <a:p>
            <a:endParaRPr lang="en-US"/>
          </a:p>
        </p:txBody>
      </p:sp>
      <p:sp>
        <p:nvSpPr>
          <p:cNvPr id="15" name="Freeform 15"/>
          <p:cNvSpPr/>
          <p:nvPr/>
        </p:nvSpPr>
        <p:spPr>
          <a:xfrm>
            <a:off x="13776295" y="3851261"/>
            <a:ext cx="451970" cy="5407039"/>
          </a:xfrm>
          <a:custGeom>
            <a:avLst/>
            <a:gdLst/>
            <a:ahLst/>
            <a:cxnLst/>
            <a:rect l="l" t="t" r="r" b="b"/>
            <a:pathLst>
              <a:path w="451970" h="5407039">
                <a:moveTo>
                  <a:pt x="0" y="0"/>
                </a:moveTo>
                <a:lnTo>
                  <a:pt x="451969" y="0"/>
                </a:lnTo>
                <a:lnTo>
                  <a:pt x="451969" y="5407039"/>
                </a:lnTo>
                <a:lnTo>
                  <a:pt x="0" y="5407039"/>
                </a:lnTo>
                <a:lnTo>
                  <a:pt x="0" y="0"/>
                </a:lnTo>
                <a:close/>
              </a:path>
            </a:pathLst>
          </a:custGeom>
          <a:blipFill>
            <a:blip r:embed="rId2"/>
            <a:stretch>
              <a:fillRect r="-22955"/>
            </a:stretch>
          </a:blipFill>
        </p:spPr>
        <p:txBody>
          <a:bodyPr/>
          <a:lstStyle/>
          <a:p>
            <a:endParaRPr lang="en-US"/>
          </a:p>
        </p:txBody>
      </p:sp>
      <p:sp>
        <p:nvSpPr>
          <p:cNvPr id="16" name="TextBox 16"/>
          <p:cNvSpPr txBox="1"/>
          <p:nvPr/>
        </p:nvSpPr>
        <p:spPr>
          <a:xfrm>
            <a:off x="473137" y="395643"/>
            <a:ext cx="4461915"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ANSWER</a:t>
            </a:r>
          </a:p>
        </p:txBody>
      </p:sp>
      <p:sp>
        <p:nvSpPr>
          <p:cNvPr id="17" name="TextBox 17"/>
          <p:cNvSpPr txBox="1"/>
          <p:nvPr/>
        </p:nvSpPr>
        <p:spPr>
          <a:xfrm>
            <a:off x="618969" y="958812"/>
            <a:ext cx="4478286"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to hypothesis</a:t>
            </a:r>
          </a:p>
        </p:txBody>
      </p:sp>
      <p:sp>
        <p:nvSpPr>
          <p:cNvPr id="18" name="Freeform 18"/>
          <p:cNvSpPr/>
          <p:nvPr/>
        </p:nvSpPr>
        <p:spPr>
          <a:xfrm>
            <a:off x="16666366" y="370915"/>
            <a:ext cx="859436" cy="1070948"/>
          </a:xfrm>
          <a:custGeom>
            <a:avLst/>
            <a:gdLst/>
            <a:ahLst/>
            <a:cxnLst/>
            <a:rect l="l" t="t" r="r" b="b"/>
            <a:pathLst>
              <a:path w="859436" h="1070948">
                <a:moveTo>
                  <a:pt x="0" y="0"/>
                </a:moveTo>
                <a:lnTo>
                  <a:pt x="859436" y="0"/>
                </a:lnTo>
                <a:lnTo>
                  <a:pt x="859436" y="1070948"/>
                </a:lnTo>
                <a:lnTo>
                  <a:pt x="0" y="1070948"/>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D344"/>
        </a:solidFill>
        <a:effectLst/>
      </p:bgPr>
    </p:bg>
    <p:spTree>
      <p:nvGrpSpPr>
        <p:cNvPr id="1" name=""/>
        <p:cNvGrpSpPr/>
        <p:nvPr/>
      </p:nvGrpSpPr>
      <p:grpSpPr>
        <a:xfrm>
          <a:off x="0" y="0"/>
          <a:ext cx="0" cy="0"/>
          <a:chOff x="0" y="0"/>
          <a:chExt cx="0" cy="0"/>
        </a:xfrm>
      </p:grpSpPr>
      <p:sp>
        <p:nvSpPr>
          <p:cNvPr id="2" name="TextBox 2"/>
          <p:cNvSpPr txBox="1"/>
          <p:nvPr/>
        </p:nvSpPr>
        <p:spPr>
          <a:xfrm>
            <a:off x="4519882" y="4815243"/>
            <a:ext cx="9248236" cy="856539"/>
          </a:xfrm>
          <a:prstGeom prst="rect">
            <a:avLst/>
          </a:prstGeom>
        </p:spPr>
        <p:txBody>
          <a:bodyPr lIns="0" tIns="0" rIns="0" bIns="0" rtlCol="0" anchor="t">
            <a:spAutoFit/>
          </a:bodyPr>
          <a:lstStyle/>
          <a:p>
            <a:pPr marL="0" lvl="0" indent="0" algn="ctr">
              <a:lnSpc>
                <a:spcPts val="6283"/>
              </a:lnSpc>
              <a:spcBef>
                <a:spcPct val="0"/>
              </a:spcBef>
            </a:pPr>
            <a:r>
              <a:rPr lang="en-US" sz="6981" b="1">
                <a:solidFill>
                  <a:srgbClr val="000000"/>
                </a:solidFill>
                <a:latin typeface="Montserrat Bold"/>
                <a:ea typeface="Montserrat Bold"/>
                <a:cs typeface="Montserrat Bold"/>
                <a:sym typeface="Montserrat Bold"/>
              </a:rPr>
              <a:t>APPENDIX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6344" y="243127"/>
            <a:ext cx="1227104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APPENDIX - WORKPLAN  </a:t>
            </a:r>
          </a:p>
        </p:txBody>
      </p:sp>
      <p:grpSp>
        <p:nvGrpSpPr>
          <p:cNvPr id="3" name="Group 3"/>
          <p:cNvGrpSpPr/>
          <p:nvPr/>
        </p:nvGrpSpPr>
        <p:grpSpPr>
          <a:xfrm>
            <a:off x="266344" y="1963326"/>
            <a:ext cx="3126681" cy="924835"/>
            <a:chOff x="0" y="0"/>
            <a:chExt cx="983415" cy="290882"/>
          </a:xfrm>
        </p:grpSpPr>
        <p:sp>
          <p:nvSpPr>
            <p:cNvPr id="4" name="Freeform 4"/>
            <p:cNvSpPr/>
            <p:nvPr/>
          </p:nvSpPr>
          <p:spPr>
            <a:xfrm>
              <a:off x="0" y="0"/>
              <a:ext cx="983415" cy="290882"/>
            </a:xfrm>
            <a:custGeom>
              <a:avLst/>
              <a:gdLst/>
              <a:ahLst/>
              <a:cxnLst/>
              <a:rect l="l" t="t" r="r" b="b"/>
              <a:pathLst>
                <a:path w="983415" h="290882">
                  <a:moveTo>
                    <a:pt x="0" y="0"/>
                  </a:moveTo>
                  <a:lnTo>
                    <a:pt x="983415" y="0"/>
                  </a:lnTo>
                  <a:lnTo>
                    <a:pt x="983415" y="290882"/>
                  </a:lnTo>
                  <a:lnTo>
                    <a:pt x="0" y="290882"/>
                  </a:lnTo>
                  <a:close/>
                </a:path>
              </a:pathLst>
            </a:custGeom>
            <a:solidFill>
              <a:srgbClr val="FEDD6B"/>
            </a:solidFill>
          </p:spPr>
          <p:txBody>
            <a:bodyPr/>
            <a:lstStyle/>
            <a:p>
              <a:endParaRPr lang="en-US"/>
            </a:p>
          </p:txBody>
        </p:sp>
        <p:sp>
          <p:nvSpPr>
            <p:cNvPr id="5" name="TextBox 5"/>
            <p:cNvSpPr txBox="1"/>
            <p:nvPr/>
          </p:nvSpPr>
          <p:spPr>
            <a:xfrm>
              <a:off x="0" y="-38100"/>
              <a:ext cx="983415" cy="328982"/>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Objective </a:t>
              </a:r>
            </a:p>
          </p:txBody>
        </p:sp>
      </p:grpSp>
      <p:grpSp>
        <p:nvGrpSpPr>
          <p:cNvPr id="6" name="Group 6"/>
          <p:cNvGrpSpPr/>
          <p:nvPr/>
        </p:nvGrpSpPr>
        <p:grpSpPr>
          <a:xfrm>
            <a:off x="3393025" y="1963326"/>
            <a:ext cx="7067041" cy="924835"/>
            <a:chOff x="0" y="0"/>
            <a:chExt cx="2222751" cy="290882"/>
          </a:xfrm>
        </p:grpSpPr>
        <p:sp>
          <p:nvSpPr>
            <p:cNvPr id="7" name="Freeform 7"/>
            <p:cNvSpPr/>
            <p:nvPr/>
          </p:nvSpPr>
          <p:spPr>
            <a:xfrm>
              <a:off x="0" y="0"/>
              <a:ext cx="2222751" cy="290882"/>
            </a:xfrm>
            <a:custGeom>
              <a:avLst/>
              <a:gdLst/>
              <a:ahLst/>
              <a:cxnLst/>
              <a:rect l="l" t="t" r="r" b="b"/>
              <a:pathLst>
                <a:path w="2222751" h="290882">
                  <a:moveTo>
                    <a:pt x="0" y="0"/>
                  </a:moveTo>
                  <a:lnTo>
                    <a:pt x="2222751" y="0"/>
                  </a:lnTo>
                  <a:lnTo>
                    <a:pt x="2222751" y="290882"/>
                  </a:lnTo>
                  <a:lnTo>
                    <a:pt x="0" y="290882"/>
                  </a:lnTo>
                  <a:close/>
                </a:path>
              </a:pathLst>
            </a:custGeom>
            <a:solidFill>
              <a:srgbClr val="FEDD6B"/>
            </a:solidFill>
          </p:spPr>
          <p:txBody>
            <a:bodyPr/>
            <a:lstStyle/>
            <a:p>
              <a:endParaRPr lang="en-US"/>
            </a:p>
          </p:txBody>
        </p:sp>
        <p:sp>
          <p:nvSpPr>
            <p:cNvPr id="8" name="TextBox 8"/>
            <p:cNvSpPr txBox="1"/>
            <p:nvPr/>
          </p:nvSpPr>
          <p:spPr>
            <a:xfrm>
              <a:off x="0" y="-38100"/>
              <a:ext cx="2222751" cy="328982"/>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Is Industrious operating in a favorable and growing external environment?</a:t>
              </a:r>
            </a:p>
          </p:txBody>
        </p:sp>
      </p:grpSp>
      <p:grpSp>
        <p:nvGrpSpPr>
          <p:cNvPr id="9" name="Group 9"/>
          <p:cNvGrpSpPr/>
          <p:nvPr/>
        </p:nvGrpSpPr>
        <p:grpSpPr>
          <a:xfrm>
            <a:off x="10460066" y="1963326"/>
            <a:ext cx="7595249" cy="924835"/>
            <a:chOff x="0" y="0"/>
            <a:chExt cx="2388885" cy="290882"/>
          </a:xfrm>
        </p:grpSpPr>
        <p:sp>
          <p:nvSpPr>
            <p:cNvPr id="10" name="Freeform 10"/>
            <p:cNvSpPr/>
            <p:nvPr/>
          </p:nvSpPr>
          <p:spPr>
            <a:xfrm>
              <a:off x="0" y="0"/>
              <a:ext cx="2388885" cy="290882"/>
            </a:xfrm>
            <a:custGeom>
              <a:avLst/>
              <a:gdLst/>
              <a:ahLst/>
              <a:cxnLst/>
              <a:rect l="l" t="t" r="r" b="b"/>
              <a:pathLst>
                <a:path w="2388885" h="290882">
                  <a:moveTo>
                    <a:pt x="0" y="0"/>
                  </a:moveTo>
                  <a:lnTo>
                    <a:pt x="2388885" y="0"/>
                  </a:lnTo>
                  <a:lnTo>
                    <a:pt x="2388885" y="290882"/>
                  </a:lnTo>
                  <a:lnTo>
                    <a:pt x="0" y="290882"/>
                  </a:lnTo>
                  <a:close/>
                </a:path>
              </a:pathLst>
            </a:custGeom>
            <a:solidFill>
              <a:srgbClr val="FEDD6B"/>
            </a:solidFill>
          </p:spPr>
          <p:txBody>
            <a:bodyPr/>
            <a:lstStyle/>
            <a:p>
              <a:endParaRPr lang="en-US"/>
            </a:p>
          </p:txBody>
        </p:sp>
        <p:sp>
          <p:nvSpPr>
            <p:cNvPr id="11" name="TextBox 11"/>
            <p:cNvSpPr txBox="1"/>
            <p:nvPr/>
          </p:nvSpPr>
          <p:spPr>
            <a:xfrm>
              <a:off x="0" y="-38100"/>
              <a:ext cx="2388885" cy="328982"/>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Does Industrious have the internal model and performance to deliver viable and scalable growth?</a:t>
              </a:r>
            </a:p>
          </p:txBody>
        </p:sp>
      </p:grpSp>
      <p:grpSp>
        <p:nvGrpSpPr>
          <p:cNvPr id="12" name="Group 12"/>
          <p:cNvGrpSpPr/>
          <p:nvPr/>
        </p:nvGrpSpPr>
        <p:grpSpPr>
          <a:xfrm>
            <a:off x="266344" y="2888161"/>
            <a:ext cx="3126681" cy="2451585"/>
            <a:chOff x="0" y="0"/>
            <a:chExt cx="983415" cy="771081"/>
          </a:xfrm>
        </p:grpSpPr>
        <p:sp>
          <p:nvSpPr>
            <p:cNvPr id="13" name="Freeform 13"/>
            <p:cNvSpPr/>
            <p:nvPr/>
          </p:nvSpPr>
          <p:spPr>
            <a:xfrm>
              <a:off x="0" y="0"/>
              <a:ext cx="983415" cy="771081"/>
            </a:xfrm>
            <a:custGeom>
              <a:avLst/>
              <a:gdLst/>
              <a:ahLst/>
              <a:cxnLst/>
              <a:rect l="l" t="t" r="r" b="b"/>
              <a:pathLst>
                <a:path w="983415" h="771081">
                  <a:moveTo>
                    <a:pt x="0" y="0"/>
                  </a:moveTo>
                  <a:lnTo>
                    <a:pt x="983415" y="0"/>
                  </a:lnTo>
                  <a:lnTo>
                    <a:pt x="983415" y="771081"/>
                  </a:lnTo>
                  <a:lnTo>
                    <a:pt x="0" y="771081"/>
                  </a:lnTo>
                  <a:close/>
                </a:path>
              </a:pathLst>
            </a:custGeom>
            <a:solidFill>
              <a:srgbClr val="FFF3C2"/>
            </a:solidFill>
          </p:spPr>
          <p:txBody>
            <a:bodyPr/>
            <a:lstStyle/>
            <a:p>
              <a:endParaRPr lang="en-US"/>
            </a:p>
          </p:txBody>
        </p:sp>
        <p:sp>
          <p:nvSpPr>
            <p:cNvPr id="14" name="TextBox 14"/>
            <p:cNvSpPr txBox="1"/>
            <p:nvPr/>
          </p:nvSpPr>
          <p:spPr>
            <a:xfrm>
              <a:off x="0" y="-38100"/>
              <a:ext cx="983415" cy="809181"/>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Research Methodology</a:t>
              </a:r>
            </a:p>
          </p:txBody>
        </p:sp>
      </p:grpSp>
      <p:grpSp>
        <p:nvGrpSpPr>
          <p:cNvPr id="15" name="Group 15"/>
          <p:cNvGrpSpPr/>
          <p:nvPr/>
        </p:nvGrpSpPr>
        <p:grpSpPr>
          <a:xfrm>
            <a:off x="3393025" y="2888161"/>
            <a:ext cx="7067041" cy="2451585"/>
            <a:chOff x="0" y="0"/>
            <a:chExt cx="2222751" cy="771081"/>
          </a:xfrm>
        </p:grpSpPr>
        <p:sp>
          <p:nvSpPr>
            <p:cNvPr id="16" name="Freeform 16"/>
            <p:cNvSpPr/>
            <p:nvPr/>
          </p:nvSpPr>
          <p:spPr>
            <a:xfrm>
              <a:off x="0" y="0"/>
              <a:ext cx="2222751" cy="771081"/>
            </a:xfrm>
            <a:custGeom>
              <a:avLst/>
              <a:gdLst/>
              <a:ahLst/>
              <a:cxnLst/>
              <a:rect l="l" t="t" r="r" b="b"/>
              <a:pathLst>
                <a:path w="2222751" h="771081">
                  <a:moveTo>
                    <a:pt x="0" y="0"/>
                  </a:moveTo>
                  <a:lnTo>
                    <a:pt x="2222751" y="0"/>
                  </a:lnTo>
                  <a:lnTo>
                    <a:pt x="2222751" y="771081"/>
                  </a:lnTo>
                  <a:lnTo>
                    <a:pt x="0" y="771081"/>
                  </a:lnTo>
                  <a:close/>
                </a:path>
              </a:pathLst>
            </a:custGeom>
            <a:solidFill>
              <a:srgbClr val="FFF3C2"/>
            </a:solidFill>
          </p:spPr>
          <p:txBody>
            <a:bodyPr/>
            <a:lstStyle/>
            <a:p>
              <a:endParaRPr lang="en-US"/>
            </a:p>
          </p:txBody>
        </p:sp>
        <p:sp>
          <p:nvSpPr>
            <p:cNvPr id="17" name="TextBox 17"/>
            <p:cNvSpPr txBox="1"/>
            <p:nvPr/>
          </p:nvSpPr>
          <p:spPr>
            <a:xfrm>
              <a:off x="0" y="-38100"/>
              <a:ext cx="2222751" cy="809181"/>
            </a:xfrm>
            <a:prstGeom prst="rect">
              <a:avLst/>
            </a:prstGeom>
          </p:spPr>
          <p:txBody>
            <a:bodyPr lIns="50800" tIns="50800" rIns="50800" bIns="50800" rtlCol="0" anchor="ctr"/>
            <a:lstStyle/>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H1 : Coworking costs more, but profitable.</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H2 : Standardize model, adapt to local needs.</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H3 : High demand for flexibility, location.</a:t>
              </a:r>
            </a:p>
          </p:txBody>
        </p:sp>
      </p:grpSp>
      <p:grpSp>
        <p:nvGrpSpPr>
          <p:cNvPr id="18" name="Group 18"/>
          <p:cNvGrpSpPr/>
          <p:nvPr/>
        </p:nvGrpSpPr>
        <p:grpSpPr>
          <a:xfrm>
            <a:off x="10460066" y="2888161"/>
            <a:ext cx="7595249" cy="2451585"/>
            <a:chOff x="0" y="0"/>
            <a:chExt cx="2388885" cy="771081"/>
          </a:xfrm>
        </p:grpSpPr>
        <p:sp>
          <p:nvSpPr>
            <p:cNvPr id="19" name="Freeform 19"/>
            <p:cNvSpPr/>
            <p:nvPr/>
          </p:nvSpPr>
          <p:spPr>
            <a:xfrm>
              <a:off x="0" y="0"/>
              <a:ext cx="2388885" cy="771081"/>
            </a:xfrm>
            <a:custGeom>
              <a:avLst/>
              <a:gdLst/>
              <a:ahLst/>
              <a:cxnLst/>
              <a:rect l="l" t="t" r="r" b="b"/>
              <a:pathLst>
                <a:path w="2388885" h="771081">
                  <a:moveTo>
                    <a:pt x="0" y="0"/>
                  </a:moveTo>
                  <a:lnTo>
                    <a:pt x="2388885" y="0"/>
                  </a:lnTo>
                  <a:lnTo>
                    <a:pt x="2388885" y="771081"/>
                  </a:lnTo>
                  <a:lnTo>
                    <a:pt x="0" y="771081"/>
                  </a:lnTo>
                  <a:close/>
                </a:path>
              </a:pathLst>
            </a:custGeom>
            <a:solidFill>
              <a:srgbClr val="FFF3C2"/>
            </a:solidFill>
          </p:spPr>
          <p:txBody>
            <a:bodyPr/>
            <a:lstStyle/>
            <a:p>
              <a:endParaRPr lang="en-US"/>
            </a:p>
          </p:txBody>
        </p:sp>
        <p:sp>
          <p:nvSpPr>
            <p:cNvPr id="20" name="TextBox 20"/>
            <p:cNvSpPr txBox="1"/>
            <p:nvPr/>
          </p:nvSpPr>
          <p:spPr>
            <a:xfrm>
              <a:off x="0" y="-38100"/>
              <a:ext cx="2388885" cy="809181"/>
            </a:xfrm>
            <a:prstGeom prst="rect">
              <a:avLst/>
            </a:prstGeom>
          </p:spPr>
          <p:txBody>
            <a:bodyPr lIns="50800" tIns="50800" rIns="50800" bIns="50800" rtlCol="0" anchor="ctr"/>
            <a:lstStyle/>
            <a:p>
              <a:pPr marL="474976" lvl="1" indent="-237488" algn="l">
                <a:lnSpc>
                  <a:spcPts val="3079"/>
                </a:lnSpc>
                <a:buFont typeface="Arial"/>
                <a:buChar char="•"/>
              </a:pPr>
              <a:r>
                <a:rPr lang="en-US" sz="2199" b="1">
                  <a:solidFill>
                    <a:srgbClr val="000000"/>
                  </a:solidFill>
                  <a:latin typeface="Open Sans 1 Bold"/>
                  <a:ea typeface="Open Sans 1 Bold"/>
                  <a:cs typeface="Open Sans 1 Bold"/>
                  <a:sym typeface="Open Sans 1 Bold"/>
                </a:rPr>
                <a:t>H1 : Satisfied customers pay higher rates.</a:t>
              </a:r>
            </a:p>
            <a:p>
              <a:pPr marL="474976" lvl="1" indent="-237488" algn="l">
                <a:lnSpc>
                  <a:spcPts val="3079"/>
                </a:lnSpc>
                <a:buFont typeface="Arial"/>
                <a:buChar char="•"/>
              </a:pPr>
              <a:r>
                <a:rPr lang="en-US" sz="2199" b="1">
                  <a:solidFill>
                    <a:srgbClr val="000000"/>
                  </a:solidFill>
                  <a:latin typeface="Open Sans 1 Bold"/>
                  <a:ea typeface="Open Sans 1 Bold"/>
                  <a:cs typeface="Open Sans 1 Bold"/>
                  <a:sym typeface="Open Sans 1 Bold"/>
                </a:rPr>
                <a:t>H2 : Trends influence occupancy and revenue.</a:t>
              </a:r>
            </a:p>
            <a:p>
              <a:pPr marL="474976" lvl="1" indent="-237488" algn="l">
                <a:lnSpc>
                  <a:spcPts val="3079"/>
                </a:lnSpc>
                <a:buFont typeface="Arial"/>
                <a:buChar char="•"/>
              </a:pPr>
              <a:r>
                <a:rPr lang="en-US" sz="2199" b="1">
                  <a:solidFill>
                    <a:srgbClr val="000000"/>
                  </a:solidFill>
                  <a:latin typeface="Open Sans 1 Bold"/>
                  <a:ea typeface="Open Sans 1 Bold"/>
                  <a:cs typeface="Open Sans 1 Bold"/>
                  <a:sym typeface="Open Sans 1 Bold"/>
                </a:rPr>
                <a:t>H3 : High retention needed for sustained profit.</a:t>
              </a:r>
            </a:p>
          </p:txBody>
        </p:sp>
      </p:grpSp>
      <p:grpSp>
        <p:nvGrpSpPr>
          <p:cNvPr id="21" name="Group 21"/>
          <p:cNvGrpSpPr/>
          <p:nvPr/>
        </p:nvGrpSpPr>
        <p:grpSpPr>
          <a:xfrm>
            <a:off x="266344" y="5339746"/>
            <a:ext cx="3126681" cy="2102013"/>
            <a:chOff x="0" y="0"/>
            <a:chExt cx="983415" cy="661133"/>
          </a:xfrm>
        </p:grpSpPr>
        <p:sp>
          <p:nvSpPr>
            <p:cNvPr id="22" name="Freeform 22"/>
            <p:cNvSpPr/>
            <p:nvPr/>
          </p:nvSpPr>
          <p:spPr>
            <a:xfrm>
              <a:off x="0" y="0"/>
              <a:ext cx="983415" cy="661133"/>
            </a:xfrm>
            <a:custGeom>
              <a:avLst/>
              <a:gdLst/>
              <a:ahLst/>
              <a:cxnLst/>
              <a:rect l="l" t="t" r="r" b="b"/>
              <a:pathLst>
                <a:path w="983415" h="661133">
                  <a:moveTo>
                    <a:pt x="0" y="0"/>
                  </a:moveTo>
                  <a:lnTo>
                    <a:pt x="983415" y="0"/>
                  </a:lnTo>
                  <a:lnTo>
                    <a:pt x="983415" y="661133"/>
                  </a:lnTo>
                  <a:lnTo>
                    <a:pt x="0" y="661133"/>
                  </a:lnTo>
                  <a:close/>
                </a:path>
              </a:pathLst>
            </a:custGeom>
          </p:spPr>
          <p:txBody>
            <a:bodyPr/>
            <a:lstStyle/>
            <a:p>
              <a:endParaRPr lang="en-US"/>
            </a:p>
          </p:txBody>
        </p:sp>
        <p:sp>
          <p:nvSpPr>
            <p:cNvPr id="23" name="TextBox 23"/>
            <p:cNvSpPr txBox="1"/>
            <p:nvPr/>
          </p:nvSpPr>
          <p:spPr>
            <a:xfrm>
              <a:off x="0" y="-38100"/>
              <a:ext cx="983415" cy="699233"/>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Research Methology</a:t>
              </a:r>
            </a:p>
          </p:txBody>
        </p:sp>
      </p:grpSp>
      <p:grpSp>
        <p:nvGrpSpPr>
          <p:cNvPr id="24" name="Group 24"/>
          <p:cNvGrpSpPr/>
          <p:nvPr/>
        </p:nvGrpSpPr>
        <p:grpSpPr>
          <a:xfrm>
            <a:off x="3393025" y="5339746"/>
            <a:ext cx="7067041" cy="2102013"/>
            <a:chOff x="0" y="0"/>
            <a:chExt cx="2222751" cy="661133"/>
          </a:xfrm>
        </p:grpSpPr>
        <p:sp>
          <p:nvSpPr>
            <p:cNvPr id="25" name="Freeform 25"/>
            <p:cNvSpPr/>
            <p:nvPr/>
          </p:nvSpPr>
          <p:spPr>
            <a:xfrm>
              <a:off x="0" y="0"/>
              <a:ext cx="2222751" cy="661133"/>
            </a:xfrm>
            <a:custGeom>
              <a:avLst/>
              <a:gdLst/>
              <a:ahLst/>
              <a:cxnLst/>
              <a:rect l="l" t="t" r="r" b="b"/>
              <a:pathLst>
                <a:path w="2222751" h="661133">
                  <a:moveTo>
                    <a:pt x="0" y="0"/>
                  </a:moveTo>
                  <a:lnTo>
                    <a:pt x="2222751" y="0"/>
                  </a:lnTo>
                  <a:lnTo>
                    <a:pt x="2222751" y="661133"/>
                  </a:lnTo>
                  <a:lnTo>
                    <a:pt x="0" y="661133"/>
                  </a:lnTo>
                  <a:close/>
                </a:path>
              </a:pathLst>
            </a:custGeom>
          </p:spPr>
          <p:txBody>
            <a:bodyPr/>
            <a:lstStyle/>
            <a:p>
              <a:endParaRPr lang="en-US"/>
            </a:p>
          </p:txBody>
        </p:sp>
        <p:sp>
          <p:nvSpPr>
            <p:cNvPr id="26" name="TextBox 26"/>
            <p:cNvSpPr txBox="1"/>
            <p:nvPr/>
          </p:nvSpPr>
          <p:spPr>
            <a:xfrm>
              <a:off x="0" y="-38100"/>
              <a:ext cx="2222751" cy="699233"/>
            </a:xfrm>
            <a:prstGeom prst="rect">
              <a:avLst/>
            </a:prstGeom>
          </p:spPr>
          <p:txBody>
            <a:bodyPr lIns="50800" tIns="50800" rIns="50800" bIns="50800" rtlCol="0" anchor="ctr"/>
            <a:lstStyle/>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Market Trends : Cushman &amp; Wakefield, Fortune Business Insights, Mordor Intelligence </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Competitor Mapping : Workplace, Regus</a:t>
              </a:r>
            </a:p>
          </p:txBody>
        </p:sp>
      </p:grpSp>
      <p:grpSp>
        <p:nvGrpSpPr>
          <p:cNvPr id="27" name="Group 27"/>
          <p:cNvGrpSpPr/>
          <p:nvPr/>
        </p:nvGrpSpPr>
        <p:grpSpPr>
          <a:xfrm>
            <a:off x="10460066" y="5339746"/>
            <a:ext cx="7595249" cy="2102013"/>
            <a:chOff x="0" y="0"/>
            <a:chExt cx="2388885" cy="661133"/>
          </a:xfrm>
        </p:grpSpPr>
        <p:sp>
          <p:nvSpPr>
            <p:cNvPr id="28" name="Freeform 28"/>
            <p:cNvSpPr/>
            <p:nvPr/>
          </p:nvSpPr>
          <p:spPr>
            <a:xfrm>
              <a:off x="0" y="0"/>
              <a:ext cx="2388885" cy="661133"/>
            </a:xfrm>
            <a:custGeom>
              <a:avLst/>
              <a:gdLst/>
              <a:ahLst/>
              <a:cxnLst/>
              <a:rect l="l" t="t" r="r" b="b"/>
              <a:pathLst>
                <a:path w="2388885" h="661133">
                  <a:moveTo>
                    <a:pt x="0" y="0"/>
                  </a:moveTo>
                  <a:lnTo>
                    <a:pt x="2388885" y="0"/>
                  </a:lnTo>
                  <a:lnTo>
                    <a:pt x="2388885" y="661133"/>
                  </a:lnTo>
                  <a:lnTo>
                    <a:pt x="0" y="661133"/>
                  </a:lnTo>
                  <a:close/>
                </a:path>
              </a:pathLst>
            </a:custGeom>
          </p:spPr>
          <p:txBody>
            <a:bodyPr/>
            <a:lstStyle/>
            <a:p>
              <a:endParaRPr lang="en-US"/>
            </a:p>
          </p:txBody>
        </p:sp>
        <p:sp>
          <p:nvSpPr>
            <p:cNvPr id="29" name="TextBox 29"/>
            <p:cNvSpPr txBox="1"/>
            <p:nvPr/>
          </p:nvSpPr>
          <p:spPr>
            <a:xfrm>
              <a:off x="0" y="-38100"/>
              <a:ext cx="2388885" cy="699233"/>
            </a:xfrm>
            <a:prstGeom prst="rect">
              <a:avLst/>
            </a:prstGeom>
          </p:spPr>
          <p:txBody>
            <a:bodyPr lIns="50800" tIns="50800" rIns="50800" bIns="50800" rtlCol="0" anchor="ctr"/>
            <a:lstStyle/>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Financial ratio analysis </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Time/cost comparison</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Innovation</a:t>
              </a:r>
            </a:p>
          </p:txBody>
        </p:sp>
      </p:grpSp>
      <p:grpSp>
        <p:nvGrpSpPr>
          <p:cNvPr id="30" name="Group 30"/>
          <p:cNvGrpSpPr/>
          <p:nvPr/>
        </p:nvGrpSpPr>
        <p:grpSpPr>
          <a:xfrm>
            <a:off x="266344" y="7441759"/>
            <a:ext cx="3126681" cy="2451585"/>
            <a:chOff x="0" y="0"/>
            <a:chExt cx="983415" cy="771081"/>
          </a:xfrm>
        </p:grpSpPr>
        <p:sp>
          <p:nvSpPr>
            <p:cNvPr id="31" name="Freeform 31"/>
            <p:cNvSpPr/>
            <p:nvPr/>
          </p:nvSpPr>
          <p:spPr>
            <a:xfrm>
              <a:off x="0" y="0"/>
              <a:ext cx="983415" cy="771081"/>
            </a:xfrm>
            <a:custGeom>
              <a:avLst/>
              <a:gdLst/>
              <a:ahLst/>
              <a:cxnLst/>
              <a:rect l="l" t="t" r="r" b="b"/>
              <a:pathLst>
                <a:path w="983415" h="771081">
                  <a:moveTo>
                    <a:pt x="0" y="0"/>
                  </a:moveTo>
                  <a:lnTo>
                    <a:pt x="983415" y="0"/>
                  </a:lnTo>
                  <a:lnTo>
                    <a:pt x="983415" y="771081"/>
                  </a:lnTo>
                  <a:lnTo>
                    <a:pt x="0" y="771081"/>
                  </a:lnTo>
                  <a:close/>
                </a:path>
              </a:pathLst>
            </a:custGeom>
            <a:solidFill>
              <a:srgbClr val="FFF3C2"/>
            </a:solidFill>
          </p:spPr>
          <p:txBody>
            <a:bodyPr/>
            <a:lstStyle/>
            <a:p>
              <a:endParaRPr lang="en-US"/>
            </a:p>
          </p:txBody>
        </p:sp>
        <p:sp>
          <p:nvSpPr>
            <p:cNvPr id="32" name="TextBox 32"/>
            <p:cNvSpPr txBox="1"/>
            <p:nvPr/>
          </p:nvSpPr>
          <p:spPr>
            <a:xfrm>
              <a:off x="0" y="-38100"/>
              <a:ext cx="983415" cy="809181"/>
            </a:xfrm>
            <a:prstGeom prst="rect">
              <a:avLst/>
            </a:prstGeom>
          </p:spPr>
          <p:txBody>
            <a:bodyPr lIns="50800" tIns="50800" rIns="50800" bIns="50800" rtlCol="0" anchor="ctr"/>
            <a:lstStyle/>
            <a:p>
              <a:pPr algn="ctr">
                <a:lnSpc>
                  <a:spcPts val="3079"/>
                </a:lnSpc>
              </a:pPr>
              <a:r>
                <a:rPr lang="en-US" sz="2199" b="1">
                  <a:solidFill>
                    <a:srgbClr val="000000"/>
                  </a:solidFill>
                  <a:latin typeface="Open Sans 1 Bold"/>
                  <a:ea typeface="Open Sans 1 Bold"/>
                  <a:cs typeface="Open Sans 1 Bold"/>
                  <a:sym typeface="Open Sans 1 Bold"/>
                </a:rPr>
                <a:t>Expected deliverables</a:t>
              </a:r>
            </a:p>
          </p:txBody>
        </p:sp>
      </p:grpSp>
      <p:grpSp>
        <p:nvGrpSpPr>
          <p:cNvPr id="33" name="Group 33"/>
          <p:cNvGrpSpPr/>
          <p:nvPr/>
        </p:nvGrpSpPr>
        <p:grpSpPr>
          <a:xfrm>
            <a:off x="3393025" y="7441759"/>
            <a:ext cx="7067041" cy="2451585"/>
            <a:chOff x="0" y="0"/>
            <a:chExt cx="2222751" cy="771081"/>
          </a:xfrm>
        </p:grpSpPr>
        <p:sp>
          <p:nvSpPr>
            <p:cNvPr id="34" name="Freeform 34"/>
            <p:cNvSpPr/>
            <p:nvPr/>
          </p:nvSpPr>
          <p:spPr>
            <a:xfrm>
              <a:off x="0" y="0"/>
              <a:ext cx="2222751" cy="771081"/>
            </a:xfrm>
            <a:custGeom>
              <a:avLst/>
              <a:gdLst/>
              <a:ahLst/>
              <a:cxnLst/>
              <a:rect l="l" t="t" r="r" b="b"/>
              <a:pathLst>
                <a:path w="2222751" h="771081">
                  <a:moveTo>
                    <a:pt x="0" y="0"/>
                  </a:moveTo>
                  <a:lnTo>
                    <a:pt x="2222751" y="0"/>
                  </a:lnTo>
                  <a:lnTo>
                    <a:pt x="2222751" y="771081"/>
                  </a:lnTo>
                  <a:lnTo>
                    <a:pt x="0" y="771081"/>
                  </a:lnTo>
                  <a:close/>
                </a:path>
              </a:pathLst>
            </a:custGeom>
            <a:solidFill>
              <a:srgbClr val="FFF3C2"/>
            </a:solidFill>
          </p:spPr>
          <p:txBody>
            <a:bodyPr/>
            <a:lstStyle/>
            <a:p>
              <a:endParaRPr lang="en-US"/>
            </a:p>
          </p:txBody>
        </p:sp>
        <p:sp>
          <p:nvSpPr>
            <p:cNvPr id="35" name="TextBox 35"/>
            <p:cNvSpPr txBox="1"/>
            <p:nvPr/>
          </p:nvSpPr>
          <p:spPr>
            <a:xfrm>
              <a:off x="0" y="-38100"/>
              <a:ext cx="2222751" cy="809181"/>
            </a:xfrm>
            <a:prstGeom prst="rect">
              <a:avLst/>
            </a:prstGeom>
          </p:spPr>
          <p:txBody>
            <a:bodyPr lIns="50800" tIns="50800" rIns="50800" bIns="50800" rtlCol="0" anchor="ctr"/>
            <a:lstStyle/>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Market trends table</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Competitor benchmark matrix</a:t>
              </a:r>
            </a:p>
          </p:txBody>
        </p:sp>
      </p:grpSp>
      <p:grpSp>
        <p:nvGrpSpPr>
          <p:cNvPr id="36" name="Group 36"/>
          <p:cNvGrpSpPr/>
          <p:nvPr/>
        </p:nvGrpSpPr>
        <p:grpSpPr>
          <a:xfrm>
            <a:off x="10460066" y="7441759"/>
            <a:ext cx="7595249" cy="2451585"/>
            <a:chOff x="0" y="0"/>
            <a:chExt cx="2388885" cy="771081"/>
          </a:xfrm>
        </p:grpSpPr>
        <p:sp>
          <p:nvSpPr>
            <p:cNvPr id="37" name="Freeform 37"/>
            <p:cNvSpPr/>
            <p:nvPr/>
          </p:nvSpPr>
          <p:spPr>
            <a:xfrm>
              <a:off x="0" y="0"/>
              <a:ext cx="2388885" cy="771081"/>
            </a:xfrm>
            <a:custGeom>
              <a:avLst/>
              <a:gdLst/>
              <a:ahLst/>
              <a:cxnLst/>
              <a:rect l="l" t="t" r="r" b="b"/>
              <a:pathLst>
                <a:path w="2388885" h="771081">
                  <a:moveTo>
                    <a:pt x="0" y="0"/>
                  </a:moveTo>
                  <a:lnTo>
                    <a:pt x="2388885" y="0"/>
                  </a:lnTo>
                  <a:lnTo>
                    <a:pt x="2388885" y="771081"/>
                  </a:lnTo>
                  <a:lnTo>
                    <a:pt x="0" y="771081"/>
                  </a:lnTo>
                  <a:close/>
                </a:path>
              </a:pathLst>
            </a:custGeom>
            <a:solidFill>
              <a:srgbClr val="FFF3C2"/>
            </a:solidFill>
          </p:spPr>
          <p:txBody>
            <a:bodyPr/>
            <a:lstStyle/>
            <a:p>
              <a:endParaRPr lang="en-US"/>
            </a:p>
          </p:txBody>
        </p:sp>
        <p:sp>
          <p:nvSpPr>
            <p:cNvPr id="38" name="TextBox 38"/>
            <p:cNvSpPr txBox="1"/>
            <p:nvPr/>
          </p:nvSpPr>
          <p:spPr>
            <a:xfrm>
              <a:off x="0" y="-38100"/>
              <a:ext cx="2388885" cy="809181"/>
            </a:xfrm>
            <a:prstGeom prst="rect">
              <a:avLst/>
            </a:prstGeom>
          </p:spPr>
          <p:txBody>
            <a:bodyPr lIns="50800" tIns="50800" rIns="50800" bIns="50800" rtlCol="0" anchor="ctr"/>
            <a:lstStyle/>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Financial indicators table</a:t>
              </a:r>
            </a:p>
            <a:p>
              <a:pPr marL="474976" lvl="1" indent="-237488" algn="l">
                <a:lnSpc>
                  <a:spcPts val="3079"/>
                </a:lnSpc>
                <a:buFont typeface="Arial"/>
                <a:buChar char="•"/>
              </a:pPr>
              <a:r>
                <a:rPr lang="en-US" sz="2199">
                  <a:solidFill>
                    <a:srgbClr val="000000"/>
                  </a:solidFill>
                  <a:latin typeface="Open Sans 1"/>
                  <a:ea typeface="Open Sans 1"/>
                  <a:cs typeface="Open Sans 1"/>
                  <a:sym typeface="Open Sans 1"/>
                </a:rPr>
                <a:t>Efficiency benchmak slide</a:t>
              </a:r>
            </a:p>
          </p:txBody>
        </p:sp>
      </p:grpSp>
      <p:sp>
        <p:nvSpPr>
          <p:cNvPr id="39" name="TextBox 39"/>
          <p:cNvSpPr txBox="1"/>
          <p:nvPr/>
        </p:nvSpPr>
        <p:spPr>
          <a:xfrm>
            <a:off x="266344" y="1388621"/>
            <a:ext cx="12271046" cy="371475"/>
          </a:xfrm>
          <a:prstGeom prst="rect">
            <a:avLst/>
          </a:prstGeom>
        </p:spPr>
        <p:txBody>
          <a:bodyPr lIns="0" tIns="0" rIns="0" bIns="0" rtlCol="0" anchor="t">
            <a:spAutoFit/>
          </a:bodyPr>
          <a:lstStyle/>
          <a:p>
            <a:pPr marL="0" lvl="0" indent="0" algn="just">
              <a:lnSpc>
                <a:spcPts val="2700"/>
              </a:lnSpc>
              <a:spcBef>
                <a:spcPct val="0"/>
              </a:spcBef>
            </a:pPr>
            <a:r>
              <a:rPr lang="en-US" sz="3000" b="1">
                <a:solidFill>
                  <a:srgbClr val="FDD344"/>
                </a:solidFill>
                <a:latin typeface="Montserrat Bold"/>
                <a:ea typeface="Montserrat Bold"/>
                <a:cs typeface="Montserrat Bold"/>
                <a:sym typeface="Montserrat Bold"/>
              </a:rPr>
              <a:t>Industrious’s scalability and viability.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85950" y="2737652"/>
            <a:ext cx="3086100" cy="3086100"/>
            <a:chOff x="0" y="0"/>
            <a:chExt cx="812800" cy="812800"/>
          </a:xfrm>
        </p:grpSpPr>
        <p:sp>
          <p:nvSpPr>
            <p:cNvPr id="3" name="Freeform 3"/>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F3C2"/>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885950" y="6796876"/>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E67E"/>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8" name="Group 8"/>
          <p:cNvGrpSpPr/>
          <p:nvPr/>
        </p:nvGrpSpPr>
        <p:grpSpPr>
          <a:xfrm>
            <a:off x="5819440" y="6796876"/>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F3C2"/>
            </a:solidFill>
          </p:spPr>
          <p:txBody>
            <a:bodyPr/>
            <a:lstStyle/>
            <a:p>
              <a:endParaRPr lang="en-US"/>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11" name="Group 11"/>
          <p:cNvGrpSpPr/>
          <p:nvPr/>
        </p:nvGrpSpPr>
        <p:grpSpPr>
          <a:xfrm>
            <a:off x="9514936" y="6796876"/>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E67E"/>
            </a:solidFill>
          </p:spPr>
          <p:txBody>
            <a:bodyPr/>
            <a:lstStyle/>
            <a:p>
              <a:endParaRPr lang="en-US"/>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14" name="Group 14"/>
          <p:cNvGrpSpPr/>
          <p:nvPr/>
        </p:nvGrpSpPr>
        <p:grpSpPr>
          <a:xfrm>
            <a:off x="13448761" y="6819115"/>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F3C2"/>
            </a:solidFill>
          </p:spPr>
          <p:txBody>
            <a:bodyPr/>
            <a:lstStyle/>
            <a:p>
              <a:endParaRPr lang="en-US"/>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17" name="Group 17"/>
          <p:cNvGrpSpPr/>
          <p:nvPr/>
        </p:nvGrpSpPr>
        <p:grpSpPr>
          <a:xfrm>
            <a:off x="13448761" y="2737652"/>
            <a:ext cx="3086100" cy="3086100"/>
            <a:chOff x="0" y="0"/>
            <a:chExt cx="812800" cy="812800"/>
          </a:xfrm>
        </p:grpSpPr>
        <p:sp>
          <p:nvSpPr>
            <p:cNvPr id="18" name="Freeform 18"/>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FFE67E"/>
            </a:solidFill>
          </p:spPr>
          <p:txBody>
            <a:bodyPr/>
            <a:lstStyle/>
            <a:p>
              <a:endParaRPr lang="en-US"/>
            </a:p>
          </p:txBody>
        </p:sp>
        <p:sp>
          <p:nvSpPr>
            <p:cNvPr id="19" name="TextBox 19"/>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20" name="Group 20"/>
          <p:cNvGrpSpPr/>
          <p:nvPr/>
        </p:nvGrpSpPr>
        <p:grpSpPr>
          <a:xfrm>
            <a:off x="5819440" y="2555730"/>
            <a:ext cx="6781596" cy="3268022"/>
            <a:chOff x="0" y="0"/>
            <a:chExt cx="812800" cy="391685"/>
          </a:xfrm>
        </p:grpSpPr>
        <p:sp>
          <p:nvSpPr>
            <p:cNvPr id="21" name="Freeform 21"/>
            <p:cNvSpPr/>
            <p:nvPr/>
          </p:nvSpPr>
          <p:spPr>
            <a:xfrm>
              <a:off x="0" y="0"/>
              <a:ext cx="812800" cy="391685"/>
            </a:xfrm>
            <a:custGeom>
              <a:avLst/>
              <a:gdLst/>
              <a:ahLst/>
              <a:cxnLst/>
              <a:rect l="l" t="t" r="r" b="b"/>
              <a:pathLst>
                <a:path w="812800" h="391685">
                  <a:moveTo>
                    <a:pt x="127000" y="0"/>
                  </a:moveTo>
                  <a:lnTo>
                    <a:pt x="685800" y="0"/>
                  </a:lnTo>
                  <a:cubicBezTo>
                    <a:pt x="755940" y="0"/>
                    <a:pt x="812800" y="56860"/>
                    <a:pt x="812800" y="127000"/>
                  </a:cubicBezTo>
                  <a:lnTo>
                    <a:pt x="812800" y="264685"/>
                  </a:lnTo>
                  <a:cubicBezTo>
                    <a:pt x="812800" y="298367"/>
                    <a:pt x="799420" y="330670"/>
                    <a:pt x="775603" y="354487"/>
                  </a:cubicBezTo>
                  <a:cubicBezTo>
                    <a:pt x="751785" y="378305"/>
                    <a:pt x="719482" y="391685"/>
                    <a:pt x="685800" y="391685"/>
                  </a:cubicBezTo>
                  <a:lnTo>
                    <a:pt x="127000" y="391685"/>
                  </a:lnTo>
                  <a:cubicBezTo>
                    <a:pt x="56860" y="391685"/>
                    <a:pt x="0" y="334825"/>
                    <a:pt x="0" y="264685"/>
                  </a:cubicBezTo>
                  <a:lnTo>
                    <a:pt x="0" y="127000"/>
                  </a:lnTo>
                  <a:cubicBezTo>
                    <a:pt x="0" y="56860"/>
                    <a:pt x="56860" y="0"/>
                    <a:pt x="127000" y="0"/>
                  </a:cubicBezTo>
                  <a:close/>
                </a:path>
              </a:pathLst>
            </a:custGeom>
            <a:solidFill>
              <a:srgbClr val="FDD344"/>
            </a:solidFill>
          </p:spPr>
          <p:txBody>
            <a:bodyPr/>
            <a:lstStyle/>
            <a:p>
              <a:endParaRPr lang="en-US"/>
            </a:p>
          </p:txBody>
        </p:sp>
        <p:sp>
          <p:nvSpPr>
            <p:cNvPr id="22" name="TextBox 22"/>
            <p:cNvSpPr txBox="1"/>
            <p:nvPr/>
          </p:nvSpPr>
          <p:spPr>
            <a:xfrm>
              <a:off x="0" y="-38100"/>
              <a:ext cx="812800" cy="429785"/>
            </a:xfrm>
            <a:prstGeom prst="rect">
              <a:avLst/>
            </a:prstGeom>
          </p:spPr>
          <p:txBody>
            <a:bodyPr lIns="50800" tIns="50800" rIns="50800" bIns="50800" rtlCol="0" anchor="ctr"/>
            <a:lstStyle/>
            <a:p>
              <a:pPr algn="ctr">
                <a:lnSpc>
                  <a:spcPts val="3079"/>
                </a:lnSpc>
              </a:pPr>
              <a:endParaRPr/>
            </a:p>
          </p:txBody>
        </p:sp>
      </p:grpSp>
      <p:grpSp>
        <p:nvGrpSpPr>
          <p:cNvPr id="23" name="Group 23"/>
          <p:cNvGrpSpPr/>
          <p:nvPr/>
        </p:nvGrpSpPr>
        <p:grpSpPr>
          <a:xfrm rot="5400000">
            <a:off x="2901206" y="5823752"/>
            <a:ext cx="687852" cy="687852"/>
            <a:chOff x="0" y="0"/>
            <a:chExt cx="812800" cy="812800"/>
          </a:xfrm>
        </p:grpSpPr>
        <p:sp>
          <p:nvSpPr>
            <p:cNvPr id="24" name="Freeform 2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DD344"/>
            </a:solidFill>
          </p:spPr>
          <p:txBody>
            <a:bodyPr/>
            <a:lstStyle/>
            <a:p>
              <a:endParaRPr lang="en-US"/>
            </a:p>
          </p:txBody>
        </p:sp>
        <p:sp>
          <p:nvSpPr>
            <p:cNvPr id="25" name="TextBox 25"/>
            <p:cNvSpPr txBox="1"/>
            <p:nvPr/>
          </p:nvSpPr>
          <p:spPr>
            <a:xfrm>
              <a:off x="0" y="165100"/>
              <a:ext cx="711200" cy="444500"/>
            </a:xfrm>
            <a:prstGeom prst="rect">
              <a:avLst/>
            </a:prstGeom>
          </p:spPr>
          <p:txBody>
            <a:bodyPr lIns="50800" tIns="50800" rIns="50800" bIns="50800" rtlCol="0" anchor="ctr"/>
            <a:lstStyle/>
            <a:p>
              <a:pPr algn="ctr">
                <a:lnSpc>
                  <a:spcPts val="3079"/>
                </a:lnSpc>
              </a:pPr>
              <a:endParaRPr/>
            </a:p>
          </p:txBody>
        </p:sp>
      </p:grpSp>
      <p:sp>
        <p:nvSpPr>
          <p:cNvPr id="26" name="TextBox 26"/>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APPENDIX</a:t>
            </a:r>
          </a:p>
        </p:txBody>
      </p:sp>
      <p:sp>
        <p:nvSpPr>
          <p:cNvPr id="27" name="TextBox 27"/>
          <p:cNvSpPr txBox="1"/>
          <p:nvPr/>
        </p:nvSpPr>
        <p:spPr>
          <a:xfrm>
            <a:off x="7921857" y="1214082"/>
            <a:ext cx="17589427" cy="613410"/>
          </a:xfrm>
          <a:prstGeom prst="rect">
            <a:avLst/>
          </a:prstGeom>
        </p:spPr>
        <p:txBody>
          <a:bodyPr lIns="0" tIns="0" rIns="0" bIns="0" rtlCol="0" anchor="t">
            <a:spAutoFit/>
          </a:bodyPr>
          <a:lstStyle/>
          <a:p>
            <a:pPr algn="l">
              <a:lnSpc>
                <a:spcPts val="5040"/>
              </a:lnSpc>
            </a:pPr>
            <a:r>
              <a:rPr lang="en-US" sz="3600" b="1">
                <a:solidFill>
                  <a:srgbClr val="000000"/>
                </a:solidFill>
                <a:latin typeface="Canva Sans Bold"/>
                <a:ea typeface="Canva Sans Bold"/>
                <a:cs typeface="Canva Sans Bold"/>
                <a:sym typeface="Canva Sans Bold"/>
              </a:rPr>
              <a:t>Estimations</a:t>
            </a:r>
          </a:p>
        </p:txBody>
      </p:sp>
      <p:sp>
        <p:nvSpPr>
          <p:cNvPr id="28" name="TextBox 28"/>
          <p:cNvSpPr txBox="1"/>
          <p:nvPr/>
        </p:nvSpPr>
        <p:spPr>
          <a:xfrm>
            <a:off x="2161948" y="2995614"/>
            <a:ext cx="2534103" cy="2552700"/>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 Operating Margin: 6%</a:t>
            </a:r>
          </a:p>
          <a:p>
            <a:pPr algn="ctr">
              <a:lnSpc>
                <a:spcPts val="2099"/>
              </a:lnSpc>
            </a:pPr>
            <a:r>
              <a:rPr lang="en-US" sz="1499" b="1">
                <a:solidFill>
                  <a:srgbClr val="000000"/>
                </a:solidFill>
                <a:latin typeface="Canva Sans Bold"/>
                <a:ea typeface="Canva Sans Bold"/>
                <a:cs typeface="Canva Sans Bold"/>
                <a:sym typeface="Canva Sans Bold"/>
              </a:rPr>
              <a:t>Operational profit: $90M After-tax earnings: $68M</a:t>
            </a:r>
          </a:p>
          <a:p>
            <a:pPr algn="ctr">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a:solidFill>
                  <a:srgbClr val="000000"/>
                </a:solidFill>
                <a:latin typeface="Canva Sans"/>
                <a:ea typeface="Canva Sans"/>
                <a:cs typeface="Canva Sans"/>
                <a:sym typeface="Canva Sans"/>
              </a:rPr>
              <a:t>Context: Initial consolidation phase following CBRE acquisition, focusing on location optimization and cost structure refinement</a:t>
            </a:r>
          </a:p>
        </p:txBody>
      </p:sp>
      <p:sp>
        <p:nvSpPr>
          <p:cNvPr id="29" name="TextBox 29"/>
          <p:cNvSpPr txBox="1"/>
          <p:nvPr/>
        </p:nvSpPr>
        <p:spPr>
          <a:xfrm>
            <a:off x="2161948" y="2412855"/>
            <a:ext cx="2534103"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2025 | Revenue: $1.5B</a:t>
            </a:r>
          </a:p>
        </p:txBody>
      </p:sp>
      <p:sp>
        <p:nvSpPr>
          <p:cNvPr id="30" name="TextBox 30"/>
          <p:cNvSpPr txBox="1"/>
          <p:nvPr/>
        </p:nvSpPr>
        <p:spPr>
          <a:xfrm>
            <a:off x="2161948" y="6490502"/>
            <a:ext cx="3228022"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2026 | Revenue: $1.68B </a:t>
            </a:r>
          </a:p>
        </p:txBody>
      </p:sp>
      <p:sp>
        <p:nvSpPr>
          <p:cNvPr id="31" name="TextBox 31"/>
          <p:cNvSpPr txBox="1"/>
          <p:nvPr/>
        </p:nvSpPr>
        <p:spPr>
          <a:xfrm>
            <a:off x="2181019" y="6947702"/>
            <a:ext cx="2534103" cy="2552700"/>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Operating Margin: 8%</a:t>
            </a:r>
          </a:p>
          <a:p>
            <a:pPr algn="ctr">
              <a:lnSpc>
                <a:spcPts val="2099"/>
              </a:lnSpc>
            </a:pPr>
            <a:r>
              <a:rPr lang="en-US" sz="1499" b="1">
                <a:solidFill>
                  <a:srgbClr val="000000"/>
                </a:solidFill>
                <a:latin typeface="Canva Sans Bold"/>
                <a:ea typeface="Canva Sans Bold"/>
                <a:cs typeface="Canva Sans Bold"/>
                <a:sym typeface="Canva Sans Bold"/>
              </a:rPr>
              <a:t>Operational profit: $134M After-tax earnings: $101M</a:t>
            </a:r>
          </a:p>
          <a:p>
            <a:pPr algn="l">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a:solidFill>
                  <a:srgbClr val="000000"/>
                </a:solidFill>
                <a:latin typeface="Canva Sans"/>
                <a:ea typeface="Canva Sans"/>
                <a:cs typeface="Canva Sans"/>
                <a:sym typeface="Canva Sans"/>
              </a:rPr>
              <a:t>Context: Occupancy stabilization achieved, leveraging 160+ locations with improved utilization rates targeting industry benchmark of 65%+</a:t>
            </a:r>
          </a:p>
        </p:txBody>
      </p:sp>
      <p:sp>
        <p:nvSpPr>
          <p:cNvPr id="32" name="TextBox 32"/>
          <p:cNvSpPr txBox="1"/>
          <p:nvPr/>
        </p:nvSpPr>
        <p:spPr>
          <a:xfrm>
            <a:off x="6069111" y="3731052"/>
            <a:ext cx="6342654" cy="1053249"/>
          </a:xfrm>
          <a:prstGeom prst="rect">
            <a:avLst/>
          </a:prstGeom>
        </p:spPr>
        <p:txBody>
          <a:bodyPr lIns="0" tIns="0" rIns="0" bIns="0" rtlCol="0" anchor="t">
            <a:spAutoFit/>
          </a:bodyPr>
          <a:lstStyle/>
          <a:p>
            <a:pPr algn="ctr">
              <a:lnSpc>
                <a:spcPts val="2846"/>
              </a:lnSpc>
            </a:pPr>
            <a:r>
              <a:rPr lang="en-US" sz="2033" b="1">
                <a:solidFill>
                  <a:srgbClr val="000000"/>
                </a:solidFill>
                <a:latin typeface="Canva Sans Bold"/>
                <a:ea typeface="Canva Sans Bold"/>
                <a:cs typeface="Canva Sans Bold"/>
                <a:sym typeface="Canva Sans Bold"/>
              </a:rPr>
              <a:t>Industrious Financial Performance Estimations: Revenue, Profitability, and Growth Trends (2025-2030</a:t>
            </a:r>
          </a:p>
        </p:txBody>
      </p:sp>
      <p:sp>
        <p:nvSpPr>
          <p:cNvPr id="33" name="TextBox 33"/>
          <p:cNvSpPr txBox="1"/>
          <p:nvPr/>
        </p:nvSpPr>
        <p:spPr>
          <a:xfrm>
            <a:off x="5988076" y="6483030"/>
            <a:ext cx="2701639"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2027 | Revenue: $1.88B </a:t>
            </a:r>
          </a:p>
        </p:txBody>
      </p:sp>
      <p:sp>
        <p:nvSpPr>
          <p:cNvPr id="34" name="TextBox 34"/>
          <p:cNvSpPr txBox="1"/>
          <p:nvPr/>
        </p:nvSpPr>
        <p:spPr>
          <a:xfrm>
            <a:off x="6133108" y="6947702"/>
            <a:ext cx="2534103" cy="2809875"/>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Operating Margin: 9%</a:t>
            </a:r>
          </a:p>
          <a:p>
            <a:pPr algn="ctr">
              <a:lnSpc>
                <a:spcPts val="2099"/>
              </a:lnSpc>
            </a:pPr>
            <a:r>
              <a:rPr lang="en-US" sz="1499" b="1">
                <a:solidFill>
                  <a:srgbClr val="000000"/>
                </a:solidFill>
                <a:latin typeface="Canva Sans Bold"/>
                <a:ea typeface="Canva Sans Bold"/>
                <a:cs typeface="Canva Sans Bold"/>
                <a:sym typeface="Canva Sans Bold"/>
              </a:rPr>
              <a:t>Operational profit: $169M After-tax earnings: $127M</a:t>
            </a:r>
          </a:p>
          <a:p>
            <a:pPr algn="l">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a:solidFill>
                  <a:srgbClr val="000000"/>
                </a:solidFill>
                <a:latin typeface="Canva Sans"/>
                <a:ea typeface="Canva Sans"/>
                <a:cs typeface="Canva Sans"/>
                <a:sym typeface="Canva Sans"/>
              </a:rPr>
              <a:t>Context: Revenue diversification kicks in through meeting room bookings, virtual offices, and premium suite offerings driving margin expansion</a:t>
            </a:r>
          </a:p>
        </p:txBody>
      </p:sp>
      <p:sp>
        <p:nvSpPr>
          <p:cNvPr id="35" name="TextBox 35"/>
          <p:cNvSpPr txBox="1"/>
          <p:nvPr/>
        </p:nvSpPr>
        <p:spPr>
          <a:xfrm>
            <a:off x="9790935" y="6947702"/>
            <a:ext cx="2534103" cy="2809875"/>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Operating Margin: 10%</a:t>
            </a:r>
          </a:p>
          <a:p>
            <a:pPr algn="ctr">
              <a:lnSpc>
                <a:spcPts val="2099"/>
              </a:lnSpc>
            </a:pPr>
            <a:r>
              <a:rPr lang="en-US" sz="1499" b="1">
                <a:solidFill>
                  <a:srgbClr val="000000"/>
                </a:solidFill>
                <a:latin typeface="Canva Sans Bold"/>
                <a:ea typeface="Canva Sans Bold"/>
                <a:cs typeface="Canva Sans Bold"/>
                <a:sym typeface="Canva Sans Bold"/>
              </a:rPr>
              <a:t>Operational profit: $211M  After-tax earnings: $158M</a:t>
            </a:r>
          </a:p>
          <a:p>
            <a:pPr algn="l">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a:solidFill>
                  <a:srgbClr val="000000"/>
                </a:solidFill>
                <a:latin typeface="Canva Sans"/>
                <a:ea typeface="Canva Sans"/>
                <a:cs typeface="Canva Sans"/>
                <a:sym typeface="Canva Sans"/>
              </a:rPr>
              <a:t>Context: Platform maturity reached with consistent 10% margins aligning with industry profitability benchmarks for established coworking operators</a:t>
            </a:r>
          </a:p>
        </p:txBody>
      </p:sp>
      <p:sp>
        <p:nvSpPr>
          <p:cNvPr id="36" name="TextBox 36"/>
          <p:cNvSpPr txBox="1"/>
          <p:nvPr/>
        </p:nvSpPr>
        <p:spPr>
          <a:xfrm>
            <a:off x="9575540" y="6433353"/>
            <a:ext cx="2987623"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2028 | Revenue: $2.11B </a:t>
            </a:r>
          </a:p>
        </p:txBody>
      </p:sp>
      <p:sp>
        <p:nvSpPr>
          <p:cNvPr id="37" name="TextBox 37"/>
          <p:cNvSpPr txBox="1"/>
          <p:nvPr/>
        </p:nvSpPr>
        <p:spPr>
          <a:xfrm>
            <a:off x="13743264" y="6483030"/>
            <a:ext cx="3228022"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2029 | Revenue: $2.37B </a:t>
            </a:r>
          </a:p>
        </p:txBody>
      </p:sp>
      <p:sp>
        <p:nvSpPr>
          <p:cNvPr id="38" name="TextBox 38"/>
          <p:cNvSpPr txBox="1"/>
          <p:nvPr/>
        </p:nvSpPr>
        <p:spPr>
          <a:xfrm>
            <a:off x="13724986" y="6947702"/>
            <a:ext cx="2534103" cy="2552700"/>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Operating Margin: 10%</a:t>
            </a:r>
          </a:p>
          <a:p>
            <a:pPr algn="ctr">
              <a:lnSpc>
                <a:spcPts val="2099"/>
              </a:lnSpc>
            </a:pPr>
            <a:r>
              <a:rPr lang="en-US" sz="1499" b="1">
                <a:solidFill>
                  <a:srgbClr val="000000"/>
                </a:solidFill>
                <a:latin typeface="Canva Sans Bold"/>
                <a:ea typeface="Canva Sans Bold"/>
                <a:cs typeface="Canva Sans Bold"/>
                <a:sym typeface="Canva Sans Bold"/>
              </a:rPr>
              <a:t>Operational profit: $237M | After-tax earnings: $178M</a:t>
            </a:r>
          </a:p>
          <a:p>
            <a:pPr algn="l">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b="1">
                <a:solidFill>
                  <a:srgbClr val="000000"/>
                </a:solidFill>
                <a:latin typeface="Canva Sans Bold"/>
                <a:ea typeface="Canva Sans Bold"/>
                <a:cs typeface="Canva Sans Bold"/>
                <a:sym typeface="Canva Sans Bold"/>
              </a:rPr>
              <a:t>C</a:t>
            </a:r>
            <a:r>
              <a:rPr lang="en-US" sz="1499">
                <a:solidFill>
                  <a:srgbClr val="000000"/>
                </a:solidFill>
                <a:latin typeface="Canva Sans"/>
                <a:ea typeface="Canva Sans"/>
                <a:cs typeface="Canva Sans"/>
                <a:sym typeface="Canva Sans"/>
              </a:rPr>
              <a:t>ontext: Geographic expansion into secondary markets and enhanced community engagement driving sustained member retention</a:t>
            </a:r>
          </a:p>
        </p:txBody>
      </p:sp>
      <p:sp>
        <p:nvSpPr>
          <p:cNvPr id="39" name="TextBox 39"/>
          <p:cNvSpPr txBox="1"/>
          <p:nvPr/>
        </p:nvSpPr>
        <p:spPr>
          <a:xfrm>
            <a:off x="13593471" y="2412855"/>
            <a:ext cx="2809875" cy="257175"/>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FY 2030 | Revenue: $2.66B </a:t>
            </a:r>
          </a:p>
        </p:txBody>
      </p:sp>
      <p:sp>
        <p:nvSpPr>
          <p:cNvPr id="40" name="TextBox 40"/>
          <p:cNvSpPr txBox="1"/>
          <p:nvPr/>
        </p:nvSpPr>
        <p:spPr>
          <a:xfrm>
            <a:off x="13731356" y="2995614"/>
            <a:ext cx="2534103" cy="2295525"/>
          </a:xfrm>
          <a:prstGeom prst="rect">
            <a:avLst/>
          </a:prstGeom>
        </p:spPr>
        <p:txBody>
          <a:bodyPr lIns="0" tIns="0" rIns="0" bIns="0" rtlCol="0" anchor="t">
            <a:spAutoFit/>
          </a:bodyPr>
          <a:lstStyle/>
          <a:p>
            <a:pPr algn="ctr">
              <a:lnSpc>
                <a:spcPts val="2099"/>
              </a:lnSpc>
            </a:pPr>
            <a:r>
              <a:rPr lang="en-US" sz="1499" b="1">
                <a:solidFill>
                  <a:srgbClr val="000000"/>
                </a:solidFill>
                <a:latin typeface="Canva Sans Bold"/>
                <a:ea typeface="Canva Sans Bold"/>
                <a:cs typeface="Canva Sans Bold"/>
                <a:sym typeface="Canva Sans Bold"/>
              </a:rPr>
              <a:t>Operational profit: $292M | After-tax earnings: $219M</a:t>
            </a:r>
          </a:p>
          <a:p>
            <a:pPr algn="l">
              <a:lnSpc>
                <a:spcPts val="2099"/>
              </a:lnSpc>
            </a:pPr>
            <a:endParaRPr lang="en-US" sz="1499" b="1">
              <a:solidFill>
                <a:srgbClr val="000000"/>
              </a:solidFill>
              <a:latin typeface="Canva Sans Bold"/>
              <a:ea typeface="Canva Sans Bold"/>
              <a:cs typeface="Canva Sans Bold"/>
              <a:sym typeface="Canva Sans Bold"/>
            </a:endParaRPr>
          </a:p>
          <a:p>
            <a:pPr algn="l">
              <a:lnSpc>
                <a:spcPts val="2099"/>
              </a:lnSpc>
            </a:pPr>
            <a:r>
              <a:rPr lang="en-US" sz="1499">
                <a:solidFill>
                  <a:srgbClr val="000000"/>
                </a:solidFill>
                <a:latin typeface="Canva Sans"/>
                <a:ea typeface="Canva Sans"/>
                <a:cs typeface="Canva Sans"/>
                <a:sym typeface="Canva Sans"/>
              </a:rPr>
              <a:t>Context: Premium positioning consolidated with specialized offerings commanding higher pricing, achieving upper-quartile industry margins</a:t>
            </a:r>
          </a:p>
        </p:txBody>
      </p:sp>
      <p:grpSp>
        <p:nvGrpSpPr>
          <p:cNvPr id="41" name="Group 41"/>
          <p:cNvGrpSpPr/>
          <p:nvPr/>
        </p:nvGrpSpPr>
        <p:grpSpPr>
          <a:xfrm>
            <a:off x="4951422" y="7946148"/>
            <a:ext cx="832033" cy="832033"/>
            <a:chOff x="0" y="0"/>
            <a:chExt cx="812800" cy="812800"/>
          </a:xfrm>
        </p:grpSpPr>
        <p:sp>
          <p:nvSpPr>
            <p:cNvPr id="42" name="Freeform 4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DD344"/>
            </a:solidFill>
          </p:spPr>
          <p:txBody>
            <a:bodyPr/>
            <a:lstStyle/>
            <a:p>
              <a:endParaRPr lang="en-US"/>
            </a:p>
          </p:txBody>
        </p:sp>
        <p:sp>
          <p:nvSpPr>
            <p:cNvPr id="43" name="TextBox 43"/>
            <p:cNvSpPr txBox="1"/>
            <p:nvPr/>
          </p:nvSpPr>
          <p:spPr>
            <a:xfrm>
              <a:off x="0" y="165100"/>
              <a:ext cx="711200" cy="444500"/>
            </a:xfrm>
            <a:prstGeom prst="rect">
              <a:avLst/>
            </a:prstGeom>
          </p:spPr>
          <p:txBody>
            <a:bodyPr lIns="50800" tIns="50800" rIns="50800" bIns="50800" rtlCol="0" anchor="ctr"/>
            <a:lstStyle/>
            <a:p>
              <a:pPr algn="ctr">
                <a:lnSpc>
                  <a:spcPts val="3079"/>
                </a:lnSpc>
              </a:pPr>
              <a:endParaRPr/>
            </a:p>
          </p:txBody>
        </p:sp>
      </p:grpSp>
      <p:grpSp>
        <p:nvGrpSpPr>
          <p:cNvPr id="44" name="Group 44"/>
          <p:cNvGrpSpPr/>
          <p:nvPr/>
        </p:nvGrpSpPr>
        <p:grpSpPr>
          <a:xfrm>
            <a:off x="8905336" y="8104990"/>
            <a:ext cx="670204" cy="832033"/>
            <a:chOff x="0" y="0"/>
            <a:chExt cx="654712" cy="812800"/>
          </a:xfrm>
        </p:grpSpPr>
        <p:sp>
          <p:nvSpPr>
            <p:cNvPr id="45" name="Freeform 45"/>
            <p:cNvSpPr/>
            <p:nvPr/>
          </p:nvSpPr>
          <p:spPr>
            <a:xfrm>
              <a:off x="0" y="0"/>
              <a:ext cx="654712" cy="812800"/>
            </a:xfrm>
            <a:custGeom>
              <a:avLst/>
              <a:gdLst/>
              <a:ahLst/>
              <a:cxnLst/>
              <a:rect l="l" t="t" r="r" b="b"/>
              <a:pathLst>
                <a:path w="654712" h="812800">
                  <a:moveTo>
                    <a:pt x="654712" y="406400"/>
                  </a:moveTo>
                  <a:lnTo>
                    <a:pt x="248312" y="0"/>
                  </a:lnTo>
                  <a:lnTo>
                    <a:pt x="248312" y="203200"/>
                  </a:lnTo>
                  <a:lnTo>
                    <a:pt x="0" y="203200"/>
                  </a:lnTo>
                  <a:lnTo>
                    <a:pt x="0" y="609600"/>
                  </a:lnTo>
                  <a:lnTo>
                    <a:pt x="248312" y="609600"/>
                  </a:lnTo>
                  <a:lnTo>
                    <a:pt x="248312" y="812800"/>
                  </a:lnTo>
                  <a:lnTo>
                    <a:pt x="654712" y="406400"/>
                  </a:lnTo>
                  <a:close/>
                </a:path>
              </a:pathLst>
            </a:custGeom>
            <a:solidFill>
              <a:srgbClr val="FDD344"/>
            </a:solidFill>
          </p:spPr>
          <p:txBody>
            <a:bodyPr/>
            <a:lstStyle/>
            <a:p>
              <a:endParaRPr lang="en-US"/>
            </a:p>
          </p:txBody>
        </p:sp>
        <p:sp>
          <p:nvSpPr>
            <p:cNvPr id="46" name="TextBox 46"/>
            <p:cNvSpPr txBox="1"/>
            <p:nvPr/>
          </p:nvSpPr>
          <p:spPr>
            <a:xfrm>
              <a:off x="0" y="165100"/>
              <a:ext cx="553112" cy="444500"/>
            </a:xfrm>
            <a:prstGeom prst="rect">
              <a:avLst/>
            </a:prstGeom>
          </p:spPr>
          <p:txBody>
            <a:bodyPr lIns="50800" tIns="50800" rIns="50800" bIns="50800" rtlCol="0" anchor="ctr"/>
            <a:lstStyle/>
            <a:p>
              <a:pPr algn="ctr">
                <a:lnSpc>
                  <a:spcPts val="3079"/>
                </a:lnSpc>
              </a:pPr>
              <a:endParaRPr/>
            </a:p>
          </p:txBody>
        </p:sp>
      </p:grpSp>
      <p:grpSp>
        <p:nvGrpSpPr>
          <p:cNvPr id="47" name="Group 47"/>
          <p:cNvGrpSpPr/>
          <p:nvPr/>
        </p:nvGrpSpPr>
        <p:grpSpPr>
          <a:xfrm>
            <a:off x="12563163" y="8104990"/>
            <a:ext cx="885598" cy="832033"/>
            <a:chOff x="0" y="0"/>
            <a:chExt cx="865127" cy="812800"/>
          </a:xfrm>
        </p:grpSpPr>
        <p:sp>
          <p:nvSpPr>
            <p:cNvPr id="48" name="Freeform 48"/>
            <p:cNvSpPr/>
            <p:nvPr/>
          </p:nvSpPr>
          <p:spPr>
            <a:xfrm>
              <a:off x="0" y="0"/>
              <a:ext cx="865127" cy="812800"/>
            </a:xfrm>
            <a:custGeom>
              <a:avLst/>
              <a:gdLst/>
              <a:ahLst/>
              <a:cxnLst/>
              <a:rect l="l" t="t" r="r" b="b"/>
              <a:pathLst>
                <a:path w="865127" h="812800">
                  <a:moveTo>
                    <a:pt x="865127" y="406400"/>
                  </a:moveTo>
                  <a:lnTo>
                    <a:pt x="458727" y="0"/>
                  </a:lnTo>
                  <a:lnTo>
                    <a:pt x="458727" y="203200"/>
                  </a:lnTo>
                  <a:lnTo>
                    <a:pt x="0" y="203200"/>
                  </a:lnTo>
                  <a:lnTo>
                    <a:pt x="0" y="609600"/>
                  </a:lnTo>
                  <a:lnTo>
                    <a:pt x="458727" y="609600"/>
                  </a:lnTo>
                  <a:lnTo>
                    <a:pt x="458727" y="812800"/>
                  </a:lnTo>
                  <a:lnTo>
                    <a:pt x="865127" y="406400"/>
                  </a:lnTo>
                  <a:close/>
                </a:path>
              </a:pathLst>
            </a:custGeom>
            <a:solidFill>
              <a:srgbClr val="FDD344"/>
            </a:solidFill>
          </p:spPr>
          <p:txBody>
            <a:bodyPr/>
            <a:lstStyle/>
            <a:p>
              <a:endParaRPr lang="en-US"/>
            </a:p>
          </p:txBody>
        </p:sp>
        <p:sp>
          <p:nvSpPr>
            <p:cNvPr id="49" name="TextBox 49"/>
            <p:cNvSpPr txBox="1"/>
            <p:nvPr/>
          </p:nvSpPr>
          <p:spPr>
            <a:xfrm>
              <a:off x="0" y="165100"/>
              <a:ext cx="763527" cy="444500"/>
            </a:xfrm>
            <a:prstGeom prst="rect">
              <a:avLst/>
            </a:prstGeom>
          </p:spPr>
          <p:txBody>
            <a:bodyPr lIns="50800" tIns="50800" rIns="50800" bIns="50800" rtlCol="0" anchor="ctr"/>
            <a:lstStyle/>
            <a:p>
              <a:pPr algn="ctr">
                <a:lnSpc>
                  <a:spcPts val="3079"/>
                </a:lnSpc>
              </a:pPr>
              <a:endParaRPr/>
            </a:p>
          </p:txBody>
        </p:sp>
      </p:grpSp>
      <p:grpSp>
        <p:nvGrpSpPr>
          <p:cNvPr id="50" name="Group 50"/>
          <p:cNvGrpSpPr/>
          <p:nvPr/>
        </p:nvGrpSpPr>
        <p:grpSpPr>
          <a:xfrm rot="-5400000">
            <a:off x="14639541" y="5744194"/>
            <a:ext cx="717733" cy="717733"/>
            <a:chOff x="0" y="0"/>
            <a:chExt cx="812800" cy="812800"/>
          </a:xfrm>
        </p:grpSpPr>
        <p:sp>
          <p:nvSpPr>
            <p:cNvPr id="51" name="Freeform 51"/>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DD344"/>
            </a:solidFill>
          </p:spPr>
          <p:txBody>
            <a:bodyPr/>
            <a:lstStyle/>
            <a:p>
              <a:endParaRPr lang="en-US"/>
            </a:p>
          </p:txBody>
        </p:sp>
        <p:sp>
          <p:nvSpPr>
            <p:cNvPr id="52" name="TextBox 52"/>
            <p:cNvSpPr txBox="1"/>
            <p:nvPr/>
          </p:nvSpPr>
          <p:spPr>
            <a:xfrm>
              <a:off x="0" y="165100"/>
              <a:ext cx="711200" cy="444500"/>
            </a:xfrm>
            <a:prstGeom prst="rect">
              <a:avLst/>
            </a:prstGeom>
          </p:spPr>
          <p:txBody>
            <a:bodyPr lIns="50800" tIns="50800" rIns="50800" bIns="50800" rtlCol="0" anchor="ctr"/>
            <a:lstStyle/>
            <a:p>
              <a:pPr algn="ctr">
                <a:lnSpc>
                  <a:spcPts val="3079"/>
                </a:lnSpc>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6344" y="303014"/>
            <a:ext cx="7454538" cy="476250"/>
          </a:xfrm>
          <a:prstGeom prst="rect">
            <a:avLst/>
          </a:prstGeom>
        </p:spPr>
        <p:txBody>
          <a:bodyPr lIns="0" tIns="0" rIns="0" bIns="0" rtlCol="0" anchor="t">
            <a:spAutoFit/>
          </a:bodyPr>
          <a:lstStyle/>
          <a:p>
            <a:pPr marL="0" lvl="0" indent="0" algn="just">
              <a:lnSpc>
                <a:spcPts val="3599"/>
              </a:lnSpc>
              <a:spcBef>
                <a:spcPct val="0"/>
              </a:spcBef>
            </a:pPr>
            <a:r>
              <a:rPr lang="en-US" sz="3999" b="1">
                <a:solidFill>
                  <a:srgbClr val="FDD344"/>
                </a:solidFill>
                <a:latin typeface="Montserrat Bold"/>
                <a:ea typeface="Montserrat Bold"/>
                <a:cs typeface="Montserrat Bold"/>
                <a:sym typeface="Montserrat Bold"/>
              </a:rPr>
              <a:t>APPENDIX - VALUE CHAIN</a:t>
            </a:r>
          </a:p>
        </p:txBody>
      </p:sp>
      <p:grpSp>
        <p:nvGrpSpPr>
          <p:cNvPr id="3" name="Group 3"/>
          <p:cNvGrpSpPr/>
          <p:nvPr/>
        </p:nvGrpSpPr>
        <p:grpSpPr>
          <a:xfrm>
            <a:off x="266344" y="1028700"/>
            <a:ext cx="16115766" cy="9125860"/>
            <a:chOff x="0" y="0"/>
            <a:chExt cx="5068789" cy="2870299"/>
          </a:xfrm>
        </p:grpSpPr>
        <p:sp>
          <p:nvSpPr>
            <p:cNvPr id="4" name="Freeform 4"/>
            <p:cNvSpPr/>
            <p:nvPr/>
          </p:nvSpPr>
          <p:spPr>
            <a:xfrm>
              <a:off x="0" y="0"/>
              <a:ext cx="5068789" cy="2870298"/>
            </a:xfrm>
            <a:custGeom>
              <a:avLst/>
              <a:gdLst/>
              <a:ahLst/>
              <a:cxnLst/>
              <a:rect l="l" t="t" r="r" b="b"/>
              <a:pathLst>
                <a:path w="5068789" h="2870298">
                  <a:moveTo>
                    <a:pt x="0" y="0"/>
                  </a:moveTo>
                  <a:lnTo>
                    <a:pt x="5068789" y="0"/>
                  </a:lnTo>
                  <a:lnTo>
                    <a:pt x="5068789" y="2870298"/>
                  </a:lnTo>
                  <a:lnTo>
                    <a:pt x="0" y="2870298"/>
                  </a:lnTo>
                  <a:close/>
                </a:path>
              </a:pathLst>
            </a:custGeom>
          </p:spPr>
          <p:txBody>
            <a:bodyPr/>
            <a:lstStyle/>
            <a:p>
              <a:endParaRPr lang="en-US"/>
            </a:p>
          </p:txBody>
        </p:sp>
        <p:sp>
          <p:nvSpPr>
            <p:cNvPr id="5" name="TextBox 5"/>
            <p:cNvSpPr txBox="1"/>
            <p:nvPr/>
          </p:nvSpPr>
          <p:spPr>
            <a:xfrm>
              <a:off x="0" y="-38100"/>
              <a:ext cx="5068789" cy="2908399"/>
            </a:xfrm>
            <a:prstGeom prst="rect">
              <a:avLst/>
            </a:prstGeom>
          </p:spPr>
          <p:txBody>
            <a:bodyPr lIns="50800" tIns="50800" rIns="50800" bIns="50800" rtlCol="0" anchor="ctr"/>
            <a:lstStyle/>
            <a:p>
              <a:pPr algn="l">
                <a:lnSpc>
                  <a:spcPts val="3079"/>
                </a:lnSpc>
              </a:pPr>
              <a:r>
                <a:rPr lang="en-US" sz="2199" b="1">
                  <a:solidFill>
                    <a:srgbClr val="000000"/>
                  </a:solidFill>
                  <a:latin typeface="Open Sans 1 Bold"/>
                  <a:ea typeface="Open Sans 1 Bold"/>
                  <a:cs typeface="Open Sans 1 Bold"/>
                  <a:sym typeface="Open Sans 1 Bold"/>
                </a:rPr>
                <a:t>Recent Deal </a:t>
              </a:r>
              <a:r>
                <a:rPr lang="en-US" sz="2199">
                  <a:solidFill>
                    <a:srgbClr val="000000"/>
                  </a:solidFill>
                  <a:latin typeface="Open Sans 1"/>
                  <a:ea typeface="Open Sans 1"/>
                  <a:cs typeface="Open Sans 1"/>
                  <a:sym typeface="Open Sans 1"/>
                </a:rPr>
                <a:t>- CBRE fully acquired Industrious for nearly $1 billion, confirming the long-term confidence in its flexible workspace model. The acquisition aimed to integrate Industrious into CBRE’s Building Operations &amp; Experience (BOE) platform, strengthening global scalability and client reach. </a:t>
              </a:r>
            </a:p>
            <a:p>
              <a:pPr algn="l">
                <a:lnSpc>
                  <a:spcPts val="3079"/>
                </a:lnSpc>
              </a:pPr>
              <a:r>
                <a:rPr lang="en-US" sz="2199" b="1">
                  <a:solidFill>
                    <a:srgbClr val="000000"/>
                  </a:solidFill>
                  <a:latin typeface="Open Sans 1 Bold"/>
                  <a:ea typeface="Open Sans 1 Bold"/>
                  <a:cs typeface="Open Sans 1 Bold"/>
                  <a:sym typeface="Open Sans 1 Bold"/>
                </a:rPr>
                <a:t>(</a:t>
              </a:r>
              <a:r>
                <a:rPr lang="en-US" sz="2199" b="1" u="sng">
                  <a:solidFill>
                    <a:srgbClr val="000000"/>
                  </a:solidFill>
                  <a:latin typeface="Open Sans 1 Bold"/>
                  <a:ea typeface="Open Sans 1 Bold"/>
                  <a:cs typeface="Open Sans 1 Bold"/>
                  <a:sym typeface="Open Sans 1 Bold"/>
                  <a:hlinkClick r:id="rId2" tooltip="https://ir.cbre.com/press-releases/detail/245/cbre-group-to-acquire-industrious-create-new-business?utm_source=chatgpt.com"/>
                </a:rPr>
                <a:t>https://ir.cbre.com/press-releases/detail/245/cbre-group-to-acquire-industrious-create-new-business)</a:t>
              </a:r>
            </a:p>
            <a:p>
              <a:pPr algn="l">
                <a:lnSpc>
                  <a:spcPts val="3079"/>
                </a:lnSpc>
              </a:pPr>
              <a:endParaRPr lang="en-US" sz="2199" b="1" u="sng">
                <a:solidFill>
                  <a:srgbClr val="000000"/>
                </a:solidFill>
                <a:latin typeface="Open Sans 1 Bold"/>
                <a:ea typeface="Open Sans 1 Bold"/>
                <a:cs typeface="Open Sans 1 Bold"/>
                <a:sym typeface="Open Sans 1 Bold"/>
                <a:hlinkClick r:id="rId2" tooltip="https://ir.cbre.com/press-releases/detail/245/cbre-group-to-acquire-industrious-create-new-business?utm_source=chatgpt.com"/>
              </a:endParaRPr>
            </a:p>
            <a:p>
              <a:pPr algn="l">
                <a:lnSpc>
                  <a:spcPts val="3079"/>
                </a:lnSpc>
              </a:pPr>
              <a:r>
                <a:rPr lang="en-US" sz="2199" b="1">
                  <a:solidFill>
                    <a:srgbClr val="000000"/>
                  </a:solidFill>
                  <a:latin typeface="Open Sans 1 Bold"/>
                  <a:ea typeface="Open Sans 1 Bold"/>
                  <a:cs typeface="Open Sans 1 Bold"/>
                  <a:sym typeface="Open Sans 1 Bold"/>
                </a:rPr>
                <a:t>A great Occupancy - </a:t>
              </a:r>
              <a:r>
                <a:rPr lang="en-US" sz="2199">
                  <a:solidFill>
                    <a:srgbClr val="000000"/>
                  </a:solidFill>
                  <a:latin typeface="Open Sans 1"/>
                  <a:ea typeface="Open Sans 1"/>
                  <a:cs typeface="Open Sans 1"/>
                  <a:sym typeface="Open Sans 1"/>
                </a:rPr>
                <a:t>Industrious reported 90% average occupancy for mature locations with less than 1% net churn, reflecting strong retention and revenue predictability. This data underscores the efficiency of its management-agreement model, which minimizes fixed costs. High occupancy across diverse markets demonstrates operational maturity and customer loyalty.</a:t>
              </a:r>
            </a:p>
            <a:p>
              <a:pPr algn="l">
                <a:lnSpc>
                  <a:spcPts val="3079"/>
                </a:lnSpc>
              </a:pPr>
              <a:r>
                <a:rPr lang="en-US" sz="2199">
                  <a:solidFill>
                    <a:srgbClr val="000000"/>
                  </a:solidFill>
                  <a:latin typeface="Open Sans 1"/>
                  <a:ea typeface="Open Sans 1"/>
                  <a:cs typeface="Open Sans 1"/>
                  <a:sym typeface="Open Sans 1"/>
                </a:rPr>
                <a:t>(</a:t>
              </a:r>
              <a:r>
                <a:rPr lang="en-US" sz="2199" b="1">
                  <a:solidFill>
                    <a:srgbClr val="000000"/>
                  </a:solidFill>
                  <a:latin typeface="Open Sans 1 Bold"/>
                  <a:ea typeface="Open Sans 1 Bold"/>
                  <a:cs typeface="Open Sans 1 Bold"/>
                  <a:sym typeface="Open Sans 1 Bold"/>
                </a:rPr>
                <a:t>https://blog.industriousoffice.com/blog/industrious/industrious-raises-80-million-in-series-d</a:t>
              </a:r>
              <a:r>
                <a:rPr lang="en-US" sz="2199">
                  <a:solidFill>
                    <a:srgbClr val="000000"/>
                  </a:solidFill>
                  <a:latin typeface="Open Sans 1"/>
                  <a:ea typeface="Open Sans 1"/>
                  <a:cs typeface="Open Sans 1"/>
                  <a:sym typeface="Open Sans 1"/>
                </a:rPr>
                <a:t>)</a:t>
              </a:r>
            </a:p>
            <a:p>
              <a:pPr algn="l">
                <a:lnSpc>
                  <a:spcPts val="3079"/>
                </a:lnSpc>
              </a:pPr>
              <a:endParaRPr lang="en-US" sz="2199">
                <a:solidFill>
                  <a:srgbClr val="000000"/>
                </a:solidFill>
                <a:latin typeface="Open Sans 1"/>
                <a:ea typeface="Open Sans 1"/>
                <a:cs typeface="Open Sans 1"/>
                <a:sym typeface="Open Sans 1"/>
              </a:endParaRPr>
            </a:p>
            <a:p>
              <a:pPr algn="l">
                <a:lnSpc>
                  <a:spcPts val="3079"/>
                </a:lnSpc>
              </a:pPr>
              <a:r>
                <a:rPr lang="en-US" sz="2199" b="1">
                  <a:solidFill>
                    <a:srgbClr val="000000"/>
                  </a:solidFill>
                  <a:latin typeface="Open Sans 1 Bold"/>
                  <a:ea typeface="Open Sans 1 Bold"/>
                  <a:cs typeface="Open Sans 1 Bold"/>
                  <a:sym typeface="Open Sans 1 Bold"/>
                </a:rPr>
                <a:t>Premium Hospitality Style - </a:t>
              </a:r>
              <a:r>
                <a:rPr lang="en-US" sz="2199">
                  <a:solidFill>
                    <a:srgbClr val="000000"/>
                  </a:solidFill>
                  <a:latin typeface="Open Sans 1"/>
                  <a:ea typeface="Open Sans 1"/>
                  <a:cs typeface="Open Sans 1"/>
                  <a:sym typeface="Open Sans 1"/>
                </a:rPr>
                <a:t>The acquisition valued Industrious at approximately $800 million, positioning it among the top global coworking players. WSJ underlined that Industrious’s premium, hospitality-style approach differentiates it from competitors like WeWork. Its steady growth and hybrid model align with post-pandemic demand for flexible, service-based offices.</a:t>
              </a:r>
            </a:p>
            <a:p>
              <a:pPr algn="l">
                <a:lnSpc>
                  <a:spcPts val="3079"/>
                </a:lnSpc>
              </a:pPr>
              <a:r>
                <a:rPr lang="en-US" sz="2199">
                  <a:solidFill>
                    <a:srgbClr val="000000"/>
                  </a:solidFill>
                  <a:latin typeface="Open Sans 1"/>
                  <a:ea typeface="Open Sans 1"/>
                  <a:cs typeface="Open Sans 1"/>
                  <a:sym typeface="Open Sans 1"/>
                </a:rPr>
                <a:t>(</a:t>
              </a:r>
              <a:r>
                <a:rPr lang="en-US" sz="2199" b="1">
                  <a:solidFill>
                    <a:srgbClr val="000000"/>
                  </a:solidFill>
                  <a:latin typeface="Open Sans 1 Bold"/>
                  <a:ea typeface="Open Sans 1 Bold"/>
                  <a:cs typeface="Open Sans 1 Bold"/>
                  <a:sym typeface="Open Sans 1 Bold"/>
                </a:rPr>
                <a:t>https://www.wsj.com/real-estate/commercial/giant-commercial-property-firm-goes-all-in-on-co-working-with-new-deal-f0b036fe</a:t>
              </a:r>
              <a:r>
                <a:rPr lang="en-US" sz="2199">
                  <a:solidFill>
                    <a:srgbClr val="000000"/>
                  </a:solidFill>
                  <a:latin typeface="Open Sans 1"/>
                  <a:ea typeface="Open Sans 1"/>
                  <a:cs typeface="Open Sans 1"/>
                  <a:sym typeface="Open Sans 1"/>
                </a:rPr>
                <a:t>)</a:t>
              </a:r>
            </a:p>
            <a:p>
              <a:pPr algn="l">
                <a:lnSpc>
                  <a:spcPts val="3079"/>
                </a:lnSpc>
              </a:pPr>
              <a:endParaRPr lang="en-US" sz="2199">
                <a:solidFill>
                  <a:srgbClr val="000000"/>
                </a:solidFill>
                <a:latin typeface="Open Sans 1"/>
                <a:ea typeface="Open Sans 1"/>
                <a:cs typeface="Open Sans 1"/>
                <a:sym typeface="Open Sans 1"/>
              </a:endParaRPr>
            </a:p>
            <a:p>
              <a:pPr algn="l">
                <a:lnSpc>
                  <a:spcPts val="3079"/>
                </a:lnSpc>
              </a:pPr>
              <a:r>
                <a:rPr lang="en-US" sz="2199" b="1">
                  <a:solidFill>
                    <a:srgbClr val="000000"/>
                  </a:solidFill>
                  <a:latin typeface="Open Sans 1 Bold"/>
                  <a:ea typeface="Open Sans 1 Bold"/>
                  <a:cs typeface="Open Sans 1 Bold"/>
                  <a:sym typeface="Open Sans 1 Bold"/>
                </a:rPr>
                <a:t>Annual Revenue -</a:t>
              </a:r>
              <a:r>
                <a:rPr lang="en-US" sz="2199">
                  <a:solidFill>
                    <a:srgbClr val="000000"/>
                  </a:solidFill>
                  <a:latin typeface="Open Sans 1"/>
                  <a:ea typeface="Open Sans 1"/>
                  <a:cs typeface="Open Sans 1"/>
                  <a:sym typeface="Open Sans 1"/>
                </a:rPr>
                <a:t> In flagship buildings, Industrious achieved &gt;95% occupancy and over $2M annual revenue from amenities. This illustrates how its focus on experience — from design to service quality — drives profitability. The company positions the workplace as a lifestyle destination rather than a functional necessity.</a:t>
              </a:r>
            </a:p>
            <a:p>
              <a:pPr algn="l">
                <a:lnSpc>
                  <a:spcPts val="3079"/>
                </a:lnSpc>
              </a:pPr>
              <a:r>
                <a:rPr lang="en-US" sz="2199">
                  <a:solidFill>
                    <a:srgbClr val="000000"/>
                  </a:solidFill>
                  <a:latin typeface="Open Sans 1"/>
                  <a:ea typeface="Open Sans 1"/>
                  <a:cs typeface="Open Sans 1"/>
                  <a:sym typeface="Open Sans 1"/>
                </a:rPr>
                <a:t>(</a:t>
              </a:r>
              <a:r>
                <a:rPr lang="en-US" sz="2199" b="1">
                  <a:solidFill>
                    <a:srgbClr val="000000"/>
                  </a:solidFill>
                  <a:latin typeface="Open Sans 1 Bold"/>
                  <a:ea typeface="Open Sans 1 Bold"/>
                  <a:cs typeface="Open Sans 1 Bold"/>
                  <a:sym typeface="Open Sans 1 Bold"/>
                </a:rPr>
                <a:t>https://blog.industriousoffice.com/blog/industrious/the-choice-to-show-up-how-industrious-is-reimagining-the-office-as-a-destination</a:t>
              </a:r>
              <a:r>
                <a:rPr lang="en-US" sz="2199">
                  <a:solidFill>
                    <a:srgbClr val="000000"/>
                  </a:solidFill>
                  <a:latin typeface="Open Sans 1"/>
                  <a:ea typeface="Open Sans 1"/>
                  <a:cs typeface="Open Sans 1"/>
                  <a:sym typeface="Open Sans 1"/>
                </a:rPr>
                <a: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7304" y="424218"/>
            <a:ext cx="9248236" cy="856539"/>
          </a:xfrm>
          <a:prstGeom prst="rect">
            <a:avLst/>
          </a:prstGeom>
        </p:spPr>
        <p:txBody>
          <a:bodyPr lIns="0" tIns="0" rIns="0" bIns="0" rtlCol="0" anchor="t">
            <a:spAutoFit/>
          </a:bodyPr>
          <a:lstStyle/>
          <a:p>
            <a:pPr marL="0" lvl="0" indent="0" algn="just">
              <a:lnSpc>
                <a:spcPts val="6283"/>
              </a:lnSpc>
              <a:spcBef>
                <a:spcPct val="0"/>
              </a:spcBef>
            </a:pPr>
            <a:r>
              <a:rPr lang="en-US" sz="6981" b="1">
                <a:solidFill>
                  <a:srgbClr val="FDD344"/>
                </a:solidFill>
                <a:latin typeface="Montserrat Bold"/>
                <a:ea typeface="Montserrat Bold"/>
                <a:cs typeface="Montserrat Bold"/>
                <a:sym typeface="Montserrat Bold"/>
              </a:rPr>
              <a:t>APPENDIX</a:t>
            </a:r>
          </a:p>
        </p:txBody>
      </p:sp>
      <p:sp>
        <p:nvSpPr>
          <p:cNvPr id="3" name="TextBox 3"/>
          <p:cNvSpPr txBox="1"/>
          <p:nvPr/>
        </p:nvSpPr>
        <p:spPr>
          <a:xfrm>
            <a:off x="349287" y="1582825"/>
            <a:ext cx="14941863"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Scalability &amp; Viability Assessment</a:t>
            </a:r>
          </a:p>
        </p:txBody>
      </p:sp>
      <p:sp>
        <p:nvSpPr>
          <p:cNvPr id="4" name="TextBox 4"/>
          <p:cNvSpPr txBox="1"/>
          <p:nvPr/>
        </p:nvSpPr>
        <p:spPr>
          <a:xfrm>
            <a:off x="349287" y="2642290"/>
            <a:ext cx="17589427" cy="1921510"/>
          </a:xfrm>
          <a:prstGeom prst="rect">
            <a:avLst/>
          </a:prstGeom>
        </p:spPr>
        <p:txBody>
          <a:bodyPr lIns="0" tIns="0" rIns="0" bIns="0" rtlCol="0" anchor="t">
            <a:spAutoFit/>
          </a:bodyPr>
          <a:lstStyle/>
          <a:p>
            <a:pPr algn="l">
              <a:lnSpc>
                <a:spcPts val="2239"/>
              </a:lnSpc>
            </a:pPr>
            <a:r>
              <a:rPr lang="en-US" sz="1599" u="sng">
                <a:solidFill>
                  <a:srgbClr val="000000"/>
                </a:solidFill>
                <a:latin typeface="Canva Sans"/>
                <a:ea typeface="Canva Sans"/>
                <a:cs typeface="Canva Sans"/>
                <a:sym typeface="Canva Sans"/>
                <a:hlinkClick r:id="rId2" tooltip="https://archieapp.co/blog/largest-coworking-companies/"/>
              </a:rPr>
              <a:t>1 - FORM 10-Q : CBRE GROUP, INC.</a:t>
            </a:r>
          </a:p>
          <a:p>
            <a:pPr algn="l">
              <a:lnSpc>
                <a:spcPts val="2239"/>
              </a:lnSpc>
            </a:pPr>
            <a:r>
              <a:rPr lang="en-US" sz="1599" u="sng">
                <a:solidFill>
                  <a:srgbClr val="000000"/>
                </a:solidFill>
                <a:latin typeface="Canva Sans"/>
                <a:ea typeface="Canva Sans"/>
                <a:cs typeface="Canva Sans"/>
                <a:sym typeface="Canva Sans"/>
                <a:hlinkClick r:id="rId2" tooltip="https://archieapp.co/blog/largest-coworking-companies/"/>
              </a:rPr>
              <a:t>2 - “CBRE Group to Acquire Industrious ...” https://ir.cbre.com/press-releases/detail/245/cbre-group-to-acquire-industrious-create-new-business</a:t>
            </a:r>
          </a:p>
          <a:p>
            <a:pPr algn="l">
              <a:lnSpc>
                <a:spcPts val="2239"/>
              </a:lnSpc>
            </a:pPr>
            <a:r>
              <a:rPr lang="en-US" sz="1599" u="sng">
                <a:solidFill>
                  <a:srgbClr val="000000"/>
                </a:solidFill>
                <a:latin typeface="Canva Sans"/>
                <a:ea typeface="Canva Sans"/>
                <a:cs typeface="Canva Sans"/>
                <a:sym typeface="Canva Sans"/>
                <a:hlinkClick r:id="rId2" tooltip="https://archieapp.co/blog/largest-coworking-companies/"/>
              </a:rPr>
              <a:t>3- https://www.optixapp.com/blog/european-coworking-market/#:~:text=The%20European%20coworking%20market%20is%20worth%20USD%207.23%20billion%20in,SMEs%2C%20freelancers%2C%20and%20corporations.</a:t>
            </a:r>
          </a:p>
          <a:p>
            <a:pPr algn="l">
              <a:lnSpc>
                <a:spcPts val="2239"/>
              </a:lnSpc>
            </a:pPr>
            <a:r>
              <a:rPr lang="en-US" sz="1599" u="sng">
                <a:solidFill>
                  <a:srgbClr val="000000"/>
                </a:solidFill>
                <a:latin typeface="Canva Sans"/>
                <a:ea typeface="Canva Sans"/>
                <a:cs typeface="Canva Sans"/>
                <a:sym typeface="Canva Sans"/>
                <a:hlinkClick r:id="rId2" tooltip="https://archieapp.co/blog/largest-coworking-companies/"/>
              </a:rPr>
              <a:t>4 - https://www.mordorintelligence.com/industry-reports/coworking-spaces-in-europe</a:t>
            </a:r>
          </a:p>
          <a:p>
            <a:pPr algn="l">
              <a:lnSpc>
                <a:spcPts val="2239"/>
              </a:lnSpc>
            </a:pPr>
            <a:r>
              <a:rPr lang="en-US" sz="1599" u="sng">
                <a:solidFill>
                  <a:srgbClr val="000000"/>
                </a:solidFill>
                <a:latin typeface="Canva Sans"/>
                <a:ea typeface="Canva Sans"/>
                <a:cs typeface="Canva Sans"/>
                <a:sym typeface="Canva Sans"/>
                <a:hlinkClick r:id="rId2" tooltip="https://archieapp.co/blog/largest-coworking-companies/"/>
              </a:rPr>
              <a:t>5 - </a:t>
            </a:r>
            <a:r>
              <a:rPr lang="en-US" sz="1599" u="sng">
                <a:solidFill>
                  <a:srgbClr val="000000"/>
                </a:solidFill>
                <a:latin typeface="Canva Sans"/>
                <a:ea typeface="Canva Sans"/>
                <a:cs typeface="Canva Sans"/>
                <a:sym typeface="Canva Sans"/>
              </a:rPr>
              <a:t>https://archieapp.co/blog/largest-coworking-companies/</a:t>
            </a:r>
          </a:p>
          <a:p>
            <a:pPr algn="l">
              <a:lnSpc>
                <a:spcPts val="2239"/>
              </a:lnSpc>
            </a:pPr>
            <a:endParaRPr lang="en-US" sz="1599" u="sng">
              <a:solidFill>
                <a:srgbClr val="000000"/>
              </a:solidFill>
              <a:latin typeface="Canva Sans"/>
              <a:ea typeface="Canva Sans"/>
              <a:cs typeface="Canva Sans"/>
              <a:sym typeface="Canva Sans"/>
            </a:endParaRPr>
          </a:p>
        </p:txBody>
      </p:sp>
      <p:sp>
        <p:nvSpPr>
          <p:cNvPr id="5" name="TextBox 5"/>
          <p:cNvSpPr txBox="1"/>
          <p:nvPr/>
        </p:nvSpPr>
        <p:spPr>
          <a:xfrm>
            <a:off x="349287" y="1940535"/>
            <a:ext cx="17589427" cy="613410"/>
          </a:xfrm>
          <a:prstGeom prst="rect">
            <a:avLst/>
          </a:prstGeom>
        </p:spPr>
        <p:txBody>
          <a:bodyPr lIns="0" tIns="0" rIns="0" bIns="0" rtlCol="0" anchor="t">
            <a:spAutoFit/>
          </a:bodyPr>
          <a:lstStyle/>
          <a:p>
            <a:pPr algn="l">
              <a:lnSpc>
                <a:spcPts val="5040"/>
              </a:lnSpc>
            </a:pPr>
            <a:r>
              <a:rPr lang="en-US" sz="3600" b="1">
                <a:solidFill>
                  <a:srgbClr val="000000"/>
                </a:solidFill>
                <a:latin typeface="Canva Sans Bold"/>
                <a:ea typeface="Canva Sans Bold"/>
                <a:cs typeface="Canva Sans Bold"/>
                <a:sym typeface="Canva Sans Bold"/>
              </a:rPr>
              <a:t>Financial</a:t>
            </a:r>
          </a:p>
        </p:txBody>
      </p:sp>
      <p:sp>
        <p:nvSpPr>
          <p:cNvPr id="6" name="TextBox 6"/>
          <p:cNvSpPr txBox="1"/>
          <p:nvPr/>
        </p:nvSpPr>
        <p:spPr>
          <a:xfrm>
            <a:off x="349287" y="4415598"/>
            <a:ext cx="17589427" cy="613410"/>
          </a:xfrm>
          <a:prstGeom prst="rect">
            <a:avLst/>
          </a:prstGeom>
        </p:spPr>
        <p:txBody>
          <a:bodyPr lIns="0" tIns="0" rIns="0" bIns="0" rtlCol="0" anchor="t">
            <a:spAutoFit/>
          </a:bodyPr>
          <a:lstStyle/>
          <a:p>
            <a:pPr algn="l">
              <a:lnSpc>
                <a:spcPts val="5040"/>
              </a:lnSpc>
            </a:pPr>
            <a:r>
              <a:rPr lang="en-US" sz="3600" b="1">
                <a:solidFill>
                  <a:srgbClr val="000000"/>
                </a:solidFill>
                <a:latin typeface="Canva Sans Bold"/>
                <a:ea typeface="Canva Sans Bold"/>
                <a:cs typeface="Canva Sans Bold"/>
                <a:sym typeface="Canva Sans Bold"/>
              </a:rPr>
              <a:t>Market</a:t>
            </a:r>
          </a:p>
        </p:txBody>
      </p:sp>
      <p:sp>
        <p:nvSpPr>
          <p:cNvPr id="7" name="TextBox 7"/>
          <p:cNvSpPr txBox="1"/>
          <p:nvPr/>
        </p:nvSpPr>
        <p:spPr>
          <a:xfrm>
            <a:off x="349287" y="5114733"/>
            <a:ext cx="17589427" cy="264160"/>
          </a:xfrm>
          <a:prstGeom prst="rect">
            <a:avLst/>
          </a:prstGeom>
        </p:spPr>
        <p:txBody>
          <a:bodyPr lIns="0" tIns="0" rIns="0" bIns="0" rtlCol="0" anchor="t">
            <a:spAutoFit/>
          </a:bodyPr>
          <a:lstStyle/>
          <a:p>
            <a:pPr algn="l">
              <a:lnSpc>
                <a:spcPts val="2239"/>
              </a:lnSpc>
            </a:pPr>
            <a:r>
              <a:rPr lang="en-US" sz="1599">
                <a:solidFill>
                  <a:srgbClr val="000000"/>
                </a:solidFill>
                <a:latin typeface="Canva Sans"/>
                <a:ea typeface="Canva Sans"/>
                <a:cs typeface="Canva Sans"/>
                <a:sym typeface="Canva Sans"/>
              </a:rPr>
              <a:t>1 - Statista : “Coworking space worldwide...” https://fr.statista.com/statistiques/644157/coworking-nombre-bureaux-partages-monde/</a:t>
            </a:r>
          </a:p>
        </p:txBody>
      </p:sp>
      <p:sp>
        <p:nvSpPr>
          <p:cNvPr id="8" name="TextBox 8"/>
          <p:cNvSpPr txBox="1"/>
          <p:nvPr/>
        </p:nvSpPr>
        <p:spPr>
          <a:xfrm>
            <a:off x="349287" y="6525780"/>
            <a:ext cx="16931996" cy="3464726"/>
          </a:xfrm>
          <a:prstGeom prst="rect">
            <a:avLst/>
          </a:prstGeom>
        </p:spPr>
        <p:txBody>
          <a:bodyPr lIns="0" tIns="0" rIns="0" bIns="0" rtlCol="0" anchor="t">
            <a:spAutoFit/>
          </a:bodyPr>
          <a:lstStyle/>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Environmental Sustainability of Coworking</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3" tooltip="https://www.theinstantgroup.com/en-us/breakthrough-insights/research-articles/leased-offices-create-158-more-emissions-per-occupier-than-flex-space/"/>
              </a:rPr>
              <a:t>The Instant Group</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4" tooltip="https://www.researchgate.net/publication/347228697_ACCEPTED_MANUSCRIPT_OPEN_ACCESS_Relationships_between_Coworking_Spaces_and_CO_2_emissions_in_work-_related_commuting_first_empirical_insights_for_the_case_of_Switzerland_with_regard_to_urban-rural_dif"/>
              </a:rPr>
              <a:t>ResearchGate</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5" tooltip="https://arxiv.org/abs/2006.08225?utm_source=chatgpt.com"/>
              </a:rPr>
              <a:t>arXiv</a:t>
            </a:r>
          </a:p>
          <a:p>
            <a:pPr algn="just">
              <a:lnSpc>
                <a:spcPts val="1395"/>
              </a:lnSpc>
            </a:pPr>
            <a:endParaRPr lang="en-US" sz="2022" u="sng">
              <a:solidFill>
                <a:srgbClr val="000000"/>
              </a:solidFill>
              <a:latin typeface="Open Sans 1"/>
              <a:ea typeface="Open Sans 1"/>
              <a:cs typeface="Open Sans 1"/>
              <a:sym typeface="Open Sans 1"/>
              <a:hlinkClick r:id="rId5" tooltip="https://arxiv.org/abs/2006.08225?utm_source=chatgpt.com"/>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Reducing Commute and Energy Impacts</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6" tooltip="https://www.researchgate.net/publication/335081030_Impact_of_occupants%27_behaviour_on_energy_consumption_and_corresponding_strategies_in_office_buildings?utm_source=chatgpt.com"/>
              </a:rPr>
              <a:t>ResearchGate</a:t>
            </a:r>
          </a:p>
          <a:p>
            <a:pPr algn="just">
              <a:lnSpc>
                <a:spcPts val="1395"/>
              </a:lnSpc>
            </a:pPr>
            <a:endParaRPr lang="en-US" sz="2022" u="sng">
              <a:solidFill>
                <a:srgbClr val="000000"/>
              </a:solidFill>
              <a:latin typeface="Open Sans 1"/>
              <a:ea typeface="Open Sans 1"/>
              <a:cs typeface="Open Sans 1"/>
              <a:sym typeface="Open Sans 1"/>
              <a:hlinkClick r:id="rId6" tooltip="https://www.researchgate.net/publication/335081030_Impact_of_occupants%27_behaviour_on_energy_consumption_and_corresponding_strategies_in_office_buildings?utm_source=chatgpt.com"/>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Optimizing Occupancy in Shared Workplaces</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7" tooltip="https://www.telelogos.com/en/news/6-compelling-reasons-to-implement-flex-office/"/>
              </a:rPr>
              <a:t>telelogos.com</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8" tooltip="https://www.ubigreen.com/en/2022/05/30/flex-office-in-company/"/>
              </a:rPr>
              <a:t>Ubigreen</a:t>
            </a:r>
          </a:p>
          <a:p>
            <a:pPr algn="just">
              <a:lnSpc>
                <a:spcPts val="1395"/>
              </a:lnSpc>
            </a:pPr>
            <a:endParaRPr lang="en-US" sz="2022" u="sng">
              <a:solidFill>
                <a:srgbClr val="000000"/>
              </a:solidFill>
              <a:latin typeface="Open Sans 1"/>
              <a:ea typeface="Open Sans 1"/>
              <a:cs typeface="Open Sans 1"/>
              <a:sym typeface="Open Sans 1"/>
              <a:hlinkClick r:id="rId8" tooltip="https://www.ubigreen.com/en/2022/05/30/flex-office-in-company/"/>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Smart Sensors and Right-Sizing</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8" tooltip="https://www.ubigreen.com/en/2022/05/30/flex-office-in-company/"/>
              </a:rPr>
              <a:t>Ubigreen</a:t>
            </a:r>
          </a:p>
          <a:p>
            <a:pPr algn="just">
              <a:lnSpc>
                <a:spcPts val="1395"/>
              </a:lnSpc>
            </a:pPr>
            <a:endParaRPr lang="en-US" sz="2022" u="sng">
              <a:solidFill>
                <a:srgbClr val="000000"/>
              </a:solidFill>
              <a:latin typeface="Open Sans 1"/>
              <a:ea typeface="Open Sans 1"/>
              <a:cs typeface="Open Sans 1"/>
              <a:sym typeface="Open Sans 1"/>
              <a:hlinkClick r:id="rId8" tooltip="https://www.ubigreen.com/en/2022/05/30/flex-office-in-company/"/>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Circular &amp; Adaptive Construction Practices</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9" tooltip="https://www.theinstantgroup.com/en-gb/breakthrough-insights/research-articles/how-to-operate-a-sustainable-flexible-workspace/"/>
              </a:rPr>
              <a:t>The Instant Group</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10" tooltip="https://allwork.space/2023/10/5-powerful-sustainability-strategies-to-help-coworking-centers-go-green/?utm_source=chatgpt.com"/>
              </a:rPr>
              <a:t>Allwork.Space</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11" tooltip="https://nexudus.com/blog/10-environmentally-conscious-coworking-spaces/?utm_source=chatgpt.com"/>
              </a:rPr>
              <a:t>Nexudus</a:t>
            </a:r>
          </a:p>
          <a:p>
            <a:pPr algn="just">
              <a:lnSpc>
                <a:spcPts val="1395"/>
              </a:lnSpc>
            </a:pPr>
            <a:endParaRPr lang="en-US" sz="2022" u="sng">
              <a:solidFill>
                <a:srgbClr val="000000"/>
              </a:solidFill>
              <a:latin typeface="Open Sans 1"/>
              <a:ea typeface="Open Sans 1"/>
              <a:cs typeface="Open Sans 1"/>
              <a:sym typeface="Open Sans 1"/>
              <a:hlinkClick r:id="rId11" tooltip="https://nexudus.com/blog/10-environmentally-conscious-coworking-spaces/?utm_source=chatgpt.com"/>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Performance-Based Sustainability</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9" tooltip="https://www.theinstantgroup.com/en-gb/breakthrough-insights/research-articles/how-to-operate-a-sustainable-flexible-workspace/"/>
              </a:rPr>
              <a:t>The Instant Group+1</a:t>
            </a:r>
          </a:p>
          <a:p>
            <a:pPr algn="just">
              <a:lnSpc>
                <a:spcPts val="1395"/>
              </a:lnSpc>
            </a:pPr>
            <a:endParaRPr lang="en-US" sz="2022" u="sng">
              <a:solidFill>
                <a:srgbClr val="000000"/>
              </a:solidFill>
              <a:latin typeface="Open Sans 1"/>
              <a:ea typeface="Open Sans 1"/>
              <a:cs typeface="Open Sans 1"/>
              <a:sym typeface="Open Sans 1"/>
              <a:hlinkClick r:id="rId9" tooltip="https://www.theinstantgroup.com/en-gb/breakthrough-insights/research-articles/how-to-operate-a-sustainable-flexible-workspace/"/>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Coworking Design and Productivity</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4" tooltip="https://www.researchgate.net/publication/347228697_ACCEPTED_MANUSCRIPT_OPEN_ACCESS_Relationships_between_Coworking_Spaces_and_CO_2_emissions_in_work-_related_commuting_first_empirical_insights_for_the_case_of_Switzerland_with_regard_to_urban-rural_dif"/>
              </a:rPr>
              <a:t>ResearchGate</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12" tooltip="https://www.havn-co.com/journal/how-coworking-spaces-boost-productivity-and-focus"/>
              </a:rPr>
              <a:t>Havn Co.+1</a:t>
            </a:r>
            <a:r>
              <a:rPr lang="en-US" sz="2022">
                <a:solidFill>
                  <a:srgbClr val="000000"/>
                </a:solidFill>
                <a:latin typeface="Open Sans 1"/>
                <a:ea typeface="Open Sans 1"/>
                <a:cs typeface="Open Sans 1"/>
                <a:sym typeface="Open Sans 1"/>
              </a:rPr>
              <a:t> ; </a:t>
            </a:r>
            <a:r>
              <a:rPr lang="en-US" sz="2022" u="sng">
                <a:solidFill>
                  <a:srgbClr val="000000"/>
                </a:solidFill>
                <a:latin typeface="Open Sans 1"/>
                <a:ea typeface="Open Sans 1"/>
                <a:cs typeface="Open Sans 1"/>
                <a:sym typeface="Open Sans 1"/>
                <a:hlinkClick r:id="rId13" tooltip="https://www.500sixth.com/blog/coworking-space-vs-home-office-which-is-better-for-productivity"/>
              </a:rPr>
              <a:t>500 SIXTH</a:t>
            </a:r>
          </a:p>
          <a:p>
            <a:pPr algn="just">
              <a:lnSpc>
                <a:spcPts val="1395"/>
              </a:lnSpc>
            </a:pPr>
            <a:endParaRPr lang="en-US" sz="2022" u="sng">
              <a:solidFill>
                <a:srgbClr val="000000"/>
              </a:solidFill>
              <a:latin typeface="Open Sans 1"/>
              <a:ea typeface="Open Sans 1"/>
              <a:cs typeface="Open Sans 1"/>
              <a:sym typeface="Open Sans 1"/>
              <a:hlinkClick r:id="rId13" tooltip="https://www.500sixth.com/blog/coworking-space-vs-home-office-which-is-better-for-productivity"/>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Environmental Comfort &amp; Wellbeing</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12" tooltip="https://www.havn-co.com/journal/how-coworking-spaces-boost-productivity-and-focus"/>
              </a:rPr>
              <a:t>Havn Co.+1</a:t>
            </a:r>
          </a:p>
          <a:p>
            <a:pPr algn="just">
              <a:lnSpc>
                <a:spcPts val="1395"/>
              </a:lnSpc>
            </a:pPr>
            <a:endParaRPr lang="en-US" sz="2022" u="sng">
              <a:solidFill>
                <a:srgbClr val="000000"/>
              </a:solidFill>
              <a:latin typeface="Open Sans 1"/>
              <a:ea typeface="Open Sans 1"/>
              <a:cs typeface="Open Sans 1"/>
              <a:sym typeface="Open Sans 1"/>
              <a:hlinkClick r:id="rId12" tooltip="https://www.havn-co.com/journal/how-coworking-spaces-boost-productivity-and-focus"/>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Employee Wellbeing in Coworking</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14" tooltip="https://hbr.org/2023/02/research-how-coworking-spaces-impact-employee-well-being?utm_source=chatgpt.com"/>
              </a:rPr>
              <a:t>Harvard Business Review</a:t>
            </a:r>
          </a:p>
          <a:p>
            <a:pPr algn="just">
              <a:lnSpc>
                <a:spcPts val="1395"/>
              </a:lnSpc>
            </a:pPr>
            <a:endParaRPr lang="en-US" sz="2022" u="sng">
              <a:solidFill>
                <a:srgbClr val="000000"/>
              </a:solidFill>
              <a:latin typeface="Open Sans 1"/>
              <a:ea typeface="Open Sans 1"/>
              <a:cs typeface="Open Sans 1"/>
              <a:sym typeface="Open Sans 1"/>
              <a:hlinkClick r:id="rId14" tooltip="https://hbr.org/2023/02/research-how-coworking-spaces-impact-employee-well-being?utm_source=chatgpt.com"/>
            </a:endParaRPr>
          </a:p>
          <a:p>
            <a:pPr algn="just">
              <a:lnSpc>
                <a:spcPts val="1395"/>
              </a:lnSpc>
            </a:pPr>
            <a:r>
              <a:rPr lang="en-US" sz="2022" b="1" i="1">
                <a:solidFill>
                  <a:srgbClr val="000000"/>
                </a:solidFill>
                <a:latin typeface="Open Sans 1 Bold Italics"/>
                <a:ea typeface="Open Sans 1 Bold Italics"/>
                <a:cs typeface="Open Sans 1 Bold Italics"/>
                <a:sym typeface="Open Sans 1 Bold Italics"/>
              </a:rPr>
              <a:t>Community &amp; Engagement Mechanisms</a:t>
            </a:r>
            <a:r>
              <a:rPr lang="en-US" sz="2022">
                <a:solidFill>
                  <a:srgbClr val="000000"/>
                </a:solidFill>
                <a:latin typeface="Open Sans 1"/>
                <a:ea typeface="Open Sans 1"/>
                <a:cs typeface="Open Sans 1"/>
                <a:sym typeface="Open Sans 1"/>
              </a:rPr>
              <a:t>-  </a:t>
            </a:r>
            <a:r>
              <a:rPr lang="en-US" sz="2022" u="sng">
                <a:solidFill>
                  <a:srgbClr val="000000"/>
                </a:solidFill>
                <a:latin typeface="Open Sans 1"/>
                <a:ea typeface="Open Sans 1"/>
                <a:cs typeface="Open Sans 1"/>
                <a:sym typeface="Open Sans 1"/>
                <a:hlinkClick r:id="rId14" tooltip="https://hbr.org/2023/02/research-how-coworking-spaces-impact-employee-well-being?utm_source=chatgpt.com"/>
              </a:rPr>
              <a:t>Harvard Business Review</a:t>
            </a:r>
          </a:p>
          <a:p>
            <a:pPr algn="ctr">
              <a:lnSpc>
                <a:spcPts val="1395"/>
              </a:lnSpc>
            </a:pPr>
            <a:endParaRPr lang="en-US" sz="2022" u="sng">
              <a:solidFill>
                <a:srgbClr val="000000"/>
              </a:solidFill>
              <a:latin typeface="Open Sans 1"/>
              <a:ea typeface="Open Sans 1"/>
              <a:cs typeface="Open Sans 1"/>
              <a:sym typeface="Open Sans 1"/>
              <a:hlinkClick r:id="rId14" tooltip="https://hbr.org/2023/02/research-how-coworking-spaces-impact-employee-well-being?utm_source=chatgpt.com"/>
            </a:endParaRPr>
          </a:p>
        </p:txBody>
      </p:sp>
      <p:sp>
        <p:nvSpPr>
          <p:cNvPr id="9" name="TextBox 9"/>
          <p:cNvSpPr txBox="1"/>
          <p:nvPr/>
        </p:nvSpPr>
        <p:spPr>
          <a:xfrm>
            <a:off x="349287" y="5834265"/>
            <a:ext cx="14941863" cy="481965"/>
          </a:xfrm>
          <a:prstGeom prst="rect">
            <a:avLst/>
          </a:prstGeom>
        </p:spPr>
        <p:txBody>
          <a:bodyPr lIns="0" tIns="0" rIns="0" bIns="0" rtlCol="0" anchor="t">
            <a:spAutoFit/>
          </a:bodyPr>
          <a:lstStyle/>
          <a:p>
            <a:pPr marL="0" lvl="0" indent="0" algn="just">
              <a:lnSpc>
                <a:spcPts val="3600"/>
              </a:lnSpc>
            </a:pPr>
            <a:r>
              <a:rPr lang="en-US" sz="3600">
                <a:solidFill>
                  <a:srgbClr val="000000"/>
                </a:solidFill>
                <a:latin typeface="Halimum"/>
                <a:ea typeface="Halimum"/>
                <a:cs typeface="Halimum"/>
                <a:sym typeface="Halimum"/>
              </a:rPr>
              <a:t>Net Positivity Assessment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6031</Words>
  <Application>Microsoft Office PowerPoint</Application>
  <PresentationFormat>Custom</PresentationFormat>
  <Paragraphs>563</Paragraphs>
  <Slides>24</Slides>
  <Notes>1</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41" baseType="lpstr">
      <vt:lpstr>Canva Sans</vt:lpstr>
      <vt:lpstr>Proxima Nova Bold</vt:lpstr>
      <vt:lpstr>Proxima Nova</vt:lpstr>
      <vt:lpstr>Arial</vt:lpstr>
      <vt:lpstr>Montserrat Bold</vt:lpstr>
      <vt:lpstr>Canva Sans Bold</vt:lpstr>
      <vt:lpstr>Open Sans 1</vt:lpstr>
      <vt:lpstr>Halimum</vt:lpstr>
      <vt:lpstr>Open Sans 2 Bold</vt:lpstr>
      <vt:lpstr>Open Sans 2</vt:lpstr>
      <vt:lpstr>Canva Sans Italics</vt:lpstr>
      <vt:lpstr>Open Sans 1 Bold</vt:lpstr>
      <vt:lpstr>Open Sans 1 Italics</vt:lpstr>
      <vt:lpstr>Open Sans 1 Bold Italics</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Foresight, BM</dc:title>
  <cp:lastModifiedBy>vinayak singh</cp:lastModifiedBy>
  <cp:revision>2</cp:revision>
  <dcterms:created xsi:type="dcterms:W3CDTF">2006-08-16T00:00:00Z</dcterms:created>
  <dcterms:modified xsi:type="dcterms:W3CDTF">2026-05-30T08:26:04Z</dcterms:modified>
  <dc:identifier>DAGywfc-7Q4</dc:identifier>
</cp:coreProperties>
</file>