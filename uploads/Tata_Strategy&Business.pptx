
<file path=[Content_Types].xml><?xml version="1.0" encoding="utf-8"?>
<Types xmlns="http://schemas.openxmlformats.org/package/2006/content-types">
  <Default Extension="jpeg" ContentType="image/jpeg"/>
  <Default Extension="jpg" ContentType="image/jp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1"/>
  </p:notesMasterIdLst>
  <p:sldIdLst>
    <p:sldId id="256" r:id="rId5"/>
    <p:sldId id="261" r:id="rId6"/>
    <p:sldId id="280" r:id="rId7"/>
    <p:sldId id="281" r:id="rId8"/>
    <p:sldId id="302" r:id="rId9"/>
    <p:sldId id="304" r:id="rId10"/>
    <p:sldId id="303" r:id="rId11"/>
    <p:sldId id="283" r:id="rId12"/>
    <p:sldId id="286" r:id="rId13"/>
    <p:sldId id="265" r:id="rId14"/>
    <p:sldId id="319" r:id="rId15"/>
    <p:sldId id="264" r:id="rId16"/>
    <p:sldId id="311" r:id="rId17"/>
    <p:sldId id="308" r:id="rId18"/>
    <p:sldId id="321" r:id="rId19"/>
    <p:sldId id="324" r:id="rId20"/>
    <p:sldId id="323" r:id="rId21"/>
    <p:sldId id="282" r:id="rId22"/>
    <p:sldId id="276" r:id="rId23"/>
    <p:sldId id="269" r:id="rId24"/>
    <p:sldId id="312" r:id="rId25"/>
    <p:sldId id="313" r:id="rId26"/>
    <p:sldId id="314" r:id="rId27"/>
    <p:sldId id="325" r:id="rId28"/>
    <p:sldId id="326" r:id="rId29"/>
    <p:sldId id="318" r:id="rId30"/>
  </p:sldIdLst>
  <p:sldSz cx="20104100" cy="11309350"/>
  <p:notesSz cx="20104100" cy="11309350"/>
  <p:defaultTextStyle>
    <a:defPPr>
      <a:defRPr kern="0"/>
    </a:defPPr>
  </p:defaultTextStyle>
  <p:extLst>
    <p:ext uri="{521415D9-36F7-43E2-AB2F-B90AF26B5E84}">
      <p14:sectionLst xmlns:p14="http://schemas.microsoft.com/office/powerpoint/2010/main">
        <p14:section name="Section par défaut" id="{B9577F4C-3967-4358-86B3-D7DB7072AAB4}">
          <p14:sldIdLst>
            <p14:sldId id="256"/>
            <p14:sldId id="261"/>
            <p14:sldId id="280"/>
            <p14:sldId id="281"/>
            <p14:sldId id="302"/>
            <p14:sldId id="304"/>
            <p14:sldId id="303"/>
            <p14:sldId id="283"/>
            <p14:sldId id="286"/>
            <p14:sldId id="265"/>
            <p14:sldId id="319"/>
            <p14:sldId id="264"/>
            <p14:sldId id="311"/>
            <p14:sldId id="308"/>
            <p14:sldId id="321"/>
            <p14:sldId id="324"/>
            <p14:sldId id="323"/>
          </p14:sldIdLst>
        </p14:section>
        <p14:section name="Appendix" id="{0DBAECC3-4842-47B9-B9BC-C7B2517E19DD}">
          <p14:sldIdLst>
            <p14:sldId id="282"/>
            <p14:sldId id="276"/>
            <p14:sldId id="269"/>
            <p14:sldId id="312"/>
            <p14:sldId id="313"/>
            <p14:sldId id="314"/>
            <p14:sldId id="325"/>
            <p14:sldId id="326"/>
            <p14:sldId id="31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6692"/>
    <a:srgbClr val="4F81BD"/>
    <a:srgbClr val="0B89D8"/>
    <a:srgbClr val="ACC5D8"/>
    <a:srgbClr val="A8C2D5"/>
    <a:srgbClr val="AFC7D9"/>
    <a:srgbClr val="E7EDF2"/>
    <a:srgbClr val="6266BB"/>
    <a:srgbClr val="0B87D6"/>
    <a:srgbClr val="6669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9DAD58-AB2D-8C3E-3C42-D758D9968E88}" v="2" dt="2026-05-30T07:58:17.5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24"/>
    <p:restoredTop sz="94683"/>
  </p:normalViewPr>
  <p:slideViewPr>
    <p:cSldViewPr snapToGrid="0">
      <p:cViewPr varScale="1">
        <p:scale>
          <a:sx n="64" d="100"/>
          <a:sy n="64" d="100"/>
        </p:scale>
        <p:origin x="888" y="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F67AC138-EEF3-1F49-89A2-3CFF86D7183B}" type="datetimeFigureOut">
              <a:rPr lang="en-US" smtClean="0"/>
              <a:t>5/30/2026</a:t>
            </a:fld>
            <a:endParaRPr lang="en-US"/>
          </a:p>
        </p:txBody>
      </p:sp>
      <p:sp>
        <p:nvSpPr>
          <p:cNvPr id="4" name="Folienbildplatzhalt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E73C4AB2-2DA7-7142-AE57-F328ABC07874}" type="slidenum">
              <a:rPr lang="en-US" smtClean="0"/>
              <a:t>‹#›</a:t>
            </a:fld>
            <a:endParaRPr lang="en-US"/>
          </a:p>
        </p:txBody>
      </p:sp>
    </p:spTree>
    <p:extLst>
      <p:ext uri="{BB962C8B-B14F-4D97-AF65-F5344CB8AC3E}">
        <p14:creationId xmlns:p14="http://schemas.microsoft.com/office/powerpoint/2010/main" val="3460714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3C4AB2-2DA7-7142-AE57-F328ABC07874}" type="slidenum">
              <a:rPr lang="en-US" smtClean="0"/>
              <a:t>2</a:t>
            </a:fld>
            <a:endParaRPr lang="en-US"/>
          </a:p>
        </p:txBody>
      </p:sp>
    </p:spTree>
    <p:extLst>
      <p:ext uri="{BB962C8B-B14F-4D97-AF65-F5344CB8AC3E}">
        <p14:creationId xmlns:p14="http://schemas.microsoft.com/office/powerpoint/2010/main" val="2978758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C8508-31C3-A881-1963-45C214447AB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F8C9F5A-0D49-DD40-2C3E-69158EC84BD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732B8DD-C8B5-266A-8A5E-2B1F1137CAC9}"/>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8CAFF1BF-5FBC-0C37-2482-58BBCCA9B444}"/>
              </a:ext>
            </a:extLst>
          </p:cNvPr>
          <p:cNvSpPr>
            <a:spLocks noGrp="1"/>
          </p:cNvSpPr>
          <p:nvPr>
            <p:ph type="sldNum" sz="quarter" idx="5"/>
          </p:nvPr>
        </p:nvSpPr>
        <p:spPr/>
        <p:txBody>
          <a:bodyPr/>
          <a:lstStyle/>
          <a:p>
            <a:fld id="{912846DF-47F2-5344-A2F0-0E12344B3D8D}" type="slidenum">
              <a:rPr lang="en-US" smtClean="0"/>
              <a:t>10</a:t>
            </a:fld>
            <a:endParaRPr lang="en-US"/>
          </a:p>
        </p:txBody>
      </p:sp>
    </p:spTree>
    <p:extLst>
      <p:ext uri="{BB962C8B-B14F-4D97-AF65-F5344CB8AC3E}">
        <p14:creationId xmlns:p14="http://schemas.microsoft.com/office/powerpoint/2010/main" val="3755810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 typeface="Arial" panose="020B0604020202020204" pitchFamily="34" charset="0"/>
              <a:buChar char="•"/>
            </a:pPr>
            <a:r>
              <a:rPr lang="fr-FR" b="1" i="0" u="none" strike="noStrike">
                <a:solidFill>
                  <a:srgbClr val="000000"/>
                </a:solidFill>
                <a:effectLst/>
                <a:latin typeface="Aptos" panose="020B0004020202020204" pitchFamily="34" charset="0"/>
              </a:rPr>
              <a:t>Short </a:t>
            </a:r>
            <a:r>
              <a:rPr lang="fr-FR" b="1" i="0" u="none" strike="noStrike" err="1">
                <a:solidFill>
                  <a:srgbClr val="000000"/>
                </a:solidFill>
                <a:effectLst/>
                <a:latin typeface="Aptos" panose="020B0004020202020204" pitchFamily="34" charset="0"/>
              </a:rPr>
              <a:t>term</a:t>
            </a:r>
            <a:r>
              <a:rPr lang="fr-FR" b="1" i="0" u="none" strike="noStrike">
                <a:solidFill>
                  <a:srgbClr val="000000"/>
                </a:solidFill>
                <a:effectLst/>
                <a:latin typeface="Aptos" panose="020B0004020202020204" pitchFamily="34" charset="0"/>
              </a:rPr>
              <a:t> (2025–2028):</a:t>
            </a:r>
            <a:r>
              <a:rPr lang="fr-FR" b="0" i="0" u="none" strike="noStrike">
                <a:solidFill>
                  <a:srgbClr val="000000"/>
                </a:solidFill>
                <a:effectLst/>
                <a:latin typeface="Aptos" panose="020B0004020202020204" pitchFamily="34" charset="0"/>
              </a:rPr>
              <a:t> </a:t>
            </a:r>
            <a:r>
              <a:rPr lang="fr-FR" b="0" i="0" u="none" strike="noStrike" err="1">
                <a:solidFill>
                  <a:srgbClr val="000000"/>
                </a:solidFill>
                <a:effectLst/>
                <a:latin typeface="Aptos" panose="020B0004020202020204" pitchFamily="34" charset="0"/>
              </a:rPr>
              <a:t>Maintain</a:t>
            </a:r>
            <a:r>
              <a:rPr lang="fr-FR" b="0" i="0" u="none" strike="noStrike">
                <a:solidFill>
                  <a:srgbClr val="000000"/>
                </a:solidFill>
                <a:effectLst/>
                <a:latin typeface="Aptos" panose="020B0004020202020204" pitchFamily="34" charset="0"/>
              </a:rPr>
              <a:t> a </a:t>
            </a:r>
            <a:r>
              <a:rPr lang="fr-FR" b="1" i="0" u="none" strike="noStrike" err="1">
                <a:solidFill>
                  <a:srgbClr val="000000"/>
                </a:solidFill>
                <a:effectLst/>
                <a:latin typeface="Aptos" panose="020B0004020202020204" pitchFamily="34" charset="0"/>
              </a:rPr>
              <a:t>balanced</a:t>
            </a:r>
            <a:r>
              <a:rPr lang="fr-FR" b="1" i="0" u="none" strike="noStrike">
                <a:solidFill>
                  <a:srgbClr val="000000"/>
                </a:solidFill>
                <a:effectLst/>
                <a:latin typeface="Aptos" panose="020B0004020202020204" pitchFamily="34" charset="0"/>
              </a:rPr>
              <a:t> portfolio</a:t>
            </a:r>
            <a:r>
              <a:rPr lang="fr-FR" b="0" i="0" u="none" strike="noStrike">
                <a:solidFill>
                  <a:srgbClr val="000000"/>
                </a:solidFill>
                <a:effectLst/>
                <a:latin typeface="Aptos" panose="020B0004020202020204" pitchFamily="34" charset="0"/>
              </a:rPr>
              <a:t> (≈60% ICE / 40% </a:t>
            </a:r>
            <a:r>
              <a:rPr lang="fr-FR" b="0" i="0" u="none" strike="noStrike" err="1">
                <a:solidFill>
                  <a:srgbClr val="000000"/>
                </a:solidFill>
                <a:effectLst/>
                <a:latin typeface="Aptos" panose="020B0004020202020204" pitchFamily="34" charset="0"/>
              </a:rPr>
              <a:t>EVs</a:t>
            </a:r>
            <a:r>
              <a:rPr lang="fr-FR" b="0" i="0" u="none" strike="noStrike">
                <a:solidFill>
                  <a:srgbClr val="000000"/>
                </a:solidFill>
                <a:effectLst/>
                <a:latin typeface="Aptos" panose="020B0004020202020204" pitchFamily="34" charset="0"/>
              </a:rPr>
              <a:t>) to </a:t>
            </a:r>
            <a:r>
              <a:rPr lang="fr-FR" b="0" i="0" u="none" strike="noStrike" err="1">
                <a:solidFill>
                  <a:srgbClr val="000000"/>
                </a:solidFill>
                <a:effectLst/>
                <a:latin typeface="Aptos" panose="020B0004020202020204" pitchFamily="34" charset="0"/>
              </a:rPr>
              <a:t>ensure</a:t>
            </a:r>
            <a:r>
              <a:rPr lang="fr-FR" b="0" i="0" u="none" strike="noStrike">
                <a:solidFill>
                  <a:srgbClr val="000000"/>
                </a:solidFill>
                <a:effectLst/>
                <a:latin typeface="Aptos" panose="020B0004020202020204" pitchFamily="34" charset="0"/>
              </a:rPr>
              <a:t> </a:t>
            </a:r>
            <a:r>
              <a:rPr lang="fr-FR" b="0" i="0" u="none" strike="noStrike" err="1">
                <a:solidFill>
                  <a:srgbClr val="000000"/>
                </a:solidFill>
                <a:effectLst/>
                <a:latin typeface="Aptos" panose="020B0004020202020204" pitchFamily="34" charset="0"/>
              </a:rPr>
              <a:t>strong</a:t>
            </a:r>
            <a:r>
              <a:rPr lang="fr-FR" b="0" i="0" u="none" strike="noStrike">
                <a:solidFill>
                  <a:srgbClr val="000000"/>
                </a:solidFill>
                <a:effectLst/>
                <a:latin typeface="Aptos" panose="020B0004020202020204" pitchFamily="34" charset="0"/>
              </a:rPr>
              <a:t> </a:t>
            </a:r>
            <a:r>
              <a:rPr lang="fr-FR" b="0" i="0" u="none" strike="noStrike" err="1">
                <a:solidFill>
                  <a:srgbClr val="000000"/>
                </a:solidFill>
                <a:effectLst/>
                <a:latin typeface="Aptos" panose="020B0004020202020204" pitchFamily="34" charset="0"/>
              </a:rPr>
              <a:t>margins</a:t>
            </a:r>
            <a:r>
              <a:rPr lang="fr-FR" b="0" i="0" u="none" strike="noStrike">
                <a:solidFill>
                  <a:srgbClr val="000000"/>
                </a:solidFill>
                <a:effectLst/>
                <a:latin typeface="Aptos" panose="020B0004020202020204" pitchFamily="34" charset="0"/>
              </a:rPr>
              <a:t> and </a:t>
            </a:r>
            <a:r>
              <a:rPr lang="fr-FR" b="0" i="0" u="none" strike="noStrike" err="1">
                <a:solidFill>
                  <a:srgbClr val="000000"/>
                </a:solidFill>
                <a:effectLst/>
                <a:latin typeface="Aptos" panose="020B0004020202020204" pitchFamily="34" charset="0"/>
              </a:rPr>
              <a:t>fund</a:t>
            </a:r>
            <a:r>
              <a:rPr lang="fr-FR" b="0" i="0" u="none" strike="noStrike">
                <a:solidFill>
                  <a:srgbClr val="000000"/>
                </a:solidFill>
                <a:effectLst/>
                <a:latin typeface="Aptos" panose="020B0004020202020204" pitchFamily="34" charset="0"/>
              </a:rPr>
              <a:t> R&amp;D</a:t>
            </a:r>
          </a:p>
          <a:p>
            <a:pPr marL="285750" indent="-285750">
              <a:buFont typeface="Arial" panose="020B0604020202020204" pitchFamily="34" charset="0"/>
              <a:buChar char="•"/>
            </a:pPr>
            <a:r>
              <a:rPr lang="fr-FR" b="1" err="1">
                <a:latin typeface="Aptos" panose="020B0004020202020204" pitchFamily="34" charset="0"/>
              </a:rPr>
              <a:t>Mid</a:t>
            </a:r>
            <a:r>
              <a:rPr lang="fr-FR" b="1">
                <a:latin typeface="Aptos" panose="020B0004020202020204" pitchFamily="34" charset="0"/>
              </a:rPr>
              <a:t> </a:t>
            </a:r>
            <a:r>
              <a:rPr lang="fr-FR" b="1" err="1">
                <a:latin typeface="Aptos" panose="020B0004020202020204" pitchFamily="34" charset="0"/>
              </a:rPr>
              <a:t>term</a:t>
            </a:r>
            <a:r>
              <a:rPr lang="fr-FR" b="1">
                <a:latin typeface="Aptos" panose="020B0004020202020204" pitchFamily="34" charset="0"/>
              </a:rPr>
              <a:t> (2028–2032):</a:t>
            </a:r>
            <a:r>
              <a:rPr lang="fr-FR">
                <a:latin typeface="Aptos" panose="020B0004020202020204" pitchFamily="34" charset="0"/>
              </a:rPr>
              <a:t> Transition to a </a:t>
            </a:r>
            <a:r>
              <a:rPr lang="fr-FR" b="1" err="1">
                <a:latin typeface="Aptos" panose="020B0004020202020204" pitchFamily="34" charset="0"/>
              </a:rPr>
              <a:t>majority</a:t>
            </a:r>
            <a:r>
              <a:rPr lang="fr-FR" b="1">
                <a:latin typeface="Aptos" panose="020B0004020202020204" pitchFamily="34" charset="0"/>
              </a:rPr>
              <a:t>-EV </a:t>
            </a:r>
            <a:r>
              <a:rPr lang="fr-FR" b="1" err="1">
                <a:latin typeface="Aptos" panose="020B0004020202020204" pitchFamily="34" charset="0"/>
              </a:rPr>
              <a:t>lineup</a:t>
            </a:r>
            <a:r>
              <a:rPr lang="fr-FR">
                <a:latin typeface="Aptos" panose="020B0004020202020204" pitchFamily="34" charset="0"/>
              </a:rPr>
              <a:t> (≈75% </a:t>
            </a:r>
            <a:r>
              <a:rPr lang="fr-FR" err="1">
                <a:latin typeface="Aptos" panose="020B0004020202020204" pitchFamily="34" charset="0"/>
              </a:rPr>
              <a:t>EVs</a:t>
            </a:r>
            <a:r>
              <a:rPr lang="fr-FR">
                <a:latin typeface="Aptos" panose="020B0004020202020204" pitchFamily="34" charset="0"/>
              </a:rPr>
              <a:t>) </a:t>
            </a:r>
            <a:r>
              <a:rPr lang="fr-FR" err="1">
                <a:latin typeface="Aptos" panose="020B0004020202020204" pitchFamily="34" charset="0"/>
              </a:rPr>
              <a:t>while</a:t>
            </a:r>
            <a:r>
              <a:rPr lang="fr-FR">
                <a:latin typeface="Aptos" panose="020B0004020202020204" pitchFamily="34" charset="0"/>
              </a:rPr>
              <a:t> </a:t>
            </a:r>
            <a:r>
              <a:rPr lang="fr-FR" err="1">
                <a:latin typeface="Aptos" panose="020B0004020202020204" pitchFamily="34" charset="0"/>
              </a:rPr>
              <a:t>using</a:t>
            </a:r>
            <a:r>
              <a:rPr lang="fr-FR">
                <a:latin typeface="Aptos" panose="020B0004020202020204" pitchFamily="34" charset="0"/>
              </a:rPr>
              <a:t> </a:t>
            </a:r>
            <a:r>
              <a:rPr lang="fr-FR" err="1">
                <a:latin typeface="Aptos" panose="020B0004020202020204" pitchFamily="34" charset="0"/>
              </a:rPr>
              <a:t>SB’s</a:t>
            </a:r>
            <a:r>
              <a:rPr lang="fr-FR">
                <a:latin typeface="Aptos" panose="020B0004020202020204" pitchFamily="34" charset="0"/>
              </a:rPr>
              <a:t> expertise to </a:t>
            </a:r>
            <a:r>
              <a:rPr lang="fr-FR" err="1">
                <a:latin typeface="Aptos" panose="020B0004020202020204" pitchFamily="34" charset="0"/>
              </a:rPr>
              <a:t>sustain</a:t>
            </a:r>
            <a:r>
              <a:rPr lang="fr-FR">
                <a:latin typeface="Aptos" panose="020B0004020202020204" pitchFamily="34" charset="0"/>
              </a:rPr>
              <a:t> </a:t>
            </a:r>
            <a:r>
              <a:rPr lang="fr-FR" err="1">
                <a:latin typeface="Aptos" panose="020B0004020202020204" pitchFamily="34" charset="0"/>
              </a:rPr>
              <a:t>emotional</a:t>
            </a:r>
            <a:r>
              <a:rPr lang="fr-FR">
                <a:latin typeface="Aptos" panose="020B0004020202020204" pitchFamily="34" charset="0"/>
              </a:rPr>
              <a:t> performance and premium </a:t>
            </a:r>
            <a:r>
              <a:rPr lang="fr-FR" err="1">
                <a:latin typeface="Aptos" panose="020B0004020202020204" pitchFamily="34" charset="0"/>
              </a:rPr>
              <a:t>craftsmanship</a:t>
            </a:r>
            <a:r>
              <a:rPr lang="fr-FR">
                <a:latin typeface="Aptos" panose="020B0004020202020204" pitchFamily="34" charset="0"/>
              </a:rPr>
              <a:t>.</a:t>
            </a:r>
          </a:p>
          <a:p>
            <a:endParaRPr lang="fr-FR"/>
          </a:p>
        </p:txBody>
      </p:sp>
      <p:sp>
        <p:nvSpPr>
          <p:cNvPr id="4" name="Espace réservé du numéro de diapositive 3"/>
          <p:cNvSpPr>
            <a:spLocks noGrp="1"/>
          </p:cNvSpPr>
          <p:nvPr>
            <p:ph type="sldNum" sz="quarter" idx="5"/>
          </p:nvPr>
        </p:nvSpPr>
        <p:spPr/>
        <p:txBody>
          <a:bodyPr/>
          <a:lstStyle/>
          <a:p>
            <a:fld id="{E73C4AB2-2DA7-7142-AE57-F328ABC07874}" type="slidenum">
              <a:rPr lang="en-US" smtClean="0"/>
              <a:t>15</a:t>
            </a:fld>
            <a:endParaRPr lang="en-US"/>
          </a:p>
        </p:txBody>
      </p:sp>
    </p:spTree>
    <p:extLst>
      <p:ext uri="{BB962C8B-B14F-4D97-AF65-F5344CB8AC3E}">
        <p14:creationId xmlns:p14="http://schemas.microsoft.com/office/powerpoint/2010/main" val="318046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45EAB-4B54-3943-2DF8-6D055A3A3CF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28583F-ADF8-59DE-63C1-8D90D79559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25B299-1C9C-A426-2ECB-862BAE09CE2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0C710644-3984-B508-688B-17ECAC5454D5}"/>
              </a:ext>
            </a:extLst>
          </p:cNvPr>
          <p:cNvSpPr>
            <a:spLocks noGrp="1"/>
          </p:cNvSpPr>
          <p:nvPr>
            <p:ph type="sldNum" sz="quarter" idx="5"/>
          </p:nvPr>
        </p:nvSpPr>
        <p:spPr/>
        <p:txBody>
          <a:bodyPr/>
          <a:lstStyle/>
          <a:p>
            <a:fld id="{E73C4AB2-2DA7-7142-AE57-F328ABC07874}" type="slidenum">
              <a:rPr lang="en-US" smtClean="0"/>
              <a:t>16</a:t>
            </a:fld>
            <a:endParaRPr lang="en-US"/>
          </a:p>
        </p:txBody>
      </p:sp>
    </p:spTree>
    <p:extLst>
      <p:ext uri="{BB962C8B-B14F-4D97-AF65-F5344CB8AC3E}">
        <p14:creationId xmlns:p14="http://schemas.microsoft.com/office/powerpoint/2010/main" val="3170842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4950" b="0" i="0">
                <a:solidFill>
                  <a:srgbClr val="262626"/>
                </a:solidFill>
                <a:latin typeface="Microsoft Sans Serif"/>
                <a:cs typeface="Microsoft Sans Serif"/>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p:txBody>
          <a:bodyPr lIns="0" tIns="0" rIns="0" bIns="0"/>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262626"/>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p:txBody>
          <a:bodyPr lIns="0" tIns="0" rIns="0" bIns="0"/>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262626"/>
                </a:solidFill>
                <a:latin typeface="Microsoft Sans Serif"/>
                <a:cs typeface="Microsoft Sans Serif"/>
              </a:defRPr>
            </a:lvl1pPr>
          </a:lstStyle>
          <a:p>
            <a:endParaRPr/>
          </a:p>
        </p:txBody>
      </p:sp>
      <p:sp>
        <p:nvSpPr>
          <p:cNvPr id="3" name="Holder 3"/>
          <p:cNvSpPr>
            <a:spLocks noGrp="1"/>
          </p:cNvSpPr>
          <p:nvPr>
            <p:ph sz="half" idx="2"/>
          </p:nvPr>
        </p:nvSpPr>
        <p:spPr>
          <a:xfrm>
            <a:off x="1133558" y="2022002"/>
            <a:ext cx="8619490" cy="7753350"/>
          </a:xfrm>
          <a:prstGeom prst="rect">
            <a:avLst/>
          </a:prstGeom>
        </p:spPr>
        <p:txBody>
          <a:bodyPr wrap="square" lIns="0" tIns="0" rIns="0" bIns="0">
            <a:spAutoFit/>
          </a:bodyPr>
          <a:lstStyle>
            <a:lvl1pPr>
              <a:defRPr sz="1650" b="0" i="0">
                <a:solidFill>
                  <a:srgbClr val="262626"/>
                </a:solidFill>
                <a:latin typeface="Microsoft Sans Serif"/>
                <a:cs typeface="Microsoft Sans Serif"/>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7" name="Holder 7"/>
          <p:cNvSpPr>
            <a:spLocks noGrp="1"/>
          </p:cNvSpPr>
          <p:nvPr>
            <p:ph type="sldNum" sz="quarter" idx="7"/>
          </p:nvPr>
        </p:nvSpPr>
        <p:spPr/>
        <p:txBody>
          <a:bodyPr lIns="0" tIns="0" rIns="0" bIns="0"/>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262626"/>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5" name="Holder 5"/>
          <p:cNvSpPr>
            <a:spLocks noGrp="1"/>
          </p:cNvSpPr>
          <p:nvPr>
            <p:ph type="sldNum" sz="quarter" idx="7"/>
          </p:nvPr>
        </p:nvSpPr>
        <p:spPr/>
        <p:txBody>
          <a:bodyPr lIns="0" tIns="0" rIns="0" bIns="0"/>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4" name="Holder 4"/>
          <p:cNvSpPr>
            <a:spLocks noGrp="1"/>
          </p:cNvSpPr>
          <p:nvPr>
            <p:ph type="sldNum" sz="quarter" idx="7"/>
          </p:nvPr>
        </p:nvSpPr>
        <p:spPr/>
        <p:txBody>
          <a:bodyPr lIns="0" tIns="0" rIns="0" bIns="0"/>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8513677" y="10402688"/>
            <a:ext cx="1590675" cy="593725"/>
          </a:xfrm>
          <a:custGeom>
            <a:avLst/>
            <a:gdLst/>
            <a:ahLst/>
            <a:cxnLst/>
            <a:rect l="l" t="t" r="r" b="b"/>
            <a:pathLst>
              <a:path w="1590675" h="593725">
                <a:moveTo>
                  <a:pt x="1590422" y="0"/>
                </a:moveTo>
                <a:lnTo>
                  <a:pt x="116122" y="0"/>
                </a:lnTo>
                <a:lnTo>
                  <a:pt x="70899" y="9131"/>
                </a:lnTo>
                <a:lnTo>
                  <a:pt x="33991" y="34034"/>
                </a:lnTo>
                <a:lnTo>
                  <a:pt x="9117" y="70971"/>
                </a:lnTo>
                <a:lnTo>
                  <a:pt x="0" y="116202"/>
                </a:lnTo>
                <a:lnTo>
                  <a:pt x="0" y="477422"/>
                </a:lnTo>
                <a:lnTo>
                  <a:pt x="9117" y="522653"/>
                </a:lnTo>
                <a:lnTo>
                  <a:pt x="33991" y="559589"/>
                </a:lnTo>
                <a:lnTo>
                  <a:pt x="70899" y="584493"/>
                </a:lnTo>
                <a:lnTo>
                  <a:pt x="116122" y="593624"/>
                </a:lnTo>
                <a:lnTo>
                  <a:pt x="1590422" y="593624"/>
                </a:lnTo>
                <a:lnTo>
                  <a:pt x="1590422" y="0"/>
                </a:lnTo>
                <a:close/>
              </a:path>
            </a:pathLst>
          </a:custGeom>
          <a:solidFill>
            <a:srgbClr val="C2E3FC">
              <a:alpha val="50199"/>
            </a:srgbClr>
          </a:solidFill>
        </p:spPr>
        <p:txBody>
          <a:bodyPr wrap="square" lIns="0" tIns="0" rIns="0" bIns="0" rtlCol="0"/>
          <a:lstStyle/>
          <a:p>
            <a:endParaRPr/>
          </a:p>
        </p:txBody>
      </p:sp>
      <p:sp>
        <p:nvSpPr>
          <p:cNvPr id="17" name="bg object 17"/>
          <p:cNvSpPr/>
          <p:nvPr/>
        </p:nvSpPr>
        <p:spPr>
          <a:xfrm>
            <a:off x="0" y="10402687"/>
            <a:ext cx="3917950" cy="593725"/>
          </a:xfrm>
          <a:custGeom>
            <a:avLst/>
            <a:gdLst/>
            <a:ahLst/>
            <a:cxnLst/>
            <a:rect l="l" t="t" r="r" b="b"/>
            <a:pathLst>
              <a:path w="3917950" h="593725">
                <a:moveTo>
                  <a:pt x="3801726" y="0"/>
                </a:moveTo>
                <a:lnTo>
                  <a:pt x="0" y="0"/>
                </a:lnTo>
                <a:lnTo>
                  <a:pt x="0" y="593624"/>
                </a:lnTo>
                <a:lnTo>
                  <a:pt x="3801726" y="593624"/>
                </a:lnTo>
                <a:lnTo>
                  <a:pt x="3846956" y="584493"/>
                </a:lnTo>
                <a:lnTo>
                  <a:pt x="3883890" y="559590"/>
                </a:lnTo>
                <a:lnTo>
                  <a:pt x="3908791" y="522654"/>
                </a:lnTo>
                <a:lnTo>
                  <a:pt x="3917922" y="477423"/>
                </a:lnTo>
                <a:lnTo>
                  <a:pt x="3917922" y="116200"/>
                </a:lnTo>
                <a:lnTo>
                  <a:pt x="3908791" y="70970"/>
                </a:lnTo>
                <a:lnTo>
                  <a:pt x="3883890" y="34034"/>
                </a:lnTo>
                <a:lnTo>
                  <a:pt x="3846956" y="9131"/>
                </a:lnTo>
                <a:lnTo>
                  <a:pt x="3801726" y="0"/>
                </a:lnTo>
                <a:close/>
              </a:path>
            </a:pathLst>
          </a:custGeom>
          <a:solidFill>
            <a:srgbClr val="C2E3FC">
              <a:alpha val="50199"/>
            </a:srgbClr>
          </a:solidFill>
        </p:spPr>
        <p:txBody>
          <a:bodyPr wrap="square" lIns="0" tIns="0" rIns="0" bIns="0" rtlCol="0"/>
          <a:lstStyle/>
          <a:p>
            <a:endParaRPr/>
          </a:p>
        </p:txBody>
      </p:sp>
      <p:sp>
        <p:nvSpPr>
          <p:cNvPr id="2" name="Holder 2"/>
          <p:cNvSpPr>
            <a:spLocks noGrp="1"/>
          </p:cNvSpPr>
          <p:nvPr>
            <p:ph type="title"/>
          </p:nvPr>
        </p:nvSpPr>
        <p:spPr>
          <a:xfrm>
            <a:off x="1133558" y="786438"/>
            <a:ext cx="14804390" cy="779780"/>
          </a:xfrm>
          <a:prstGeom prst="rect">
            <a:avLst/>
          </a:prstGeom>
        </p:spPr>
        <p:txBody>
          <a:bodyPr wrap="square" lIns="0" tIns="0" rIns="0" bIns="0">
            <a:spAutoFit/>
          </a:bodyPr>
          <a:lstStyle>
            <a:lvl1pPr>
              <a:defRPr sz="4950" b="0" i="0">
                <a:solidFill>
                  <a:srgbClr val="262626"/>
                </a:solidFill>
                <a:latin typeface="Microsoft Sans Serif"/>
                <a:cs typeface="Microsoft Sans Serif"/>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5/30/2026</a:t>
            </a:fld>
            <a:endParaRPr lang="en-US"/>
          </a:p>
        </p:txBody>
      </p:sp>
      <p:sp>
        <p:nvSpPr>
          <p:cNvPr id="6" name="Holder 6"/>
          <p:cNvSpPr>
            <a:spLocks noGrp="1"/>
          </p:cNvSpPr>
          <p:nvPr>
            <p:ph type="sldNum" sz="quarter" idx="7"/>
          </p:nvPr>
        </p:nvSpPr>
        <p:spPr>
          <a:xfrm>
            <a:off x="18667927" y="10548235"/>
            <a:ext cx="274319" cy="308609"/>
          </a:xfrm>
          <a:prstGeom prst="rect">
            <a:avLst/>
          </a:prstGeom>
        </p:spPr>
        <p:txBody>
          <a:bodyPr wrap="square" lIns="0" tIns="0" rIns="0" bIns="0">
            <a:spAutoFit/>
          </a:bodyPr>
          <a:lstStyle>
            <a:lvl1pPr>
              <a:defRPr sz="1650" b="0" i="0">
                <a:solidFill>
                  <a:srgbClr val="262626"/>
                </a:solidFill>
                <a:latin typeface="Microsoft Sans Serif"/>
                <a:cs typeface="Microsoft Sans Serif"/>
              </a:defRPr>
            </a:lvl1pPr>
          </a:lstStyle>
          <a:p>
            <a:pPr marL="67310">
              <a:lnSpc>
                <a:spcPct val="100000"/>
              </a:lnSpc>
              <a:spcBef>
                <a:spcPts val="180"/>
              </a:spcBef>
            </a:pPr>
            <a:fld id="{81D60167-4931-47E6-BA6A-407CBD079E47}" type="slidenum">
              <a:rPr spc="20" dirty="0"/>
              <a:t>‹#›</a:t>
            </a:fld>
            <a:endParaRPr spc="2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9" Type="http://schemas.openxmlformats.org/officeDocument/2006/relationships/image" Target="../media/image39.png"/><Relationship Id="rId21" Type="http://schemas.openxmlformats.org/officeDocument/2006/relationships/image" Target="../media/image21.png"/><Relationship Id="rId34" Type="http://schemas.openxmlformats.org/officeDocument/2006/relationships/image" Target="../media/image34.png"/><Relationship Id="rId42" Type="http://schemas.openxmlformats.org/officeDocument/2006/relationships/image" Target="../media/image42.png"/><Relationship Id="rId47"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xml"/><Relationship Id="rId16" Type="http://schemas.openxmlformats.org/officeDocument/2006/relationships/image" Target="../media/image16.png"/><Relationship Id="rId29"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32" Type="http://schemas.openxmlformats.org/officeDocument/2006/relationships/image" Target="../media/image32.png"/><Relationship Id="rId37" Type="http://schemas.openxmlformats.org/officeDocument/2006/relationships/image" Target="../media/image37.png"/><Relationship Id="rId40" Type="http://schemas.openxmlformats.org/officeDocument/2006/relationships/image" Target="../media/image40.png"/><Relationship Id="rId45" Type="http://schemas.openxmlformats.org/officeDocument/2006/relationships/image" Target="../media/image45.png"/><Relationship Id="rId5" Type="http://schemas.openxmlformats.org/officeDocument/2006/relationships/image" Target="../media/image5.jp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36" Type="http://schemas.openxmlformats.org/officeDocument/2006/relationships/image" Target="../media/image36.png"/><Relationship Id="rId10" Type="http://schemas.openxmlformats.org/officeDocument/2006/relationships/image" Target="../media/image10.png"/><Relationship Id="rId19" Type="http://schemas.openxmlformats.org/officeDocument/2006/relationships/image" Target="../media/image19.png"/><Relationship Id="rId31" Type="http://schemas.openxmlformats.org/officeDocument/2006/relationships/image" Target="../media/image31.png"/><Relationship Id="rId44" Type="http://schemas.openxmlformats.org/officeDocument/2006/relationships/image" Target="../media/image44.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 Id="rId35" Type="http://schemas.openxmlformats.org/officeDocument/2006/relationships/image" Target="../media/image35.png"/><Relationship Id="rId43" Type="http://schemas.openxmlformats.org/officeDocument/2006/relationships/image" Target="../media/image43.png"/><Relationship Id="rId8" Type="http://schemas.openxmlformats.org/officeDocument/2006/relationships/image" Target="../media/image8.png"/><Relationship Id="rId3" Type="http://schemas.openxmlformats.org/officeDocument/2006/relationships/image" Target="../media/image3.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33" Type="http://schemas.openxmlformats.org/officeDocument/2006/relationships/image" Target="../media/image33.png"/><Relationship Id="rId38" Type="http://schemas.openxmlformats.org/officeDocument/2006/relationships/image" Target="../media/image38.png"/><Relationship Id="rId46" Type="http://schemas.openxmlformats.org/officeDocument/2006/relationships/image" Target="../media/image46.png"/><Relationship Id="rId20" Type="http://schemas.openxmlformats.org/officeDocument/2006/relationships/image" Target="../media/image20.png"/><Relationship Id="rId41" Type="http://schemas.openxmlformats.org/officeDocument/2006/relationships/image" Target="../media/image41.png"/></Relationships>
</file>

<file path=ppt/slides/_rels/slide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png"/><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50.png"/><Relationship Id="rId4" Type="http://schemas.openxmlformats.org/officeDocument/2006/relationships/image" Target="../media/image49.png"/></Relationships>
</file>

<file path=ppt/slides/_rels/slide4.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6.png"/><Relationship Id="rId3" Type="http://schemas.openxmlformats.org/officeDocument/2006/relationships/image" Target="../media/image51.png"/><Relationship Id="rId21" Type="http://schemas.openxmlformats.org/officeDocument/2006/relationships/image" Target="../media/image69.png"/><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5.png"/><Relationship Id="rId2" Type="http://schemas.openxmlformats.org/officeDocument/2006/relationships/image" Target="../media/image4.png"/><Relationship Id="rId16" Type="http://schemas.openxmlformats.org/officeDocument/2006/relationships/image" Target="../media/image64.png"/><Relationship Id="rId20"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23" Type="http://schemas.openxmlformats.org/officeDocument/2006/relationships/image" Target="../media/image3.png"/><Relationship Id="rId10" Type="http://schemas.openxmlformats.org/officeDocument/2006/relationships/image" Target="../media/image58.png"/><Relationship Id="rId19" Type="http://schemas.openxmlformats.org/officeDocument/2006/relationships/image" Target="../media/image67.pn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2.png"/><Relationship Id="rId22" Type="http://schemas.openxmlformats.org/officeDocument/2006/relationships/image" Target="../media/image70.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3.png"/><Relationship Id="rId3" Type="http://schemas.openxmlformats.org/officeDocument/2006/relationships/image" Target="../media/image73.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0.png"/><Relationship Id="rId5" Type="http://schemas.openxmlformats.org/officeDocument/2006/relationships/image" Target="../media/image75.png"/><Relationship Id="rId10" Type="http://schemas.openxmlformats.org/officeDocument/2006/relationships/image" Target="../media/image79.png"/><Relationship Id="rId4" Type="http://schemas.openxmlformats.org/officeDocument/2006/relationships/image" Target="../media/image74.png"/><Relationship Id="rId9" Type="http://schemas.openxmlformats.org/officeDocument/2006/relationships/image" Target="../media/image78.png"/></Relationships>
</file>

<file path=ppt/slides/_rels/slide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86.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hyperlink" Target="https://forms.gle/XViKrEShvPmSPyHe6" TargetMode="External"/><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3.png"/><Relationship Id="rId2" Type="http://schemas.openxmlformats.org/officeDocument/2006/relationships/image" Target="../media/image4.png"/><Relationship Id="rId16"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5" Type="http://schemas.openxmlformats.org/officeDocument/2006/relationships/image" Target="../media/image10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s>
</file>

<file path=ppt/slides/_rels/slide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3.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10.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1.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3.png"/><Relationship Id="rId21" Type="http://schemas.openxmlformats.org/officeDocument/2006/relationships/image" Target="../media/image130.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5" Type="http://schemas.openxmlformats.org/officeDocument/2006/relationships/image" Target="../media/image134.png"/><Relationship Id="rId2" Type="http://schemas.openxmlformats.org/officeDocument/2006/relationships/image" Target="../media/image113.png"/><Relationship Id="rId16" Type="http://schemas.openxmlformats.org/officeDocument/2006/relationships/image" Target="../media/image125.png"/><Relationship Id="rId20"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24" Type="http://schemas.openxmlformats.org/officeDocument/2006/relationships/image" Target="../media/image133.png"/><Relationship Id="rId5" Type="http://schemas.openxmlformats.org/officeDocument/2006/relationships/image" Target="../media/image114.png"/><Relationship Id="rId15" Type="http://schemas.openxmlformats.org/officeDocument/2006/relationships/image" Target="../media/image124.png"/><Relationship Id="rId23" Type="http://schemas.openxmlformats.org/officeDocument/2006/relationships/image" Target="../media/image132.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4.png"/><Relationship Id="rId9" Type="http://schemas.openxmlformats.org/officeDocument/2006/relationships/image" Target="../media/image118.png"/><Relationship Id="rId14" Type="http://schemas.openxmlformats.org/officeDocument/2006/relationships/image" Target="../media/image123.png"/><Relationship Id="rId22" Type="http://schemas.openxmlformats.org/officeDocument/2006/relationships/image" Target="../media/image131.png"/></Relationships>
</file>

<file path=ppt/slides/_rels/slide13.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35.png"/><Relationship Id="rId7" Type="http://schemas.openxmlformats.org/officeDocument/2006/relationships/image" Target="../media/image8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3.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135.png"/><Relationship Id="rId18" Type="http://schemas.openxmlformats.org/officeDocument/2006/relationships/image" Target="../media/image147.svg"/><Relationship Id="rId3" Type="http://schemas.openxmlformats.org/officeDocument/2006/relationships/image" Target="../media/image137.png"/><Relationship Id="rId7" Type="http://schemas.openxmlformats.org/officeDocument/2006/relationships/image" Target="../media/image139.png"/><Relationship Id="rId12" Type="http://schemas.openxmlformats.org/officeDocument/2006/relationships/image" Target="../media/image142.png"/><Relationship Id="rId17" Type="http://schemas.openxmlformats.org/officeDocument/2006/relationships/image" Target="../media/image146.svg"/><Relationship Id="rId2" Type="http://schemas.openxmlformats.org/officeDocument/2006/relationships/image" Target="../media/image4.png"/><Relationship Id="rId16" Type="http://schemas.openxmlformats.org/officeDocument/2006/relationships/image" Target="../media/image145.sv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141.png"/><Relationship Id="rId5" Type="http://schemas.openxmlformats.org/officeDocument/2006/relationships/image" Target="../media/image138.png"/><Relationship Id="rId15" Type="http://schemas.openxmlformats.org/officeDocument/2006/relationships/image" Target="../media/image144.svg"/><Relationship Id="rId10" Type="http://schemas.microsoft.com/office/2007/relationships/hdphoto" Target="../media/hdphoto1.wdp"/><Relationship Id="rId19" Type="http://schemas.openxmlformats.org/officeDocument/2006/relationships/image" Target="../media/image3.png"/><Relationship Id="rId4" Type="http://schemas.microsoft.com/office/2007/relationships/hdphoto" Target="../media/hdphoto2.wdp"/><Relationship Id="rId9" Type="http://schemas.openxmlformats.org/officeDocument/2006/relationships/image" Target="../media/image140.png"/><Relationship Id="rId14" Type="http://schemas.openxmlformats.org/officeDocument/2006/relationships/image" Target="../media/image143.sv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8.sv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3.png"/><Relationship Id="rId4" Type="http://schemas.openxmlformats.org/officeDocument/2006/relationships/image" Target="../media/image145.svg"/><Relationship Id="rId9" Type="http://schemas.openxmlformats.org/officeDocument/2006/relationships/image" Target="../media/image13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automotivehistory.org/march-26-2008-ford-sells-jaguar-land-rover" TargetMode="External"/><Relationship Id="rId7" Type="http://schemas.openxmlformats.org/officeDocument/2006/relationships/image" Target="../media/image152.svg"/><Relationship Id="rId2" Type="http://schemas.openxmlformats.org/officeDocument/2006/relationships/hyperlink" Target="https://media.jaguarlandrover.com/de-de/news/2008/06/tata-motors-completes-acquisition-jaguar-land-rover" TargetMode="External"/><Relationship Id="rId1" Type="http://schemas.openxmlformats.org/officeDocument/2006/relationships/slideLayout" Target="../slideLayouts/slideLayout5.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hyperlink" Target="https://www.eurofound.europa.eu/en/publications/all/union-accepts-takeover-tata-jaguar-and-land-rover" TargetMode="External"/><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hyperlink" Target="https://static-assets.tatamotors.com/Production/www-tatamotors-com-NEW/wp-content/uploads/2024/07/Tata-Motors-Q1-FY25-Global-Sales-Release.pdf" TargetMode="External"/><Relationship Id="rId2" Type="http://schemas.openxmlformats.org/officeDocument/2006/relationships/image" Target="../media/image153.png"/><Relationship Id="rId1" Type="http://schemas.openxmlformats.org/officeDocument/2006/relationships/slideLayout" Target="../slideLayouts/slideLayout5.xml"/><Relationship Id="rId6" Type="http://schemas.openxmlformats.org/officeDocument/2006/relationships/image" Target="../media/image112.png"/><Relationship Id="rId5" Type="http://schemas.openxmlformats.org/officeDocument/2006/relationships/image" Target="../media/image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81.png"/></Relationships>
</file>

<file path=ppt/slides/_rels/slide21.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3.png"/><Relationship Id="rId7" Type="http://schemas.openxmlformats.org/officeDocument/2006/relationships/image" Target="../media/image154.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hyperlink" Target="https://www.deloitte.com/content/dam/assets-shared/docs/industries/consumer/2025/2025-global-automotive-consumer-study-january.pdf" TargetMode="External"/><Relationship Id="rId5" Type="http://schemas.openxmlformats.org/officeDocument/2006/relationships/hyperlink" Target="https://www.xerfi.com/Etudes_sectorielles_non_imprimablesE/secteur700doc/pdf/25XENT54-cluGAdrU.pdf" TargetMode="External"/><Relationship Id="rId4" Type="http://schemas.openxmlformats.org/officeDocument/2006/relationships/hyperlink" Target="https://www.marketresearch.com/MarketLine-v3883/Jaguar-Land-Rover-Automotive-Plc-35032658"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autojournal.fr/actu/jaguar-comment-le-geant-anglais-du-luxe-est-devenu-un-nain-europeen-387294.html#item=1%E2%80%8B" TargetMode="External"/><Relationship Id="rId3" Type="http://schemas.openxmlformats.org/officeDocument/2006/relationships/image" Target="../media/image3.png"/><Relationship Id="rId7" Type="http://schemas.openxmlformats.org/officeDocument/2006/relationships/hyperlink" Target="https://www.fiches-auto.fr/articles-auto/chiffres-de-ventes/s-3777-nombre-de-ventes-dans-le-monde-jaguar.php" TargetMode="External"/><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hyperlink" Target="https://www.slashgear.com/2004309/most-profitable-luxury-car-brand/%E2%80%8B" TargetMode="External"/><Relationship Id="rId5" Type="http://schemas.openxmlformats.org/officeDocument/2006/relationships/image" Target="../media/image157.png"/><Relationship Id="rId10" Type="http://schemas.openxmlformats.org/officeDocument/2006/relationships/hyperlink" Target=".%20https:/worldluxurychamber.com/luxury-car-market-forecast-2025-2034#:~:text=According%20to%20the%20report%20by,at%20a%20CAGR%20of%207.4%25.%E2%80%8B%20%20%E2%80%8B" TargetMode="External"/><Relationship Id="rId4" Type="http://schemas.openxmlformats.org/officeDocument/2006/relationships/image" Target="../media/image156.png"/><Relationship Id="rId9" Type="http://schemas.openxmlformats.org/officeDocument/2006/relationships/hyperlink" Target="https://www.lemonde.fr/en/international/article/2025/05/08/trump-announces-us-uk-trade-agreement_6741055_4.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hyperlink" Target="https://www.oliverwyman.com/our-expertise/insights/2023/feb/luxury-vehicle-market-key-strategy-outlook.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hyperlink" Target="https://www.tatamotors.com/wp-content/uploads/2024/05/investor-presentation-jlr-acquisition-part-2-june-2008.pdf" TargetMode="External"/><Relationship Id="rId3" Type="http://schemas.openxmlformats.org/officeDocument/2006/relationships/image" Target="../media/image148.svg"/><Relationship Id="rId7" Type="http://schemas.openxmlformats.org/officeDocument/2006/relationships/hyperlink" Target="https://www.tata.com/business/jlr" TargetMode="External"/><Relationship Id="rId12" Type="http://schemas.openxmlformats.org/officeDocument/2006/relationships/hyperlink" Target="https://evmagazine.com/articles/jaguars-bold-rebrand-electric-future-with-modern-luxury" TargetMode="External"/><Relationship Id="rId2"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hyperlink" Target="https://www.oliverwyman.com/our-expertise/insights/2023/feb/luxury-vehicle-market-key-strategy-outlook.html" TargetMode="External"/><Relationship Id="rId5" Type="http://schemas.openxmlformats.org/officeDocument/2006/relationships/image" Target="../media/image3.png"/><Relationship Id="rId10" Type="http://schemas.openxmlformats.org/officeDocument/2006/relationships/hyperlink" Target="https://www.infiniumglobalresearch.com/market-reports/global-luxury-electric-vehicles-market" TargetMode="External"/><Relationship Id="rId4" Type="http://schemas.openxmlformats.org/officeDocument/2006/relationships/image" Target="../media/image145.svg"/><Relationship Id="rId9" Type="http://schemas.openxmlformats.org/officeDocument/2006/relationships/hyperlink" Target="https://www.tatamotors.com/wp-content/uploads/2023/12/jlr-press-15feb21.pdf"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00000"/>
          </a:solidFill>
        </p:spPr>
        <p:txBody>
          <a:bodyPr wrap="square" lIns="0" tIns="0" rIns="0" bIns="0" rtlCol="0"/>
          <a:lstStyle/>
          <a:p>
            <a:endParaRPr/>
          </a:p>
        </p:txBody>
      </p:sp>
      <p:pic>
        <p:nvPicPr>
          <p:cNvPr id="15" name="Picture 14" descr="Two cars parked on a road next to a body of water&#10;&#10;AI-generated content may be incorrect.">
            <a:extLst>
              <a:ext uri="{FF2B5EF4-FFF2-40B4-BE49-F238E27FC236}">
                <a16:creationId xmlns:a16="http://schemas.microsoft.com/office/drawing/2014/main" id="{22AE8ED1-859A-EF6B-7327-B06F99B94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4"/>
            <a:ext cx="20104100" cy="11308556"/>
          </a:xfrm>
          <a:prstGeom prst="rect">
            <a:avLst/>
          </a:prstGeom>
        </p:spPr>
      </p:pic>
      <p:sp>
        <p:nvSpPr>
          <p:cNvPr id="6" name="object 6"/>
          <p:cNvSpPr txBox="1"/>
          <p:nvPr/>
        </p:nvSpPr>
        <p:spPr>
          <a:xfrm>
            <a:off x="783684" y="10150475"/>
            <a:ext cx="10364680" cy="627736"/>
          </a:xfrm>
          <a:prstGeom prst="rect">
            <a:avLst/>
          </a:prstGeom>
        </p:spPr>
        <p:txBody>
          <a:bodyPr vert="horz" wrap="square" lIns="0" tIns="12065" rIns="0" bIns="0" rtlCol="0" anchor="t">
            <a:spAutoFit/>
          </a:bodyPr>
          <a:lstStyle/>
          <a:p>
            <a:pPr marL="12700">
              <a:spcBef>
                <a:spcPts val="95"/>
              </a:spcBef>
            </a:pPr>
            <a:r>
              <a:rPr lang="en-US" sz="2000" spc="-60" dirty="0">
                <a:solidFill>
                  <a:schemeClr val="bg1">
                    <a:lumMod val="95000"/>
                  </a:schemeClr>
                </a:solidFill>
                <a:latin typeface="Microsoft Sans Serif"/>
                <a:cs typeface="Microsoft Sans Serif"/>
              </a:rPr>
              <a:t>Strategy &amp; Business Modeling</a:t>
            </a:r>
            <a:r>
              <a:rPr lang="en-US" sz="2000" spc="-135" dirty="0">
                <a:solidFill>
                  <a:schemeClr val="bg1">
                    <a:lumMod val="95000"/>
                  </a:schemeClr>
                </a:solidFill>
                <a:latin typeface="Microsoft Sans Serif"/>
                <a:cs typeface="Microsoft Sans Serif"/>
              </a:rPr>
              <a:t> </a:t>
            </a:r>
            <a:br>
              <a:rPr lang="en-US" sz="2000" spc="-20" dirty="0">
                <a:latin typeface="Microsoft Sans Serif"/>
                <a:ea typeface="Microsoft Sans Serif"/>
                <a:cs typeface="Microsoft Sans Serif"/>
              </a:rPr>
            </a:br>
            <a:r>
              <a:rPr lang="en-US" sz="2000" spc="-20" dirty="0">
                <a:solidFill>
                  <a:schemeClr val="bg1">
                    <a:lumMod val="95000"/>
                  </a:schemeClr>
                </a:solidFill>
                <a:latin typeface="Microsoft Sans Serif"/>
                <a:ea typeface="Microsoft Sans Serif"/>
                <a:cs typeface="Microsoft Sans Serif"/>
              </a:rPr>
              <a:t>By Vinayak Singh</a:t>
            </a:r>
            <a:endParaRPr lang="en-US" sz="2000" spc="-20" dirty="0">
              <a:solidFill>
                <a:schemeClr val="bg1">
                  <a:lumMod val="95000"/>
                </a:schemeClr>
              </a:solidFill>
              <a:latin typeface="Microsoft Sans Serif"/>
              <a:cs typeface="Microsoft Sans Serif"/>
            </a:endParaRPr>
          </a:p>
        </p:txBody>
      </p:sp>
      <p:sp>
        <p:nvSpPr>
          <p:cNvPr id="11" name="object 11"/>
          <p:cNvSpPr txBox="1">
            <a:spLocks noGrp="1"/>
          </p:cNvSpPr>
          <p:nvPr>
            <p:ph type="title"/>
          </p:nvPr>
        </p:nvSpPr>
        <p:spPr>
          <a:xfrm>
            <a:off x="780721" y="900991"/>
            <a:ext cx="5635537" cy="1057725"/>
          </a:xfrm>
          <a:prstGeom prst="rect">
            <a:avLst/>
          </a:prstGeom>
        </p:spPr>
        <p:txBody>
          <a:bodyPr vert="horz" wrap="square" lIns="0" tIns="15240" rIns="0" bIns="0" rtlCol="0" anchor="t">
            <a:spAutoFit/>
          </a:bodyPr>
          <a:lstStyle/>
          <a:p>
            <a:pPr marL="12700">
              <a:lnSpc>
                <a:spcPts val="8445"/>
              </a:lnSpc>
              <a:spcBef>
                <a:spcPts val="120"/>
              </a:spcBef>
            </a:pPr>
            <a:r>
              <a:rPr lang="en-US" sz="6600" spc="-195">
                <a:solidFill>
                  <a:schemeClr val="bg1">
                    <a:lumMod val="49000"/>
                  </a:schemeClr>
                </a:solidFill>
                <a:latin typeface="Aptos Bold"/>
                <a:cs typeface="Aharoni"/>
              </a:rPr>
              <a:t>TATA GROUP</a:t>
            </a:r>
            <a:r>
              <a:rPr lang="en-US" sz="6000" spc="-195">
                <a:solidFill>
                  <a:schemeClr val="bg1">
                    <a:lumMod val="49000"/>
                  </a:schemeClr>
                </a:solidFill>
                <a:latin typeface="Aptos Bold"/>
                <a:cs typeface="Aharoni"/>
              </a:rPr>
              <a:t> </a:t>
            </a:r>
          </a:p>
        </p:txBody>
      </p:sp>
      <p:sp>
        <p:nvSpPr>
          <p:cNvPr id="3" name="ZoneTexte 2">
            <a:extLst>
              <a:ext uri="{FF2B5EF4-FFF2-40B4-BE49-F238E27FC236}">
                <a16:creationId xmlns:a16="http://schemas.microsoft.com/office/drawing/2014/main" id="{CE34A197-FD0F-ED99-0DB0-123E7F93377A}"/>
              </a:ext>
            </a:extLst>
          </p:cNvPr>
          <p:cNvSpPr txBox="1"/>
          <p:nvPr/>
        </p:nvSpPr>
        <p:spPr>
          <a:xfrm>
            <a:off x="769236" y="1927016"/>
            <a:ext cx="1005205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bg1">
                    <a:lumMod val="49000"/>
                  </a:schemeClr>
                </a:solidFill>
                <a:latin typeface="Aptos Bold"/>
              </a:rPr>
              <a:t>" We innovate mobility solutions with passion to enhance the quality of life "</a:t>
            </a:r>
            <a:endParaRPr lang="fr-FR">
              <a:solidFill>
                <a:schemeClr val="bg1">
                  <a:lumMod val="49000"/>
                </a:schemeClr>
              </a:solidFill>
            </a:endParaRPr>
          </a:p>
          <a:p>
            <a:pPr algn="ctr"/>
            <a:endParaRPr lang="fr-FR"/>
          </a:p>
        </p:txBody>
      </p:sp>
      <p:pic>
        <p:nvPicPr>
          <p:cNvPr id="5" name="object 8" descr="Une image contenant Police, Graphique, graphisme, logo&#10;&#10;Le contenu généré par l’IA peut être incorrect.">
            <a:extLst>
              <a:ext uri="{FF2B5EF4-FFF2-40B4-BE49-F238E27FC236}">
                <a16:creationId xmlns:a16="http://schemas.microsoft.com/office/drawing/2014/main" id="{F2EE4364-02BE-026B-FA9A-5BF3E257D0F2}"/>
              </a:ext>
            </a:extLst>
          </p:cNvPr>
          <p:cNvPicPr/>
          <p:nvPr/>
        </p:nvPicPr>
        <p:blipFill>
          <a:blip r:embed="rId3" cstate="print"/>
          <a:stretch>
            <a:fillRect/>
          </a:stretch>
        </p:blipFill>
        <p:spPr>
          <a:xfrm>
            <a:off x="17768434" y="572806"/>
            <a:ext cx="1548015" cy="3292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6463" y="-102263"/>
            <a:ext cx="20169192" cy="4405689"/>
            <a:chOff x="-74370" y="-1385378"/>
            <a:chExt cx="20104100" cy="4452189"/>
          </a:xfrm>
        </p:grpSpPr>
        <p:pic>
          <p:nvPicPr>
            <p:cNvPr id="3" name="object 3"/>
            <p:cNvPicPr/>
            <p:nvPr/>
          </p:nvPicPr>
          <p:blipFill>
            <a:blip r:embed="rId3" cstate="print"/>
            <a:stretch>
              <a:fillRect/>
            </a:stretch>
          </p:blipFill>
          <p:spPr>
            <a:xfrm>
              <a:off x="17726790" y="399568"/>
              <a:ext cx="1233889" cy="263866"/>
            </a:xfrm>
            <a:prstGeom prst="rect">
              <a:avLst/>
            </a:prstGeom>
            <a:solidFill>
              <a:schemeClr val="accent1">
                <a:lumMod val="20000"/>
                <a:lumOff val="80000"/>
              </a:schemeClr>
            </a:solidFill>
          </p:spPr>
        </p:pic>
        <p:pic>
          <p:nvPicPr>
            <p:cNvPr id="4" name="object 4"/>
            <p:cNvPicPr/>
            <p:nvPr/>
          </p:nvPicPr>
          <p:blipFill>
            <a:blip r:embed="rId4" cstate="print"/>
            <a:stretch>
              <a:fillRect/>
            </a:stretch>
          </p:blipFill>
          <p:spPr>
            <a:xfrm>
              <a:off x="0" y="1095673"/>
              <a:ext cx="1015257" cy="271405"/>
            </a:xfrm>
            <a:prstGeom prst="rect">
              <a:avLst/>
            </a:prstGeom>
            <a:solidFill>
              <a:schemeClr val="accent1">
                <a:lumMod val="20000"/>
                <a:lumOff val="80000"/>
              </a:schemeClr>
            </a:solidFill>
          </p:spPr>
        </p:pic>
        <p:pic>
          <p:nvPicPr>
            <p:cNvPr id="5" name="object 5"/>
            <p:cNvPicPr/>
            <p:nvPr/>
          </p:nvPicPr>
          <p:blipFill>
            <a:blip r:embed="rId5" cstate="print"/>
            <a:stretch>
              <a:fillRect/>
            </a:stretch>
          </p:blipFill>
          <p:spPr>
            <a:xfrm>
              <a:off x="-74370" y="-1385378"/>
              <a:ext cx="20104100" cy="4452189"/>
            </a:xfrm>
            <a:prstGeom prst="rect">
              <a:avLst/>
            </a:prstGeom>
            <a:solidFill>
              <a:schemeClr val="accent1">
                <a:lumMod val="20000"/>
                <a:lumOff val="80000"/>
              </a:schemeClr>
            </a:solidFill>
          </p:spPr>
        </p:pic>
      </p:grpSp>
      <p:sp>
        <p:nvSpPr>
          <p:cNvPr id="7" name="object 7"/>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8" name="object 8"/>
          <p:cNvSpPr/>
          <p:nvPr/>
        </p:nvSpPr>
        <p:spPr>
          <a:xfrm>
            <a:off x="19066329" y="10699500"/>
            <a:ext cx="1038225" cy="0"/>
          </a:xfrm>
          <a:custGeom>
            <a:avLst/>
            <a:gdLst/>
            <a:ahLst/>
            <a:cxnLst/>
            <a:rect l="l" t="t" r="r" b="b"/>
            <a:pathLst>
              <a:path w="1038225">
                <a:moveTo>
                  <a:pt x="0" y="0"/>
                </a:moveTo>
                <a:lnTo>
                  <a:pt x="1037769" y="0"/>
                </a:lnTo>
              </a:path>
            </a:pathLst>
          </a:custGeom>
          <a:ln w="10470">
            <a:solidFill>
              <a:srgbClr val="086BB5"/>
            </a:solidFill>
          </a:ln>
        </p:spPr>
        <p:txBody>
          <a:bodyPr wrap="square" lIns="0" tIns="0" rIns="0" bIns="0" rtlCol="0"/>
          <a:lstStyle/>
          <a:p>
            <a:endParaRPr/>
          </a:p>
        </p:txBody>
      </p:sp>
      <p:sp>
        <p:nvSpPr>
          <p:cNvPr id="9" name="object 9"/>
          <p:cNvSpPr txBox="1"/>
          <p:nvPr/>
        </p:nvSpPr>
        <p:spPr>
          <a:xfrm>
            <a:off x="18827911" y="10579224"/>
            <a:ext cx="147320" cy="266098"/>
          </a:xfrm>
          <a:prstGeom prst="rect">
            <a:avLst/>
          </a:prstGeom>
        </p:spPr>
        <p:txBody>
          <a:bodyPr vert="horz" wrap="square" lIns="0" tIns="12065" rIns="0" bIns="0" rtlCol="0">
            <a:spAutoFit/>
          </a:bodyPr>
          <a:lstStyle/>
          <a:p>
            <a:pPr marL="12700">
              <a:lnSpc>
                <a:spcPct val="100000"/>
              </a:lnSpc>
              <a:spcBef>
                <a:spcPts val="95"/>
              </a:spcBef>
            </a:pPr>
            <a:r>
              <a:rPr lang="en-US" sz="1650" spc="-50">
                <a:solidFill>
                  <a:srgbClr val="262626"/>
                </a:solidFill>
                <a:latin typeface="Microsoft Sans Serif"/>
                <a:cs typeface="Microsoft Sans Serif"/>
              </a:rPr>
              <a:t>1</a:t>
            </a:r>
            <a:endParaRPr sz="1650">
              <a:latin typeface="Microsoft Sans Serif"/>
              <a:cs typeface="Microsoft Sans Serif"/>
            </a:endParaRPr>
          </a:p>
        </p:txBody>
      </p:sp>
      <p:sp>
        <p:nvSpPr>
          <p:cNvPr id="10" name="object 10"/>
          <p:cNvSpPr txBox="1">
            <a:spLocks noGrp="1"/>
          </p:cNvSpPr>
          <p:nvPr>
            <p:ph type="title"/>
          </p:nvPr>
        </p:nvSpPr>
        <p:spPr>
          <a:xfrm>
            <a:off x="1133558" y="842240"/>
            <a:ext cx="11868891" cy="789319"/>
          </a:xfrm>
          <a:prstGeom prst="rect">
            <a:avLst/>
          </a:prstGeom>
        </p:spPr>
        <p:txBody>
          <a:bodyPr vert="horz" wrap="square" lIns="0" tIns="95885" rIns="0" bIns="0" rtlCol="0" anchor="t">
            <a:spAutoFit/>
          </a:bodyPr>
          <a:lstStyle/>
          <a:p>
            <a:pPr marL="12700" marR="5080">
              <a:lnSpc>
                <a:spcPts val="5360"/>
              </a:lnSpc>
              <a:spcBef>
                <a:spcPts val="755"/>
              </a:spcBef>
            </a:pPr>
            <a:r>
              <a:rPr lang="fr-FR" dirty="0">
                <a:solidFill>
                  <a:srgbClr val="FFFFFF"/>
                </a:solidFill>
              </a:rPr>
              <a:t>Tata Group, a multinational</a:t>
            </a:r>
            <a:r>
              <a:rPr lang="en-US" spc="-175" dirty="0">
                <a:solidFill>
                  <a:srgbClr val="FFFFFF"/>
                </a:solidFill>
              </a:rPr>
              <a:t> </a:t>
            </a:r>
            <a:r>
              <a:rPr lang="en-US" spc="-40" dirty="0">
                <a:solidFill>
                  <a:srgbClr val="FFFFFF"/>
                </a:solidFill>
              </a:rPr>
              <a:t>conglomerate</a:t>
            </a:r>
            <a:endParaRPr lang="fr-FR" spc="-20" dirty="0">
              <a:solidFill>
                <a:srgbClr val="FFFFFF"/>
              </a:solidFill>
              <a:ea typeface="Microsoft Sans Serif"/>
            </a:endParaRPr>
          </a:p>
        </p:txBody>
      </p:sp>
      <p:pic>
        <p:nvPicPr>
          <p:cNvPr id="14" name="object 14"/>
          <p:cNvPicPr/>
          <p:nvPr/>
        </p:nvPicPr>
        <p:blipFill>
          <a:blip r:embed="rId6" cstate="print"/>
          <a:stretch>
            <a:fillRect/>
          </a:stretch>
        </p:blipFill>
        <p:spPr>
          <a:xfrm>
            <a:off x="0" y="1207247"/>
            <a:ext cx="1015257" cy="271405"/>
          </a:xfrm>
          <a:prstGeom prst="rect">
            <a:avLst/>
          </a:prstGeom>
        </p:spPr>
      </p:pic>
      <p:sp>
        <p:nvSpPr>
          <p:cNvPr id="15" name="object 15"/>
          <p:cNvSpPr txBox="1"/>
          <p:nvPr/>
        </p:nvSpPr>
        <p:spPr>
          <a:xfrm>
            <a:off x="1153400" y="2080071"/>
            <a:ext cx="8544560" cy="1333500"/>
          </a:xfrm>
          <a:prstGeom prst="rect">
            <a:avLst/>
          </a:prstGeom>
        </p:spPr>
        <p:txBody>
          <a:bodyPr vert="horz" wrap="square" lIns="0" tIns="17145" rIns="0" bIns="0" rtlCol="0" anchor="t">
            <a:spAutoFit/>
          </a:bodyPr>
          <a:lstStyle/>
          <a:p>
            <a:pPr marL="12700">
              <a:lnSpc>
                <a:spcPct val="100000"/>
              </a:lnSpc>
              <a:spcBef>
                <a:spcPts val="135"/>
              </a:spcBef>
            </a:pPr>
            <a:r>
              <a:rPr sz="2600" spc="-30">
                <a:solidFill>
                  <a:srgbClr val="FFFFFF"/>
                </a:solidFill>
                <a:latin typeface="Microsoft Sans Serif"/>
                <a:cs typeface="Microsoft Sans Serif"/>
              </a:rPr>
              <a:t>Founded</a:t>
            </a:r>
            <a:r>
              <a:rPr sz="2600" spc="-80">
                <a:solidFill>
                  <a:srgbClr val="FFFFFF"/>
                </a:solidFill>
                <a:latin typeface="Microsoft Sans Serif"/>
                <a:cs typeface="Microsoft Sans Serif"/>
              </a:rPr>
              <a:t> </a:t>
            </a:r>
            <a:r>
              <a:rPr sz="2600" spc="80">
                <a:solidFill>
                  <a:srgbClr val="FFFFFF"/>
                </a:solidFill>
                <a:latin typeface="Microsoft Sans Serif"/>
                <a:cs typeface="Microsoft Sans Serif"/>
              </a:rPr>
              <a:t>by</a:t>
            </a:r>
            <a:r>
              <a:rPr sz="2600" spc="-85">
                <a:solidFill>
                  <a:srgbClr val="FFFFFF"/>
                </a:solidFill>
                <a:latin typeface="Microsoft Sans Serif"/>
                <a:cs typeface="Microsoft Sans Serif"/>
              </a:rPr>
              <a:t> </a:t>
            </a:r>
            <a:r>
              <a:rPr lang="en-US" sz="2600">
                <a:solidFill>
                  <a:srgbClr val="FFFFFF"/>
                </a:solidFill>
                <a:latin typeface="Microsoft Sans Serif"/>
                <a:cs typeface="Microsoft Sans Serif"/>
              </a:rPr>
              <a:t>Jamsetji</a:t>
            </a:r>
            <a:r>
              <a:rPr sz="2600" spc="-85">
                <a:solidFill>
                  <a:srgbClr val="FFFFFF"/>
                </a:solidFill>
                <a:latin typeface="Microsoft Sans Serif"/>
                <a:cs typeface="Microsoft Sans Serif"/>
              </a:rPr>
              <a:t> </a:t>
            </a:r>
            <a:r>
              <a:rPr sz="2600" spc="-25">
                <a:solidFill>
                  <a:srgbClr val="FFFFFF"/>
                </a:solidFill>
                <a:latin typeface="Microsoft Sans Serif"/>
                <a:cs typeface="Microsoft Sans Serif"/>
              </a:rPr>
              <a:t>Tata</a:t>
            </a:r>
            <a:r>
              <a:rPr sz="2600" spc="-90">
                <a:solidFill>
                  <a:srgbClr val="FFFFFF"/>
                </a:solidFill>
                <a:latin typeface="Microsoft Sans Serif"/>
                <a:cs typeface="Microsoft Sans Serif"/>
              </a:rPr>
              <a:t> </a:t>
            </a:r>
            <a:r>
              <a:rPr sz="2600">
                <a:solidFill>
                  <a:srgbClr val="FFFFFF"/>
                </a:solidFill>
                <a:latin typeface="Microsoft Sans Serif"/>
                <a:cs typeface="Microsoft Sans Serif"/>
              </a:rPr>
              <a:t>in</a:t>
            </a:r>
            <a:r>
              <a:rPr sz="2600" spc="-85">
                <a:solidFill>
                  <a:srgbClr val="FFFFFF"/>
                </a:solidFill>
                <a:latin typeface="Microsoft Sans Serif"/>
                <a:cs typeface="Microsoft Sans Serif"/>
              </a:rPr>
              <a:t> </a:t>
            </a:r>
            <a:r>
              <a:rPr sz="2600" spc="-10">
                <a:solidFill>
                  <a:srgbClr val="FFFFFF"/>
                </a:solidFill>
                <a:latin typeface="Microsoft Sans Serif"/>
                <a:cs typeface="Microsoft Sans Serif"/>
              </a:rPr>
              <a:t>1868,</a:t>
            </a:r>
            <a:endParaRPr sz="2600">
              <a:latin typeface="Microsoft Sans Serif"/>
              <a:cs typeface="Microsoft Sans Serif"/>
            </a:endParaRPr>
          </a:p>
          <a:p>
            <a:pPr marL="12700">
              <a:lnSpc>
                <a:spcPct val="100000"/>
              </a:lnSpc>
              <a:spcBef>
                <a:spcPts val="85"/>
              </a:spcBef>
            </a:pPr>
            <a:r>
              <a:rPr sz="1950">
                <a:solidFill>
                  <a:srgbClr val="FFFFFF"/>
                </a:solidFill>
                <a:latin typeface="Microsoft Sans Serif"/>
                <a:cs typeface="Microsoft Sans Serif"/>
              </a:rPr>
              <a:t>the</a:t>
            </a:r>
            <a:r>
              <a:rPr sz="1950" spc="-85">
                <a:solidFill>
                  <a:srgbClr val="FFFFFF"/>
                </a:solidFill>
                <a:latin typeface="Microsoft Sans Serif"/>
                <a:cs typeface="Microsoft Sans Serif"/>
              </a:rPr>
              <a:t> </a:t>
            </a:r>
            <a:r>
              <a:rPr sz="1950" spc="-55">
                <a:solidFill>
                  <a:srgbClr val="FFFFFF"/>
                </a:solidFill>
                <a:latin typeface="Microsoft Sans Serif"/>
                <a:cs typeface="Microsoft Sans Serif"/>
              </a:rPr>
              <a:t>Tata</a:t>
            </a:r>
            <a:r>
              <a:rPr sz="1950" spc="-65">
                <a:solidFill>
                  <a:srgbClr val="FFFFFF"/>
                </a:solidFill>
                <a:latin typeface="Microsoft Sans Serif"/>
                <a:cs typeface="Microsoft Sans Serif"/>
              </a:rPr>
              <a:t> </a:t>
            </a:r>
            <a:r>
              <a:rPr sz="1950">
                <a:solidFill>
                  <a:srgbClr val="FFFFFF"/>
                </a:solidFill>
                <a:latin typeface="Microsoft Sans Serif"/>
                <a:cs typeface="Microsoft Sans Serif"/>
              </a:rPr>
              <a:t>group</a:t>
            </a:r>
            <a:r>
              <a:rPr sz="1950" spc="-60">
                <a:solidFill>
                  <a:srgbClr val="FFFFFF"/>
                </a:solidFill>
                <a:latin typeface="Microsoft Sans Serif"/>
                <a:cs typeface="Microsoft Sans Serif"/>
              </a:rPr>
              <a:t> </a:t>
            </a:r>
            <a:r>
              <a:rPr sz="1950" spc="-45">
                <a:solidFill>
                  <a:srgbClr val="FFFFFF"/>
                </a:solidFill>
                <a:latin typeface="Microsoft Sans Serif"/>
                <a:cs typeface="Microsoft Sans Serif"/>
              </a:rPr>
              <a:t>is</a:t>
            </a:r>
            <a:r>
              <a:rPr sz="1950" spc="-65">
                <a:solidFill>
                  <a:srgbClr val="FFFFFF"/>
                </a:solidFill>
                <a:latin typeface="Microsoft Sans Serif"/>
                <a:cs typeface="Microsoft Sans Serif"/>
              </a:rPr>
              <a:t> </a:t>
            </a:r>
            <a:r>
              <a:rPr sz="1950" spc="-95">
                <a:solidFill>
                  <a:srgbClr val="FFFFFF"/>
                </a:solidFill>
                <a:latin typeface="Microsoft Sans Serif"/>
                <a:cs typeface="Microsoft Sans Serif"/>
              </a:rPr>
              <a:t>a</a:t>
            </a:r>
            <a:r>
              <a:rPr sz="1950" spc="-60">
                <a:solidFill>
                  <a:srgbClr val="FFFFFF"/>
                </a:solidFill>
                <a:latin typeface="Microsoft Sans Serif"/>
                <a:cs typeface="Microsoft Sans Serif"/>
              </a:rPr>
              <a:t> </a:t>
            </a:r>
            <a:r>
              <a:rPr sz="1950">
                <a:solidFill>
                  <a:srgbClr val="FFFFFF"/>
                </a:solidFill>
                <a:latin typeface="Microsoft Sans Serif"/>
                <a:cs typeface="Microsoft Sans Serif"/>
              </a:rPr>
              <a:t>global</a:t>
            </a:r>
            <a:r>
              <a:rPr sz="1950" spc="-65">
                <a:solidFill>
                  <a:srgbClr val="FFFFFF"/>
                </a:solidFill>
                <a:latin typeface="Microsoft Sans Serif"/>
                <a:cs typeface="Microsoft Sans Serif"/>
              </a:rPr>
              <a:t> </a:t>
            </a:r>
            <a:r>
              <a:rPr sz="1950" spc="-30">
                <a:solidFill>
                  <a:srgbClr val="FFFFFF"/>
                </a:solidFill>
                <a:latin typeface="Microsoft Sans Serif"/>
                <a:cs typeface="Microsoft Sans Serif"/>
              </a:rPr>
              <a:t>enterprise,</a:t>
            </a:r>
            <a:r>
              <a:rPr sz="1950" spc="-65">
                <a:solidFill>
                  <a:srgbClr val="FFFFFF"/>
                </a:solidFill>
                <a:latin typeface="Microsoft Sans Serif"/>
                <a:cs typeface="Microsoft Sans Serif"/>
              </a:rPr>
              <a:t> </a:t>
            </a:r>
            <a:r>
              <a:rPr sz="1950" spc="-25">
                <a:solidFill>
                  <a:srgbClr val="FFFFFF"/>
                </a:solidFill>
                <a:latin typeface="Microsoft Sans Serif"/>
                <a:cs typeface="Microsoft Sans Serif"/>
              </a:rPr>
              <a:t>headquartered</a:t>
            </a:r>
            <a:r>
              <a:rPr sz="1950" spc="-70">
                <a:solidFill>
                  <a:srgbClr val="FFFFFF"/>
                </a:solidFill>
                <a:latin typeface="Microsoft Sans Serif"/>
                <a:cs typeface="Microsoft Sans Serif"/>
              </a:rPr>
              <a:t> </a:t>
            </a:r>
            <a:r>
              <a:rPr sz="1950">
                <a:solidFill>
                  <a:srgbClr val="FFFFFF"/>
                </a:solidFill>
                <a:latin typeface="Microsoft Sans Serif"/>
                <a:cs typeface="Microsoft Sans Serif"/>
              </a:rPr>
              <a:t>in</a:t>
            </a:r>
            <a:r>
              <a:rPr sz="1950" spc="-60">
                <a:solidFill>
                  <a:srgbClr val="FFFFFF"/>
                </a:solidFill>
                <a:latin typeface="Microsoft Sans Serif"/>
                <a:cs typeface="Microsoft Sans Serif"/>
              </a:rPr>
              <a:t> </a:t>
            </a:r>
            <a:r>
              <a:rPr sz="1950" spc="-75">
                <a:solidFill>
                  <a:srgbClr val="FFFFFF"/>
                </a:solidFill>
                <a:latin typeface="Microsoft Sans Serif"/>
                <a:cs typeface="Microsoft Sans Serif"/>
              </a:rPr>
              <a:t>India,</a:t>
            </a:r>
            <a:r>
              <a:rPr sz="1950" spc="-60">
                <a:solidFill>
                  <a:srgbClr val="FFFFFF"/>
                </a:solidFill>
                <a:latin typeface="Microsoft Sans Serif"/>
                <a:cs typeface="Microsoft Sans Serif"/>
              </a:rPr>
              <a:t> </a:t>
            </a:r>
            <a:r>
              <a:rPr sz="1950" spc="-10">
                <a:solidFill>
                  <a:srgbClr val="FFFFFF"/>
                </a:solidFill>
                <a:latin typeface="Microsoft Sans Serif"/>
                <a:cs typeface="Microsoft Sans Serif"/>
              </a:rPr>
              <a:t>comprising</a:t>
            </a:r>
            <a:endParaRPr sz="1950">
              <a:latin typeface="Microsoft Sans Serif"/>
              <a:cs typeface="Microsoft Sans Serif"/>
            </a:endParaRPr>
          </a:p>
          <a:p>
            <a:pPr marL="12700" marR="5080">
              <a:lnSpc>
                <a:spcPts val="2320"/>
              </a:lnSpc>
              <a:spcBef>
                <a:spcPts val="150"/>
              </a:spcBef>
            </a:pPr>
            <a:r>
              <a:rPr sz="1950" spc="65">
                <a:solidFill>
                  <a:srgbClr val="FFFFFF"/>
                </a:solidFill>
                <a:latin typeface="Microsoft Sans Serif"/>
                <a:cs typeface="Microsoft Sans Serif"/>
              </a:rPr>
              <a:t>30</a:t>
            </a:r>
            <a:r>
              <a:rPr sz="1950" spc="-75">
                <a:solidFill>
                  <a:srgbClr val="FFFFFF"/>
                </a:solidFill>
                <a:latin typeface="Microsoft Sans Serif"/>
                <a:cs typeface="Microsoft Sans Serif"/>
              </a:rPr>
              <a:t> </a:t>
            </a:r>
            <a:r>
              <a:rPr sz="1950" spc="-50">
                <a:solidFill>
                  <a:srgbClr val="FFFFFF"/>
                </a:solidFill>
                <a:latin typeface="Microsoft Sans Serif"/>
                <a:cs typeface="Microsoft Sans Serif"/>
              </a:rPr>
              <a:t>companies</a:t>
            </a:r>
            <a:r>
              <a:rPr sz="1950" spc="-70">
                <a:solidFill>
                  <a:srgbClr val="FFFFFF"/>
                </a:solidFill>
                <a:latin typeface="Microsoft Sans Serif"/>
                <a:cs typeface="Microsoft Sans Serif"/>
              </a:rPr>
              <a:t> </a:t>
            </a:r>
            <a:r>
              <a:rPr sz="1950" spc="-30">
                <a:solidFill>
                  <a:srgbClr val="FFFFFF"/>
                </a:solidFill>
                <a:latin typeface="Microsoft Sans Serif"/>
                <a:cs typeface="Microsoft Sans Serif"/>
              </a:rPr>
              <a:t>across</a:t>
            </a:r>
            <a:r>
              <a:rPr sz="1950" spc="-70">
                <a:solidFill>
                  <a:srgbClr val="FFFFFF"/>
                </a:solidFill>
                <a:latin typeface="Microsoft Sans Serif"/>
                <a:cs typeface="Microsoft Sans Serif"/>
              </a:rPr>
              <a:t> </a:t>
            </a:r>
            <a:r>
              <a:rPr sz="1950">
                <a:solidFill>
                  <a:srgbClr val="FFFFFF"/>
                </a:solidFill>
                <a:latin typeface="Microsoft Sans Serif"/>
                <a:cs typeface="Microsoft Sans Serif"/>
              </a:rPr>
              <a:t>ten</a:t>
            </a:r>
            <a:r>
              <a:rPr sz="1950" spc="-70">
                <a:solidFill>
                  <a:srgbClr val="FFFFFF"/>
                </a:solidFill>
                <a:latin typeface="Microsoft Sans Serif"/>
                <a:cs typeface="Microsoft Sans Serif"/>
              </a:rPr>
              <a:t> </a:t>
            </a:r>
            <a:r>
              <a:rPr sz="1950" spc="-30">
                <a:solidFill>
                  <a:srgbClr val="FFFFFF"/>
                </a:solidFill>
                <a:latin typeface="Microsoft Sans Serif"/>
                <a:cs typeface="Microsoft Sans Serif"/>
              </a:rPr>
              <a:t>verticals.</a:t>
            </a:r>
            <a:r>
              <a:rPr sz="1950" spc="-70">
                <a:solidFill>
                  <a:srgbClr val="FFFFFF"/>
                </a:solidFill>
                <a:latin typeface="Microsoft Sans Serif"/>
                <a:cs typeface="Microsoft Sans Serif"/>
              </a:rPr>
              <a:t> </a:t>
            </a:r>
            <a:r>
              <a:rPr sz="1950" spc="-55">
                <a:solidFill>
                  <a:srgbClr val="FFFFFF"/>
                </a:solidFill>
                <a:latin typeface="Microsoft Sans Serif"/>
                <a:cs typeface="Microsoft Sans Serif"/>
              </a:rPr>
              <a:t>Tata</a:t>
            </a:r>
            <a:r>
              <a:rPr sz="1950" spc="-75">
                <a:solidFill>
                  <a:srgbClr val="FFFFFF"/>
                </a:solidFill>
                <a:latin typeface="Microsoft Sans Serif"/>
                <a:cs typeface="Microsoft Sans Serif"/>
              </a:rPr>
              <a:t> </a:t>
            </a:r>
            <a:r>
              <a:rPr sz="1950" spc="-10">
                <a:solidFill>
                  <a:srgbClr val="FFFFFF"/>
                </a:solidFill>
                <a:latin typeface="Microsoft Sans Serif"/>
                <a:cs typeface="Microsoft Sans Serif"/>
              </a:rPr>
              <a:t>Motors,</a:t>
            </a:r>
            <a:r>
              <a:rPr sz="1950" spc="-75">
                <a:solidFill>
                  <a:srgbClr val="FFFFFF"/>
                </a:solidFill>
                <a:latin typeface="Microsoft Sans Serif"/>
                <a:cs typeface="Microsoft Sans Serif"/>
              </a:rPr>
              <a:t> </a:t>
            </a:r>
            <a:r>
              <a:rPr sz="1950">
                <a:solidFill>
                  <a:srgbClr val="FFFFFF"/>
                </a:solidFill>
                <a:latin typeface="Microsoft Sans Serif"/>
                <a:cs typeface="Microsoft Sans Serif"/>
              </a:rPr>
              <a:t>the</a:t>
            </a:r>
            <a:r>
              <a:rPr sz="1950" spc="-75">
                <a:solidFill>
                  <a:srgbClr val="FFFFFF"/>
                </a:solidFill>
                <a:latin typeface="Microsoft Sans Serif"/>
                <a:cs typeface="Microsoft Sans Serif"/>
              </a:rPr>
              <a:t> </a:t>
            </a:r>
            <a:r>
              <a:rPr sz="1950" spc="-10">
                <a:solidFill>
                  <a:srgbClr val="FFFFFF"/>
                </a:solidFill>
                <a:latin typeface="Microsoft Sans Serif"/>
                <a:cs typeface="Microsoft Sans Serif"/>
              </a:rPr>
              <a:t>group's</a:t>
            </a:r>
            <a:r>
              <a:rPr sz="1950" spc="-70">
                <a:solidFill>
                  <a:srgbClr val="FFFFFF"/>
                </a:solidFill>
                <a:latin typeface="Microsoft Sans Serif"/>
                <a:cs typeface="Microsoft Sans Serif"/>
              </a:rPr>
              <a:t> </a:t>
            </a:r>
            <a:r>
              <a:rPr sz="1950" spc="-10">
                <a:solidFill>
                  <a:srgbClr val="FFFFFF"/>
                </a:solidFill>
                <a:latin typeface="Microsoft Sans Serif"/>
                <a:cs typeface="Microsoft Sans Serif"/>
              </a:rPr>
              <a:t>flagship</a:t>
            </a:r>
            <a:r>
              <a:rPr sz="1950" spc="-70">
                <a:solidFill>
                  <a:srgbClr val="FFFFFF"/>
                </a:solidFill>
                <a:latin typeface="Microsoft Sans Serif"/>
                <a:cs typeface="Microsoft Sans Serif"/>
              </a:rPr>
              <a:t> </a:t>
            </a:r>
            <a:r>
              <a:rPr sz="1950" spc="-10">
                <a:solidFill>
                  <a:srgbClr val="FFFFFF"/>
                </a:solidFill>
                <a:latin typeface="Microsoft Sans Serif"/>
                <a:cs typeface="Microsoft Sans Serif"/>
              </a:rPr>
              <a:t>automotive </a:t>
            </a:r>
            <a:r>
              <a:rPr sz="1950" spc="-40">
                <a:solidFill>
                  <a:srgbClr val="FFFFFF"/>
                </a:solidFill>
                <a:latin typeface="Microsoft Sans Serif"/>
                <a:cs typeface="Microsoft Sans Serif"/>
              </a:rPr>
              <a:t>company,</a:t>
            </a:r>
            <a:r>
              <a:rPr sz="1950" spc="-55">
                <a:solidFill>
                  <a:srgbClr val="FFFFFF"/>
                </a:solidFill>
                <a:latin typeface="Microsoft Sans Serif"/>
                <a:cs typeface="Microsoft Sans Serif"/>
              </a:rPr>
              <a:t> </a:t>
            </a:r>
            <a:r>
              <a:rPr sz="1950" spc="-20">
                <a:solidFill>
                  <a:srgbClr val="FFFFFF"/>
                </a:solidFill>
                <a:latin typeface="Microsoft Sans Serif"/>
                <a:cs typeface="Microsoft Sans Serif"/>
              </a:rPr>
              <a:t>manufactures</a:t>
            </a:r>
            <a:r>
              <a:rPr sz="1950" spc="-45">
                <a:solidFill>
                  <a:srgbClr val="FFFFFF"/>
                </a:solidFill>
                <a:latin typeface="Microsoft Sans Serif"/>
                <a:cs typeface="Microsoft Sans Serif"/>
              </a:rPr>
              <a:t> </a:t>
            </a:r>
            <a:r>
              <a:rPr sz="1950" spc="-35">
                <a:solidFill>
                  <a:srgbClr val="FFFFFF"/>
                </a:solidFill>
                <a:latin typeface="Microsoft Sans Serif"/>
                <a:cs typeface="Microsoft Sans Serif"/>
              </a:rPr>
              <a:t>and</a:t>
            </a:r>
            <a:r>
              <a:rPr sz="1950" spc="-55">
                <a:solidFill>
                  <a:srgbClr val="FFFFFF"/>
                </a:solidFill>
                <a:latin typeface="Microsoft Sans Serif"/>
                <a:cs typeface="Microsoft Sans Serif"/>
              </a:rPr>
              <a:t> </a:t>
            </a:r>
            <a:r>
              <a:rPr sz="1950" spc="-20">
                <a:solidFill>
                  <a:srgbClr val="FFFFFF"/>
                </a:solidFill>
                <a:latin typeface="Microsoft Sans Serif"/>
                <a:cs typeface="Microsoft Sans Serif"/>
              </a:rPr>
              <a:t>markets</a:t>
            </a:r>
            <a:r>
              <a:rPr sz="1950" spc="-45">
                <a:solidFill>
                  <a:srgbClr val="FFFFFF"/>
                </a:solidFill>
                <a:latin typeface="Microsoft Sans Serif"/>
                <a:cs typeface="Microsoft Sans Serif"/>
              </a:rPr>
              <a:t> </a:t>
            </a:r>
            <a:r>
              <a:rPr sz="1950" spc="-25">
                <a:solidFill>
                  <a:srgbClr val="FFFFFF"/>
                </a:solidFill>
                <a:latin typeface="Microsoft Sans Serif"/>
                <a:cs typeface="Microsoft Sans Serif"/>
              </a:rPr>
              <a:t>automobiles</a:t>
            </a:r>
            <a:r>
              <a:rPr sz="1950" spc="-45">
                <a:solidFill>
                  <a:srgbClr val="FFFFFF"/>
                </a:solidFill>
                <a:latin typeface="Microsoft Sans Serif"/>
                <a:cs typeface="Microsoft Sans Serif"/>
              </a:rPr>
              <a:t> </a:t>
            </a:r>
            <a:r>
              <a:rPr sz="1950">
                <a:solidFill>
                  <a:srgbClr val="FFFFFF"/>
                </a:solidFill>
                <a:latin typeface="Microsoft Sans Serif"/>
                <a:cs typeface="Microsoft Sans Serif"/>
              </a:rPr>
              <a:t>for</a:t>
            </a:r>
            <a:r>
              <a:rPr sz="1950" spc="-50">
                <a:solidFill>
                  <a:srgbClr val="FFFFFF"/>
                </a:solidFill>
                <a:latin typeface="Microsoft Sans Serif"/>
                <a:cs typeface="Microsoft Sans Serif"/>
              </a:rPr>
              <a:t> </a:t>
            </a:r>
            <a:r>
              <a:rPr sz="1950">
                <a:solidFill>
                  <a:srgbClr val="FFFFFF"/>
                </a:solidFill>
                <a:latin typeface="Microsoft Sans Serif"/>
                <a:cs typeface="Microsoft Sans Serif"/>
              </a:rPr>
              <a:t>every</a:t>
            </a:r>
            <a:r>
              <a:rPr sz="1950" spc="-45">
                <a:solidFill>
                  <a:srgbClr val="FFFFFF"/>
                </a:solidFill>
                <a:latin typeface="Microsoft Sans Serif"/>
                <a:cs typeface="Microsoft Sans Serif"/>
              </a:rPr>
              <a:t> </a:t>
            </a:r>
            <a:r>
              <a:rPr sz="1950" spc="-50">
                <a:solidFill>
                  <a:srgbClr val="FFFFFF"/>
                </a:solidFill>
                <a:latin typeface="Microsoft Sans Serif"/>
                <a:cs typeface="Microsoft Sans Serif"/>
              </a:rPr>
              <a:t>need </a:t>
            </a:r>
            <a:r>
              <a:rPr sz="1950" spc="-35">
                <a:solidFill>
                  <a:srgbClr val="FFFFFF"/>
                </a:solidFill>
                <a:latin typeface="Microsoft Sans Serif"/>
                <a:cs typeface="Microsoft Sans Serif"/>
              </a:rPr>
              <a:t>and</a:t>
            </a:r>
            <a:r>
              <a:rPr sz="1950" spc="-55">
                <a:solidFill>
                  <a:srgbClr val="FFFFFF"/>
                </a:solidFill>
                <a:latin typeface="Microsoft Sans Serif"/>
                <a:cs typeface="Microsoft Sans Serif"/>
              </a:rPr>
              <a:t> </a:t>
            </a:r>
            <a:r>
              <a:rPr sz="1950" spc="-10">
                <a:solidFill>
                  <a:srgbClr val="FFFFFF"/>
                </a:solidFill>
                <a:latin typeface="Microsoft Sans Serif"/>
                <a:cs typeface="Microsoft Sans Serif"/>
              </a:rPr>
              <a:t>segment.</a:t>
            </a:r>
            <a:endParaRPr sz="1950">
              <a:latin typeface="Microsoft Sans Serif"/>
              <a:cs typeface="Microsoft Sans Serif"/>
            </a:endParaRPr>
          </a:p>
        </p:txBody>
      </p:sp>
      <p:grpSp>
        <p:nvGrpSpPr>
          <p:cNvPr id="17" name="object 17"/>
          <p:cNvGrpSpPr/>
          <p:nvPr/>
        </p:nvGrpSpPr>
        <p:grpSpPr>
          <a:xfrm>
            <a:off x="1040387" y="4799853"/>
            <a:ext cx="8149590" cy="955040"/>
            <a:chOff x="1040387" y="4799853"/>
            <a:chExt cx="8149590" cy="955040"/>
          </a:xfrm>
        </p:grpSpPr>
        <p:sp>
          <p:nvSpPr>
            <p:cNvPr id="18" name="object 18"/>
            <p:cNvSpPr/>
            <p:nvPr/>
          </p:nvSpPr>
          <p:spPr>
            <a:xfrm>
              <a:off x="3550446" y="5277169"/>
              <a:ext cx="5639435" cy="0"/>
            </a:xfrm>
            <a:custGeom>
              <a:avLst/>
              <a:gdLst/>
              <a:ahLst/>
              <a:cxnLst/>
              <a:rect l="l" t="t" r="r" b="b"/>
              <a:pathLst>
                <a:path w="5639434">
                  <a:moveTo>
                    <a:pt x="0" y="0"/>
                  </a:moveTo>
                  <a:lnTo>
                    <a:pt x="5639440" y="0"/>
                  </a:lnTo>
                </a:path>
              </a:pathLst>
            </a:custGeom>
            <a:ln w="10470">
              <a:solidFill>
                <a:srgbClr val="D1D1D1"/>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1040387" y="4799853"/>
              <a:ext cx="2616046" cy="954944"/>
            </a:xfrm>
            <a:prstGeom prst="rect">
              <a:avLst/>
            </a:prstGeom>
          </p:spPr>
        </p:pic>
        <p:pic>
          <p:nvPicPr>
            <p:cNvPr id="20" name="object 20"/>
            <p:cNvPicPr/>
            <p:nvPr/>
          </p:nvPicPr>
          <p:blipFill>
            <a:blip r:embed="rId8" cstate="print"/>
            <a:stretch>
              <a:fillRect/>
            </a:stretch>
          </p:blipFill>
          <p:spPr>
            <a:xfrm>
              <a:off x="1145933" y="4905400"/>
              <a:ext cx="2404952" cy="743851"/>
            </a:xfrm>
            <a:prstGeom prst="rect">
              <a:avLst/>
            </a:prstGeom>
          </p:spPr>
        </p:pic>
      </p:grpSp>
      <p:sp>
        <p:nvSpPr>
          <p:cNvPr id="21" name="object 21"/>
          <p:cNvSpPr txBox="1"/>
          <p:nvPr/>
        </p:nvSpPr>
        <p:spPr>
          <a:xfrm>
            <a:off x="1390628" y="5042644"/>
            <a:ext cx="1891664" cy="427990"/>
          </a:xfrm>
          <a:prstGeom prst="rect">
            <a:avLst/>
          </a:prstGeom>
        </p:spPr>
        <p:txBody>
          <a:bodyPr vert="horz" wrap="square" lIns="0" tIns="17145" rIns="0" bIns="0" rtlCol="0">
            <a:spAutoFit/>
          </a:bodyPr>
          <a:lstStyle/>
          <a:p>
            <a:pPr marL="12700">
              <a:lnSpc>
                <a:spcPct val="100000"/>
              </a:lnSpc>
              <a:spcBef>
                <a:spcPts val="135"/>
              </a:spcBef>
            </a:pPr>
            <a:r>
              <a:rPr sz="2600">
                <a:solidFill>
                  <a:srgbClr val="FFFFFF"/>
                </a:solidFill>
                <a:latin typeface="Microsoft Sans Serif"/>
                <a:cs typeface="Microsoft Sans Serif"/>
              </a:rPr>
              <a:t>In</a:t>
            </a:r>
            <a:r>
              <a:rPr sz="2600" spc="-105">
                <a:solidFill>
                  <a:srgbClr val="FFFFFF"/>
                </a:solidFill>
                <a:latin typeface="Microsoft Sans Serif"/>
                <a:cs typeface="Microsoft Sans Serif"/>
              </a:rPr>
              <a:t> </a:t>
            </a:r>
            <a:r>
              <a:rPr sz="2600" spc="-90">
                <a:solidFill>
                  <a:srgbClr val="FFFFFF"/>
                </a:solidFill>
                <a:latin typeface="Microsoft Sans Serif"/>
                <a:cs typeface="Microsoft Sans Serif"/>
              </a:rPr>
              <a:t>a</a:t>
            </a:r>
            <a:r>
              <a:rPr sz="2600" spc="-100">
                <a:solidFill>
                  <a:srgbClr val="FFFFFF"/>
                </a:solidFill>
                <a:latin typeface="Microsoft Sans Serif"/>
                <a:cs typeface="Microsoft Sans Serif"/>
              </a:rPr>
              <a:t> </a:t>
            </a:r>
            <a:r>
              <a:rPr sz="2600" spc="50">
                <a:solidFill>
                  <a:srgbClr val="FFFFFF"/>
                </a:solidFill>
                <a:latin typeface="Microsoft Sans Serif"/>
                <a:cs typeface="Microsoft Sans Serif"/>
              </a:rPr>
              <a:t>Nutshell</a:t>
            </a:r>
            <a:endParaRPr sz="2600">
              <a:latin typeface="Microsoft Sans Serif"/>
              <a:cs typeface="Microsoft Sans Serif"/>
            </a:endParaRPr>
          </a:p>
        </p:txBody>
      </p:sp>
      <p:sp>
        <p:nvSpPr>
          <p:cNvPr id="22" name="object 22"/>
          <p:cNvSpPr txBox="1"/>
          <p:nvPr/>
        </p:nvSpPr>
        <p:spPr>
          <a:xfrm>
            <a:off x="1153400" y="5966593"/>
            <a:ext cx="2844165" cy="838835"/>
          </a:xfrm>
          <a:prstGeom prst="rect">
            <a:avLst/>
          </a:prstGeom>
        </p:spPr>
        <p:txBody>
          <a:bodyPr vert="horz" wrap="square" lIns="0" tIns="12065" rIns="0" bIns="0" rtlCol="0">
            <a:spAutoFit/>
          </a:bodyPr>
          <a:lstStyle/>
          <a:p>
            <a:pPr marL="12700">
              <a:lnSpc>
                <a:spcPct val="100000"/>
              </a:lnSpc>
              <a:spcBef>
                <a:spcPts val="95"/>
              </a:spcBef>
            </a:pPr>
            <a:r>
              <a:rPr sz="3300" spc="-10">
                <a:solidFill>
                  <a:srgbClr val="262626"/>
                </a:solidFill>
                <a:latin typeface="Microsoft Sans Serif"/>
                <a:cs typeface="Microsoft Sans Serif"/>
              </a:rPr>
              <a:t>&gt;$180</a:t>
            </a:r>
            <a:r>
              <a:rPr sz="3300" spc="-185">
                <a:solidFill>
                  <a:srgbClr val="262626"/>
                </a:solidFill>
                <a:latin typeface="Microsoft Sans Serif"/>
                <a:cs typeface="Microsoft Sans Serif"/>
              </a:rPr>
              <a:t> </a:t>
            </a:r>
            <a:r>
              <a:rPr sz="3300" spc="55">
                <a:solidFill>
                  <a:srgbClr val="262626"/>
                </a:solidFill>
                <a:latin typeface="Microsoft Sans Serif"/>
                <a:cs typeface="Microsoft Sans Serif"/>
              </a:rPr>
              <a:t>billion</a:t>
            </a:r>
            <a:endParaRPr sz="3300">
              <a:latin typeface="Microsoft Sans Serif"/>
              <a:cs typeface="Microsoft Sans Serif"/>
            </a:endParaRPr>
          </a:p>
          <a:p>
            <a:pPr marL="12700">
              <a:lnSpc>
                <a:spcPct val="100000"/>
              </a:lnSpc>
              <a:spcBef>
                <a:spcPts val="100"/>
              </a:spcBef>
            </a:pPr>
            <a:r>
              <a:rPr sz="1950" spc="-55">
                <a:solidFill>
                  <a:srgbClr val="262626"/>
                </a:solidFill>
                <a:latin typeface="Microsoft Sans Serif"/>
                <a:cs typeface="Microsoft Sans Serif"/>
              </a:rPr>
              <a:t>Combined</a:t>
            </a:r>
            <a:r>
              <a:rPr sz="1950" spc="-75">
                <a:solidFill>
                  <a:srgbClr val="262626"/>
                </a:solidFill>
                <a:latin typeface="Microsoft Sans Serif"/>
                <a:cs typeface="Microsoft Sans Serif"/>
              </a:rPr>
              <a:t> </a:t>
            </a:r>
            <a:r>
              <a:rPr sz="1950" spc="-40">
                <a:solidFill>
                  <a:srgbClr val="262626"/>
                </a:solidFill>
                <a:latin typeface="Microsoft Sans Serif"/>
                <a:cs typeface="Microsoft Sans Serif"/>
              </a:rPr>
              <a:t>Group</a:t>
            </a:r>
            <a:r>
              <a:rPr sz="1950" spc="-75">
                <a:solidFill>
                  <a:srgbClr val="262626"/>
                </a:solidFill>
                <a:latin typeface="Microsoft Sans Serif"/>
                <a:cs typeface="Microsoft Sans Serif"/>
              </a:rPr>
              <a:t> </a:t>
            </a:r>
            <a:r>
              <a:rPr sz="1950" spc="-30">
                <a:solidFill>
                  <a:srgbClr val="262626"/>
                </a:solidFill>
                <a:latin typeface="Microsoft Sans Serif"/>
                <a:cs typeface="Microsoft Sans Serif"/>
              </a:rPr>
              <a:t>Revenue</a:t>
            </a:r>
            <a:endParaRPr sz="1950">
              <a:latin typeface="Microsoft Sans Serif"/>
              <a:cs typeface="Microsoft Sans Serif"/>
            </a:endParaRPr>
          </a:p>
        </p:txBody>
      </p:sp>
      <p:sp>
        <p:nvSpPr>
          <p:cNvPr id="23" name="object 23"/>
          <p:cNvSpPr txBox="1"/>
          <p:nvPr/>
        </p:nvSpPr>
        <p:spPr>
          <a:xfrm>
            <a:off x="5309106" y="5966593"/>
            <a:ext cx="3314065" cy="838835"/>
          </a:xfrm>
          <a:prstGeom prst="rect">
            <a:avLst/>
          </a:prstGeom>
        </p:spPr>
        <p:txBody>
          <a:bodyPr vert="horz" wrap="square" lIns="0" tIns="12065" rIns="0" bIns="0" rtlCol="0">
            <a:spAutoFit/>
          </a:bodyPr>
          <a:lstStyle/>
          <a:p>
            <a:pPr marL="12700">
              <a:lnSpc>
                <a:spcPct val="100000"/>
              </a:lnSpc>
              <a:spcBef>
                <a:spcPts val="95"/>
              </a:spcBef>
            </a:pPr>
            <a:r>
              <a:rPr sz="3300" spc="-590">
                <a:solidFill>
                  <a:srgbClr val="262626"/>
                </a:solidFill>
                <a:latin typeface="Microsoft Sans Serif"/>
                <a:cs typeface="Microsoft Sans Serif"/>
              </a:rPr>
              <a:t>1</a:t>
            </a:r>
            <a:r>
              <a:rPr sz="3300" spc="-170">
                <a:solidFill>
                  <a:srgbClr val="262626"/>
                </a:solidFill>
                <a:latin typeface="Microsoft Sans Serif"/>
                <a:cs typeface="Microsoft Sans Serif"/>
              </a:rPr>
              <a:t> </a:t>
            </a:r>
            <a:r>
              <a:rPr sz="3300" spc="50">
                <a:solidFill>
                  <a:srgbClr val="262626"/>
                </a:solidFill>
                <a:latin typeface="Microsoft Sans Serif"/>
                <a:cs typeface="Microsoft Sans Serif"/>
              </a:rPr>
              <a:t>million+</a:t>
            </a:r>
            <a:endParaRPr sz="3300">
              <a:latin typeface="Microsoft Sans Serif"/>
              <a:cs typeface="Microsoft Sans Serif"/>
            </a:endParaRPr>
          </a:p>
          <a:p>
            <a:pPr marL="12700">
              <a:lnSpc>
                <a:spcPct val="100000"/>
              </a:lnSpc>
              <a:spcBef>
                <a:spcPts val="100"/>
              </a:spcBef>
            </a:pPr>
            <a:r>
              <a:rPr sz="1950" spc="-20">
                <a:solidFill>
                  <a:srgbClr val="262626"/>
                </a:solidFill>
                <a:latin typeface="Microsoft Sans Serif"/>
                <a:cs typeface="Microsoft Sans Serif"/>
              </a:rPr>
              <a:t>Collective</a:t>
            </a:r>
            <a:r>
              <a:rPr sz="1950" spc="10">
                <a:solidFill>
                  <a:srgbClr val="262626"/>
                </a:solidFill>
                <a:latin typeface="Microsoft Sans Serif"/>
                <a:cs typeface="Microsoft Sans Serif"/>
              </a:rPr>
              <a:t> </a:t>
            </a:r>
            <a:r>
              <a:rPr sz="1950">
                <a:solidFill>
                  <a:srgbClr val="262626"/>
                </a:solidFill>
                <a:latin typeface="Microsoft Sans Serif"/>
                <a:cs typeface="Microsoft Sans Serif"/>
              </a:rPr>
              <a:t>Workforce</a:t>
            </a:r>
            <a:r>
              <a:rPr sz="1950" spc="10">
                <a:solidFill>
                  <a:srgbClr val="262626"/>
                </a:solidFill>
                <a:latin typeface="Microsoft Sans Serif"/>
                <a:cs typeface="Microsoft Sans Serif"/>
              </a:rPr>
              <a:t> </a:t>
            </a:r>
            <a:r>
              <a:rPr sz="1950" spc="-10">
                <a:solidFill>
                  <a:srgbClr val="262626"/>
                </a:solidFill>
                <a:latin typeface="Microsoft Sans Serif"/>
                <a:cs typeface="Microsoft Sans Serif"/>
              </a:rPr>
              <a:t>Strength</a:t>
            </a:r>
            <a:endParaRPr sz="1950">
              <a:latin typeface="Microsoft Sans Serif"/>
              <a:cs typeface="Microsoft Sans Serif"/>
            </a:endParaRPr>
          </a:p>
        </p:txBody>
      </p:sp>
      <p:sp>
        <p:nvSpPr>
          <p:cNvPr id="24" name="object 24"/>
          <p:cNvSpPr/>
          <p:nvPr/>
        </p:nvSpPr>
        <p:spPr>
          <a:xfrm>
            <a:off x="1146258" y="7024341"/>
            <a:ext cx="3858895" cy="0"/>
          </a:xfrm>
          <a:custGeom>
            <a:avLst/>
            <a:gdLst/>
            <a:ahLst/>
            <a:cxnLst/>
            <a:rect l="l" t="t" r="r" b="b"/>
            <a:pathLst>
              <a:path w="3858895">
                <a:moveTo>
                  <a:pt x="0" y="0"/>
                </a:moveTo>
                <a:lnTo>
                  <a:pt x="3858564" y="0"/>
                </a:lnTo>
              </a:path>
            </a:pathLst>
          </a:custGeom>
          <a:ln w="31412">
            <a:solidFill>
              <a:srgbClr val="D9D9D9"/>
            </a:solidFill>
          </a:ln>
        </p:spPr>
        <p:txBody>
          <a:bodyPr wrap="square" lIns="0" tIns="0" rIns="0" bIns="0" rtlCol="0"/>
          <a:lstStyle/>
          <a:p>
            <a:endParaRPr/>
          </a:p>
        </p:txBody>
      </p:sp>
      <p:sp>
        <p:nvSpPr>
          <p:cNvPr id="25" name="object 25"/>
          <p:cNvSpPr/>
          <p:nvPr/>
        </p:nvSpPr>
        <p:spPr>
          <a:xfrm>
            <a:off x="5321806" y="7024341"/>
            <a:ext cx="3858895" cy="0"/>
          </a:xfrm>
          <a:custGeom>
            <a:avLst/>
            <a:gdLst/>
            <a:ahLst/>
            <a:cxnLst/>
            <a:rect l="l" t="t" r="r" b="b"/>
            <a:pathLst>
              <a:path w="3858895">
                <a:moveTo>
                  <a:pt x="0" y="0"/>
                </a:moveTo>
                <a:lnTo>
                  <a:pt x="3858564" y="0"/>
                </a:lnTo>
              </a:path>
            </a:pathLst>
          </a:custGeom>
          <a:ln w="31412">
            <a:solidFill>
              <a:srgbClr val="D9D9D9"/>
            </a:solidFill>
          </a:ln>
        </p:spPr>
        <p:txBody>
          <a:bodyPr wrap="square" lIns="0" tIns="0" rIns="0" bIns="0" rtlCol="0"/>
          <a:lstStyle/>
          <a:p>
            <a:endParaRPr/>
          </a:p>
        </p:txBody>
      </p:sp>
      <p:sp>
        <p:nvSpPr>
          <p:cNvPr id="26" name="object 26"/>
          <p:cNvSpPr txBox="1"/>
          <p:nvPr/>
        </p:nvSpPr>
        <p:spPr>
          <a:xfrm>
            <a:off x="1128000" y="7265820"/>
            <a:ext cx="3818254" cy="1132840"/>
          </a:xfrm>
          <a:prstGeom prst="rect">
            <a:avLst/>
          </a:prstGeom>
        </p:spPr>
        <p:txBody>
          <a:bodyPr vert="horz" wrap="square" lIns="0" tIns="12065" rIns="0" bIns="0" rtlCol="0">
            <a:spAutoFit/>
          </a:bodyPr>
          <a:lstStyle/>
          <a:p>
            <a:pPr marL="38100">
              <a:lnSpc>
                <a:spcPct val="100000"/>
              </a:lnSpc>
              <a:spcBef>
                <a:spcPts val="95"/>
              </a:spcBef>
            </a:pPr>
            <a:r>
              <a:rPr sz="3300" spc="75">
                <a:solidFill>
                  <a:srgbClr val="262626"/>
                </a:solidFill>
                <a:latin typeface="Microsoft Sans Serif"/>
                <a:cs typeface="Microsoft Sans Serif"/>
              </a:rPr>
              <a:t>&gt;$328</a:t>
            </a:r>
            <a:r>
              <a:rPr sz="3300" spc="-170">
                <a:solidFill>
                  <a:srgbClr val="262626"/>
                </a:solidFill>
                <a:latin typeface="Microsoft Sans Serif"/>
                <a:cs typeface="Microsoft Sans Serif"/>
              </a:rPr>
              <a:t> </a:t>
            </a:r>
            <a:r>
              <a:rPr sz="3300" spc="55">
                <a:solidFill>
                  <a:srgbClr val="262626"/>
                </a:solidFill>
                <a:latin typeface="Microsoft Sans Serif"/>
                <a:cs typeface="Microsoft Sans Serif"/>
              </a:rPr>
              <a:t>billion</a:t>
            </a:r>
            <a:endParaRPr sz="3300">
              <a:latin typeface="Microsoft Sans Serif"/>
              <a:cs typeface="Microsoft Sans Serif"/>
            </a:endParaRPr>
          </a:p>
          <a:p>
            <a:pPr marL="38100">
              <a:lnSpc>
                <a:spcPts val="2330"/>
              </a:lnSpc>
              <a:spcBef>
                <a:spcPts val="100"/>
              </a:spcBef>
            </a:pPr>
            <a:r>
              <a:rPr sz="1950" spc="-55">
                <a:solidFill>
                  <a:srgbClr val="262626"/>
                </a:solidFill>
                <a:latin typeface="Microsoft Sans Serif"/>
                <a:cs typeface="Microsoft Sans Serif"/>
              </a:rPr>
              <a:t>Combined</a:t>
            </a:r>
            <a:r>
              <a:rPr sz="1950" spc="-40">
                <a:solidFill>
                  <a:srgbClr val="262626"/>
                </a:solidFill>
                <a:latin typeface="Microsoft Sans Serif"/>
                <a:cs typeface="Microsoft Sans Serif"/>
              </a:rPr>
              <a:t> </a:t>
            </a:r>
            <a:r>
              <a:rPr sz="1950">
                <a:solidFill>
                  <a:srgbClr val="262626"/>
                </a:solidFill>
                <a:latin typeface="Microsoft Sans Serif"/>
                <a:cs typeface="Microsoft Sans Serif"/>
              </a:rPr>
              <a:t>Market</a:t>
            </a:r>
            <a:r>
              <a:rPr sz="1950" spc="-35">
                <a:solidFill>
                  <a:srgbClr val="262626"/>
                </a:solidFill>
                <a:latin typeface="Microsoft Sans Serif"/>
                <a:cs typeface="Microsoft Sans Serif"/>
              </a:rPr>
              <a:t> </a:t>
            </a:r>
            <a:r>
              <a:rPr sz="1950" spc="-135">
                <a:solidFill>
                  <a:srgbClr val="262626"/>
                </a:solidFill>
                <a:latin typeface="Microsoft Sans Serif"/>
                <a:cs typeface="Microsoft Sans Serif"/>
              </a:rPr>
              <a:t>Cap</a:t>
            </a:r>
            <a:r>
              <a:rPr sz="1950" spc="-40">
                <a:solidFill>
                  <a:srgbClr val="262626"/>
                </a:solidFill>
                <a:latin typeface="Microsoft Sans Serif"/>
                <a:cs typeface="Microsoft Sans Serif"/>
              </a:rPr>
              <a:t> </a:t>
            </a:r>
            <a:r>
              <a:rPr sz="1950" spc="-25">
                <a:solidFill>
                  <a:srgbClr val="262626"/>
                </a:solidFill>
                <a:latin typeface="Microsoft Sans Serif"/>
                <a:cs typeface="Microsoft Sans Serif"/>
              </a:rPr>
              <a:t>of</a:t>
            </a:r>
            <a:endParaRPr sz="1950">
              <a:latin typeface="Microsoft Sans Serif"/>
              <a:cs typeface="Microsoft Sans Serif"/>
            </a:endParaRPr>
          </a:p>
          <a:p>
            <a:pPr marL="38100">
              <a:lnSpc>
                <a:spcPts val="2330"/>
              </a:lnSpc>
            </a:pPr>
            <a:r>
              <a:rPr sz="1950">
                <a:solidFill>
                  <a:srgbClr val="262626"/>
                </a:solidFill>
                <a:latin typeface="Microsoft Sans Serif"/>
                <a:cs typeface="Microsoft Sans Serif"/>
              </a:rPr>
              <a:t>26</a:t>
            </a:r>
            <a:r>
              <a:rPr sz="1950" spc="5">
                <a:solidFill>
                  <a:srgbClr val="262626"/>
                </a:solidFill>
                <a:latin typeface="Microsoft Sans Serif"/>
                <a:cs typeface="Microsoft Sans Serif"/>
              </a:rPr>
              <a:t> </a:t>
            </a:r>
            <a:r>
              <a:rPr sz="1950">
                <a:solidFill>
                  <a:srgbClr val="262626"/>
                </a:solidFill>
                <a:latin typeface="Microsoft Sans Serif"/>
                <a:cs typeface="Microsoft Sans Serif"/>
              </a:rPr>
              <a:t>publicly</a:t>
            </a:r>
            <a:r>
              <a:rPr sz="1950" spc="15">
                <a:solidFill>
                  <a:srgbClr val="262626"/>
                </a:solidFill>
                <a:latin typeface="Microsoft Sans Serif"/>
                <a:cs typeface="Microsoft Sans Serif"/>
              </a:rPr>
              <a:t> </a:t>
            </a:r>
            <a:r>
              <a:rPr sz="1950">
                <a:solidFill>
                  <a:srgbClr val="262626"/>
                </a:solidFill>
                <a:latin typeface="Microsoft Sans Serif"/>
                <a:cs typeface="Microsoft Sans Serif"/>
              </a:rPr>
              <a:t>listed</a:t>
            </a:r>
            <a:r>
              <a:rPr sz="1950" spc="5">
                <a:solidFill>
                  <a:srgbClr val="262626"/>
                </a:solidFill>
                <a:latin typeface="Microsoft Sans Serif"/>
                <a:cs typeface="Microsoft Sans Serif"/>
              </a:rPr>
              <a:t> </a:t>
            </a:r>
            <a:r>
              <a:rPr sz="1950" spc="-45">
                <a:solidFill>
                  <a:srgbClr val="262626"/>
                </a:solidFill>
                <a:latin typeface="Microsoft Sans Serif"/>
                <a:cs typeface="Microsoft Sans Serif"/>
              </a:rPr>
              <a:t>Tata</a:t>
            </a:r>
            <a:r>
              <a:rPr sz="1950" spc="5">
                <a:solidFill>
                  <a:srgbClr val="262626"/>
                </a:solidFill>
                <a:latin typeface="Microsoft Sans Serif"/>
                <a:cs typeface="Microsoft Sans Serif"/>
              </a:rPr>
              <a:t> </a:t>
            </a:r>
            <a:r>
              <a:rPr sz="1950" spc="-10">
                <a:solidFill>
                  <a:srgbClr val="262626"/>
                </a:solidFill>
                <a:latin typeface="Microsoft Sans Serif"/>
                <a:cs typeface="Microsoft Sans Serif"/>
              </a:rPr>
              <a:t>enterprises</a:t>
            </a:r>
            <a:r>
              <a:rPr sz="1950" spc="-15" baseline="23504">
                <a:solidFill>
                  <a:srgbClr val="262626"/>
                </a:solidFill>
                <a:latin typeface="Microsoft Sans Serif"/>
                <a:cs typeface="Microsoft Sans Serif"/>
              </a:rPr>
              <a:t>1</a:t>
            </a:r>
            <a:endParaRPr sz="1950" baseline="23504">
              <a:latin typeface="Microsoft Sans Serif"/>
              <a:cs typeface="Microsoft Sans Serif"/>
            </a:endParaRPr>
          </a:p>
        </p:txBody>
      </p:sp>
      <p:sp>
        <p:nvSpPr>
          <p:cNvPr id="27" name="object 27"/>
          <p:cNvSpPr txBox="1"/>
          <p:nvPr/>
        </p:nvSpPr>
        <p:spPr>
          <a:xfrm>
            <a:off x="5283706" y="7265820"/>
            <a:ext cx="3147060" cy="1132840"/>
          </a:xfrm>
          <a:prstGeom prst="rect">
            <a:avLst/>
          </a:prstGeom>
        </p:spPr>
        <p:txBody>
          <a:bodyPr vert="horz" wrap="square" lIns="0" tIns="12065" rIns="0" bIns="0" rtlCol="0">
            <a:spAutoFit/>
          </a:bodyPr>
          <a:lstStyle/>
          <a:p>
            <a:pPr marL="38100">
              <a:lnSpc>
                <a:spcPct val="100000"/>
              </a:lnSpc>
              <a:spcBef>
                <a:spcPts val="95"/>
              </a:spcBef>
            </a:pPr>
            <a:r>
              <a:rPr sz="3300" spc="-100">
                <a:solidFill>
                  <a:srgbClr val="262626"/>
                </a:solidFill>
                <a:latin typeface="Microsoft Sans Serif"/>
                <a:cs typeface="Microsoft Sans Serif"/>
              </a:rPr>
              <a:t>$31.6</a:t>
            </a:r>
            <a:r>
              <a:rPr sz="3300" spc="-135">
                <a:solidFill>
                  <a:srgbClr val="262626"/>
                </a:solidFill>
                <a:latin typeface="Microsoft Sans Serif"/>
                <a:cs typeface="Microsoft Sans Serif"/>
              </a:rPr>
              <a:t> </a:t>
            </a:r>
            <a:r>
              <a:rPr sz="3300" spc="55">
                <a:solidFill>
                  <a:srgbClr val="262626"/>
                </a:solidFill>
                <a:latin typeface="Microsoft Sans Serif"/>
                <a:cs typeface="Microsoft Sans Serif"/>
              </a:rPr>
              <a:t>billion</a:t>
            </a:r>
            <a:endParaRPr sz="3300">
              <a:latin typeface="Microsoft Sans Serif"/>
              <a:cs typeface="Microsoft Sans Serif"/>
            </a:endParaRPr>
          </a:p>
          <a:p>
            <a:pPr marL="38100" marR="30480">
              <a:lnSpc>
                <a:spcPts val="2320"/>
              </a:lnSpc>
              <a:spcBef>
                <a:spcPts val="195"/>
              </a:spcBef>
            </a:pPr>
            <a:r>
              <a:rPr sz="1950" spc="-10">
                <a:solidFill>
                  <a:srgbClr val="262626"/>
                </a:solidFill>
                <a:latin typeface="Microsoft Sans Serif"/>
                <a:cs typeface="Microsoft Sans Serif"/>
              </a:rPr>
              <a:t>Brand</a:t>
            </a:r>
            <a:r>
              <a:rPr sz="1950" spc="-80">
                <a:solidFill>
                  <a:srgbClr val="262626"/>
                </a:solidFill>
                <a:latin typeface="Microsoft Sans Serif"/>
                <a:cs typeface="Microsoft Sans Serif"/>
              </a:rPr>
              <a:t> </a:t>
            </a:r>
            <a:r>
              <a:rPr sz="1950" spc="-20">
                <a:solidFill>
                  <a:srgbClr val="262626"/>
                </a:solidFill>
                <a:latin typeface="Microsoft Sans Serif"/>
                <a:cs typeface="Microsoft Sans Serif"/>
              </a:rPr>
              <a:t>Valuation,</a:t>
            </a:r>
            <a:r>
              <a:rPr sz="1950" spc="-75">
                <a:solidFill>
                  <a:srgbClr val="262626"/>
                </a:solidFill>
                <a:latin typeface="Microsoft Sans Serif"/>
                <a:cs typeface="Microsoft Sans Serif"/>
              </a:rPr>
              <a:t> </a:t>
            </a:r>
            <a:r>
              <a:rPr sz="1950" spc="-25">
                <a:solidFill>
                  <a:srgbClr val="262626"/>
                </a:solidFill>
                <a:latin typeface="Microsoft Sans Serif"/>
                <a:cs typeface="Microsoft Sans Serif"/>
              </a:rPr>
              <a:t>making</a:t>
            </a:r>
            <a:r>
              <a:rPr sz="1950" spc="-75">
                <a:solidFill>
                  <a:srgbClr val="262626"/>
                </a:solidFill>
                <a:latin typeface="Microsoft Sans Serif"/>
                <a:cs typeface="Microsoft Sans Serif"/>
              </a:rPr>
              <a:t> </a:t>
            </a:r>
            <a:r>
              <a:rPr sz="1950" spc="-25">
                <a:solidFill>
                  <a:srgbClr val="262626"/>
                </a:solidFill>
                <a:latin typeface="Microsoft Sans Serif"/>
                <a:cs typeface="Microsoft Sans Serif"/>
              </a:rPr>
              <a:t>it </a:t>
            </a:r>
            <a:r>
              <a:rPr sz="1950" spc="-30">
                <a:solidFill>
                  <a:srgbClr val="262626"/>
                </a:solidFill>
                <a:latin typeface="Microsoft Sans Serif"/>
                <a:cs typeface="Microsoft Sans Serif"/>
              </a:rPr>
              <a:t>India’s</a:t>
            </a:r>
            <a:r>
              <a:rPr sz="1950" spc="-85">
                <a:solidFill>
                  <a:srgbClr val="262626"/>
                </a:solidFill>
                <a:latin typeface="Microsoft Sans Serif"/>
                <a:cs typeface="Microsoft Sans Serif"/>
              </a:rPr>
              <a:t> </a:t>
            </a:r>
            <a:r>
              <a:rPr sz="1950">
                <a:solidFill>
                  <a:srgbClr val="262626"/>
                </a:solidFill>
                <a:latin typeface="Microsoft Sans Serif"/>
                <a:cs typeface="Microsoft Sans Serif"/>
              </a:rPr>
              <a:t>most</a:t>
            </a:r>
            <a:r>
              <a:rPr sz="1950" spc="-80">
                <a:solidFill>
                  <a:srgbClr val="262626"/>
                </a:solidFill>
                <a:latin typeface="Microsoft Sans Serif"/>
                <a:cs typeface="Microsoft Sans Serif"/>
              </a:rPr>
              <a:t> </a:t>
            </a:r>
            <a:r>
              <a:rPr sz="1950">
                <a:solidFill>
                  <a:srgbClr val="262626"/>
                </a:solidFill>
                <a:latin typeface="Microsoft Sans Serif"/>
                <a:cs typeface="Microsoft Sans Serif"/>
              </a:rPr>
              <a:t>valuable</a:t>
            </a:r>
            <a:r>
              <a:rPr sz="1950" spc="-85">
                <a:solidFill>
                  <a:srgbClr val="262626"/>
                </a:solidFill>
                <a:latin typeface="Microsoft Sans Serif"/>
                <a:cs typeface="Microsoft Sans Serif"/>
              </a:rPr>
              <a:t> </a:t>
            </a:r>
            <a:r>
              <a:rPr sz="1950" spc="-10">
                <a:solidFill>
                  <a:srgbClr val="262626"/>
                </a:solidFill>
                <a:latin typeface="Microsoft Sans Serif"/>
                <a:cs typeface="Microsoft Sans Serif"/>
              </a:rPr>
              <a:t>brand</a:t>
            </a:r>
            <a:r>
              <a:rPr sz="1950" spc="-15" baseline="23504">
                <a:solidFill>
                  <a:srgbClr val="262626"/>
                </a:solidFill>
                <a:latin typeface="Microsoft Sans Serif"/>
                <a:cs typeface="Microsoft Sans Serif"/>
              </a:rPr>
              <a:t>2</a:t>
            </a:r>
            <a:endParaRPr sz="1950" baseline="23504">
              <a:latin typeface="Microsoft Sans Serif"/>
              <a:cs typeface="Microsoft Sans Serif"/>
            </a:endParaRPr>
          </a:p>
        </p:txBody>
      </p:sp>
      <p:sp>
        <p:nvSpPr>
          <p:cNvPr id="28" name="object 28"/>
          <p:cNvSpPr/>
          <p:nvPr/>
        </p:nvSpPr>
        <p:spPr>
          <a:xfrm>
            <a:off x="1146258" y="8628019"/>
            <a:ext cx="3858895" cy="0"/>
          </a:xfrm>
          <a:custGeom>
            <a:avLst/>
            <a:gdLst/>
            <a:ahLst/>
            <a:cxnLst/>
            <a:rect l="l" t="t" r="r" b="b"/>
            <a:pathLst>
              <a:path w="3858895">
                <a:moveTo>
                  <a:pt x="0" y="0"/>
                </a:moveTo>
                <a:lnTo>
                  <a:pt x="3858564" y="0"/>
                </a:lnTo>
              </a:path>
            </a:pathLst>
          </a:custGeom>
          <a:ln w="31412">
            <a:solidFill>
              <a:srgbClr val="D9D9D9"/>
            </a:solidFill>
          </a:ln>
        </p:spPr>
        <p:txBody>
          <a:bodyPr wrap="square" lIns="0" tIns="0" rIns="0" bIns="0" rtlCol="0"/>
          <a:lstStyle/>
          <a:p>
            <a:endParaRPr/>
          </a:p>
        </p:txBody>
      </p:sp>
      <p:sp>
        <p:nvSpPr>
          <p:cNvPr id="29" name="object 29"/>
          <p:cNvSpPr/>
          <p:nvPr/>
        </p:nvSpPr>
        <p:spPr>
          <a:xfrm>
            <a:off x="5321806" y="8628019"/>
            <a:ext cx="3858895" cy="0"/>
          </a:xfrm>
          <a:custGeom>
            <a:avLst/>
            <a:gdLst/>
            <a:ahLst/>
            <a:cxnLst/>
            <a:rect l="l" t="t" r="r" b="b"/>
            <a:pathLst>
              <a:path w="3858895">
                <a:moveTo>
                  <a:pt x="0" y="0"/>
                </a:moveTo>
                <a:lnTo>
                  <a:pt x="3858564" y="0"/>
                </a:lnTo>
              </a:path>
            </a:pathLst>
          </a:custGeom>
          <a:ln w="31412">
            <a:solidFill>
              <a:srgbClr val="D9D9D9"/>
            </a:solidFill>
          </a:ln>
        </p:spPr>
        <p:txBody>
          <a:bodyPr wrap="square" lIns="0" tIns="0" rIns="0" bIns="0" rtlCol="0"/>
          <a:lstStyle/>
          <a:p>
            <a:endParaRPr/>
          </a:p>
        </p:txBody>
      </p:sp>
      <p:sp>
        <p:nvSpPr>
          <p:cNvPr id="30" name="object 30"/>
          <p:cNvSpPr txBox="1"/>
          <p:nvPr/>
        </p:nvSpPr>
        <p:spPr>
          <a:xfrm>
            <a:off x="1153400" y="8889227"/>
            <a:ext cx="2743835" cy="838835"/>
          </a:xfrm>
          <a:prstGeom prst="rect">
            <a:avLst/>
          </a:prstGeom>
        </p:spPr>
        <p:txBody>
          <a:bodyPr vert="horz" wrap="square" lIns="0" tIns="12065" rIns="0" bIns="0" rtlCol="0">
            <a:spAutoFit/>
          </a:bodyPr>
          <a:lstStyle/>
          <a:p>
            <a:pPr marL="12700">
              <a:lnSpc>
                <a:spcPct val="100000"/>
              </a:lnSpc>
              <a:spcBef>
                <a:spcPts val="95"/>
              </a:spcBef>
            </a:pPr>
            <a:r>
              <a:rPr sz="3300" spc="-85">
                <a:solidFill>
                  <a:srgbClr val="262626"/>
                </a:solidFill>
                <a:latin typeface="Microsoft Sans Serif"/>
                <a:cs typeface="Microsoft Sans Serif"/>
              </a:rPr>
              <a:t>150+</a:t>
            </a:r>
            <a:r>
              <a:rPr sz="3300" spc="-135">
                <a:solidFill>
                  <a:srgbClr val="262626"/>
                </a:solidFill>
                <a:latin typeface="Microsoft Sans Serif"/>
                <a:cs typeface="Microsoft Sans Serif"/>
              </a:rPr>
              <a:t> </a:t>
            </a:r>
            <a:r>
              <a:rPr sz="3300" spc="-10">
                <a:solidFill>
                  <a:srgbClr val="262626"/>
                </a:solidFill>
                <a:latin typeface="Microsoft Sans Serif"/>
                <a:cs typeface="Microsoft Sans Serif"/>
              </a:rPr>
              <a:t>countries</a:t>
            </a:r>
            <a:endParaRPr sz="3300">
              <a:latin typeface="Microsoft Sans Serif"/>
              <a:cs typeface="Microsoft Sans Serif"/>
            </a:endParaRPr>
          </a:p>
          <a:p>
            <a:pPr marL="12700">
              <a:lnSpc>
                <a:spcPct val="100000"/>
              </a:lnSpc>
              <a:spcBef>
                <a:spcPts val="100"/>
              </a:spcBef>
            </a:pPr>
            <a:r>
              <a:rPr sz="1950" spc="-25">
                <a:solidFill>
                  <a:srgbClr val="262626"/>
                </a:solidFill>
                <a:latin typeface="Microsoft Sans Serif"/>
                <a:cs typeface="Microsoft Sans Serif"/>
              </a:rPr>
              <a:t>across</a:t>
            </a:r>
            <a:r>
              <a:rPr sz="1950" spc="-85">
                <a:solidFill>
                  <a:srgbClr val="262626"/>
                </a:solidFill>
                <a:latin typeface="Microsoft Sans Serif"/>
                <a:cs typeface="Microsoft Sans Serif"/>
              </a:rPr>
              <a:t> </a:t>
            </a:r>
            <a:r>
              <a:rPr sz="1950" spc="75">
                <a:solidFill>
                  <a:srgbClr val="262626"/>
                </a:solidFill>
                <a:latin typeface="Microsoft Sans Serif"/>
                <a:cs typeface="Microsoft Sans Serif"/>
              </a:rPr>
              <a:t>6</a:t>
            </a:r>
            <a:r>
              <a:rPr sz="1950" spc="-80">
                <a:solidFill>
                  <a:srgbClr val="262626"/>
                </a:solidFill>
                <a:latin typeface="Microsoft Sans Serif"/>
                <a:cs typeface="Microsoft Sans Serif"/>
              </a:rPr>
              <a:t> </a:t>
            </a:r>
            <a:r>
              <a:rPr sz="1950" spc="-10">
                <a:solidFill>
                  <a:srgbClr val="262626"/>
                </a:solidFill>
                <a:latin typeface="Microsoft Sans Serif"/>
                <a:cs typeface="Microsoft Sans Serif"/>
              </a:rPr>
              <a:t>continents</a:t>
            </a:r>
            <a:endParaRPr sz="1950">
              <a:latin typeface="Microsoft Sans Serif"/>
              <a:cs typeface="Microsoft Sans Serif"/>
            </a:endParaRPr>
          </a:p>
        </p:txBody>
      </p:sp>
      <p:sp>
        <p:nvSpPr>
          <p:cNvPr id="31" name="object 31"/>
          <p:cNvSpPr/>
          <p:nvPr/>
        </p:nvSpPr>
        <p:spPr>
          <a:xfrm>
            <a:off x="1146258" y="9947037"/>
            <a:ext cx="3858895" cy="0"/>
          </a:xfrm>
          <a:custGeom>
            <a:avLst/>
            <a:gdLst/>
            <a:ahLst/>
            <a:cxnLst/>
            <a:rect l="l" t="t" r="r" b="b"/>
            <a:pathLst>
              <a:path w="3858895">
                <a:moveTo>
                  <a:pt x="0" y="0"/>
                </a:moveTo>
                <a:lnTo>
                  <a:pt x="3858564" y="0"/>
                </a:lnTo>
              </a:path>
            </a:pathLst>
          </a:custGeom>
          <a:ln w="31412">
            <a:solidFill>
              <a:srgbClr val="D9D9D9"/>
            </a:solidFill>
          </a:ln>
        </p:spPr>
        <p:txBody>
          <a:bodyPr wrap="square" lIns="0" tIns="0" rIns="0" bIns="0" rtlCol="0"/>
          <a:lstStyle/>
          <a:p>
            <a:endParaRPr/>
          </a:p>
        </p:txBody>
      </p:sp>
      <p:grpSp>
        <p:nvGrpSpPr>
          <p:cNvPr id="32" name="object 32"/>
          <p:cNvGrpSpPr/>
          <p:nvPr/>
        </p:nvGrpSpPr>
        <p:grpSpPr>
          <a:xfrm>
            <a:off x="9979172" y="4799853"/>
            <a:ext cx="8980988" cy="954944"/>
            <a:chOff x="9979172" y="4799853"/>
            <a:chExt cx="8980988" cy="954944"/>
          </a:xfrm>
        </p:grpSpPr>
        <p:sp>
          <p:nvSpPr>
            <p:cNvPr id="33" name="object 33"/>
            <p:cNvSpPr/>
            <p:nvPr/>
          </p:nvSpPr>
          <p:spPr>
            <a:xfrm>
              <a:off x="14161621" y="5249268"/>
              <a:ext cx="4798539" cy="27901"/>
            </a:xfrm>
            <a:custGeom>
              <a:avLst/>
              <a:gdLst/>
              <a:ahLst/>
              <a:cxnLst/>
              <a:rect l="l" t="t" r="r" b="b"/>
              <a:pathLst>
                <a:path w="5105400">
                  <a:moveTo>
                    <a:pt x="0" y="0"/>
                  </a:moveTo>
                  <a:lnTo>
                    <a:pt x="5105177" y="0"/>
                  </a:lnTo>
                </a:path>
              </a:pathLst>
            </a:custGeom>
            <a:ln w="10470">
              <a:solidFill>
                <a:srgbClr val="D1D1D1"/>
              </a:solidFill>
            </a:ln>
          </p:spPr>
          <p:txBody>
            <a:bodyPr wrap="square" lIns="0" tIns="0" rIns="0" bIns="0" rtlCol="0"/>
            <a:lstStyle/>
            <a:p>
              <a:endParaRPr/>
            </a:p>
          </p:txBody>
        </p:sp>
        <p:pic>
          <p:nvPicPr>
            <p:cNvPr id="34" name="object 34"/>
            <p:cNvPicPr/>
            <p:nvPr/>
          </p:nvPicPr>
          <p:blipFill>
            <a:blip r:embed="rId9" cstate="print"/>
            <a:stretch>
              <a:fillRect/>
            </a:stretch>
          </p:blipFill>
          <p:spPr>
            <a:xfrm>
              <a:off x="9979172" y="4799853"/>
              <a:ext cx="3980611" cy="954944"/>
            </a:xfrm>
            <a:prstGeom prst="rect">
              <a:avLst/>
            </a:prstGeom>
          </p:spPr>
        </p:pic>
        <p:pic>
          <p:nvPicPr>
            <p:cNvPr id="35" name="object 35"/>
            <p:cNvPicPr/>
            <p:nvPr/>
          </p:nvPicPr>
          <p:blipFill>
            <a:blip r:embed="rId10" cstate="print"/>
            <a:stretch>
              <a:fillRect/>
            </a:stretch>
          </p:blipFill>
          <p:spPr>
            <a:xfrm>
              <a:off x="10075420" y="4858898"/>
              <a:ext cx="4125386" cy="836855"/>
            </a:xfrm>
            <a:prstGeom prst="rect">
              <a:avLst/>
            </a:prstGeom>
          </p:spPr>
        </p:pic>
      </p:grpSp>
      <p:sp>
        <p:nvSpPr>
          <p:cNvPr id="36" name="object 36"/>
          <p:cNvSpPr txBox="1"/>
          <p:nvPr/>
        </p:nvSpPr>
        <p:spPr>
          <a:xfrm>
            <a:off x="10329571" y="5042644"/>
            <a:ext cx="3263900" cy="427990"/>
          </a:xfrm>
          <a:prstGeom prst="rect">
            <a:avLst/>
          </a:prstGeom>
        </p:spPr>
        <p:txBody>
          <a:bodyPr vert="horz" wrap="square" lIns="0" tIns="17145" rIns="0" bIns="0" rtlCol="0">
            <a:spAutoFit/>
          </a:bodyPr>
          <a:lstStyle/>
          <a:p>
            <a:pPr marL="12700">
              <a:lnSpc>
                <a:spcPct val="100000"/>
              </a:lnSpc>
              <a:spcBef>
                <a:spcPts val="135"/>
              </a:spcBef>
            </a:pPr>
            <a:r>
              <a:rPr sz="2600">
                <a:solidFill>
                  <a:srgbClr val="FFFFFF"/>
                </a:solidFill>
                <a:latin typeface="Microsoft Sans Serif"/>
                <a:cs typeface="Microsoft Sans Serif"/>
              </a:rPr>
              <a:t>Key</a:t>
            </a:r>
            <a:r>
              <a:rPr sz="2600" spc="-125">
                <a:solidFill>
                  <a:srgbClr val="FFFFFF"/>
                </a:solidFill>
                <a:latin typeface="Microsoft Sans Serif"/>
                <a:cs typeface="Microsoft Sans Serif"/>
              </a:rPr>
              <a:t> </a:t>
            </a:r>
            <a:r>
              <a:rPr sz="2600" spc="-45">
                <a:solidFill>
                  <a:srgbClr val="FFFFFF"/>
                </a:solidFill>
                <a:latin typeface="Microsoft Sans Serif"/>
                <a:cs typeface="Microsoft Sans Serif"/>
              </a:rPr>
              <a:t>Group</a:t>
            </a:r>
            <a:r>
              <a:rPr sz="2600" spc="-125">
                <a:solidFill>
                  <a:srgbClr val="FFFFFF"/>
                </a:solidFill>
                <a:latin typeface="Microsoft Sans Serif"/>
                <a:cs typeface="Microsoft Sans Serif"/>
              </a:rPr>
              <a:t> </a:t>
            </a:r>
            <a:r>
              <a:rPr sz="2600" spc="-35">
                <a:solidFill>
                  <a:srgbClr val="FFFFFF"/>
                </a:solidFill>
                <a:latin typeface="Microsoft Sans Serif"/>
                <a:cs typeface="Microsoft Sans Serif"/>
              </a:rPr>
              <a:t>Companies</a:t>
            </a:r>
            <a:endParaRPr sz="2600">
              <a:latin typeface="Microsoft Sans Serif"/>
              <a:cs typeface="Microsoft Sans Serif"/>
            </a:endParaRPr>
          </a:p>
        </p:txBody>
      </p:sp>
      <p:grpSp>
        <p:nvGrpSpPr>
          <p:cNvPr id="37" name="object 37"/>
          <p:cNvGrpSpPr/>
          <p:nvPr/>
        </p:nvGrpSpPr>
        <p:grpSpPr>
          <a:xfrm>
            <a:off x="10082865" y="5999817"/>
            <a:ext cx="1203325" cy="252729"/>
            <a:chOff x="10082865" y="5999817"/>
            <a:chExt cx="1203325" cy="252729"/>
          </a:xfrm>
        </p:grpSpPr>
        <p:sp>
          <p:nvSpPr>
            <p:cNvPr id="38" name="object 38"/>
            <p:cNvSpPr/>
            <p:nvPr/>
          </p:nvSpPr>
          <p:spPr>
            <a:xfrm>
              <a:off x="10090719" y="6007670"/>
              <a:ext cx="1187450" cy="236854"/>
            </a:xfrm>
            <a:custGeom>
              <a:avLst/>
              <a:gdLst/>
              <a:ahLst/>
              <a:cxnLst/>
              <a:rect l="l" t="t" r="r" b="b"/>
              <a:pathLst>
                <a:path w="1187450" h="236854">
                  <a:moveTo>
                    <a:pt x="1068941" y="0"/>
                  </a:moveTo>
                  <a:lnTo>
                    <a:pt x="118310" y="0"/>
                  </a:lnTo>
                  <a:lnTo>
                    <a:pt x="72259" y="9297"/>
                  </a:lnTo>
                  <a:lnTo>
                    <a:pt x="34653" y="34653"/>
                  </a:lnTo>
                  <a:lnTo>
                    <a:pt x="9297" y="72259"/>
                  </a:lnTo>
                  <a:lnTo>
                    <a:pt x="0" y="118310"/>
                  </a:lnTo>
                  <a:lnTo>
                    <a:pt x="9297" y="164365"/>
                  </a:lnTo>
                  <a:lnTo>
                    <a:pt x="34653" y="201971"/>
                  </a:lnTo>
                  <a:lnTo>
                    <a:pt x="72259" y="227324"/>
                  </a:lnTo>
                  <a:lnTo>
                    <a:pt x="118310" y="236621"/>
                  </a:lnTo>
                  <a:lnTo>
                    <a:pt x="1068941" y="236621"/>
                  </a:lnTo>
                  <a:lnTo>
                    <a:pt x="1114993" y="227324"/>
                  </a:lnTo>
                  <a:lnTo>
                    <a:pt x="1152603" y="201971"/>
                  </a:lnTo>
                  <a:lnTo>
                    <a:pt x="1177962" y="164365"/>
                  </a:lnTo>
                  <a:lnTo>
                    <a:pt x="1187262" y="118310"/>
                  </a:lnTo>
                  <a:lnTo>
                    <a:pt x="1177962" y="72259"/>
                  </a:lnTo>
                  <a:lnTo>
                    <a:pt x="1152603" y="34653"/>
                  </a:lnTo>
                  <a:lnTo>
                    <a:pt x="1114993" y="9297"/>
                  </a:lnTo>
                  <a:lnTo>
                    <a:pt x="1068941" y="0"/>
                  </a:lnTo>
                  <a:close/>
                </a:path>
              </a:pathLst>
            </a:custGeom>
            <a:solidFill>
              <a:srgbClr val="C2E3FC"/>
            </a:solidFill>
          </p:spPr>
          <p:txBody>
            <a:bodyPr wrap="square" lIns="0" tIns="0" rIns="0" bIns="0" rtlCol="0"/>
            <a:lstStyle/>
            <a:p>
              <a:endParaRPr/>
            </a:p>
          </p:txBody>
        </p:sp>
        <p:sp>
          <p:nvSpPr>
            <p:cNvPr id="39" name="object 39"/>
            <p:cNvSpPr/>
            <p:nvPr/>
          </p:nvSpPr>
          <p:spPr>
            <a:xfrm>
              <a:off x="10090719" y="6007670"/>
              <a:ext cx="1187450" cy="236854"/>
            </a:xfrm>
            <a:custGeom>
              <a:avLst/>
              <a:gdLst/>
              <a:ahLst/>
              <a:cxnLst/>
              <a:rect l="l" t="t" r="r" b="b"/>
              <a:pathLst>
                <a:path w="1187450" h="236854">
                  <a:moveTo>
                    <a:pt x="0" y="118311"/>
                  </a:moveTo>
                  <a:lnTo>
                    <a:pt x="9297" y="72259"/>
                  </a:lnTo>
                  <a:lnTo>
                    <a:pt x="34652" y="34652"/>
                  </a:lnTo>
                  <a:lnTo>
                    <a:pt x="72259" y="9297"/>
                  </a:lnTo>
                  <a:lnTo>
                    <a:pt x="118311" y="0"/>
                  </a:lnTo>
                  <a:lnTo>
                    <a:pt x="1068939" y="0"/>
                  </a:lnTo>
                  <a:lnTo>
                    <a:pt x="1114991" y="9297"/>
                  </a:lnTo>
                  <a:lnTo>
                    <a:pt x="1152598" y="34652"/>
                  </a:lnTo>
                  <a:lnTo>
                    <a:pt x="1177953" y="72259"/>
                  </a:lnTo>
                  <a:lnTo>
                    <a:pt x="1187250" y="118311"/>
                  </a:lnTo>
                  <a:lnTo>
                    <a:pt x="1177953" y="164363"/>
                  </a:lnTo>
                  <a:lnTo>
                    <a:pt x="1152598" y="201969"/>
                  </a:lnTo>
                  <a:lnTo>
                    <a:pt x="1114991" y="227324"/>
                  </a:lnTo>
                  <a:lnTo>
                    <a:pt x="1068939" y="236622"/>
                  </a:lnTo>
                  <a:lnTo>
                    <a:pt x="118311" y="236622"/>
                  </a:lnTo>
                  <a:lnTo>
                    <a:pt x="72259"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40" name="object 40"/>
          <p:cNvSpPr txBox="1"/>
          <p:nvPr/>
        </p:nvSpPr>
        <p:spPr>
          <a:xfrm>
            <a:off x="10153336" y="6006802"/>
            <a:ext cx="1061720" cy="226695"/>
          </a:xfrm>
          <a:prstGeom prst="rect">
            <a:avLst/>
          </a:prstGeom>
        </p:spPr>
        <p:txBody>
          <a:bodyPr vert="horz" wrap="square" lIns="0" tIns="15240" rIns="0" bIns="0" rtlCol="0">
            <a:spAutoFit/>
          </a:bodyPr>
          <a:lstStyle/>
          <a:p>
            <a:pPr marL="12700">
              <a:lnSpc>
                <a:spcPct val="100000"/>
              </a:lnSpc>
              <a:spcBef>
                <a:spcPts val="120"/>
              </a:spcBef>
            </a:pPr>
            <a:r>
              <a:rPr sz="1300" spc="-95">
                <a:solidFill>
                  <a:srgbClr val="262626"/>
                </a:solidFill>
                <a:latin typeface="Microsoft Sans Serif"/>
                <a:cs typeface="Microsoft Sans Serif"/>
              </a:rPr>
              <a:t>TECHNOLOGY</a:t>
            </a:r>
            <a:endParaRPr sz="1300">
              <a:latin typeface="Microsoft Sans Serif"/>
              <a:cs typeface="Microsoft Sans Serif"/>
            </a:endParaRPr>
          </a:p>
        </p:txBody>
      </p:sp>
      <p:pic>
        <p:nvPicPr>
          <p:cNvPr id="41" name="object 41"/>
          <p:cNvPicPr/>
          <p:nvPr/>
        </p:nvPicPr>
        <p:blipFill>
          <a:blip r:embed="rId11" cstate="print"/>
          <a:stretch>
            <a:fillRect/>
          </a:stretch>
        </p:blipFill>
        <p:spPr>
          <a:xfrm>
            <a:off x="10024406" y="6460955"/>
            <a:ext cx="869502" cy="376951"/>
          </a:xfrm>
          <a:prstGeom prst="rect">
            <a:avLst/>
          </a:prstGeom>
        </p:spPr>
      </p:pic>
      <p:pic>
        <p:nvPicPr>
          <p:cNvPr id="42" name="object 42"/>
          <p:cNvPicPr/>
          <p:nvPr/>
        </p:nvPicPr>
        <p:blipFill>
          <a:blip r:embed="rId12" cstate="print"/>
          <a:stretch>
            <a:fillRect/>
          </a:stretch>
        </p:blipFill>
        <p:spPr>
          <a:xfrm>
            <a:off x="10969299" y="6646343"/>
            <a:ext cx="761522" cy="133764"/>
          </a:xfrm>
          <a:prstGeom prst="rect">
            <a:avLst/>
          </a:prstGeom>
        </p:spPr>
      </p:pic>
      <p:pic>
        <p:nvPicPr>
          <p:cNvPr id="43" name="object 43"/>
          <p:cNvPicPr/>
          <p:nvPr/>
        </p:nvPicPr>
        <p:blipFill>
          <a:blip r:embed="rId13" cstate="print"/>
          <a:stretch>
            <a:fillRect/>
          </a:stretch>
        </p:blipFill>
        <p:spPr>
          <a:xfrm>
            <a:off x="11871470" y="6621788"/>
            <a:ext cx="959970" cy="155806"/>
          </a:xfrm>
          <a:prstGeom prst="rect">
            <a:avLst/>
          </a:prstGeom>
        </p:spPr>
      </p:pic>
      <p:pic>
        <p:nvPicPr>
          <p:cNvPr id="44" name="object 44"/>
          <p:cNvPicPr/>
          <p:nvPr/>
        </p:nvPicPr>
        <p:blipFill>
          <a:blip r:embed="rId14" cstate="print"/>
          <a:stretch>
            <a:fillRect/>
          </a:stretch>
        </p:blipFill>
        <p:spPr>
          <a:xfrm>
            <a:off x="10024406" y="6898219"/>
            <a:ext cx="1432417" cy="168371"/>
          </a:xfrm>
          <a:prstGeom prst="rect">
            <a:avLst/>
          </a:prstGeom>
        </p:spPr>
      </p:pic>
      <p:pic>
        <p:nvPicPr>
          <p:cNvPr id="45" name="object 45"/>
          <p:cNvPicPr/>
          <p:nvPr/>
        </p:nvPicPr>
        <p:blipFill>
          <a:blip r:embed="rId15" cstate="print"/>
          <a:stretch>
            <a:fillRect/>
          </a:stretch>
        </p:blipFill>
        <p:spPr>
          <a:xfrm>
            <a:off x="11539753" y="6908271"/>
            <a:ext cx="1274097" cy="160832"/>
          </a:xfrm>
          <a:prstGeom prst="rect">
            <a:avLst/>
          </a:prstGeom>
        </p:spPr>
      </p:pic>
      <p:sp>
        <p:nvSpPr>
          <p:cNvPr id="46" name="object 46"/>
          <p:cNvSpPr/>
          <p:nvPr/>
        </p:nvSpPr>
        <p:spPr>
          <a:xfrm>
            <a:off x="13018137" y="6007670"/>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47" name="object 47"/>
          <p:cNvGrpSpPr/>
          <p:nvPr/>
        </p:nvGrpSpPr>
        <p:grpSpPr>
          <a:xfrm>
            <a:off x="13283155" y="5999817"/>
            <a:ext cx="1024890" cy="252729"/>
            <a:chOff x="13283155" y="5999817"/>
            <a:chExt cx="1024890" cy="252729"/>
          </a:xfrm>
        </p:grpSpPr>
        <p:sp>
          <p:nvSpPr>
            <p:cNvPr id="48" name="object 48"/>
            <p:cNvSpPr/>
            <p:nvPr/>
          </p:nvSpPr>
          <p:spPr>
            <a:xfrm>
              <a:off x="13291008" y="6007670"/>
              <a:ext cx="1009650" cy="236854"/>
            </a:xfrm>
            <a:custGeom>
              <a:avLst/>
              <a:gdLst/>
              <a:ahLst/>
              <a:cxnLst/>
              <a:rect l="l" t="t" r="r" b="b"/>
              <a:pathLst>
                <a:path w="1009650" h="236854">
                  <a:moveTo>
                    <a:pt x="890758" y="0"/>
                  </a:moveTo>
                  <a:lnTo>
                    <a:pt x="118216" y="0"/>
                  </a:lnTo>
                  <a:lnTo>
                    <a:pt x="72180" y="9297"/>
                  </a:lnTo>
                  <a:lnTo>
                    <a:pt x="34606" y="34653"/>
                  </a:lnTo>
                  <a:lnTo>
                    <a:pt x="9283" y="72259"/>
                  </a:lnTo>
                  <a:lnTo>
                    <a:pt x="0" y="118310"/>
                  </a:lnTo>
                  <a:lnTo>
                    <a:pt x="9283" y="164365"/>
                  </a:lnTo>
                  <a:lnTo>
                    <a:pt x="34606" y="201971"/>
                  </a:lnTo>
                  <a:lnTo>
                    <a:pt x="72180" y="227324"/>
                  </a:lnTo>
                  <a:lnTo>
                    <a:pt x="118216" y="236621"/>
                  </a:lnTo>
                  <a:lnTo>
                    <a:pt x="890758" y="236621"/>
                  </a:lnTo>
                  <a:lnTo>
                    <a:pt x="936810" y="227324"/>
                  </a:lnTo>
                  <a:lnTo>
                    <a:pt x="974420" y="201971"/>
                  </a:lnTo>
                  <a:lnTo>
                    <a:pt x="999779" y="164365"/>
                  </a:lnTo>
                  <a:lnTo>
                    <a:pt x="1009079" y="118310"/>
                  </a:lnTo>
                  <a:lnTo>
                    <a:pt x="999779" y="72259"/>
                  </a:lnTo>
                  <a:lnTo>
                    <a:pt x="974420" y="34653"/>
                  </a:lnTo>
                  <a:lnTo>
                    <a:pt x="936810" y="9297"/>
                  </a:lnTo>
                  <a:lnTo>
                    <a:pt x="890758" y="0"/>
                  </a:lnTo>
                  <a:close/>
                </a:path>
              </a:pathLst>
            </a:custGeom>
            <a:solidFill>
              <a:srgbClr val="C2E3FC"/>
            </a:solidFill>
          </p:spPr>
          <p:txBody>
            <a:bodyPr wrap="square" lIns="0" tIns="0" rIns="0" bIns="0" rtlCol="0"/>
            <a:lstStyle/>
            <a:p>
              <a:endParaRPr/>
            </a:p>
          </p:txBody>
        </p:sp>
        <p:sp>
          <p:nvSpPr>
            <p:cNvPr id="49" name="object 49"/>
            <p:cNvSpPr/>
            <p:nvPr/>
          </p:nvSpPr>
          <p:spPr>
            <a:xfrm>
              <a:off x="13291008" y="6007670"/>
              <a:ext cx="1009650" cy="236854"/>
            </a:xfrm>
            <a:custGeom>
              <a:avLst/>
              <a:gdLst/>
              <a:ahLst/>
              <a:cxnLst/>
              <a:rect l="l" t="t" r="r" b="b"/>
              <a:pathLst>
                <a:path w="1009650" h="236854">
                  <a:moveTo>
                    <a:pt x="0" y="118311"/>
                  </a:moveTo>
                  <a:lnTo>
                    <a:pt x="9297" y="72259"/>
                  </a:lnTo>
                  <a:lnTo>
                    <a:pt x="34652" y="34652"/>
                  </a:lnTo>
                  <a:lnTo>
                    <a:pt x="72258" y="9297"/>
                  </a:lnTo>
                  <a:lnTo>
                    <a:pt x="118310" y="0"/>
                  </a:lnTo>
                  <a:lnTo>
                    <a:pt x="890852" y="0"/>
                  </a:lnTo>
                  <a:lnTo>
                    <a:pt x="936904" y="9297"/>
                  </a:lnTo>
                  <a:lnTo>
                    <a:pt x="974510" y="34652"/>
                  </a:lnTo>
                  <a:lnTo>
                    <a:pt x="999865" y="72259"/>
                  </a:lnTo>
                  <a:lnTo>
                    <a:pt x="1009163" y="118311"/>
                  </a:lnTo>
                  <a:lnTo>
                    <a:pt x="999865" y="164363"/>
                  </a:lnTo>
                  <a:lnTo>
                    <a:pt x="974510" y="201969"/>
                  </a:lnTo>
                  <a:lnTo>
                    <a:pt x="936904" y="227324"/>
                  </a:lnTo>
                  <a:lnTo>
                    <a:pt x="890852" y="236622"/>
                  </a:lnTo>
                  <a:lnTo>
                    <a:pt x="118310" y="236622"/>
                  </a:lnTo>
                  <a:lnTo>
                    <a:pt x="72258"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50" name="object 50"/>
          <p:cNvSpPr txBox="1"/>
          <p:nvPr/>
        </p:nvSpPr>
        <p:spPr>
          <a:xfrm>
            <a:off x="13343019" y="6006802"/>
            <a:ext cx="90487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262626"/>
                </a:solidFill>
                <a:latin typeface="Microsoft Sans Serif"/>
                <a:cs typeface="Microsoft Sans Serif"/>
              </a:rPr>
              <a:t>MATERIALS</a:t>
            </a:r>
            <a:endParaRPr sz="1300">
              <a:latin typeface="Microsoft Sans Serif"/>
              <a:cs typeface="Microsoft Sans Serif"/>
            </a:endParaRPr>
          </a:p>
        </p:txBody>
      </p:sp>
      <p:pic>
        <p:nvPicPr>
          <p:cNvPr id="51" name="object 51"/>
          <p:cNvPicPr/>
          <p:nvPr/>
        </p:nvPicPr>
        <p:blipFill>
          <a:blip r:embed="rId16" cstate="print"/>
          <a:stretch>
            <a:fillRect/>
          </a:stretch>
        </p:blipFill>
        <p:spPr>
          <a:xfrm>
            <a:off x="13293819" y="6641892"/>
            <a:ext cx="766501" cy="105546"/>
          </a:xfrm>
          <a:prstGeom prst="rect">
            <a:avLst/>
          </a:prstGeom>
        </p:spPr>
      </p:pic>
      <p:sp>
        <p:nvSpPr>
          <p:cNvPr id="52" name="object 52"/>
          <p:cNvSpPr/>
          <p:nvPr/>
        </p:nvSpPr>
        <p:spPr>
          <a:xfrm>
            <a:off x="14596727" y="6007670"/>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53" name="object 53"/>
          <p:cNvGrpSpPr/>
          <p:nvPr/>
        </p:nvGrpSpPr>
        <p:grpSpPr>
          <a:xfrm>
            <a:off x="14861641" y="5999817"/>
            <a:ext cx="1173480" cy="252729"/>
            <a:chOff x="14861641" y="5999817"/>
            <a:chExt cx="1173480" cy="252729"/>
          </a:xfrm>
        </p:grpSpPr>
        <p:sp>
          <p:nvSpPr>
            <p:cNvPr id="54" name="object 54"/>
            <p:cNvSpPr/>
            <p:nvPr/>
          </p:nvSpPr>
          <p:spPr>
            <a:xfrm>
              <a:off x="14869494" y="6007670"/>
              <a:ext cx="1157605" cy="236854"/>
            </a:xfrm>
            <a:custGeom>
              <a:avLst/>
              <a:gdLst/>
              <a:ahLst/>
              <a:cxnLst/>
              <a:rect l="l" t="t" r="r" b="b"/>
              <a:pathLst>
                <a:path w="1157605" h="236854">
                  <a:moveTo>
                    <a:pt x="1039235" y="0"/>
                  </a:moveTo>
                  <a:lnTo>
                    <a:pt x="118321" y="0"/>
                  </a:lnTo>
                  <a:lnTo>
                    <a:pt x="72268" y="9297"/>
                  </a:lnTo>
                  <a:lnTo>
                    <a:pt x="34658" y="34653"/>
                  </a:lnTo>
                  <a:lnTo>
                    <a:pt x="9299" y="72259"/>
                  </a:lnTo>
                  <a:lnTo>
                    <a:pt x="0" y="118310"/>
                  </a:lnTo>
                  <a:lnTo>
                    <a:pt x="9299" y="164365"/>
                  </a:lnTo>
                  <a:lnTo>
                    <a:pt x="34658" y="201971"/>
                  </a:lnTo>
                  <a:lnTo>
                    <a:pt x="72268" y="227324"/>
                  </a:lnTo>
                  <a:lnTo>
                    <a:pt x="118321" y="236621"/>
                  </a:lnTo>
                  <a:lnTo>
                    <a:pt x="1039235" y="236621"/>
                  </a:lnTo>
                  <a:lnTo>
                    <a:pt x="1085287" y="227324"/>
                  </a:lnTo>
                  <a:lnTo>
                    <a:pt x="1122897" y="201971"/>
                  </a:lnTo>
                  <a:lnTo>
                    <a:pt x="1148256" y="164365"/>
                  </a:lnTo>
                  <a:lnTo>
                    <a:pt x="1157556" y="118310"/>
                  </a:lnTo>
                  <a:lnTo>
                    <a:pt x="1148256" y="72259"/>
                  </a:lnTo>
                  <a:lnTo>
                    <a:pt x="1122897" y="34653"/>
                  </a:lnTo>
                  <a:lnTo>
                    <a:pt x="1085287" y="9297"/>
                  </a:lnTo>
                  <a:lnTo>
                    <a:pt x="1039235" y="0"/>
                  </a:lnTo>
                  <a:close/>
                </a:path>
              </a:pathLst>
            </a:custGeom>
            <a:solidFill>
              <a:srgbClr val="C2E3FC"/>
            </a:solidFill>
          </p:spPr>
          <p:txBody>
            <a:bodyPr wrap="square" lIns="0" tIns="0" rIns="0" bIns="0" rtlCol="0"/>
            <a:lstStyle/>
            <a:p>
              <a:endParaRPr/>
            </a:p>
          </p:txBody>
        </p:sp>
        <p:sp>
          <p:nvSpPr>
            <p:cNvPr id="55" name="object 55"/>
            <p:cNvSpPr/>
            <p:nvPr/>
          </p:nvSpPr>
          <p:spPr>
            <a:xfrm>
              <a:off x="14869494" y="6007670"/>
              <a:ext cx="1157605" cy="236854"/>
            </a:xfrm>
            <a:custGeom>
              <a:avLst/>
              <a:gdLst/>
              <a:ahLst/>
              <a:cxnLst/>
              <a:rect l="l" t="t" r="r" b="b"/>
              <a:pathLst>
                <a:path w="1157605" h="236854">
                  <a:moveTo>
                    <a:pt x="0" y="118311"/>
                  </a:moveTo>
                  <a:lnTo>
                    <a:pt x="9297" y="72259"/>
                  </a:lnTo>
                  <a:lnTo>
                    <a:pt x="34652" y="34652"/>
                  </a:lnTo>
                  <a:lnTo>
                    <a:pt x="72259" y="9297"/>
                  </a:lnTo>
                  <a:lnTo>
                    <a:pt x="118311" y="0"/>
                  </a:lnTo>
                  <a:lnTo>
                    <a:pt x="1039258" y="0"/>
                  </a:lnTo>
                  <a:lnTo>
                    <a:pt x="1085311" y="9297"/>
                  </a:lnTo>
                  <a:lnTo>
                    <a:pt x="1122918" y="34652"/>
                  </a:lnTo>
                  <a:lnTo>
                    <a:pt x="1148273" y="72259"/>
                  </a:lnTo>
                  <a:lnTo>
                    <a:pt x="1157570" y="118311"/>
                  </a:lnTo>
                  <a:lnTo>
                    <a:pt x="1148271" y="164364"/>
                  </a:lnTo>
                  <a:lnTo>
                    <a:pt x="1122916" y="201971"/>
                  </a:lnTo>
                  <a:lnTo>
                    <a:pt x="1085309" y="227326"/>
                  </a:lnTo>
                  <a:lnTo>
                    <a:pt x="1039257" y="236623"/>
                  </a:lnTo>
                  <a:lnTo>
                    <a:pt x="118311" y="236622"/>
                  </a:lnTo>
                  <a:lnTo>
                    <a:pt x="72259" y="227324"/>
                  </a:lnTo>
                  <a:lnTo>
                    <a:pt x="34652" y="201969"/>
                  </a:lnTo>
                  <a:lnTo>
                    <a:pt x="9297" y="164362"/>
                  </a:lnTo>
                  <a:lnTo>
                    <a:pt x="0" y="118310"/>
                  </a:lnTo>
                  <a:close/>
                </a:path>
              </a:pathLst>
            </a:custGeom>
            <a:ln w="15706">
              <a:solidFill>
                <a:srgbClr val="C2E3FC"/>
              </a:solidFill>
            </a:ln>
          </p:spPr>
          <p:txBody>
            <a:bodyPr wrap="square" lIns="0" tIns="0" rIns="0" bIns="0" rtlCol="0"/>
            <a:lstStyle/>
            <a:p>
              <a:endParaRPr/>
            </a:p>
          </p:txBody>
        </p:sp>
      </p:grpSp>
      <p:sp>
        <p:nvSpPr>
          <p:cNvPr id="56" name="object 56"/>
          <p:cNvSpPr txBox="1"/>
          <p:nvPr/>
        </p:nvSpPr>
        <p:spPr>
          <a:xfrm>
            <a:off x="14924436" y="6006802"/>
            <a:ext cx="1047750"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262626"/>
                </a:solidFill>
                <a:latin typeface="Microsoft Sans Serif"/>
                <a:cs typeface="Microsoft Sans Serif"/>
              </a:rPr>
              <a:t>AUTOMOTIVE</a:t>
            </a:r>
            <a:endParaRPr sz="1300">
              <a:latin typeface="Microsoft Sans Serif"/>
              <a:cs typeface="Microsoft Sans Serif"/>
            </a:endParaRPr>
          </a:p>
        </p:txBody>
      </p:sp>
      <p:pic>
        <p:nvPicPr>
          <p:cNvPr id="57" name="object 57"/>
          <p:cNvPicPr/>
          <p:nvPr/>
        </p:nvPicPr>
        <p:blipFill>
          <a:blip r:embed="rId17" cstate="print"/>
          <a:stretch>
            <a:fillRect/>
          </a:stretch>
        </p:blipFill>
        <p:spPr>
          <a:xfrm>
            <a:off x="14864469" y="6646918"/>
            <a:ext cx="922289" cy="115598"/>
          </a:xfrm>
          <a:prstGeom prst="rect">
            <a:avLst/>
          </a:prstGeom>
        </p:spPr>
      </p:pic>
      <p:pic>
        <p:nvPicPr>
          <p:cNvPr id="58" name="object 58"/>
          <p:cNvPicPr/>
          <p:nvPr/>
        </p:nvPicPr>
        <p:blipFill>
          <a:blip r:embed="rId18" cstate="print"/>
          <a:stretch>
            <a:fillRect/>
          </a:stretch>
        </p:blipFill>
        <p:spPr>
          <a:xfrm>
            <a:off x="16002863" y="6591631"/>
            <a:ext cx="241249" cy="228684"/>
          </a:xfrm>
          <a:prstGeom prst="rect">
            <a:avLst/>
          </a:prstGeom>
        </p:spPr>
      </p:pic>
      <p:pic>
        <p:nvPicPr>
          <p:cNvPr id="59" name="object 59"/>
          <p:cNvPicPr/>
          <p:nvPr/>
        </p:nvPicPr>
        <p:blipFill>
          <a:blip r:embed="rId19" cstate="print"/>
          <a:stretch>
            <a:fillRect/>
          </a:stretch>
        </p:blipFill>
        <p:spPr>
          <a:xfrm>
            <a:off x="14824261" y="6905758"/>
            <a:ext cx="1769160" cy="138215"/>
          </a:xfrm>
          <a:prstGeom prst="rect">
            <a:avLst/>
          </a:prstGeom>
        </p:spPr>
      </p:pic>
      <p:grpSp>
        <p:nvGrpSpPr>
          <p:cNvPr id="60" name="object 60"/>
          <p:cNvGrpSpPr/>
          <p:nvPr/>
        </p:nvGrpSpPr>
        <p:grpSpPr>
          <a:xfrm>
            <a:off x="10082865" y="7468003"/>
            <a:ext cx="2004695" cy="252729"/>
            <a:chOff x="10082865" y="7468003"/>
            <a:chExt cx="2004695" cy="252729"/>
          </a:xfrm>
        </p:grpSpPr>
        <p:sp>
          <p:nvSpPr>
            <p:cNvPr id="61" name="object 61"/>
            <p:cNvSpPr/>
            <p:nvPr/>
          </p:nvSpPr>
          <p:spPr>
            <a:xfrm>
              <a:off x="10090719" y="7475856"/>
              <a:ext cx="1988820" cy="236854"/>
            </a:xfrm>
            <a:custGeom>
              <a:avLst/>
              <a:gdLst/>
              <a:ahLst/>
              <a:cxnLst/>
              <a:rect l="l" t="t" r="r" b="b"/>
              <a:pathLst>
                <a:path w="1988820" h="236854">
                  <a:moveTo>
                    <a:pt x="1870382" y="0"/>
                  </a:moveTo>
                  <a:lnTo>
                    <a:pt x="118310" y="0"/>
                  </a:lnTo>
                  <a:lnTo>
                    <a:pt x="72259" y="9297"/>
                  </a:lnTo>
                  <a:lnTo>
                    <a:pt x="34653" y="34653"/>
                  </a:lnTo>
                  <a:lnTo>
                    <a:pt x="9297" y="72259"/>
                  </a:lnTo>
                  <a:lnTo>
                    <a:pt x="0" y="118310"/>
                  </a:lnTo>
                  <a:lnTo>
                    <a:pt x="9297" y="164361"/>
                  </a:lnTo>
                  <a:lnTo>
                    <a:pt x="34653" y="201967"/>
                  </a:lnTo>
                  <a:lnTo>
                    <a:pt x="72259" y="227323"/>
                  </a:lnTo>
                  <a:lnTo>
                    <a:pt x="118310" y="236621"/>
                  </a:lnTo>
                  <a:lnTo>
                    <a:pt x="1870382" y="236621"/>
                  </a:lnTo>
                  <a:lnTo>
                    <a:pt x="1916418" y="227323"/>
                  </a:lnTo>
                  <a:lnTo>
                    <a:pt x="1953992" y="201967"/>
                  </a:lnTo>
                  <a:lnTo>
                    <a:pt x="1979316" y="164361"/>
                  </a:lnTo>
                  <a:lnTo>
                    <a:pt x="1988599" y="118310"/>
                  </a:lnTo>
                  <a:lnTo>
                    <a:pt x="1979316" y="72259"/>
                  </a:lnTo>
                  <a:lnTo>
                    <a:pt x="1953992" y="34653"/>
                  </a:lnTo>
                  <a:lnTo>
                    <a:pt x="1916418" y="9297"/>
                  </a:lnTo>
                  <a:lnTo>
                    <a:pt x="1870382" y="0"/>
                  </a:lnTo>
                  <a:close/>
                </a:path>
              </a:pathLst>
            </a:custGeom>
            <a:solidFill>
              <a:srgbClr val="C2E3FC"/>
            </a:solidFill>
          </p:spPr>
          <p:txBody>
            <a:bodyPr wrap="square" lIns="0" tIns="0" rIns="0" bIns="0" rtlCol="0"/>
            <a:lstStyle/>
            <a:p>
              <a:endParaRPr/>
            </a:p>
          </p:txBody>
        </p:sp>
        <p:sp>
          <p:nvSpPr>
            <p:cNvPr id="62" name="object 62"/>
            <p:cNvSpPr/>
            <p:nvPr/>
          </p:nvSpPr>
          <p:spPr>
            <a:xfrm>
              <a:off x="10090719" y="7475856"/>
              <a:ext cx="1988820" cy="236854"/>
            </a:xfrm>
            <a:custGeom>
              <a:avLst/>
              <a:gdLst/>
              <a:ahLst/>
              <a:cxnLst/>
              <a:rect l="l" t="t" r="r" b="b"/>
              <a:pathLst>
                <a:path w="1988820" h="236854">
                  <a:moveTo>
                    <a:pt x="0" y="118311"/>
                  </a:moveTo>
                  <a:lnTo>
                    <a:pt x="9297" y="72259"/>
                  </a:lnTo>
                  <a:lnTo>
                    <a:pt x="34652" y="34652"/>
                  </a:lnTo>
                  <a:lnTo>
                    <a:pt x="72259" y="9297"/>
                  </a:lnTo>
                  <a:lnTo>
                    <a:pt x="118311" y="0"/>
                  </a:lnTo>
                  <a:lnTo>
                    <a:pt x="1870335" y="0"/>
                  </a:lnTo>
                  <a:lnTo>
                    <a:pt x="1916387" y="9297"/>
                  </a:lnTo>
                  <a:lnTo>
                    <a:pt x="1953994" y="34652"/>
                  </a:lnTo>
                  <a:lnTo>
                    <a:pt x="1979349" y="72259"/>
                  </a:lnTo>
                  <a:lnTo>
                    <a:pt x="1988647" y="118311"/>
                  </a:lnTo>
                  <a:lnTo>
                    <a:pt x="1979347" y="164364"/>
                  </a:lnTo>
                  <a:lnTo>
                    <a:pt x="1953991" y="201971"/>
                  </a:lnTo>
                  <a:lnTo>
                    <a:pt x="1916385" y="227327"/>
                  </a:lnTo>
                  <a:lnTo>
                    <a:pt x="1870332" y="236624"/>
                  </a:lnTo>
                  <a:lnTo>
                    <a:pt x="118311" y="236622"/>
                  </a:lnTo>
                  <a:lnTo>
                    <a:pt x="72259" y="227324"/>
                  </a:lnTo>
                  <a:lnTo>
                    <a:pt x="34652" y="201969"/>
                  </a:lnTo>
                  <a:lnTo>
                    <a:pt x="9297" y="164362"/>
                  </a:lnTo>
                  <a:lnTo>
                    <a:pt x="0" y="118310"/>
                  </a:lnTo>
                  <a:close/>
                </a:path>
              </a:pathLst>
            </a:custGeom>
            <a:ln w="15706">
              <a:solidFill>
                <a:srgbClr val="C2E3FC"/>
              </a:solidFill>
            </a:ln>
          </p:spPr>
          <p:txBody>
            <a:bodyPr wrap="square" lIns="0" tIns="0" rIns="0" bIns="0" rtlCol="0"/>
            <a:lstStyle/>
            <a:p>
              <a:endParaRPr/>
            </a:p>
          </p:txBody>
        </p:sp>
      </p:grpSp>
      <p:sp>
        <p:nvSpPr>
          <p:cNvPr id="63" name="object 63"/>
          <p:cNvSpPr txBox="1"/>
          <p:nvPr/>
        </p:nvSpPr>
        <p:spPr>
          <a:xfrm>
            <a:off x="10156132" y="7474401"/>
            <a:ext cx="1858010" cy="226695"/>
          </a:xfrm>
          <a:prstGeom prst="rect">
            <a:avLst/>
          </a:prstGeom>
        </p:spPr>
        <p:txBody>
          <a:bodyPr vert="horz" wrap="square" lIns="0" tIns="15240" rIns="0" bIns="0" rtlCol="0">
            <a:spAutoFit/>
          </a:bodyPr>
          <a:lstStyle/>
          <a:p>
            <a:pPr marL="12700">
              <a:lnSpc>
                <a:spcPct val="100000"/>
              </a:lnSpc>
              <a:spcBef>
                <a:spcPts val="120"/>
              </a:spcBef>
            </a:pPr>
            <a:r>
              <a:rPr sz="1300" spc="-75">
                <a:solidFill>
                  <a:srgbClr val="262626"/>
                </a:solidFill>
                <a:latin typeface="Microsoft Sans Serif"/>
                <a:cs typeface="Microsoft Sans Serif"/>
              </a:rPr>
              <a:t>CONSUMER</a:t>
            </a:r>
            <a:r>
              <a:rPr sz="1300" spc="-35">
                <a:solidFill>
                  <a:srgbClr val="262626"/>
                </a:solidFill>
                <a:latin typeface="Microsoft Sans Serif"/>
                <a:cs typeface="Microsoft Sans Serif"/>
              </a:rPr>
              <a:t> </a:t>
            </a:r>
            <a:r>
              <a:rPr sz="1300" spc="-50">
                <a:solidFill>
                  <a:srgbClr val="262626"/>
                </a:solidFill>
                <a:latin typeface="Microsoft Sans Serif"/>
                <a:cs typeface="Microsoft Sans Serif"/>
              </a:rPr>
              <a:t>AND</a:t>
            </a:r>
            <a:r>
              <a:rPr sz="1300" spc="-35">
                <a:solidFill>
                  <a:srgbClr val="262626"/>
                </a:solidFill>
                <a:latin typeface="Microsoft Sans Serif"/>
                <a:cs typeface="Microsoft Sans Serif"/>
              </a:rPr>
              <a:t> </a:t>
            </a:r>
            <a:r>
              <a:rPr sz="1300" spc="-50">
                <a:solidFill>
                  <a:srgbClr val="262626"/>
                </a:solidFill>
                <a:latin typeface="Microsoft Sans Serif"/>
                <a:cs typeface="Microsoft Sans Serif"/>
              </a:rPr>
              <a:t>RETAIL</a:t>
            </a:r>
            <a:endParaRPr sz="1300">
              <a:latin typeface="Microsoft Sans Serif"/>
              <a:cs typeface="Microsoft Sans Serif"/>
            </a:endParaRPr>
          </a:p>
        </p:txBody>
      </p:sp>
      <p:pic>
        <p:nvPicPr>
          <p:cNvPr id="64" name="object 64"/>
          <p:cNvPicPr/>
          <p:nvPr/>
        </p:nvPicPr>
        <p:blipFill>
          <a:blip r:embed="rId20" cstate="print"/>
          <a:stretch>
            <a:fillRect/>
          </a:stretch>
        </p:blipFill>
        <p:spPr>
          <a:xfrm>
            <a:off x="10114875" y="8019022"/>
            <a:ext cx="1171063" cy="113085"/>
          </a:xfrm>
          <a:prstGeom prst="rect">
            <a:avLst/>
          </a:prstGeom>
        </p:spPr>
      </p:pic>
      <p:grpSp>
        <p:nvGrpSpPr>
          <p:cNvPr id="65" name="object 65"/>
          <p:cNvGrpSpPr/>
          <p:nvPr/>
        </p:nvGrpSpPr>
        <p:grpSpPr>
          <a:xfrm>
            <a:off x="11416615" y="7958710"/>
            <a:ext cx="1844675" cy="650875"/>
            <a:chOff x="11416615" y="7958710"/>
            <a:chExt cx="1844675" cy="650875"/>
          </a:xfrm>
        </p:grpSpPr>
        <p:pic>
          <p:nvPicPr>
            <p:cNvPr id="66" name="object 66"/>
            <p:cNvPicPr/>
            <p:nvPr/>
          </p:nvPicPr>
          <p:blipFill>
            <a:blip r:embed="rId21" cstate="print"/>
            <a:stretch>
              <a:fillRect/>
            </a:stretch>
          </p:blipFill>
          <p:spPr>
            <a:xfrm>
              <a:off x="11416615" y="7958710"/>
              <a:ext cx="1844551" cy="233710"/>
            </a:xfrm>
            <a:prstGeom prst="rect">
              <a:avLst/>
            </a:prstGeom>
          </p:spPr>
        </p:pic>
        <p:pic>
          <p:nvPicPr>
            <p:cNvPr id="67" name="object 67"/>
            <p:cNvPicPr/>
            <p:nvPr/>
          </p:nvPicPr>
          <p:blipFill>
            <a:blip r:embed="rId22" cstate="print"/>
            <a:stretch>
              <a:fillRect/>
            </a:stretch>
          </p:blipFill>
          <p:spPr>
            <a:xfrm>
              <a:off x="12464541" y="8199959"/>
              <a:ext cx="540297" cy="409621"/>
            </a:xfrm>
            <a:prstGeom prst="rect">
              <a:avLst/>
            </a:prstGeom>
          </p:spPr>
        </p:pic>
      </p:grpSp>
      <p:pic>
        <p:nvPicPr>
          <p:cNvPr id="68" name="object 68"/>
          <p:cNvPicPr/>
          <p:nvPr/>
        </p:nvPicPr>
        <p:blipFill>
          <a:blip r:embed="rId23" cstate="print"/>
          <a:stretch>
            <a:fillRect/>
          </a:stretch>
        </p:blipFill>
        <p:spPr>
          <a:xfrm>
            <a:off x="10114875" y="8315558"/>
            <a:ext cx="585531" cy="115598"/>
          </a:xfrm>
          <a:prstGeom prst="rect">
            <a:avLst/>
          </a:prstGeom>
        </p:spPr>
      </p:pic>
      <p:pic>
        <p:nvPicPr>
          <p:cNvPr id="69" name="object 69"/>
          <p:cNvPicPr/>
          <p:nvPr/>
        </p:nvPicPr>
        <p:blipFill>
          <a:blip r:embed="rId24" cstate="print"/>
          <a:stretch>
            <a:fillRect/>
          </a:stretch>
        </p:blipFill>
        <p:spPr>
          <a:xfrm>
            <a:off x="10919038" y="8320584"/>
            <a:ext cx="633279" cy="118111"/>
          </a:xfrm>
          <a:prstGeom prst="rect">
            <a:avLst/>
          </a:prstGeom>
        </p:spPr>
      </p:pic>
      <p:pic>
        <p:nvPicPr>
          <p:cNvPr id="70" name="object 70"/>
          <p:cNvPicPr/>
          <p:nvPr/>
        </p:nvPicPr>
        <p:blipFill>
          <a:blip r:embed="rId25" cstate="print"/>
          <a:stretch>
            <a:fillRect/>
          </a:stretch>
        </p:blipFill>
        <p:spPr>
          <a:xfrm>
            <a:off x="11763411" y="8255245"/>
            <a:ext cx="577992" cy="291509"/>
          </a:xfrm>
          <a:prstGeom prst="rect">
            <a:avLst/>
          </a:prstGeom>
        </p:spPr>
      </p:pic>
      <p:sp>
        <p:nvSpPr>
          <p:cNvPr id="71" name="object 71"/>
          <p:cNvSpPr/>
          <p:nvPr/>
        </p:nvSpPr>
        <p:spPr>
          <a:xfrm>
            <a:off x="13353101" y="7475856"/>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72" name="object 72"/>
          <p:cNvGrpSpPr/>
          <p:nvPr/>
        </p:nvGrpSpPr>
        <p:grpSpPr>
          <a:xfrm>
            <a:off x="13489747" y="7468003"/>
            <a:ext cx="1559560" cy="252729"/>
            <a:chOff x="13489747" y="7468003"/>
            <a:chExt cx="1559560" cy="252729"/>
          </a:xfrm>
        </p:grpSpPr>
        <p:sp>
          <p:nvSpPr>
            <p:cNvPr id="73" name="object 73"/>
            <p:cNvSpPr/>
            <p:nvPr/>
          </p:nvSpPr>
          <p:spPr>
            <a:xfrm>
              <a:off x="13497600" y="7475856"/>
              <a:ext cx="1543685" cy="236854"/>
            </a:xfrm>
            <a:custGeom>
              <a:avLst/>
              <a:gdLst/>
              <a:ahLst/>
              <a:cxnLst/>
              <a:rect l="l" t="t" r="r" b="b"/>
              <a:pathLst>
                <a:path w="1543684" h="236854">
                  <a:moveTo>
                    <a:pt x="1425087" y="0"/>
                  </a:moveTo>
                  <a:lnTo>
                    <a:pt x="118321" y="0"/>
                  </a:lnTo>
                  <a:lnTo>
                    <a:pt x="72268" y="9297"/>
                  </a:lnTo>
                  <a:lnTo>
                    <a:pt x="34658" y="34653"/>
                  </a:lnTo>
                  <a:lnTo>
                    <a:pt x="9299" y="72259"/>
                  </a:lnTo>
                  <a:lnTo>
                    <a:pt x="0" y="118310"/>
                  </a:lnTo>
                  <a:lnTo>
                    <a:pt x="9299" y="164361"/>
                  </a:lnTo>
                  <a:lnTo>
                    <a:pt x="34658" y="201967"/>
                  </a:lnTo>
                  <a:lnTo>
                    <a:pt x="72268" y="227323"/>
                  </a:lnTo>
                  <a:lnTo>
                    <a:pt x="118321" y="236621"/>
                  </a:lnTo>
                  <a:lnTo>
                    <a:pt x="1425087" y="236621"/>
                  </a:lnTo>
                  <a:lnTo>
                    <a:pt x="1471139" y="227323"/>
                  </a:lnTo>
                  <a:lnTo>
                    <a:pt x="1508749" y="201967"/>
                  </a:lnTo>
                  <a:lnTo>
                    <a:pt x="1534109" y="164361"/>
                  </a:lnTo>
                  <a:lnTo>
                    <a:pt x="1543408" y="118310"/>
                  </a:lnTo>
                  <a:lnTo>
                    <a:pt x="1534109" y="72259"/>
                  </a:lnTo>
                  <a:lnTo>
                    <a:pt x="1508749" y="34653"/>
                  </a:lnTo>
                  <a:lnTo>
                    <a:pt x="1471139" y="9297"/>
                  </a:lnTo>
                  <a:lnTo>
                    <a:pt x="1425087" y="0"/>
                  </a:lnTo>
                  <a:close/>
                </a:path>
              </a:pathLst>
            </a:custGeom>
            <a:solidFill>
              <a:srgbClr val="C2E3FC"/>
            </a:solidFill>
          </p:spPr>
          <p:txBody>
            <a:bodyPr wrap="square" lIns="0" tIns="0" rIns="0" bIns="0" rtlCol="0"/>
            <a:lstStyle/>
            <a:p>
              <a:endParaRPr/>
            </a:p>
          </p:txBody>
        </p:sp>
        <p:sp>
          <p:nvSpPr>
            <p:cNvPr id="74" name="object 74"/>
            <p:cNvSpPr/>
            <p:nvPr/>
          </p:nvSpPr>
          <p:spPr>
            <a:xfrm>
              <a:off x="13497600" y="7475856"/>
              <a:ext cx="1543685" cy="236854"/>
            </a:xfrm>
            <a:custGeom>
              <a:avLst/>
              <a:gdLst/>
              <a:ahLst/>
              <a:cxnLst/>
              <a:rect l="l" t="t" r="r" b="b"/>
              <a:pathLst>
                <a:path w="1543684" h="236854">
                  <a:moveTo>
                    <a:pt x="0" y="118311"/>
                  </a:moveTo>
                  <a:lnTo>
                    <a:pt x="9297" y="72259"/>
                  </a:lnTo>
                  <a:lnTo>
                    <a:pt x="34652" y="34652"/>
                  </a:lnTo>
                  <a:lnTo>
                    <a:pt x="72259" y="9297"/>
                  </a:lnTo>
                  <a:lnTo>
                    <a:pt x="118311" y="0"/>
                  </a:lnTo>
                  <a:lnTo>
                    <a:pt x="1425115" y="0"/>
                  </a:lnTo>
                  <a:lnTo>
                    <a:pt x="1471167" y="9297"/>
                  </a:lnTo>
                  <a:lnTo>
                    <a:pt x="1508773" y="34652"/>
                  </a:lnTo>
                  <a:lnTo>
                    <a:pt x="1534128" y="72259"/>
                  </a:lnTo>
                  <a:lnTo>
                    <a:pt x="1543425" y="118311"/>
                  </a:lnTo>
                  <a:lnTo>
                    <a:pt x="1534128" y="164363"/>
                  </a:lnTo>
                  <a:lnTo>
                    <a:pt x="1508773" y="201969"/>
                  </a:lnTo>
                  <a:lnTo>
                    <a:pt x="1471167" y="227324"/>
                  </a:lnTo>
                  <a:lnTo>
                    <a:pt x="1425115" y="236622"/>
                  </a:lnTo>
                  <a:lnTo>
                    <a:pt x="118311" y="236622"/>
                  </a:lnTo>
                  <a:lnTo>
                    <a:pt x="72259"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75" name="object 75"/>
          <p:cNvSpPr txBox="1"/>
          <p:nvPr/>
        </p:nvSpPr>
        <p:spPr>
          <a:xfrm>
            <a:off x="13559662" y="7474401"/>
            <a:ext cx="1419860" cy="226695"/>
          </a:xfrm>
          <a:prstGeom prst="rect">
            <a:avLst/>
          </a:prstGeom>
        </p:spPr>
        <p:txBody>
          <a:bodyPr vert="horz" wrap="square" lIns="0" tIns="15240" rIns="0" bIns="0" rtlCol="0">
            <a:spAutoFit/>
          </a:bodyPr>
          <a:lstStyle/>
          <a:p>
            <a:pPr marL="12700">
              <a:lnSpc>
                <a:spcPct val="100000"/>
              </a:lnSpc>
              <a:spcBef>
                <a:spcPts val="120"/>
              </a:spcBef>
            </a:pPr>
            <a:r>
              <a:rPr sz="1300" spc="-70">
                <a:solidFill>
                  <a:srgbClr val="262626"/>
                </a:solidFill>
                <a:latin typeface="Microsoft Sans Serif"/>
                <a:cs typeface="Microsoft Sans Serif"/>
              </a:rPr>
              <a:t>INFRASTRUCTURE</a:t>
            </a:r>
            <a:endParaRPr sz="1300">
              <a:latin typeface="Microsoft Sans Serif"/>
              <a:cs typeface="Microsoft Sans Serif"/>
            </a:endParaRPr>
          </a:p>
        </p:txBody>
      </p:sp>
      <p:pic>
        <p:nvPicPr>
          <p:cNvPr id="76" name="object 76"/>
          <p:cNvPicPr/>
          <p:nvPr/>
        </p:nvPicPr>
        <p:blipFill>
          <a:blip r:embed="rId26" cstate="print"/>
          <a:stretch>
            <a:fillRect/>
          </a:stretch>
        </p:blipFill>
        <p:spPr>
          <a:xfrm>
            <a:off x="13489851" y="8011483"/>
            <a:ext cx="844372" cy="110572"/>
          </a:xfrm>
          <a:prstGeom prst="rect">
            <a:avLst/>
          </a:prstGeom>
        </p:spPr>
      </p:pic>
      <p:grpSp>
        <p:nvGrpSpPr>
          <p:cNvPr id="77" name="object 77"/>
          <p:cNvGrpSpPr/>
          <p:nvPr/>
        </p:nvGrpSpPr>
        <p:grpSpPr>
          <a:xfrm>
            <a:off x="13497390" y="8008970"/>
            <a:ext cx="2124075" cy="520700"/>
            <a:chOff x="13497390" y="8008970"/>
            <a:chExt cx="2124075" cy="520700"/>
          </a:xfrm>
        </p:grpSpPr>
        <p:pic>
          <p:nvPicPr>
            <p:cNvPr id="78" name="object 78"/>
            <p:cNvPicPr/>
            <p:nvPr/>
          </p:nvPicPr>
          <p:blipFill>
            <a:blip r:embed="rId27" cstate="print"/>
            <a:stretch>
              <a:fillRect/>
            </a:stretch>
          </p:blipFill>
          <p:spPr>
            <a:xfrm>
              <a:off x="14492543" y="8008970"/>
              <a:ext cx="1055465" cy="241249"/>
            </a:xfrm>
            <a:prstGeom prst="rect">
              <a:avLst/>
            </a:prstGeom>
          </p:spPr>
        </p:pic>
        <p:pic>
          <p:nvPicPr>
            <p:cNvPr id="79" name="object 79"/>
            <p:cNvPicPr/>
            <p:nvPr/>
          </p:nvPicPr>
          <p:blipFill>
            <a:blip r:embed="rId28" cstate="print"/>
            <a:stretch>
              <a:fillRect/>
            </a:stretch>
          </p:blipFill>
          <p:spPr>
            <a:xfrm>
              <a:off x="13497390" y="8335225"/>
              <a:ext cx="1005205" cy="159084"/>
            </a:xfrm>
            <a:prstGeom prst="rect">
              <a:avLst/>
            </a:prstGeom>
          </p:spPr>
        </p:pic>
        <p:pic>
          <p:nvPicPr>
            <p:cNvPr id="80" name="object 80"/>
            <p:cNvPicPr/>
            <p:nvPr/>
          </p:nvPicPr>
          <p:blipFill>
            <a:blip r:embed="rId29" cstate="print"/>
            <a:stretch>
              <a:fillRect/>
            </a:stretch>
          </p:blipFill>
          <p:spPr>
            <a:xfrm>
              <a:off x="14482491" y="8272837"/>
              <a:ext cx="1138394" cy="256327"/>
            </a:xfrm>
            <a:prstGeom prst="rect">
              <a:avLst/>
            </a:prstGeom>
          </p:spPr>
        </p:pic>
      </p:grpSp>
      <p:pic>
        <p:nvPicPr>
          <p:cNvPr id="81" name="object 81"/>
          <p:cNvPicPr/>
          <p:nvPr/>
        </p:nvPicPr>
        <p:blipFill>
          <a:blip r:embed="rId30" cstate="print"/>
          <a:stretch>
            <a:fillRect/>
          </a:stretch>
        </p:blipFill>
        <p:spPr>
          <a:xfrm>
            <a:off x="15718893" y="7976301"/>
            <a:ext cx="844372" cy="281457"/>
          </a:xfrm>
          <a:prstGeom prst="rect">
            <a:avLst/>
          </a:prstGeom>
        </p:spPr>
      </p:pic>
      <p:grpSp>
        <p:nvGrpSpPr>
          <p:cNvPr id="82" name="object 82"/>
          <p:cNvGrpSpPr/>
          <p:nvPr/>
        </p:nvGrpSpPr>
        <p:grpSpPr>
          <a:xfrm>
            <a:off x="16813100" y="7468003"/>
            <a:ext cx="1767205" cy="252729"/>
            <a:chOff x="16813100" y="7468003"/>
            <a:chExt cx="1767205" cy="252729"/>
          </a:xfrm>
        </p:grpSpPr>
        <p:sp>
          <p:nvSpPr>
            <p:cNvPr id="83" name="object 83"/>
            <p:cNvSpPr/>
            <p:nvPr/>
          </p:nvSpPr>
          <p:spPr>
            <a:xfrm>
              <a:off x="16820953" y="7475856"/>
              <a:ext cx="1751330" cy="236854"/>
            </a:xfrm>
            <a:custGeom>
              <a:avLst/>
              <a:gdLst/>
              <a:ahLst/>
              <a:cxnLst/>
              <a:rect l="l" t="t" r="r" b="b"/>
              <a:pathLst>
                <a:path w="1751330" h="236854">
                  <a:moveTo>
                    <a:pt x="1632934" y="0"/>
                  </a:moveTo>
                  <a:lnTo>
                    <a:pt x="118321" y="0"/>
                  </a:lnTo>
                  <a:lnTo>
                    <a:pt x="72268" y="9297"/>
                  </a:lnTo>
                  <a:lnTo>
                    <a:pt x="34658" y="34653"/>
                  </a:lnTo>
                  <a:lnTo>
                    <a:pt x="9299" y="72259"/>
                  </a:lnTo>
                  <a:lnTo>
                    <a:pt x="0" y="118310"/>
                  </a:lnTo>
                  <a:lnTo>
                    <a:pt x="9299" y="164361"/>
                  </a:lnTo>
                  <a:lnTo>
                    <a:pt x="34658" y="201967"/>
                  </a:lnTo>
                  <a:lnTo>
                    <a:pt x="72268" y="227323"/>
                  </a:lnTo>
                  <a:lnTo>
                    <a:pt x="118321" y="236621"/>
                  </a:lnTo>
                  <a:lnTo>
                    <a:pt x="1632934" y="236621"/>
                  </a:lnTo>
                  <a:lnTo>
                    <a:pt x="1678970" y="227323"/>
                  </a:lnTo>
                  <a:lnTo>
                    <a:pt x="1716544" y="201967"/>
                  </a:lnTo>
                  <a:lnTo>
                    <a:pt x="1741867" y="164361"/>
                  </a:lnTo>
                  <a:lnTo>
                    <a:pt x="1751150" y="118310"/>
                  </a:lnTo>
                  <a:lnTo>
                    <a:pt x="1741867" y="72259"/>
                  </a:lnTo>
                  <a:lnTo>
                    <a:pt x="1716544" y="34653"/>
                  </a:lnTo>
                  <a:lnTo>
                    <a:pt x="1678970" y="9297"/>
                  </a:lnTo>
                  <a:lnTo>
                    <a:pt x="1632934" y="0"/>
                  </a:lnTo>
                  <a:close/>
                </a:path>
              </a:pathLst>
            </a:custGeom>
            <a:solidFill>
              <a:srgbClr val="C2E3FC"/>
            </a:solidFill>
          </p:spPr>
          <p:txBody>
            <a:bodyPr wrap="square" lIns="0" tIns="0" rIns="0" bIns="0" rtlCol="0"/>
            <a:lstStyle/>
            <a:p>
              <a:endParaRPr/>
            </a:p>
          </p:txBody>
        </p:sp>
        <p:sp>
          <p:nvSpPr>
            <p:cNvPr id="84" name="object 84"/>
            <p:cNvSpPr/>
            <p:nvPr/>
          </p:nvSpPr>
          <p:spPr>
            <a:xfrm>
              <a:off x="16820954" y="7475856"/>
              <a:ext cx="1751330" cy="236854"/>
            </a:xfrm>
            <a:custGeom>
              <a:avLst/>
              <a:gdLst/>
              <a:ahLst/>
              <a:cxnLst/>
              <a:rect l="l" t="t" r="r" b="b"/>
              <a:pathLst>
                <a:path w="1751330" h="236854">
                  <a:moveTo>
                    <a:pt x="0" y="118311"/>
                  </a:moveTo>
                  <a:lnTo>
                    <a:pt x="9297" y="72259"/>
                  </a:lnTo>
                  <a:lnTo>
                    <a:pt x="34652" y="34652"/>
                  </a:lnTo>
                  <a:lnTo>
                    <a:pt x="72259" y="9297"/>
                  </a:lnTo>
                  <a:lnTo>
                    <a:pt x="118311" y="0"/>
                  </a:lnTo>
                  <a:lnTo>
                    <a:pt x="1632883" y="0"/>
                  </a:lnTo>
                  <a:lnTo>
                    <a:pt x="1678935" y="9297"/>
                  </a:lnTo>
                  <a:lnTo>
                    <a:pt x="1716542" y="34652"/>
                  </a:lnTo>
                  <a:lnTo>
                    <a:pt x="1741897" y="72259"/>
                  </a:lnTo>
                  <a:lnTo>
                    <a:pt x="1751194" y="118311"/>
                  </a:lnTo>
                  <a:lnTo>
                    <a:pt x="1741897" y="164363"/>
                  </a:lnTo>
                  <a:lnTo>
                    <a:pt x="1716542" y="201969"/>
                  </a:lnTo>
                  <a:lnTo>
                    <a:pt x="1678935" y="227324"/>
                  </a:lnTo>
                  <a:lnTo>
                    <a:pt x="1632883" y="236622"/>
                  </a:lnTo>
                  <a:lnTo>
                    <a:pt x="118311" y="236622"/>
                  </a:lnTo>
                  <a:lnTo>
                    <a:pt x="72259"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85" name="object 85"/>
          <p:cNvSpPr txBox="1"/>
          <p:nvPr/>
        </p:nvSpPr>
        <p:spPr>
          <a:xfrm>
            <a:off x="16883434" y="7474401"/>
            <a:ext cx="1625600" cy="226695"/>
          </a:xfrm>
          <a:prstGeom prst="rect">
            <a:avLst/>
          </a:prstGeom>
        </p:spPr>
        <p:txBody>
          <a:bodyPr vert="horz" wrap="square" lIns="0" tIns="15240" rIns="0" bIns="0" rtlCol="0">
            <a:spAutoFit/>
          </a:bodyPr>
          <a:lstStyle/>
          <a:p>
            <a:pPr marL="12700">
              <a:lnSpc>
                <a:spcPct val="100000"/>
              </a:lnSpc>
              <a:spcBef>
                <a:spcPts val="120"/>
              </a:spcBef>
            </a:pPr>
            <a:r>
              <a:rPr sz="1300" spc="-55">
                <a:solidFill>
                  <a:srgbClr val="262626"/>
                </a:solidFill>
                <a:latin typeface="Microsoft Sans Serif"/>
                <a:cs typeface="Microsoft Sans Serif"/>
              </a:rPr>
              <a:t>FINANCIAL</a:t>
            </a:r>
            <a:r>
              <a:rPr sz="1300" spc="-20">
                <a:solidFill>
                  <a:srgbClr val="262626"/>
                </a:solidFill>
                <a:latin typeface="Microsoft Sans Serif"/>
                <a:cs typeface="Microsoft Sans Serif"/>
              </a:rPr>
              <a:t> </a:t>
            </a:r>
            <a:r>
              <a:rPr sz="1300" spc="-75">
                <a:solidFill>
                  <a:srgbClr val="262626"/>
                </a:solidFill>
                <a:latin typeface="Microsoft Sans Serif"/>
                <a:cs typeface="Microsoft Sans Serif"/>
              </a:rPr>
              <a:t>SERVICES</a:t>
            </a:r>
            <a:endParaRPr sz="1300">
              <a:latin typeface="Microsoft Sans Serif"/>
              <a:cs typeface="Microsoft Sans Serif"/>
            </a:endParaRPr>
          </a:p>
        </p:txBody>
      </p:sp>
      <p:pic>
        <p:nvPicPr>
          <p:cNvPr id="86" name="object 86"/>
          <p:cNvPicPr/>
          <p:nvPr/>
        </p:nvPicPr>
        <p:blipFill>
          <a:blip r:embed="rId31" cstate="print"/>
          <a:stretch>
            <a:fillRect/>
          </a:stretch>
        </p:blipFill>
        <p:spPr>
          <a:xfrm>
            <a:off x="16826989" y="8029075"/>
            <a:ext cx="892350" cy="105546"/>
          </a:xfrm>
          <a:prstGeom prst="rect">
            <a:avLst/>
          </a:prstGeom>
        </p:spPr>
      </p:pic>
      <p:pic>
        <p:nvPicPr>
          <p:cNvPr id="87" name="object 87"/>
          <p:cNvPicPr/>
          <p:nvPr/>
        </p:nvPicPr>
        <p:blipFill>
          <a:blip r:embed="rId32" cstate="print"/>
          <a:stretch>
            <a:fillRect/>
          </a:stretch>
        </p:blipFill>
        <p:spPr>
          <a:xfrm>
            <a:off x="17854953" y="8016509"/>
            <a:ext cx="683539" cy="190988"/>
          </a:xfrm>
          <a:prstGeom prst="rect">
            <a:avLst/>
          </a:prstGeom>
        </p:spPr>
      </p:pic>
      <p:pic>
        <p:nvPicPr>
          <p:cNvPr id="88" name="object 88"/>
          <p:cNvPicPr/>
          <p:nvPr/>
        </p:nvPicPr>
        <p:blipFill>
          <a:blip r:embed="rId33" cstate="print"/>
          <a:stretch>
            <a:fillRect/>
          </a:stretch>
        </p:blipFill>
        <p:spPr>
          <a:xfrm>
            <a:off x="16814519" y="8323097"/>
            <a:ext cx="2088366" cy="120624"/>
          </a:xfrm>
          <a:prstGeom prst="rect">
            <a:avLst/>
          </a:prstGeom>
        </p:spPr>
      </p:pic>
      <p:pic>
        <p:nvPicPr>
          <p:cNvPr id="89" name="object 89"/>
          <p:cNvPicPr/>
          <p:nvPr/>
        </p:nvPicPr>
        <p:blipFill>
          <a:blip r:embed="rId34" cstate="print"/>
          <a:stretch>
            <a:fillRect/>
          </a:stretch>
        </p:blipFill>
        <p:spPr>
          <a:xfrm>
            <a:off x="18628962" y="7910963"/>
            <a:ext cx="341769" cy="366899"/>
          </a:xfrm>
          <a:prstGeom prst="rect">
            <a:avLst/>
          </a:prstGeom>
        </p:spPr>
      </p:pic>
      <p:sp>
        <p:nvSpPr>
          <p:cNvPr id="90" name="object 90"/>
          <p:cNvSpPr/>
          <p:nvPr/>
        </p:nvSpPr>
        <p:spPr>
          <a:xfrm>
            <a:off x="16111866" y="8922733"/>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91" name="object 91"/>
          <p:cNvGrpSpPr/>
          <p:nvPr/>
        </p:nvGrpSpPr>
        <p:grpSpPr>
          <a:xfrm>
            <a:off x="16376778" y="8914880"/>
            <a:ext cx="2212340" cy="252729"/>
            <a:chOff x="16376778" y="8914880"/>
            <a:chExt cx="2212340" cy="252729"/>
          </a:xfrm>
        </p:grpSpPr>
        <p:sp>
          <p:nvSpPr>
            <p:cNvPr id="92" name="object 92"/>
            <p:cNvSpPr/>
            <p:nvPr/>
          </p:nvSpPr>
          <p:spPr>
            <a:xfrm>
              <a:off x="16384631" y="8922733"/>
              <a:ext cx="2197100" cy="236854"/>
            </a:xfrm>
            <a:custGeom>
              <a:avLst/>
              <a:gdLst/>
              <a:ahLst/>
              <a:cxnLst/>
              <a:rect l="l" t="t" r="r" b="b"/>
              <a:pathLst>
                <a:path w="2197100" h="236854">
                  <a:moveTo>
                    <a:pt x="2078156" y="0"/>
                  </a:moveTo>
                  <a:lnTo>
                    <a:pt x="118321" y="0"/>
                  </a:lnTo>
                  <a:lnTo>
                    <a:pt x="72268" y="9297"/>
                  </a:lnTo>
                  <a:lnTo>
                    <a:pt x="34658" y="34653"/>
                  </a:lnTo>
                  <a:lnTo>
                    <a:pt x="9299" y="72259"/>
                  </a:lnTo>
                  <a:lnTo>
                    <a:pt x="0" y="118310"/>
                  </a:lnTo>
                  <a:lnTo>
                    <a:pt x="9302" y="164365"/>
                  </a:lnTo>
                  <a:lnTo>
                    <a:pt x="34664" y="201971"/>
                  </a:lnTo>
                  <a:lnTo>
                    <a:pt x="72276" y="227324"/>
                  </a:lnTo>
                  <a:lnTo>
                    <a:pt x="118321" y="236621"/>
                  </a:lnTo>
                  <a:lnTo>
                    <a:pt x="2078156" y="236621"/>
                  </a:lnTo>
                  <a:lnTo>
                    <a:pt x="2124208" y="227324"/>
                  </a:lnTo>
                  <a:lnTo>
                    <a:pt x="2161818" y="201971"/>
                  </a:lnTo>
                  <a:lnTo>
                    <a:pt x="2187178" y="164365"/>
                  </a:lnTo>
                  <a:lnTo>
                    <a:pt x="2196477" y="118310"/>
                  </a:lnTo>
                  <a:lnTo>
                    <a:pt x="2187178" y="72259"/>
                  </a:lnTo>
                  <a:lnTo>
                    <a:pt x="2161818" y="34653"/>
                  </a:lnTo>
                  <a:lnTo>
                    <a:pt x="2124208" y="9297"/>
                  </a:lnTo>
                  <a:lnTo>
                    <a:pt x="2078156" y="0"/>
                  </a:lnTo>
                  <a:close/>
                </a:path>
              </a:pathLst>
            </a:custGeom>
            <a:solidFill>
              <a:srgbClr val="C2E3FC"/>
            </a:solidFill>
          </p:spPr>
          <p:txBody>
            <a:bodyPr wrap="square" lIns="0" tIns="0" rIns="0" bIns="0" rtlCol="0"/>
            <a:lstStyle/>
            <a:p>
              <a:endParaRPr/>
            </a:p>
          </p:txBody>
        </p:sp>
        <p:sp>
          <p:nvSpPr>
            <p:cNvPr id="93" name="object 93"/>
            <p:cNvSpPr/>
            <p:nvPr/>
          </p:nvSpPr>
          <p:spPr>
            <a:xfrm>
              <a:off x="16384631" y="8922733"/>
              <a:ext cx="2196465" cy="236854"/>
            </a:xfrm>
            <a:custGeom>
              <a:avLst/>
              <a:gdLst/>
              <a:ahLst/>
              <a:cxnLst/>
              <a:rect l="l" t="t" r="r" b="b"/>
              <a:pathLst>
                <a:path w="2196465" h="236854">
                  <a:moveTo>
                    <a:pt x="0" y="118312"/>
                  </a:moveTo>
                  <a:lnTo>
                    <a:pt x="9297" y="72260"/>
                  </a:lnTo>
                  <a:lnTo>
                    <a:pt x="34652" y="34652"/>
                  </a:lnTo>
                  <a:lnTo>
                    <a:pt x="72259" y="9297"/>
                  </a:lnTo>
                  <a:lnTo>
                    <a:pt x="118311" y="0"/>
                  </a:lnTo>
                  <a:lnTo>
                    <a:pt x="2078104" y="0"/>
                  </a:lnTo>
                  <a:lnTo>
                    <a:pt x="2124156" y="9297"/>
                  </a:lnTo>
                  <a:lnTo>
                    <a:pt x="2161763" y="34652"/>
                  </a:lnTo>
                  <a:lnTo>
                    <a:pt x="2187118" y="72260"/>
                  </a:lnTo>
                  <a:lnTo>
                    <a:pt x="2196416" y="118312"/>
                  </a:lnTo>
                  <a:lnTo>
                    <a:pt x="2187116" y="164365"/>
                  </a:lnTo>
                  <a:lnTo>
                    <a:pt x="2161761" y="201971"/>
                  </a:lnTo>
                  <a:lnTo>
                    <a:pt x="2124154" y="227327"/>
                  </a:lnTo>
                  <a:lnTo>
                    <a:pt x="2078101" y="236624"/>
                  </a:lnTo>
                  <a:lnTo>
                    <a:pt x="118311" y="236622"/>
                  </a:lnTo>
                  <a:lnTo>
                    <a:pt x="72259" y="227324"/>
                  </a:lnTo>
                  <a:lnTo>
                    <a:pt x="34652" y="201969"/>
                  </a:lnTo>
                  <a:lnTo>
                    <a:pt x="9297" y="164362"/>
                  </a:lnTo>
                  <a:lnTo>
                    <a:pt x="0" y="118310"/>
                  </a:lnTo>
                  <a:close/>
                </a:path>
              </a:pathLst>
            </a:custGeom>
            <a:ln w="15706">
              <a:solidFill>
                <a:srgbClr val="C2E3FC"/>
              </a:solidFill>
            </a:ln>
          </p:spPr>
          <p:txBody>
            <a:bodyPr wrap="square" lIns="0" tIns="0" rIns="0" bIns="0" rtlCol="0"/>
            <a:lstStyle/>
            <a:p>
              <a:endParaRPr/>
            </a:p>
          </p:txBody>
        </p:sp>
      </p:grpSp>
      <p:sp>
        <p:nvSpPr>
          <p:cNvPr id="94" name="object 94"/>
          <p:cNvSpPr txBox="1"/>
          <p:nvPr/>
        </p:nvSpPr>
        <p:spPr>
          <a:xfrm>
            <a:off x="16444704" y="8921897"/>
            <a:ext cx="2077085" cy="226695"/>
          </a:xfrm>
          <a:prstGeom prst="rect">
            <a:avLst/>
          </a:prstGeom>
        </p:spPr>
        <p:txBody>
          <a:bodyPr vert="horz" wrap="square" lIns="0" tIns="15240" rIns="0" bIns="0" rtlCol="0">
            <a:spAutoFit/>
          </a:bodyPr>
          <a:lstStyle/>
          <a:p>
            <a:pPr marL="12700">
              <a:lnSpc>
                <a:spcPct val="100000"/>
              </a:lnSpc>
              <a:spcBef>
                <a:spcPts val="120"/>
              </a:spcBef>
            </a:pPr>
            <a:r>
              <a:rPr sz="1300" spc="-100">
                <a:solidFill>
                  <a:srgbClr val="262626"/>
                </a:solidFill>
                <a:latin typeface="Microsoft Sans Serif"/>
                <a:cs typeface="Microsoft Sans Serif"/>
              </a:rPr>
              <a:t>AEROSPACE</a:t>
            </a:r>
            <a:r>
              <a:rPr sz="1300" spc="-25">
                <a:solidFill>
                  <a:srgbClr val="262626"/>
                </a:solidFill>
                <a:latin typeface="Microsoft Sans Serif"/>
                <a:cs typeface="Microsoft Sans Serif"/>
              </a:rPr>
              <a:t> </a:t>
            </a:r>
            <a:r>
              <a:rPr sz="1300" spc="-50">
                <a:solidFill>
                  <a:srgbClr val="262626"/>
                </a:solidFill>
                <a:latin typeface="Microsoft Sans Serif"/>
                <a:cs typeface="Microsoft Sans Serif"/>
              </a:rPr>
              <a:t>AND</a:t>
            </a:r>
            <a:r>
              <a:rPr sz="1300" spc="-15">
                <a:solidFill>
                  <a:srgbClr val="262626"/>
                </a:solidFill>
                <a:latin typeface="Microsoft Sans Serif"/>
                <a:cs typeface="Microsoft Sans Serif"/>
              </a:rPr>
              <a:t> </a:t>
            </a:r>
            <a:r>
              <a:rPr sz="1300" spc="-55">
                <a:solidFill>
                  <a:srgbClr val="262626"/>
                </a:solidFill>
                <a:latin typeface="Microsoft Sans Serif"/>
                <a:cs typeface="Microsoft Sans Serif"/>
              </a:rPr>
              <a:t>DEFENSE</a:t>
            </a:r>
            <a:endParaRPr sz="1300">
              <a:latin typeface="Microsoft Sans Serif"/>
              <a:cs typeface="Microsoft Sans Serif"/>
            </a:endParaRPr>
          </a:p>
        </p:txBody>
      </p:sp>
      <p:pic>
        <p:nvPicPr>
          <p:cNvPr id="95" name="object 95"/>
          <p:cNvPicPr/>
          <p:nvPr/>
        </p:nvPicPr>
        <p:blipFill>
          <a:blip r:embed="rId35" cstate="print"/>
          <a:stretch>
            <a:fillRect/>
          </a:stretch>
        </p:blipFill>
        <p:spPr>
          <a:xfrm>
            <a:off x="16354535" y="9328124"/>
            <a:ext cx="630916" cy="525397"/>
          </a:xfrm>
          <a:prstGeom prst="rect">
            <a:avLst/>
          </a:prstGeom>
        </p:spPr>
      </p:pic>
      <p:sp>
        <p:nvSpPr>
          <p:cNvPr id="96" name="object 96"/>
          <p:cNvSpPr/>
          <p:nvPr/>
        </p:nvSpPr>
        <p:spPr>
          <a:xfrm>
            <a:off x="16800117" y="6007670"/>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97" name="object 97"/>
          <p:cNvGrpSpPr/>
          <p:nvPr/>
        </p:nvGrpSpPr>
        <p:grpSpPr>
          <a:xfrm>
            <a:off x="17065029" y="5999817"/>
            <a:ext cx="1885950" cy="252729"/>
            <a:chOff x="17065029" y="5999817"/>
            <a:chExt cx="1885950" cy="252729"/>
          </a:xfrm>
        </p:grpSpPr>
        <p:sp>
          <p:nvSpPr>
            <p:cNvPr id="98" name="object 98"/>
            <p:cNvSpPr/>
            <p:nvPr/>
          </p:nvSpPr>
          <p:spPr>
            <a:xfrm>
              <a:off x="17072882" y="6007670"/>
              <a:ext cx="1870075" cy="236854"/>
            </a:xfrm>
            <a:custGeom>
              <a:avLst/>
              <a:gdLst/>
              <a:ahLst/>
              <a:cxnLst/>
              <a:rect l="l" t="t" r="r" b="b"/>
              <a:pathLst>
                <a:path w="1870075" h="236854">
                  <a:moveTo>
                    <a:pt x="1751569" y="0"/>
                  </a:moveTo>
                  <a:lnTo>
                    <a:pt x="118321" y="0"/>
                  </a:lnTo>
                  <a:lnTo>
                    <a:pt x="72268" y="9297"/>
                  </a:lnTo>
                  <a:lnTo>
                    <a:pt x="34658" y="34653"/>
                  </a:lnTo>
                  <a:lnTo>
                    <a:pt x="9299" y="72259"/>
                  </a:lnTo>
                  <a:lnTo>
                    <a:pt x="0" y="118310"/>
                  </a:lnTo>
                  <a:lnTo>
                    <a:pt x="9300" y="164367"/>
                  </a:lnTo>
                  <a:lnTo>
                    <a:pt x="34666" y="201976"/>
                  </a:lnTo>
                  <a:lnTo>
                    <a:pt x="72312" y="227333"/>
                  </a:lnTo>
                  <a:lnTo>
                    <a:pt x="118372" y="236631"/>
                  </a:lnTo>
                  <a:lnTo>
                    <a:pt x="1751569" y="236631"/>
                  </a:lnTo>
                  <a:lnTo>
                    <a:pt x="1797621" y="227333"/>
                  </a:lnTo>
                  <a:lnTo>
                    <a:pt x="1835232" y="201976"/>
                  </a:lnTo>
                  <a:lnTo>
                    <a:pt x="1860591" y="164367"/>
                  </a:lnTo>
                  <a:lnTo>
                    <a:pt x="1869890" y="118310"/>
                  </a:lnTo>
                  <a:lnTo>
                    <a:pt x="1860591" y="72259"/>
                  </a:lnTo>
                  <a:lnTo>
                    <a:pt x="1835232" y="34653"/>
                  </a:lnTo>
                  <a:lnTo>
                    <a:pt x="1797621" y="9297"/>
                  </a:lnTo>
                  <a:lnTo>
                    <a:pt x="1751569" y="0"/>
                  </a:lnTo>
                  <a:close/>
                </a:path>
              </a:pathLst>
            </a:custGeom>
            <a:solidFill>
              <a:srgbClr val="C2E3FC"/>
            </a:solidFill>
          </p:spPr>
          <p:txBody>
            <a:bodyPr wrap="square" lIns="0" tIns="0" rIns="0" bIns="0" rtlCol="0"/>
            <a:lstStyle/>
            <a:p>
              <a:endParaRPr/>
            </a:p>
          </p:txBody>
        </p:sp>
        <p:sp>
          <p:nvSpPr>
            <p:cNvPr id="99" name="object 99"/>
            <p:cNvSpPr/>
            <p:nvPr/>
          </p:nvSpPr>
          <p:spPr>
            <a:xfrm>
              <a:off x="17072882" y="6007670"/>
              <a:ext cx="1870075" cy="236854"/>
            </a:xfrm>
            <a:custGeom>
              <a:avLst/>
              <a:gdLst/>
              <a:ahLst/>
              <a:cxnLst/>
              <a:rect l="l" t="t" r="r" b="b"/>
              <a:pathLst>
                <a:path w="1870075" h="236854">
                  <a:moveTo>
                    <a:pt x="0" y="118311"/>
                  </a:moveTo>
                  <a:lnTo>
                    <a:pt x="9297" y="72259"/>
                  </a:lnTo>
                  <a:lnTo>
                    <a:pt x="34652" y="34652"/>
                  </a:lnTo>
                  <a:lnTo>
                    <a:pt x="72259" y="9297"/>
                  </a:lnTo>
                  <a:lnTo>
                    <a:pt x="118311" y="0"/>
                  </a:lnTo>
                  <a:lnTo>
                    <a:pt x="1751610" y="0"/>
                  </a:lnTo>
                  <a:lnTo>
                    <a:pt x="1797662" y="9297"/>
                  </a:lnTo>
                  <a:lnTo>
                    <a:pt x="1835268" y="34652"/>
                  </a:lnTo>
                  <a:lnTo>
                    <a:pt x="1860623" y="72259"/>
                  </a:lnTo>
                  <a:lnTo>
                    <a:pt x="1869921" y="118311"/>
                  </a:lnTo>
                  <a:lnTo>
                    <a:pt x="1860622" y="164364"/>
                  </a:lnTo>
                  <a:lnTo>
                    <a:pt x="1835266" y="201971"/>
                  </a:lnTo>
                  <a:lnTo>
                    <a:pt x="1797659" y="227327"/>
                  </a:lnTo>
                  <a:lnTo>
                    <a:pt x="1751607" y="236624"/>
                  </a:lnTo>
                  <a:lnTo>
                    <a:pt x="118311" y="236622"/>
                  </a:lnTo>
                  <a:lnTo>
                    <a:pt x="72259" y="227324"/>
                  </a:lnTo>
                  <a:lnTo>
                    <a:pt x="34652" y="201969"/>
                  </a:lnTo>
                  <a:lnTo>
                    <a:pt x="9297" y="164362"/>
                  </a:lnTo>
                  <a:lnTo>
                    <a:pt x="0" y="118310"/>
                  </a:lnTo>
                  <a:close/>
                </a:path>
              </a:pathLst>
            </a:custGeom>
            <a:ln w="15706">
              <a:solidFill>
                <a:srgbClr val="C2E3FC"/>
              </a:solidFill>
            </a:ln>
          </p:spPr>
          <p:txBody>
            <a:bodyPr wrap="square" lIns="0" tIns="0" rIns="0" bIns="0" rtlCol="0"/>
            <a:lstStyle/>
            <a:p>
              <a:endParaRPr/>
            </a:p>
          </p:txBody>
        </p:sp>
      </p:grpSp>
      <p:sp>
        <p:nvSpPr>
          <p:cNvPr id="100" name="object 100"/>
          <p:cNvSpPr txBox="1"/>
          <p:nvPr/>
        </p:nvSpPr>
        <p:spPr>
          <a:xfrm>
            <a:off x="17135259" y="6006802"/>
            <a:ext cx="1744980" cy="226695"/>
          </a:xfrm>
          <a:prstGeom prst="rect">
            <a:avLst/>
          </a:prstGeom>
        </p:spPr>
        <p:txBody>
          <a:bodyPr vert="horz" wrap="square" lIns="0" tIns="15240" rIns="0" bIns="0" rtlCol="0">
            <a:spAutoFit/>
          </a:bodyPr>
          <a:lstStyle/>
          <a:p>
            <a:pPr marL="12700">
              <a:lnSpc>
                <a:spcPct val="100000"/>
              </a:lnSpc>
              <a:spcBef>
                <a:spcPts val="120"/>
              </a:spcBef>
            </a:pPr>
            <a:r>
              <a:rPr sz="1300" spc="-60">
                <a:solidFill>
                  <a:srgbClr val="262626"/>
                </a:solidFill>
                <a:latin typeface="Microsoft Sans Serif"/>
                <a:cs typeface="Microsoft Sans Serif"/>
              </a:rPr>
              <a:t>TOURISM</a:t>
            </a:r>
            <a:r>
              <a:rPr sz="1300" spc="-40">
                <a:solidFill>
                  <a:srgbClr val="262626"/>
                </a:solidFill>
                <a:latin typeface="Microsoft Sans Serif"/>
                <a:cs typeface="Microsoft Sans Serif"/>
              </a:rPr>
              <a:t> </a:t>
            </a:r>
            <a:r>
              <a:rPr sz="1300" spc="-45">
                <a:solidFill>
                  <a:srgbClr val="262626"/>
                </a:solidFill>
                <a:latin typeface="Microsoft Sans Serif"/>
                <a:cs typeface="Microsoft Sans Serif"/>
              </a:rPr>
              <a:t>AND</a:t>
            </a:r>
            <a:r>
              <a:rPr sz="1300" spc="-35">
                <a:solidFill>
                  <a:srgbClr val="262626"/>
                </a:solidFill>
                <a:latin typeface="Microsoft Sans Serif"/>
                <a:cs typeface="Microsoft Sans Serif"/>
              </a:rPr>
              <a:t> </a:t>
            </a:r>
            <a:r>
              <a:rPr sz="1300" spc="-55">
                <a:solidFill>
                  <a:srgbClr val="262626"/>
                </a:solidFill>
                <a:latin typeface="Microsoft Sans Serif"/>
                <a:cs typeface="Microsoft Sans Serif"/>
              </a:rPr>
              <a:t>TRAVEL</a:t>
            </a:r>
            <a:endParaRPr sz="1300">
              <a:latin typeface="Microsoft Sans Serif"/>
              <a:cs typeface="Microsoft Sans Serif"/>
            </a:endParaRPr>
          </a:p>
        </p:txBody>
      </p:sp>
      <p:grpSp>
        <p:nvGrpSpPr>
          <p:cNvPr id="101" name="object 101"/>
          <p:cNvGrpSpPr/>
          <p:nvPr/>
        </p:nvGrpSpPr>
        <p:grpSpPr>
          <a:xfrm>
            <a:off x="17085972" y="6505924"/>
            <a:ext cx="1666239" cy="676275"/>
            <a:chOff x="17085972" y="6505924"/>
            <a:chExt cx="1666239" cy="676275"/>
          </a:xfrm>
        </p:grpSpPr>
        <p:pic>
          <p:nvPicPr>
            <p:cNvPr id="102" name="object 102"/>
            <p:cNvPicPr/>
            <p:nvPr/>
          </p:nvPicPr>
          <p:blipFill>
            <a:blip r:embed="rId36" cstate="print"/>
            <a:stretch>
              <a:fillRect/>
            </a:stretch>
          </p:blipFill>
          <p:spPr>
            <a:xfrm>
              <a:off x="17103563" y="6569014"/>
              <a:ext cx="427212" cy="160832"/>
            </a:xfrm>
            <a:prstGeom prst="rect">
              <a:avLst/>
            </a:prstGeom>
          </p:spPr>
        </p:pic>
        <p:pic>
          <p:nvPicPr>
            <p:cNvPr id="103" name="object 103"/>
            <p:cNvPicPr/>
            <p:nvPr/>
          </p:nvPicPr>
          <p:blipFill>
            <a:blip r:embed="rId37" cstate="print"/>
            <a:stretch>
              <a:fillRect/>
            </a:stretch>
          </p:blipFill>
          <p:spPr>
            <a:xfrm>
              <a:off x="17756946" y="6505924"/>
              <a:ext cx="995152" cy="339521"/>
            </a:xfrm>
            <a:prstGeom prst="rect">
              <a:avLst/>
            </a:prstGeom>
          </p:spPr>
        </p:pic>
        <p:pic>
          <p:nvPicPr>
            <p:cNvPr id="104" name="object 104"/>
            <p:cNvPicPr/>
            <p:nvPr/>
          </p:nvPicPr>
          <p:blipFill>
            <a:blip r:embed="rId38" cstate="print"/>
            <a:stretch>
              <a:fillRect/>
            </a:stretch>
          </p:blipFill>
          <p:spPr>
            <a:xfrm>
              <a:off x="17085972" y="6767542"/>
              <a:ext cx="688565" cy="414647"/>
            </a:xfrm>
            <a:prstGeom prst="rect">
              <a:avLst/>
            </a:prstGeom>
          </p:spPr>
        </p:pic>
      </p:grpSp>
      <p:pic>
        <p:nvPicPr>
          <p:cNvPr id="105" name="object 105"/>
          <p:cNvPicPr/>
          <p:nvPr/>
        </p:nvPicPr>
        <p:blipFill>
          <a:blip r:embed="rId39" cstate="print"/>
          <a:stretch>
            <a:fillRect/>
          </a:stretch>
        </p:blipFill>
        <p:spPr>
          <a:xfrm>
            <a:off x="17998195" y="6890680"/>
            <a:ext cx="872015" cy="201040"/>
          </a:xfrm>
          <a:prstGeom prst="rect">
            <a:avLst/>
          </a:prstGeom>
        </p:spPr>
      </p:pic>
      <p:sp>
        <p:nvSpPr>
          <p:cNvPr id="106" name="object 106"/>
          <p:cNvSpPr/>
          <p:nvPr/>
        </p:nvSpPr>
        <p:spPr>
          <a:xfrm>
            <a:off x="16669858" y="7475856"/>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107" name="object 107"/>
          <p:cNvGrpSpPr/>
          <p:nvPr/>
        </p:nvGrpSpPr>
        <p:grpSpPr>
          <a:xfrm>
            <a:off x="10082865" y="8914880"/>
            <a:ext cx="1797050" cy="252729"/>
            <a:chOff x="10082865" y="8914880"/>
            <a:chExt cx="1797050" cy="252729"/>
          </a:xfrm>
        </p:grpSpPr>
        <p:sp>
          <p:nvSpPr>
            <p:cNvPr id="108" name="object 108"/>
            <p:cNvSpPr/>
            <p:nvPr/>
          </p:nvSpPr>
          <p:spPr>
            <a:xfrm>
              <a:off x="10090719" y="8922733"/>
              <a:ext cx="1781175" cy="236854"/>
            </a:xfrm>
            <a:custGeom>
              <a:avLst/>
              <a:gdLst/>
              <a:ahLst/>
              <a:cxnLst/>
              <a:rect l="l" t="t" r="r" b="b"/>
              <a:pathLst>
                <a:path w="1781175" h="236854">
                  <a:moveTo>
                    <a:pt x="1662535" y="0"/>
                  </a:moveTo>
                  <a:lnTo>
                    <a:pt x="118310" y="0"/>
                  </a:lnTo>
                  <a:lnTo>
                    <a:pt x="72259" y="9297"/>
                  </a:lnTo>
                  <a:lnTo>
                    <a:pt x="34653" y="34653"/>
                  </a:lnTo>
                  <a:lnTo>
                    <a:pt x="9297" y="72259"/>
                  </a:lnTo>
                  <a:lnTo>
                    <a:pt x="0" y="118310"/>
                  </a:lnTo>
                  <a:lnTo>
                    <a:pt x="9297" y="164361"/>
                  </a:lnTo>
                  <a:lnTo>
                    <a:pt x="34653" y="201967"/>
                  </a:lnTo>
                  <a:lnTo>
                    <a:pt x="72259" y="227323"/>
                  </a:lnTo>
                  <a:lnTo>
                    <a:pt x="118310" y="236621"/>
                  </a:lnTo>
                  <a:lnTo>
                    <a:pt x="1662535" y="236621"/>
                  </a:lnTo>
                  <a:lnTo>
                    <a:pt x="1708588" y="227323"/>
                  </a:lnTo>
                  <a:lnTo>
                    <a:pt x="1746198" y="201967"/>
                  </a:lnTo>
                  <a:lnTo>
                    <a:pt x="1771557" y="164361"/>
                  </a:lnTo>
                  <a:lnTo>
                    <a:pt x="1780856" y="118310"/>
                  </a:lnTo>
                  <a:lnTo>
                    <a:pt x="1771557" y="72259"/>
                  </a:lnTo>
                  <a:lnTo>
                    <a:pt x="1746198" y="34653"/>
                  </a:lnTo>
                  <a:lnTo>
                    <a:pt x="1708588" y="9297"/>
                  </a:lnTo>
                  <a:lnTo>
                    <a:pt x="1662535" y="0"/>
                  </a:lnTo>
                  <a:close/>
                </a:path>
              </a:pathLst>
            </a:custGeom>
            <a:solidFill>
              <a:srgbClr val="C2E3FC"/>
            </a:solidFill>
          </p:spPr>
          <p:txBody>
            <a:bodyPr wrap="square" lIns="0" tIns="0" rIns="0" bIns="0" rtlCol="0"/>
            <a:lstStyle/>
            <a:p>
              <a:endParaRPr/>
            </a:p>
          </p:txBody>
        </p:sp>
        <p:sp>
          <p:nvSpPr>
            <p:cNvPr id="109" name="object 109"/>
            <p:cNvSpPr/>
            <p:nvPr/>
          </p:nvSpPr>
          <p:spPr>
            <a:xfrm>
              <a:off x="10090719" y="8922733"/>
              <a:ext cx="1781175" cy="236854"/>
            </a:xfrm>
            <a:custGeom>
              <a:avLst/>
              <a:gdLst/>
              <a:ahLst/>
              <a:cxnLst/>
              <a:rect l="l" t="t" r="r" b="b"/>
              <a:pathLst>
                <a:path w="1781175" h="236854">
                  <a:moveTo>
                    <a:pt x="0" y="118311"/>
                  </a:moveTo>
                  <a:lnTo>
                    <a:pt x="9297" y="72259"/>
                  </a:lnTo>
                  <a:lnTo>
                    <a:pt x="34652" y="34652"/>
                  </a:lnTo>
                  <a:lnTo>
                    <a:pt x="72258" y="9297"/>
                  </a:lnTo>
                  <a:lnTo>
                    <a:pt x="118310" y="0"/>
                  </a:lnTo>
                  <a:lnTo>
                    <a:pt x="1662565" y="0"/>
                  </a:lnTo>
                  <a:lnTo>
                    <a:pt x="1708617" y="9297"/>
                  </a:lnTo>
                  <a:lnTo>
                    <a:pt x="1746223" y="34652"/>
                  </a:lnTo>
                  <a:lnTo>
                    <a:pt x="1771578" y="72259"/>
                  </a:lnTo>
                  <a:lnTo>
                    <a:pt x="1780875" y="118311"/>
                  </a:lnTo>
                  <a:lnTo>
                    <a:pt x="1771578" y="164363"/>
                  </a:lnTo>
                  <a:lnTo>
                    <a:pt x="1746223" y="201969"/>
                  </a:lnTo>
                  <a:lnTo>
                    <a:pt x="1708617" y="227324"/>
                  </a:lnTo>
                  <a:lnTo>
                    <a:pt x="1662565" y="236622"/>
                  </a:lnTo>
                  <a:lnTo>
                    <a:pt x="118310" y="236622"/>
                  </a:lnTo>
                  <a:lnTo>
                    <a:pt x="72258"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110" name="object 110"/>
          <p:cNvSpPr txBox="1"/>
          <p:nvPr/>
        </p:nvSpPr>
        <p:spPr>
          <a:xfrm>
            <a:off x="10149765" y="8921897"/>
            <a:ext cx="1663064" cy="226695"/>
          </a:xfrm>
          <a:prstGeom prst="rect">
            <a:avLst/>
          </a:prstGeom>
        </p:spPr>
        <p:txBody>
          <a:bodyPr vert="horz" wrap="square" lIns="0" tIns="15240" rIns="0" bIns="0" rtlCol="0">
            <a:spAutoFit/>
          </a:bodyPr>
          <a:lstStyle/>
          <a:p>
            <a:pPr marL="12700">
              <a:lnSpc>
                <a:spcPct val="100000"/>
              </a:lnSpc>
              <a:spcBef>
                <a:spcPts val="120"/>
              </a:spcBef>
            </a:pPr>
            <a:r>
              <a:rPr sz="1300" spc="-90">
                <a:solidFill>
                  <a:srgbClr val="262626"/>
                </a:solidFill>
                <a:latin typeface="Microsoft Sans Serif"/>
                <a:cs typeface="Microsoft Sans Serif"/>
              </a:rPr>
              <a:t>TELECOM</a:t>
            </a:r>
            <a:r>
              <a:rPr sz="1300" spc="-40">
                <a:solidFill>
                  <a:srgbClr val="262626"/>
                </a:solidFill>
                <a:latin typeface="Microsoft Sans Serif"/>
                <a:cs typeface="Microsoft Sans Serif"/>
              </a:rPr>
              <a:t> </a:t>
            </a:r>
            <a:r>
              <a:rPr sz="1300" spc="-45">
                <a:solidFill>
                  <a:srgbClr val="262626"/>
                </a:solidFill>
                <a:latin typeface="Microsoft Sans Serif"/>
                <a:cs typeface="Microsoft Sans Serif"/>
              </a:rPr>
              <a:t>AND</a:t>
            </a:r>
            <a:r>
              <a:rPr sz="1300" spc="-30">
                <a:solidFill>
                  <a:srgbClr val="262626"/>
                </a:solidFill>
                <a:latin typeface="Microsoft Sans Serif"/>
                <a:cs typeface="Microsoft Sans Serif"/>
              </a:rPr>
              <a:t> </a:t>
            </a:r>
            <a:r>
              <a:rPr sz="1300" spc="-20">
                <a:solidFill>
                  <a:srgbClr val="262626"/>
                </a:solidFill>
                <a:latin typeface="Microsoft Sans Serif"/>
                <a:cs typeface="Microsoft Sans Serif"/>
              </a:rPr>
              <a:t>MEDIA</a:t>
            </a:r>
            <a:endParaRPr sz="1300">
              <a:latin typeface="Microsoft Sans Serif"/>
              <a:cs typeface="Microsoft Sans Serif"/>
            </a:endParaRPr>
          </a:p>
        </p:txBody>
      </p:sp>
      <p:pic>
        <p:nvPicPr>
          <p:cNvPr id="111" name="object 111"/>
          <p:cNvPicPr/>
          <p:nvPr/>
        </p:nvPicPr>
        <p:blipFill>
          <a:blip r:embed="rId40" cstate="print"/>
          <a:stretch>
            <a:fillRect/>
          </a:stretch>
        </p:blipFill>
        <p:spPr>
          <a:xfrm>
            <a:off x="10107336" y="9469031"/>
            <a:ext cx="1603301" cy="108059"/>
          </a:xfrm>
          <a:prstGeom prst="rect">
            <a:avLst/>
          </a:prstGeom>
        </p:spPr>
      </p:pic>
      <p:pic>
        <p:nvPicPr>
          <p:cNvPr id="112" name="object 112"/>
          <p:cNvPicPr/>
          <p:nvPr/>
        </p:nvPicPr>
        <p:blipFill>
          <a:blip r:embed="rId41" cstate="print"/>
          <a:stretch>
            <a:fillRect/>
          </a:stretch>
        </p:blipFill>
        <p:spPr>
          <a:xfrm>
            <a:off x="10107336" y="9810801"/>
            <a:ext cx="776520" cy="100520"/>
          </a:xfrm>
          <a:prstGeom prst="rect">
            <a:avLst/>
          </a:prstGeom>
        </p:spPr>
      </p:pic>
      <p:grpSp>
        <p:nvGrpSpPr>
          <p:cNvPr id="113" name="object 113"/>
          <p:cNvGrpSpPr/>
          <p:nvPr/>
        </p:nvGrpSpPr>
        <p:grpSpPr>
          <a:xfrm>
            <a:off x="11019559" y="9273016"/>
            <a:ext cx="1809750" cy="746760"/>
            <a:chOff x="11019559" y="9273016"/>
            <a:chExt cx="1809750" cy="746760"/>
          </a:xfrm>
        </p:grpSpPr>
        <p:pic>
          <p:nvPicPr>
            <p:cNvPr id="114" name="object 114"/>
            <p:cNvPicPr/>
            <p:nvPr/>
          </p:nvPicPr>
          <p:blipFill>
            <a:blip r:embed="rId42" cstate="print"/>
            <a:stretch>
              <a:fillRect/>
            </a:stretch>
          </p:blipFill>
          <p:spPr>
            <a:xfrm>
              <a:off x="11019559" y="9695202"/>
              <a:ext cx="995152" cy="324178"/>
            </a:xfrm>
            <a:prstGeom prst="rect">
              <a:avLst/>
            </a:prstGeom>
          </p:spPr>
        </p:pic>
        <p:pic>
          <p:nvPicPr>
            <p:cNvPr id="115" name="object 115"/>
            <p:cNvPicPr/>
            <p:nvPr/>
          </p:nvPicPr>
          <p:blipFill>
            <a:blip r:embed="rId43" cstate="print"/>
            <a:stretch>
              <a:fillRect/>
            </a:stretch>
          </p:blipFill>
          <p:spPr>
            <a:xfrm>
              <a:off x="11904140" y="9273016"/>
              <a:ext cx="924788" cy="417160"/>
            </a:xfrm>
            <a:prstGeom prst="rect">
              <a:avLst/>
            </a:prstGeom>
          </p:spPr>
        </p:pic>
      </p:grpSp>
      <p:sp>
        <p:nvSpPr>
          <p:cNvPr id="116" name="object 116"/>
          <p:cNvSpPr/>
          <p:nvPr/>
        </p:nvSpPr>
        <p:spPr>
          <a:xfrm>
            <a:off x="13114156" y="8922733"/>
            <a:ext cx="0" cy="1064895"/>
          </a:xfrm>
          <a:custGeom>
            <a:avLst/>
            <a:gdLst/>
            <a:ahLst/>
            <a:cxnLst/>
            <a:rect l="l" t="t" r="r" b="b"/>
            <a:pathLst>
              <a:path h="1064895">
                <a:moveTo>
                  <a:pt x="0" y="0"/>
                </a:moveTo>
                <a:lnTo>
                  <a:pt x="0" y="1064799"/>
                </a:lnTo>
              </a:path>
            </a:pathLst>
          </a:custGeom>
          <a:ln w="10470">
            <a:solidFill>
              <a:srgbClr val="7F7F7F"/>
            </a:solidFill>
          </a:ln>
        </p:spPr>
        <p:txBody>
          <a:bodyPr wrap="square" lIns="0" tIns="0" rIns="0" bIns="0" rtlCol="0"/>
          <a:lstStyle/>
          <a:p>
            <a:endParaRPr/>
          </a:p>
        </p:txBody>
      </p:sp>
      <p:grpSp>
        <p:nvGrpSpPr>
          <p:cNvPr id="117" name="object 117"/>
          <p:cNvGrpSpPr/>
          <p:nvPr/>
        </p:nvGrpSpPr>
        <p:grpSpPr>
          <a:xfrm>
            <a:off x="13387026" y="8914880"/>
            <a:ext cx="2360930" cy="252729"/>
            <a:chOff x="13387026" y="8914880"/>
            <a:chExt cx="2360930" cy="252729"/>
          </a:xfrm>
        </p:grpSpPr>
        <p:sp>
          <p:nvSpPr>
            <p:cNvPr id="118" name="object 118"/>
            <p:cNvSpPr/>
            <p:nvPr/>
          </p:nvSpPr>
          <p:spPr>
            <a:xfrm>
              <a:off x="13394879" y="8922733"/>
              <a:ext cx="2345055" cy="236854"/>
            </a:xfrm>
            <a:custGeom>
              <a:avLst/>
              <a:gdLst/>
              <a:ahLst/>
              <a:cxnLst/>
              <a:rect l="l" t="t" r="r" b="b"/>
              <a:pathLst>
                <a:path w="2345055" h="236854">
                  <a:moveTo>
                    <a:pt x="2226424" y="0"/>
                  </a:moveTo>
                  <a:lnTo>
                    <a:pt x="118216" y="0"/>
                  </a:lnTo>
                  <a:lnTo>
                    <a:pt x="72180" y="9297"/>
                  </a:lnTo>
                  <a:lnTo>
                    <a:pt x="34606" y="34653"/>
                  </a:lnTo>
                  <a:lnTo>
                    <a:pt x="9283" y="72259"/>
                  </a:lnTo>
                  <a:lnTo>
                    <a:pt x="0" y="118310"/>
                  </a:lnTo>
                  <a:lnTo>
                    <a:pt x="9283" y="164361"/>
                  </a:lnTo>
                  <a:lnTo>
                    <a:pt x="34606" y="201967"/>
                  </a:lnTo>
                  <a:lnTo>
                    <a:pt x="72180" y="227323"/>
                  </a:lnTo>
                  <a:lnTo>
                    <a:pt x="118216" y="236621"/>
                  </a:lnTo>
                  <a:lnTo>
                    <a:pt x="2226424" y="236621"/>
                  </a:lnTo>
                  <a:lnTo>
                    <a:pt x="2272476" y="227323"/>
                  </a:lnTo>
                  <a:lnTo>
                    <a:pt x="2310086" y="201967"/>
                  </a:lnTo>
                  <a:lnTo>
                    <a:pt x="2335445" y="164361"/>
                  </a:lnTo>
                  <a:lnTo>
                    <a:pt x="2344745" y="118310"/>
                  </a:lnTo>
                  <a:lnTo>
                    <a:pt x="2335445" y="72259"/>
                  </a:lnTo>
                  <a:lnTo>
                    <a:pt x="2310086" y="34653"/>
                  </a:lnTo>
                  <a:lnTo>
                    <a:pt x="2272476" y="9297"/>
                  </a:lnTo>
                  <a:lnTo>
                    <a:pt x="2226424" y="0"/>
                  </a:lnTo>
                  <a:close/>
                </a:path>
              </a:pathLst>
            </a:custGeom>
            <a:solidFill>
              <a:srgbClr val="C2E3FC"/>
            </a:solidFill>
          </p:spPr>
          <p:txBody>
            <a:bodyPr wrap="square" lIns="0" tIns="0" rIns="0" bIns="0" rtlCol="0"/>
            <a:lstStyle/>
            <a:p>
              <a:endParaRPr/>
            </a:p>
          </p:txBody>
        </p:sp>
        <p:sp>
          <p:nvSpPr>
            <p:cNvPr id="119" name="object 119"/>
            <p:cNvSpPr/>
            <p:nvPr/>
          </p:nvSpPr>
          <p:spPr>
            <a:xfrm>
              <a:off x="13394879" y="8922733"/>
              <a:ext cx="2345055" cy="236854"/>
            </a:xfrm>
            <a:custGeom>
              <a:avLst/>
              <a:gdLst/>
              <a:ahLst/>
              <a:cxnLst/>
              <a:rect l="l" t="t" r="r" b="b"/>
              <a:pathLst>
                <a:path w="2345055" h="236854">
                  <a:moveTo>
                    <a:pt x="0" y="118311"/>
                  </a:moveTo>
                  <a:lnTo>
                    <a:pt x="9297" y="72259"/>
                  </a:lnTo>
                  <a:lnTo>
                    <a:pt x="34652" y="34652"/>
                  </a:lnTo>
                  <a:lnTo>
                    <a:pt x="72258" y="9297"/>
                  </a:lnTo>
                  <a:lnTo>
                    <a:pt x="118310" y="0"/>
                  </a:lnTo>
                  <a:lnTo>
                    <a:pt x="2226509" y="0"/>
                  </a:lnTo>
                  <a:lnTo>
                    <a:pt x="2272561" y="9297"/>
                  </a:lnTo>
                  <a:lnTo>
                    <a:pt x="2310167" y="34652"/>
                  </a:lnTo>
                  <a:lnTo>
                    <a:pt x="2335522" y="72259"/>
                  </a:lnTo>
                  <a:lnTo>
                    <a:pt x="2344819" y="118311"/>
                  </a:lnTo>
                  <a:lnTo>
                    <a:pt x="2335522" y="164363"/>
                  </a:lnTo>
                  <a:lnTo>
                    <a:pt x="2310167" y="201969"/>
                  </a:lnTo>
                  <a:lnTo>
                    <a:pt x="2272561" y="227324"/>
                  </a:lnTo>
                  <a:lnTo>
                    <a:pt x="2226509" y="236622"/>
                  </a:lnTo>
                  <a:lnTo>
                    <a:pt x="118310" y="236622"/>
                  </a:lnTo>
                  <a:lnTo>
                    <a:pt x="72258" y="227324"/>
                  </a:lnTo>
                  <a:lnTo>
                    <a:pt x="34652" y="201969"/>
                  </a:lnTo>
                  <a:lnTo>
                    <a:pt x="9297" y="164363"/>
                  </a:lnTo>
                  <a:lnTo>
                    <a:pt x="0" y="118311"/>
                  </a:lnTo>
                  <a:close/>
                </a:path>
              </a:pathLst>
            </a:custGeom>
            <a:ln w="15706">
              <a:solidFill>
                <a:srgbClr val="C2E3FC"/>
              </a:solidFill>
            </a:ln>
          </p:spPr>
          <p:txBody>
            <a:bodyPr wrap="square" lIns="0" tIns="0" rIns="0" bIns="0" rtlCol="0"/>
            <a:lstStyle/>
            <a:p>
              <a:endParaRPr/>
            </a:p>
          </p:txBody>
        </p:sp>
      </p:grpSp>
      <p:sp>
        <p:nvSpPr>
          <p:cNvPr id="120" name="object 120"/>
          <p:cNvSpPr txBox="1"/>
          <p:nvPr/>
        </p:nvSpPr>
        <p:spPr>
          <a:xfrm>
            <a:off x="13448565" y="8921897"/>
            <a:ext cx="2237105" cy="226695"/>
          </a:xfrm>
          <a:prstGeom prst="rect">
            <a:avLst/>
          </a:prstGeom>
        </p:spPr>
        <p:txBody>
          <a:bodyPr vert="horz" wrap="square" lIns="0" tIns="15240" rIns="0" bIns="0" rtlCol="0">
            <a:spAutoFit/>
          </a:bodyPr>
          <a:lstStyle/>
          <a:p>
            <a:pPr marL="12700">
              <a:lnSpc>
                <a:spcPct val="100000"/>
              </a:lnSpc>
              <a:spcBef>
                <a:spcPts val="120"/>
              </a:spcBef>
            </a:pPr>
            <a:r>
              <a:rPr sz="1300" spc="-80">
                <a:solidFill>
                  <a:srgbClr val="262626"/>
                </a:solidFill>
                <a:latin typeface="Microsoft Sans Serif"/>
                <a:cs typeface="Microsoft Sans Serif"/>
              </a:rPr>
              <a:t>TRADING</a:t>
            </a:r>
            <a:r>
              <a:rPr sz="1300" spc="-10">
                <a:solidFill>
                  <a:srgbClr val="262626"/>
                </a:solidFill>
                <a:latin typeface="Microsoft Sans Serif"/>
                <a:cs typeface="Microsoft Sans Serif"/>
              </a:rPr>
              <a:t> </a:t>
            </a:r>
            <a:r>
              <a:rPr sz="1300" spc="-50">
                <a:solidFill>
                  <a:srgbClr val="262626"/>
                </a:solidFill>
                <a:latin typeface="Microsoft Sans Serif"/>
                <a:cs typeface="Microsoft Sans Serif"/>
              </a:rPr>
              <a:t>AND</a:t>
            </a:r>
            <a:r>
              <a:rPr sz="1300" spc="-5">
                <a:solidFill>
                  <a:srgbClr val="262626"/>
                </a:solidFill>
                <a:latin typeface="Microsoft Sans Serif"/>
                <a:cs typeface="Microsoft Sans Serif"/>
              </a:rPr>
              <a:t> </a:t>
            </a:r>
            <a:r>
              <a:rPr sz="1300" spc="-40">
                <a:solidFill>
                  <a:srgbClr val="262626"/>
                </a:solidFill>
                <a:latin typeface="Microsoft Sans Serif"/>
                <a:cs typeface="Microsoft Sans Serif"/>
              </a:rPr>
              <a:t>INVESTMENTS</a:t>
            </a:r>
            <a:endParaRPr sz="1300">
              <a:latin typeface="Microsoft Sans Serif"/>
              <a:cs typeface="Microsoft Sans Serif"/>
            </a:endParaRPr>
          </a:p>
        </p:txBody>
      </p:sp>
      <p:pic>
        <p:nvPicPr>
          <p:cNvPr id="121" name="object 121"/>
          <p:cNvPicPr/>
          <p:nvPr/>
        </p:nvPicPr>
        <p:blipFill>
          <a:blip r:embed="rId44" cstate="print"/>
          <a:stretch>
            <a:fillRect/>
          </a:stretch>
        </p:blipFill>
        <p:spPr>
          <a:xfrm>
            <a:off x="13391843" y="9476570"/>
            <a:ext cx="1525431" cy="160832"/>
          </a:xfrm>
          <a:prstGeom prst="rect">
            <a:avLst/>
          </a:prstGeom>
        </p:spPr>
      </p:pic>
      <p:pic>
        <p:nvPicPr>
          <p:cNvPr id="122" name="object 122"/>
          <p:cNvPicPr/>
          <p:nvPr/>
        </p:nvPicPr>
        <p:blipFill>
          <a:blip r:embed="rId45" cstate="print"/>
          <a:stretch>
            <a:fillRect/>
          </a:stretch>
        </p:blipFill>
        <p:spPr>
          <a:xfrm>
            <a:off x="13416973" y="9813314"/>
            <a:ext cx="1108238" cy="103033"/>
          </a:xfrm>
          <a:prstGeom prst="rect">
            <a:avLst/>
          </a:prstGeom>
        </p:spPr>
      </p:pic>
      <p:pic>
        <p:nvPicPr>
          <p:cNvPr id="123" name="object 123"/>
          <p:cNvPicPr/>
          <p:nvPr/>
        </p:nvPicPr>
        <p:blipFill>
          <a:blip r:embed="rId46" cstate="print"/>
          <a:stretch>
            <a:fillRect/>
          </a:stretch>
        </p:blipFill>
        <p:spPr>
          <a:xfrm>
            <a:off x="15120796" y="9300659"/>
            <a:ext cx="449829" cy="595583"/>
          </a:xfrm>
          <a:prstGeom prst="rect">
            <a:avLst/>
          </a:prstGeom>
        </p:spPr>
      </p:pic>
      <p:sp>
        <p:nvSpPr>
          <p:cNvPr id="124" name="object 124"/>
          <p:cNvSpPr/>
          <p:nvPr/>
        </p:nvSpPr>
        <p:spPr>
          <a:xfrm>
            <a:off x="10070876" y="7292950"/>
            <a:ext cx="8904605" cy="0"/>
          </a:xfrm>
          <a:custGeom>
            <a:avLst/>
            <a:gdLst/>
            <a:ahLst/>
            <a:cxnLst/>
            <a:rect l="l" t="t" r="r" b="b"/>
            <a:pathLst>
              <a:path w="8904605">
                <a:moveTo>
                  <a:pt x="0" y="0"/>
                </a:moveTo>
                <a:lnTo>
                  <a:pt x="8904379" y="0"/>
                </a:lnTo>
              </a:path>
            </a:pathLst>
          </a:custGeom>
          <a:ln w="10470">
            <a:solidFill>
              <a:srgbClr val="7F7F7F"/>
            </a:solidFill>
          </a:ln>
        </p:spPr>
        <p:txBody>
          <a:bodyPr wrap="square" lIns="0" tIns="0" rIns="0" bIns="0" rtlCol="0"/>
          <a:lstStyle/>
          <a:p>
            <a:endParaRPr/>
          </a:p>
        </p:txBody>
      </p:sp>
      <p:sp>
        <p:nvSpPr>
          <p:cNvPr id="125" name="object 125"/>
          <p:cNvSpPr/>
          <p:nvPr/>
        </p:nvSpPr>
        <p:spPr>
          <a:xfrm>
            <a:off x="10070876" y="8742749"/>
            <a:ext cx="8904605" cy="0"/>
          </a:xfrm>
          <a:custGeom>
            <a:avLst/>
            <a:gdLst/>
            <a:ahLst/>
            <a:cxnLst/>
            <a:rect l="l" t="t" r="r" b="b"/>
            <a:pathLst>
              <a:path w="8904605">
                <a:moveTo>
                  <a:pt x="0" y="0"/>
                </a:moveTo>
                <a:lnTo>
                  <a:pt x="8904379" y="0"/>
                </a:lnTo>
              </a:path>
            </a:pathLst>
          </a:custGeom>
          <a:ln w="10470">
            <a:solidFill>
              <a:srgbClr val="7F7F7F"/>
            </a:solidFill>
          </a:ln>
        </p:spPr>
        <p:txBody>
          <a:bodyPr wrap="square" lIns="0" tIns="0" rIns="0" bIns="0" rtlCol="0"/>
          <a:lstStyle/>
          <a:p>
            <a:endParaRPr/>
          </a:p>
        </p:txBody>
      </p:sp>
      <p:sp>
        <p:nvSpPr>
          <p:cNvPr id="126" name="object 2">
            <a:extLst>
              <a:ext uri="{FF2B5EF4-FFF2-40B4-BE49-F238E27FC236}">
                <a16:creationId xmlns:a16="http://schemas.microsoft.com/office/drawing/2014/main" id="{F19BAF3D-4BB1-3101-EC07-822058FE5F3E}"/>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3" name="object 8">
            <a:extLst>
              <a:ext uri="{FF2B5EF4-FFF2-40B4-BE49-F238E27FC236}">
                <a16:creationId xmlns:a16="http://schemas.microsoft.com/office/drawing/2014/main" id="{1AF2C194-B53C-0EB6-E8B2-5D055C9837F2}"/>
              </a:ext>
            </a:extLst>
          </p:cNvPr>
          <p:cNvPicPr/>
          <p:nvPr/>
        </p:nvPicPr>
        <p:blipFill>
          <a:blip r:embed="rId47" cstate="print"/>
          <a:stretch>
            <a:fillRect/>
          </a:stretch>
        </p:blipFill>
        <p:spPr>
          <a:xfrm>
            <a:off x="17656879" y="247382"/>
            <a:ext cx="1548015" cy="329204"/>
          </a:xfrm>
          <a:prstGeom prst="rect">
            <a:avLst/>
          </a:prstGeom>
        </p:spPr>
      </p:pic>
      <p:sp>
        <p:nvSpPr>
          <p:cNvPr id="127" name="object 2">
            <a:extLst>
              <a:ext uri="{FF2B5EF4-FFF2-40B4-BE49-F238E27FC236}">
                <a16:creationId xmlns:a16="http://schemas.microsoft.com/office/drawing/2014/main" id="{114B8CB2-8209-C679-1C28-B40734755A8E}"/>
              </a:ext>
            </a:extLst>
          </p:cNvPr>
          <p:cNvSpPr/>
          <p:nvPr/>
        </p:nvSpPr>
        <p:spPr>
          <a:xfrm>
            <a:off x="0" y="0"/>
            <a:ext cx="20104100" cy="11309350"/>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099" cy="11308556"/>
            <a:chOff x="0" y="0"/>
            <a:chExt cx="20104099" cy="11308556"/>
          </a:xfrm>
        </p:grpSpPr>
        <p:pic>
          <p:nvPicPr>
            <p:cNvPr id="3" name="object 3"/>
            <p:cNvPicPr/>
            <p:nvPr/>
          </p:nvPicPr>
          <p:blipFill>
            <a:blip r:embed="rId2" cstate="print"/>
            <a:stretch>
              <a:fillRect/>
            </a:stretch>
          </p:blipFill>
          <p:spPr>
            <a:xfrm>
              <a:off x="0" y="0"/>
              <a:ext cx="20104099" cy="11308556"/>
            </a:xfrm>
            <a:prstGeom prst="rect">
              <a:avLst/>
            </a:prstGeom>
          </p:spPr>
        </p:pic>
        <p:pic>
          <p:nvPicPr>
            <p:cNvPr id="4" name="object 4"/>
            <p:cNvPicPr/>
            <p:nvPr/>
          </p:nvPicPr>
          <p:blipFill>
            <a:blip r:embed="rId3" cstate="print"/>
            <a:stretch>
              <a:fillRect/>
            </a:stretch>
          </p:blipFill>
          <p:spPr>
            <a:xfrm>
              <a:off x="10054667" y="0"/>
              <a:ext cx="10049432" cy="11308556"/>
            </a:xfrm>
            <a:prstGeom prst="rect">
              <a:avLst/>
            </a:prstGeom>
          </p:spPr>
        </p:pic>
      </p:grpSp>
      <p:sp>
        <p:nvSpPr>
          <p:cNvPr id="5" name="object 5"/>
          <p:cNvSpPr txBox="1">
            <a:spLocks noGrp="1"/>
          </p:cNvSpPr>
          <p:nvPr>
            <p:ph type="title"/>
          </p:nvPr>
        </p:nvSpPr>
        <p:spPr>
          <a:xfrm>
            <a:off x="1634286" y="5904607"/>
            <a:ext cx="6845300" cy="1030605"/>
          </a:xfrm>
          <a:prstGeom prst="rect">
            <a:avLst/>
          </a:prstGeom>
        </p:spPr>
        <p:txBody>
          <a:bodyPr vert="horz" wrap="square" lIns="0" tIns="12065" rIns="0" bIns="0" rtlCol="0">
            <a:spAutoFit/>
          </a:bodyPr>
          <a:lstStyle/>
          <a:p>
            <a:pPr marL="12700">
              <a:lnSpc>
                <a:spcPct val="100000"/>
              </a:lnSpc>
              <a:spcBef>
                <a:spcPts val="95"/>
              </a:spcBef>
            </a:pPr>
            <a:r>
              <a:rPr sz="6600" spc="-80"/>
              <a:t>Jaguar</a:t>
            </a:r>
            <a:r>
              <a:rPr sz="6600" spc="-310"/>
              <a:t> </a:t>
            </a:r>
            <a:r>
              <a:rPr sz="6600" spc="-210"/>
              <a:t>Land</a:t>
            </a:r>
            <a:r>
              <a:rPr sz="6600" spc="-265"/>
              <a:t> </a:t>
            </a:r>
            <a:r>
              <a:rPr sz="6600" spc="-80"/>
              <a:t>Rover</a:t>
            </a:r>
            <a:endParaRPr sz="6600"/>
          </a:p>
        </p:txBody>
      </p:sp>
      <p:pic>
        <p:nvPicPr>
          <p:cNvPr id="6" name="object 6"/>
          <p:cNvPicPr/>
          <p:nvPr/>
        </p:nvPicPr>
        <p:blipFill>
          <a:blip r:embed="rId4" cstate="print"/>
          <a:stretch>
            <a:fillRect/>
          </a:stretch>
        </p:blipFill>
        <p:spPr>
          <a:xfrm>
            <a:off x="4387719" y="4154009"/>
            <a:ext cx="1336922" cy="1339435"/>
          </a:xfrm>
          <a:prstGeom prst="rect">
            <a:avLst/>
          </a:prstGeom>
        </p:spPr>
      </p:pic>
      <p:sp>
        <p:nvSpPr>
          <p:cNvPr id="7" name="object 7"/>
          <p:cNvSpPr txBox="1"/>
          <p:nvPr/>
        </p:nvSpPr>
        <p:spPr>
          <a:xfrm>
            <a:off x="4622415" y="4478053"/>
            <a:ext cx="868044" cy="628650"/>
          </a:xfrm>
          <a:prstGeom prst="rect">
            <a:avLst/>
          </a:prstGeom>
        </p:spPr>
        <p:txBody>
          <a:bodyPr vert="horz" wrap="square" lIns="0" tIns="13335" rIns="0" bIns="0" rtlCol="0">
            <a:spAutoFit/>
          </a:bodyPr>
          <a:lstStyle/>
          <a:p>
            <a:pPr marL="12700">
              <a:lnSpc>
                <a:spcPct val="100000"/>
              </a:lnSpc>
              <a:spcBef>
                <a:spcPts val="105"/>
              </a:spcBef>
            </a:pPr>
            <a:r>
              <a:rPr sz="3950" spc="-120">
                <a:solidFill>
                  <a:srgbClr val="FFFFFF"/>
                </a:solidFill>
                <a:latin typeface="Microsoft Sans Serif"/>
                <a:cs typeface="Microsoft Sans Serif"/>
              </a:rPr>
              <a:t>JLR</a:t>
            </a:r>
            <a:endParaRPr sz="3950">
              <a:latin typeface="Microsoft Sans Serif"/>
              <a:cs typeface="Microsoft Sans Serif"/>
            </a:endParaRPr>
          </a:p>
        </p:txBody>
      </p:sp>
      <p:grpSp>
        <p:nvGrpSpPr>
          <p:cNvPr id="8" name="object 8"/>
          <p:cNvGrpSpPr/>
          <p:nvPr/>
        </p:nvGrpSpPr>
        <p:grpSpPr>
          <a:xfrm>
            <a:off x="4096210" y="3862500"/>
            <a:ext cx="1920239" cy="1922780"/>
            <a:chOff x="4096210" y="3862500"/>
            <a:chExt cx="1920239" cy="1922780"/>
          </a:xfrm>
        </p:grpSpPr>
        <p:pic>
          <p:nvPicPr>
            <p:cNvPr id="9" name="object 9"/>
            <p:cNvPicPr/>
            <p:nvPr/>
          </p:nvPicPr>
          <p:blipFill>
            <a:blip r:embed="rId5" cstate="print"/>
            <a:stretch>
              <a:fillRect/>
            </a:stretch>
          </p:blipFill>
          <p:spPr>
            <a:xfrm>
              <a:off x="4096210" y="3862500"/>
              <a:ext cx="1919941" cy="1922454"/>
            </a:xfrm>
            <a:prstGeom prst="rect">
              <a:avLst/>
            </a:prstGeom>
          </p:spPr>
        </p:pic>
        <p:sp>
          <p:nvSpPr>
            <p:cNvPr id="10" name="object 10"/>
            <p:cNvSpPr/>
            <p:nvPr/>
          </p:nvSpPr>
          <p:spPr>
            <a:xfrm>
              <a:off x="4314538" y="4081446"/>
              <a:ext cx="1484630" cy="1484630"/>
            </a:xfrm>
            <a:custGeom>
              <a:avLst/>
              <a:gdLst/>
              <a:ahLst/>
              <a:cxnLst/>
              <a:rect l="l" t="t" r="r" b="b"/>
              <a:pathLst>
                <a:path w="1484629" h="1484629">
                  <a:moveTo>
                    <a:pt x="0" y="742031"/>
                  </a:moveTo>
                  <a:lnTo>
                    <a:pt x="1578" y="693242"/>
                  </a:lnTo>
                  <a:lnTo>
                    <a:pt x="6248" y="645296"/>
                  </a:lnTo>
                  <a:lnTo>
                    <a:pt x="13911" y="598291"/>
                  </a:lnTo>
                  <a:lnTo>
                    <a:pt x="24471" y="552323"/>
                  </a:lnTo>
                  <a:lnTo>
                    <a:pt x="37829" y="507492"/>
                  </a:lnTo>
                  <a:lnTo>
                    <a:pt x="53887" y="463894"/>
                  </a:lnTo>
                  <a:lnTo>
                    <a:pt x="72548" y="421628"/>
                  </a:lnTo>
                  <a:lnTo>
                    <a:pt x="93714" y="380791"/>
                  </a:lnTo>
                  <a:lnTo>
                    <a:pt x="117286" y="341482"/>
                  </a:lnTo>
                  <a:lnTo>
                    <a:pt x="143169" y="303797"/>
                  </a:lnTo>
                  <a:lnTo>
                    <a:pt x="171262" y="267835"/>
                  </a:lnTo>
                  <a:lnTo>
                    <a:pt x="201470" y="233693"/>
                  </a:lnTo>
                  <a:lnTo>
                    <a:pt x="233693" y="201470"/>
                  </a:lnTo>
                  <a:lnTo>
                    <a:pt x="267835" y="171262"/>
                  </a:lnTo>
                  <a:lnTo>
                    <a:pt x="303797" y="143169"/>
                  </a:lnTo>
                  <a:lnTo>
                    <a:pt x="341482" y="117286"/>
                  </a:lnTo>
                  <a:lnTo>
                    <a:pt x="380791" y="93714"/>
                  </a:lnTo>
                  <a:lnTo>
                    <a:pt x="421628" y="72548"/>
                  </a:lnTo>
                  <a:lnTo>
                    <a:pt x="463894" y="53887"/>
                  </a:lnTo>
                  <a:lnTo>
                    <a:pt x="507492" y="37829"/>
                  </a:lnTo>
                  <a:lnTo>
                    <a:pt x="552323" y="24471"/>
                  </a:lnTo>
                  <a:lnTo>
                    <a:pt x="598291" y="13911"/>
                  </a:lnTo>
                  <a:lnTo>
                    <a:pt x="645296" y="6248"/>
                  </a:lnTo>
                  <a:lnTo>
                    <a:pt x="693242" y="1578"/>
                  </a:lnTo>
                  <a:lnTo>
                    <a:pt x="742031" y="0"/>
                  </a:lnTo>
                  <a:lnTo>
                    <a:pt x="790820" y="1578"/>
                  </a:lnTo>
                  <a:lnTo>
                    <a:pt x="838766" y="6248"/>
                  </a:lnTo>
                  <a:lnTo>
                    <a:pt x="885772" y="13911"/>
                  </a:lnTo>
                  <a:lnTo>
                    <a:pt x="931739" y="24471"/>
                  </a:lnTo>
                  <a:lnTo>
                    <a:pt x="976570" y="37829"/>
                  </a:lnTo>
                  <a:lnTo>
                    <a:pt x="1020168" y="53887"/>
                  </a:lnTo>
                  <a:lnTo>
                    <a:pt x="1062434" y="72548"/>
                  </a:lnTo>
                  <a:lnTo>
                    <a:pt x="1103271" y="93714"/>
                  </a:lnTo>
                  <a:lnTo>
                    <a:pt x="1142581" y="117286"/>
                  </a:lnTo>
                  <a:lnTo>
                    <a:pt x="1180265" y="143169"/>
                  </a:lnTo>
                  <a:lnTo>
                    <a:pt x="1216227" y="171262"/>
                  </a:lnTo>
                  <a:lnTo>
                    <a:pt x="1250369" y="201470"/>
                  </a:lnTo>
                  <a:lnTo>
                    <a:pt x="1282592" y="233693"/>
                  </a:lnTo>
                  <a:lnTo>
                    <a:pt x="1312800" y="267835"/>
                  </a:lnTo>
                  <a:lnTo>
                    <a:pt x="1340894" y="303797"/>
                  </a:lnTo>
                  <a:lnTo>
                    <a:pt x="1366776" y="341482"/>
                  </a:lnTo>
                  <a:lnTo>
                    <a:pt x="1390349" y="380791"/>
                  </a:lnTo>
                  <a:lnTo>
                    <a:pt x="1411514" y="421628"/>
                  </a:lnTo>
                  <a:lnTo>
                    <a:pt x="1430175" y="463894"/>
                  </a:lnTo>
                  <a:lnTo>
                    <a:pt x="1446233" y="507492"/>
                  </a:lnTo>
                  <a:lnTo>
                    <a:pt x="1459591" y="552323"/>
                  </a:lnTo>
                  <a:lnTo>
                    <a:pt x="1470151" y="598291"/>
                  </a:lnTo>
                  <a:lnTo>
                    <a:pt x="1477815" y="645296"/>
                  </a:lnTo>
                  <a:lnTo>
                    <a:pt x="1482484" y="693242"/>
                  </a:lnTo>
                  <a:lnTo>
                    <a:pt x="1484063" y="742031"/>
                  </a:lnTo>
                  <a:lnTo>
                    <a:pt x="1482484" y="790820"/>
                  </a:lnTo>
                  <a:lnTo>
                    <a:pt x="1477815" y="838766"/>
                  </a:lnTo>
                  <a:lnTo>
                    <a:pt x="1470151" y="885772"/>
                  </a:lnTo>
                  <a:lnTo>
                    <a:pt x="1459591" y="931739"/>
                  </a:lnTo>
                  <a:lnTo>
                    <a:pt x="1446233" y="976570"/>
                  </a:lnTo>
                  <a:lnTo>
                    <a:pt x="1430175" y="1020168"/>
                  </a:lnTo>
                  <a:lnTo>
                    <a:pt x="1411514" y="1062434"/>
                  </a:lnTo>
                  <a:lnTo>
                    <a:pt x="1390349" y="1103271"/>
                  </a:lnTo>
                  <a:lnTo>
                    <a:pt x="1366776" y="1142581"/>
                  </a:lnTo>
                  <a:lnTo>
                    <a:pt x="1340894" y="1180265"/>
                  </a:lnTo>
                  <a:lnTo>
                    <a:pt x="1312800" y="1216227"/>
                  </a:lnTo>
                  <a:lnTo>
                    <a:pt x="1282592" y="1250369"/>
                  </a:lnTo>
                  <a:lnTo>
                    <a:pt x="1250369" y="1282592"/>
                  </a:lnTo>
                  <a:lnTo>
                    <a:pt x="1216227" y="1312800"/>
                  </a:lnTo>
                  <a:lnTo>
                    <a:pt x="1180265" y="1340894"/>
                  </a:lnTo>
                  <a:lnTo>
                    <a:pt x="1142581" y="1366776"/>
                  </a:lnTo>
                  <a:lnTo>
                    <a:pt x="1103271" y="1390349"/>
                  </a:lnTo>
                  <a:lnTo>
                    <a:pt x="1062434" y="1411514"/>
                  </a:lnTo>
                  <a:lnTo>
                    <a:pt x="1020168" y="1430175"/>
                  </a:lnTo>
                  <a:lnTo>
                    <a:pt x="976570" y="1446233"/>
                  </a:lnTo>
                  <a:lnTo>
                    <a:pt x="931739" y="1459591"/>
                  </a:lnTo>
                  <a:lnTo>
                    <a:pt x="885772" y="1470151"/>
                  </a:lnTo>
                  <a:lnTo>
                    <a:pt x="838766" y="1477815"/>
                  </a:lnTo>
                  <a:lnTo>
                    <a:pt x="790820" y="1482484"/>
                  </a:lnTo>
                  <a:lnTo>
                    <a:pt x="742031" y="1484063"/>
                  </a:lnTo>
                  <a:lnTo>
                    <a:pt x="693242" y="1482484"/>
                  </a:lnTo>
                  <a:lnTo>
                    <a:pt x="645296" y="1477815"/>
                  </a:lnTo>
                  <a:lnTo>
                    <a:pt x="598291" y="1470151"/>
                  </a:lnTo>
                  <a:lnTo>
                    <a:pt x="552323" y="1459591"/>
                  </a:lnTo>
                  <a:lnTo>
                    <a:pt x="507492" y="1446233"/>
                  </a:lnTo>
                  <a:lnTo>
                    <a:pt x="463894" y="1430175"/>
                  </a:lnTo>
                  <a:lnTo>
                    <a:pt x="421628" y="1411514"/>
                  </a:lnTo>
                  <a:lnTo>
                    <a:pt x="380791" y="1390349"/>
                  </a:lnTo>
                  <a:lnTo>
                    <a:pt x="341482" y="1366776"/>
                  </a:lnTo>
                  <a:lnTo>
                    <a:pt x="303797" y="1340894"/>
                  </a:lnTo>
                  <a:lnTo>
                    <a:pt x="267835" y="1312800"/>
                  </a:lnTo>
                  <a:lnTo>
                    <a:pt x="233693" y="1282592"/>
                  </a:lnTo>
                  <a:lnTo>
                    <a:pt x="201470" y="1250369"/>
                  </a:lnTo>
                  <a:lnTo>
                    <a:pt x="171262" y="1216227"/>
                  </a:lnTo>
                  <a:lnTo>
                    <a:pt x="143169" y="1180265"/>
                  </a:lnTo>
                  <a:lnTo>
                    <a:pt x="117286" y="1142581"/>
                  </a:lnTo>
                  <a:lnTo>
                    <a:pt x="93714" y="1103271"/>
                  </a:lnTo>
                  <a:lnTo>
                    <a:pt x="72548" y="1062434"/>
                  </a:lnTo>
                  <a:lnTo>
                    <a:pt x="53887" y="1020168"/>
                  </a:lnTo>
                  <a:lnTo>
                    <a:pt x="37829" y="976570"/>
                  </a:lnTo>
                  <a:lnTo>
                    <a:pt x="24471" y="931739"/>
                  </a:lnTo>
                  <a:lnTo>
                    <a:pt x="13911" y="885772"/>
                  </a:lnTo>
                  <a:lnTo>
                    <a:pt x="6248" y="838766"/>
                  </a:lnTo>
                  <a:lnTo>
                    <a:pt x="1578" y="790820"/>
                  </a:lnTo>
                  <a:lnTo>
                    <a:pt x="0" y="742031"/>
                  </a:lnTo>
                  <a:close/>
                </a:path>
              </a:pathLst>
            </a:custGeom>
            <a:ln w="15706">
              <a:solidFill>
                <a:srgbClr val="FFFFFF"/>
              </a:solidFill>
            </a:ln>
          </p:spPr>
          <p:txBody>
            <a:bodyPr wrap="square" lIns="0" tIns="0" rIns="0" bIns="0" rtlCol="0"/>
            <a:lstStyle/>
            <a:p>
              <a:endParaRPr/>
            </a:p>
          </p:txBody>
        </p:sp>
      </p:grpSp>
      <p:grpSp>
        <p:nvGrpSpPr>
          <p:cNvPr id="11" name="object 11"/>
          <p:cNvGrpSpPr/>
          <p:nvPr/>
        </p:nvGrpSpPr>
        <p:grpSpPr>
          <a:xfrm>
            <a:off x="5051333" y="0"/>
            <a:ext cx="10795" cy="11308715"/>
            <a:chOff x="5051333" y="0"/>
            <a:chExt cx="10795" cy="11308715"/>
          </a:xfrm>
        </p:grpSpPr>
        <p:sp>
          <p:nvSpPr>
            <p:cNvPr id="12" name="object 12"/>
            <p:cNvSpPr/>
            <p:nvPr/>
          </p:nvSpPr>
          <p:spPr>
            <a:xfrm>
              <a:off x="5056568" y="0"/>
              <a:ext cx="0" cy="3373120"/>
            </a:xfrm>
            <a:custGeom>
              <a:avLst/>
              <a:gdLst/>
              <a:ahLst/>
              <a:cxnLst/>
              <a:rect l="l" t="t" r="r" b="b"/>
              <a:pathLst>
                <a:path h="3373120">
                  <a:moveTo>
                    <a:pt x="0" y="0"/>
                  </a:moveTo>
                  <a:lnTo>
                    <a:pt x="0" y="3372729"/>
                  </a:lnTo>
                </a:path>
              </a:pathLst>
            </a:custGeom>
            <a:ln w="10470">
              <a:solidFill>
                <a:srgbClr val="262626"/>
              </a:solidFill>
            </a:ln>
          </p:spPr>
          <p:txBody>
            <a:bodyPr wrap="square" lIns="0" tIns="0" rIns="0" bIns="0" rtlCol="0"/>
            <a:lstStyle/>
            <a:p>
              <a:endParaRPr/>
            </a:p>
          </p:txBody>
        </p:sp>
        <p:sp>
          <p:nvSpPr>
            <p:cNvPr id="13" name="object 13"/>
            <p:cNvSpPr/>
            <p:nvPr/>
          </p:nvSpPr>
          <p:spPr>
            <a:xfrm>
              <a:off x="5056568" y="7380320"/>
              <a:ext cx="0" cy="3928745"/>
            </a:xfrm>
            <a:custGeom>
              <a:avLst/>
              <a:gdLst/>
              <a:ahLst/>
              <a:cxnLst/>
              <a:rect l="l" t="t" r="r" b="b"/>
              <a:pathLst>
                <a:path h="3928745">
                  <a:moveTo>
                    <a:pt x="0" y="0"/>
                  </a:moveTo>
                  <a:lnTo>
                    <a:pt x="0" y="3928237"/>
                  </a:lnTo>
                </a:path>
              </a:pathLst>
            </a:custGeom>
            <a:ln w="10470">
              <a:solidFill>
                <a:srgbClr val="262626"/>
              </a:solidFill>
            </a:ln>
          </p:spPr>
          <p:txBody>
            <a:bodyPr wrap="square" lIns="0" tIns="0" rIns="0" bIns="0" rtlCol="0"/>
            <a:lstStyle/>
            <a:p>
              <a:endParaRPr/>
            </a:p>
          </p:txBody>
        </p:sp>
      </p:grpSp>
      <p:pic>
        <p:nvPicPr>
          <p:cNvPr id="14" name="object 8">
            <a:extLst>
              <a:ext uri="{FF2B5EF4-FFF2-40B4-BE49-F238E27FC236}">
                <a16:creationId xmlns:a16="http://schemas.microsoft.com/office/drawing/2014/main" id="{F6B224F5-B2D1-8ACC-F0EB-8AC254CF4DE5}"/>
              </a:ext>
            </a:extLst>
          </p:cNvPr>
          <p:cNvPicPr/>
          <p:nvPr/>
        </p:nvPicPr>
        <p:blipFill>
          <a:blip r:embed="rId6" cstate="print"/>
          <a:stretch>
            <a:fillRect/>
          </a:stretch>
        </p:blipFill>
        <p:spPr>
          <a:xfrm>
            <a:off x="17415177" y="786657"/>
            <a:ext cx="1548015" cy="3292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3" name="object 3"/>
          <p:cNvSpPr/>
          <p:nvPr/>
        </p:nvSpPr>
        <p:spPr>
          <a:xfrm>
            <a:off x="19066329" y="10699500"/>
            <a:ext cx="1038225" cy="0"/>
          </a:xfrm>
          <a:custGeom>
            <a:avLst/>
            <a:gdLst/>
            <a:ahLst/>
            <a:cxnLst/>
            <a:rect l="l" t="t" r="r" b="b"/>
            <a:pathLst>
              <a:path w="1038225">
                <a:moveTo>
                  <a:pt x="0" y="0"/>
                </a:moveTo>
                <a:lnTo>
                  <a:pt x="1037769" y="0"/>
                </a:lnTo>
              </a:path>
            </a:pathLst>
          </a:custGeom>
          <a:ln w="10470">
            <a:solidFill>
              <a:srgbClr val="086BB5"/>
            </a:solidFill>
          </a:ln>
        </p:spPr>
        <p:txBody>
          <a:bodyPr wrap="square" lIns="0" tIns="0" rIns="0" bIns="0" rtlCol="0"/>
          <a:lstStyle/>
          <a:p>
            <a:endParaRPr/>
          </a:p>
        </p:txBody>
      </p:sp>
      <p:pic>
        <p:nvPicPr>
          <p:cNvPr id="5" name="object 5"/>
          <p:cNvPicPr/>
          <p:nvPr/>
        </p:nvPicPr>
        <p:blipFill>
          <a:blip r:embed="rId2" cstate="print"/>
          <a:stretch>
            <a:fillRect/>
          </a:stretch>
        </p:blipFill>
        <p:spPr>
          <a:xfrm>
            <a:off x="0" y="1095673"/>
            <a:ext cx="1015257" cy="271405"/>
          </a:xfrm>
          <a:prstGeom prst="rect">
            <a:avLst/>
          </a:prstGeom>
        </p:spPr>
      </p:pic>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20"/>
              <a:t>JLR</a:t>
            </a:r>
            <a:r>
              <a:rPr spc="-204"/>
              <a:t> </a:t>
            </a:r>
            <a:r>
              <a:rPr spc="-55"/>
              <a:t>Timeline</a:t>
            </a:r>
          </a:p>
        </p:txBody>
      </p:sp>
      <p:grpSp>
        <p:nvGrpSpPr>
          <p:cNvPr id="7" name="object 7"/>
          <p:cNvGrpSpPr/>
          <p:nvPr/>
        </p:nvGrpSpPr>
        <p:grpSpPr>
          <a:xfrm>
            <a:off x="1160849" y="2226859"/>
            <a:ext cx="4018279" cy="990600"/>
            <a:chOff x="1160849" y="2226859"/>
            <a:chExt cx="4018279" cy="990600"/>
          </a:xfrm>
        </p:grpSpPr>
        <p:pic>
          <p:nvPicPr>
            <p:cNvPr id="8" name="object 8"/>
            <p:cNvPicPr/>
            <p:nvPr/>
          </p:nvPicPr>
          <p:blipFill>
            <a:blip r:embed="rId3" cstate="print"/>
            <a:stretch>
              <a:fillRect/>
            </a:stretch>
          </p:blipFill>
          <p:spPr>
            <a:xfrm>
              <a:off x="1166037" y="2231555"/>
              <a:ext cx="4008254" cy="982587"/>
            </a:xfrm>
            <a:prstGeom prst="rect">
              <a:avLst/>
            </a:prstGeom>
          </p:spPr>
        </p:pic>
        <p:sp>
          <p:nvSpPr>
            <p:cNvPr id="9" name="object 9"/>
            <p:cNvSpPr/>
            <p:nvPr/>
          </p:nvSpPr>
          <p:spPr>
            <a:xfrm>
              <a:off x="1166247" y="2232256"/>
              <a:ext cx="4007485" cy="979805"/>
            </a:xfrm>
            <a:custGeom>
              <a:avLst/>
              <a:gdLst/>
              <a:ahLst/>
              <a:cxnLst/>
              <a:rect l="l" t="t" r="r" b="b"/>
              <a:pathLst>
                <a:path w="4007485" h="979805">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10" name="object 10"/>
          <p:cNvSpPr txBox="1"/>
          <p:nvPr/>
        </p:nvSpPr>
        <p:spPr>
          <a:xfrm>
            <a:off x="1356483" y="2250050"/>
            <a:ext cx="3625215" cy="850900"/>
          </a:xfrm>
          <a:prstGeom prst="rect">
            <a:avLst/>
          </a:prstGeom>
        </p:spPr>
        <p:txBody>
          <a:bodyPr vert="horz" wrap="square" lIns="0" tIns="70485" rIns="0" bIns="0" rtlCol="0">
            <a:spAutoFit/>
          </a:bodyPr>
          <a:lstStyle/>
          <a:p>
            <a:pPr marL="12700">
              <a:lnSpc>
                <a:spcPct val="100000"/>
              </a:lnSpc>
              <a:spcBef>
                <a:spcPts val="555"/>
              </a:spcBef>
            </a:pPr>
            <a:r>
              <a:rPr sz="3200" spc="-365">
                <a:solidFill>
                  <a:srgbClr val="065088"/>
                </a:solidFill>
                <a:latin typeface="Arial Black"/>
                <a:cs typeface="Arial Black"/>
              </a:rPr>
              <a:t>1938</a:t>
            </a:r>
            <a:endParaRPr sz="3200">
              <a:latin typeface="Arial Black"/>
              <a:cs typeface="Arial Black"/>
            </a:endParaRPr>
          </a:p>
          <a:p>
            <a:pPr marL="12700">
              <a:lnSpc>
                <a:spcPct val="100000"/>
              </a:lnSpc>
              <a:spcBef>
                <a:spcPts val="220"/>
              </a:spcBef>
            </a:pPr>
            <a:r>
              <a:rPr sz="1650" spc="-60">
                <a:solidFill>
                  <a:srgbClr val="262626"/>
                </a:solidFill>
                <a:latin typeface="Microsoft Sans Serif"/>
                <a:cs typeface="Microsoft Sans Serif"/>
              </a:rPr>
              <a:t>The</a:t>
            </a:r>
            <a:r>
              <a:rPr sz="1650" spc="-45">
                <a:solidFill>
                  <a:srgbClr val="262626"/>
                </a:solidFill>
                <a:latin typeface="Microsoft Sans Serif"/>
                <a:cs typeface="Microsoft Sans Serif"/>
              </a:rPr>
              <a:t> </a:t>
            </a:r>
            <a:r>
              <a:rPr sz="1650">
                <a:solidFill>
                  <a:srgbClr val="262626"/>
                </a:solidFill>
                <a:latin typeface="Microsoft Sans Serif"/>
                <a:cs typeface="Microsoft Sans Serif"/>
              </a:rPr>
              <a:t>first</a:t>
            </a:r>
            <a:r>
              <a:rPr sz="1650" spc="-50">
                <a:solidFill>
                  <a:srgbClr val="262626"/>
                </a:solidFill>
                <a:latin typeface="Microsoft Sans Serif"/>
                <a:cs typeface="Microsoft Sans Serif"/>
              </a:rPr>
              <a:t> </a:t>
            </a:r>
            <a:r>
              <a:rPr sz="1650" spc="-10">
                <a:solidFill>
                  <a:srgbClr val="262626"/>
                </a:solidFill>
                <a:latin typeface="Microsoft Sans Serif"/>
                <a:cs typeface="Microsoft Sans Serif"/>
              </a:rPr>
              <a:t>ever</a:t>
            </a:r>
            <a:r>
              <a:rPr sz="1650" spc="-50">
                <a:solidFill>
                  <a:srgbClr val="262626"/>
                </a:solidFill>
                <a:latin typeface="Microsoft Sans Serif"/>
                <a:cs typeface="Microsoft Sans Serif"/>
              </a:rPr>
              <a:t> </a:t>
            </a:r>
            <a:r>
              <a:rPr sz="1650" spc="-20">
                <a:solidFill>
                  <a:srgbClr val="262626"/>
                </a:solidFill>
                <a:latin typeface="Microsoft Sans Serif"/>
                <a:cs typeface="Microsoft Sans Serif"/>
              </a:rPr>
              <a:t>Jaguar</a:t>
            </a:r>
            <a:r>
              <a:rPr sz="1650" spc="-45">
                <a:solidFill>
                  <a:srgbClr val="262626"/>
                </a:solidFill>
                <a:latin typeface="Microsoft Sans Serif"/>
                <a:cs typeface="Microsoft Sans Serif"/>
              </a:rPr>
              <a:t> </a:t>
            </a:r>
            <a:r>
              <a:rPr sz="1650" spc="-20">
                <a:solidFill>
                  <a:srgbClr val="262626"/>
                </a:solidFill>
                <a:latin typeface="Microsoft Sans Serif"/>
                <a:cs typeface="Microsoft Sans Serif"/>
              </a:rPr>
              <a:t>car</a:t>
            </a:r>
            <a:r>
              <a:rPr sz="1650" spc="-50">
                <a:solidFill>
                  <a:srgbClr val="262626"/>
                </a:solidFill>
                <a:latin typeface="Microsoft Sans Serif"/>
                <a:cs typeface="Microsoft Sans Serif"/>
              </a:rPr>
              <a:t> </a:t>
            </a:r>
            <a:r>
              <a:rPr sz="1650">
                <a:solidFill>
                  <a:srgbClr val="262626"/>
                </a:solidFill>
                <a:latin typeface="Microsoft Sans Serif"/>
                <a:cs typeface="Microsoft Sans Serif"/>
              </a:rPr>
              <a:t>to</a:t>
            </a:r>
            <a:r>
              <a:rPr sz="1650" spc="-50">
                <a:solidFill>
                  <a:srgbClr val="262626"/>
                </a:solidFill>
                <a:latin typeface="Microsoft Sans Serif"/>
                <a:cs typeface="Microsoft Sans Serif"/>
              </a:rPr>
              <a:t> be</a:t>
            </a:r>
            <a:r>
              <a:rPr sz="1650" spc="-40">
                <a:solidFill>
                  <a:srgbClr val="262626"/>
                </a:solidFill>
                <a:latin typeface="Microsoft Sans Serif"/>
                <a:cs typeface="Microsoft Sans Serif"/>
              </a:rPr>
              <a:t> </a:t>
            </a:r>
            <a:r>
              <a:rPr sz="1650" spc="-10">
                <a:solidFill>
                  <a:srgbClr val="262626"/>
                </a:solidFill>
                <a:latin typeface="Microsoft Sans Serif"/>
                <a:cs typeface="Microsoft Sans Serif"/>
              </a:rPr>
              <a:t>produced</a:t>
            </a:r>
            <a:endParaRPr sz="1650">
              <a:latin typeface="Microsoft Sans Serif"/>
              <a:cs typeface="Microsoft Sans Serif"/>
            </a:endParaRPr>
          </a:p>
        </p:txBody>
      </p:sp>
      <p:grpSp>
        <p:nvGrpSpPr>
          <p:cNvPr id="11" name="object 11"/>
          <p:cNvGrpSpPr/>
          <p:nvPr/>
        </p:nvGrpSpPr>
        <p:grpSpPr>
          <a:xfrm>
            <a:off x="1160849" y="3671181"/>
            <a:ext cx="4018279" cy="1465580"/>
            <a:chOff x="1160849" y="3671181"/>
            <a:chExt cx="4018279" cy="1465580"/>
          </a:xfrm>
        </p:grpSpPr>
        <p:pic>
          <p:nvPicPr>
            <p:cNvPr id="12" name="object 12"/>
            <p:cNvPicPr/>
            <p:nvPr/>
          </p:nvPicPr>
          <p:blipFill>
            <a:blip r:embed="rId4" cstate="print"/>
            <a:stretch>
              <a:fillRect/>
            </a:stretch>
          </p:blipFill>
          <p:spPr>
            <a:xfrm>
              <a:off x="1166037" y="3676537"/>
              <a:ext cx="4008254" cy="1455034"/>
            </a:xfrm>
            <a:prstGeom prst="rect">
              <a:avLst/>
            </a:prstGeom>
          </p:spPr>
        </p:pic>
        <p:sp>
          <p:nvSpPr>
            <p:cNvPr id="13" name="object 13"/>
            <p:cNvSpPr/>
            <p:nvPr/>
          </p:nvSpPr>
          <p:spPr>
            <a:xfrm>
              <a:off x="1166247" y="3676579"/>
              <a:ext cx="4007485" cy="1454785"/>
            </a:xfrm>
            <a:custGeom>
              <a:avLst/>
              <a:gdLst/>
              <a:ahLst/>
              <a:cxnLst/>
              <a:rect l="l" t="t" r="r" b="b"/>
              <a:pathLst>
                <a:path w="4007485" h="1454785">
                  <a:moveTo>
                    <a:pt x="0" y="217517"/>
                  </a:moveTo>
                  <a:lnTo>
                    <a:pt x="5744" y="167642"/>
                  </a:lnTo>
                  <a:lnTo>
                    <a:pt x="22108" y="121858"/>
                  </a:lnTo>
                  <a:lnTo>
                    <a:pt x="47786" y="81471"/>
                  </a:lnTo>
                  <a:lnTo>
                    <a:pt x="81471" y="47786"/>
                  </a:lnTo>
                  <a:lnTo>
                    <a:pt x="121858" y="22108"/>
                  </a:lnTo>
                  <a:lnTo>
                    <a:pt x="167642" y="5744"/>
                  </a:lnTo>
                  <a:lnTo>
                    <a:pt x="217517" y="0"/>
                  </a:lnTo>
                  <a:lnTo>
                    <a:pt x="3789453" y="0"/>
                  </a:lnTo>
                  <a:lnTo>
                    <a:pt x="3839328" y="5744"/>
                  </a:lnTo>
                  <a:lnTo>
                    <a:pt x="3885111" y="22108"/>
                  </a:lnTo>
                  <a:lnTo>
                    <a:pt x="3925499" y="47786"/>
                  </a:lnTo>
                  <a:lnTo>
                    <a:pt x="3959184" y="81471"/>
                  </a:lnTo>
                  <a:lnTo>
                    <a:pt x="3984862" y="121858"/>
                  </a:lnTo>
                  <a:lnTo>
                    <a:pt x="4001225" y="167642"/>
                  </a:lnTo>
                  <a:lnTo>
                    <a:pt x="4006970" y="217517"/>
                  </a:lnTo>
                  <a:lnTo>
                    <a:pt x="4006970" y="1236864"/>
                  </a:lnTo>
                  <a:lnTo>
                    <a:pt x="4001225" y="1286739"/>
                  </a:lnTo>
                  <a:lnTo>
                    <a:pt x="3984862" y="1332523"/>
                  </a:lnTo>
                  <a:lnTo>
                    <a:pt x="3959184" y="1372910"/>
                  </a:lnTo>
                  <a:lnTo>
                    <a:pt x="3925499" y="1406595"/>
                  </a:lnTo>
                  <a:lnTo>
                    <a:pt x="3885111" y="1432273"/>
                  </a:lnTo>
                  <a:lnTo>
                    <a:pt x="3839328" y="1448637"/>
                  </a:lnTo>
                  <a:lnTo>
                    <a:pt x="3789453" y="1454381"/>
                  </a:lnTo>
                  <a:lnTo>
                    <a:pt x="217517" y="1454381"/>
                  </a:lnTo>
                  <a:lnTo>
                    <a:pt x="167642" y="1448637"/>
                  </a:lnTo>
                  <a:lnTo>
                    <a:pt x="121858" y="1432273"/>
                  </a:lnTo>
                  <a:lnTo>
                    <a:pt x="81471" y="1406595"/>
                  </a:lnTo>
                  <a:lnTo>
                    <a:pt x="47786" y="1372910"/>
                  </a:lnTo>
                  <a:lnTo>
                    <a:pt x="22108" y="1332523"/>
                  </a:lnTo>
                  <a:lnTo>
                    <a:pt x="5744" y="1286739"/>
                  </a:lnTo>
                  <a:lnTo>
                    <a:pt x="0" y="1236864"/>
                  </a:lnTo>
                  <a:lnTo>
                    <a:pt x="0" y="217517"/>
                  </a:lnTo>
                  <a:close/>
                </a:path>
              </a:pathLst>
            </a:custGeom>
            <a:ln w="10470">
              <a:solidFill>
                <a:srgbClr val="065088"/>
              </a:solidFill>
            </a:ln>
          </p:spPr>
          <p:txBody>
            <a:bodyPr wrap="square" lIns="0" tIns="0" rIns="0" bIns="0" rtlCol="0"/>
            <a:lstStyle/>
            <a:p>
              <a:endParaRPr/>
            </a:p>
          </p:txBody>
        </p:sp>
      </p:grpSp>
      <p:sp>
        <p:nvSpPr>
          <p:cNvPr id="14" name="object 14"/>
          <p:cNvSpPr txBox="1"/>
          <p:nvPr/>
        </p:nvSpPr>
        <p:spPr>
          <a:xfrm>
            <a:off x="1365655" y="3682468"/>
            <a:ext cx="3388360" cy="1353185"/>
          </a:xfrm>
          <a:prstGeom prst="rect">
            <a:avLst/>
          </a:prstGeom>
        </p:spPr>
        <p:txBody>
          <a:bodyPr vert="horz" wrap="square" lIns="0" tIns="70485" rIns="0" bIns="0" rtlCol="0">
            <a:spAutoFit/>
          </a:bodyPr>
          <a:lstStyle/>
          <a:p>
            <a:pPr marL="12700">
              <a:lnSpc>
                <a:spcPct val="100000"/>
              </a:lnSpc>
              <a:spcBef>
                <a:spcPts val="555"/>
              </a:spcBef>
            </a:pPr>
            <a:r>
              <a:rPr sz="3200" spc="-365">
                <a:solidFill>
                  <a:srgbClr val="065088"/>
                </a:solidFill>
                <a:latin typeface="Arial Black"/>
                <a:cs typeface="Arial Black"/>
              </a:rPr>
              <a:t>1948</a:t>
            </a:r>
            <a:endParaRPr sz="3200">
              <a:latin typeface="Arial Black"/>
              <a:cs typeface="Arial Black"/>
            </a:endParaRPr>
          </a:p>
          <a:p>
            <a:pPr marL="12700">
              <a:lnSpc>
                <a:spcPts val="1980"/>
              </a:lnSpc>
              <a:spcBef>
                <a:spcPts val="220"/>
              </a:spcBef>
            </a:pPr>
            <a:r>
              <a:rPr sz="1650" spc="-60">
                <a:solidFill>
                  <a:srgbClr val="262626"/>
                </a:solidFill>
                <a:latin typeface="Microsoft Sans Serif"/>
                <a:cs typeface="Microsoft Sans Serif"/>
              </a:rPr>
              <a:t>The</a:t>
            </a:r>
            <a:r>
              <a:rPr sz="1650" spc="-55">
                <a:solidFill>
                  <a:srgbClr val="262626"/>
                </a:solidFill>
                <a:latin typeface="Microsoft Sans Serif"/>
                <a:cs typeface="Microsoft Sans Serif"/>
              </a:rPr>
              <a:t> </a:t>
            </a:r>
            <a:r>
              <a:rPr sz="1650" spc="-10">
                <a:solidFill>
                  <a:srgbClr val="262626"/>
                </a:solidFill>
                <a:latin typeface="Microsoft Sans Serif"/>
                <a:cs typeface="Microsoft Sans Serif"/>
              </a:rPr>
              <a:t>debut</a:t>
            </a:r>
            <a:r>
              <a:rPr sz="1650" spc="-55">
                <a:solidFill>
                  <a:srgbClr val="262626"/>
                </a:solidFill>
                <a:latin typeface="Microsoft Sans Serif"/>
                <a:cs typeface="Microsoft Sans Serif"/>
              </a:rPr>
              <a:t> </a:t>
            </a:r>
            <a:r>
              <a:rPr sz="1650">
                <a:solidFill>
                  <a:srgbClr val="262626"/>
                </a:solidFill>
                <a:latin typeface="Microsoft Sans Serif"/>
                <a:cs typeface="Microsoft Sans Serif"/>
              </a:rPr>
              <a:t>of</a:t>
            </a:r>
            <a:r>
              <a:rPr sz="1650" spc="-45">
                <a:solidFill>
                  <a:srgbClr val="262626"/>
                </a:solidFill>
                <a:latin typeface="Microsoft Sans Serif"/>
                <a:cs typeface="Microsoft Sans Serif"/>
              </a:rPr>
              <a:t> </a:t>
            </a:r>
            <a:r>
              <a:rPr sz="1650" spc="-50">
                <a:solidFill>
                  <a:srgbClr val="262626"/>
                </a:solidFill>
                <a:latin typeface="Microsoft Sans Serif"/>
                <a:cs typeface="Microsoft Sans Serif"/>
              </a:rPr>
              <a:t>Land </a:t>
            </a:r>
            <a:r>
              <a:rPr sz="1650" spc="-10">
                <a:solidFill>
                  <a:srgbClr val="262626"/>
                </a:solidFill>
                <a:latin typeface="Microsoft Sans Serif"/>
                <a:cs typeface="Microsoft Sans Serif"/>
              </a:rPr>
              <a:t>Rover;</a:t>
            </a:r>
            <a:endParaRPr sz="1650">
              <a:latin typeface="Microsoft Sans Serif"/>
              <a:cs typeface="Microsoft Sans Serif"/>
            </a:endParaRPr>
          </a:p>
          <a:p>
            <a:pPr marL="12700" marR="5080">
              <a:lnSpc>
                <a:spcPct val="100000"/>
              </a:lnSpc>
            </a:pPr>
            <a:r>
              <a:rPr sz="1650" spc="-65">
                <a:solidFill>
                  <a:srgbClr val="262626"/>
                </a:solidFill>
                <a:latin typeface="Microsoft Sans Serif"/>
                <a:cs typeface="Microsoft Sans Serif"/>
              </a:rPr>
              <a:t>To</a:t>
            </a:r>
            <a:r>
              <a:rPr sz="1650" spc="-70">
                <a:solidFill>
                  <a:srgbClr val="262626"/>
                </a:solidFill>
                <a:latin typeface="Microsoft Sans Serif"/>
                <a:cs typeface="Microsoft Sans Serif"/>
              </a:rPr>
              <a:t> </a:t>
            </a:r>
            <a:r>
              <a:rPr sz="1650" spc="-35">
                <a:solidFill>
                  <a:srgbClr val="262626"/>
                </a:solidFill>
                <a:latin typeface="Microsoft Sans Serif"/>
                <a:cs typeface="Microsoft Sans Serif"/>
              </a:rPr>
              <a:t>showcase</a:t>
            </a:r>
            <a:r>
              <a:rPr sz="1650" spc="-65">
                <a:solidFill>
                  <a:srgbClr val="262626"/>
                </a:solidFill>
                <a:latin typeface="Microsoft Sans Serif"/>
                <a:cs typeface="Microsoft Sans Serif"/>
              </a:rPr>
              <a:t> </a:t>
            </a:r>
            <a:r>
              <a:rPr sz="1650">
                <a:solidFill>
                  <a:srgbClr val="262626"/>
                </a:solidFill>
                <a:latin typeface="Microsoft Sans Serif"/>
                <a:cs typeface="Microsoft Sans Serif"/>
              </a:rPr>
              <a:t>the</a:t>
            </a:r>
            <a:r>
              <a:rPr sz="1650" spc="-60">
                <a:solidFill>
                  <a:srgbClr val="262626"/>
                </a:solidFill>
                <a:latin typeface="Microsoft Sans Serif"/>
                <a:cs typeface="Microsoft Sans Serif"/>
              </a:rPr>
              <a:t> </a:t>
            </a:r>
            <a:r>
              <a:rPr sz="1650">
                <a:solidFill>
                  <a:srgbClr val="262626"/>
                </a:solidFill>
                <a:latin typeface="Microsoft Sans Serif"/>
                <a:cs typeface="Microsoft Sans Serif"/>
              </a:rPr>
              <a:t>new</a:t>
            </a:r>
            <a:r>
              <a:rPr sz="1650" spc="-65">
                <a:solidFill>
                  <a:srgbClr val="262626"/>
                </a:solidFill>
                <a:latin typeface="Microsoft Sans Serif"/>
                <a:cs typeface="Microsoft Sans Serif"/>
              </a:rPr>
              <a:t> </a:t>
            </a:r>
            <a:r>
              <a:rPr sz="1650" spc="-120">
                <a:solidFill>
                  <a:srgbClr val="262626"/>
                </a:solidFill>
                <a:latin typeface="Microsoft Sans Serif"/>
                <a:cs typeface="Microsoft Sans Serif"/>
              </a:rPr>
              <a:t>XK</a:t>
            </a:r>
            <a:r>
              <a:rPr sz="1650" spc="-65">
                <a:solidFill>
                  <a:srgbClr val="262626"/>
                </a:solidFill>
                <a:latin typeface="Microsoft Sans Serif"/>
                <a:cs typeface="Microsoft Sans Serif"/>
              </a:rPr>
              <a:t> </a:t>
            </a:r>
            <a:r>
              <a:rPr sz="1650" spc="-150">
                <a:solidFill>
                  <a:srgbClr val="262626"/>
                </a:solidFill>
                <a:latin typeface="Microsoft Sans Serif"/>
                <a:cs typeface="Microsoft Sans Serif"/>
              </a:rPr>
              <a:t>DOHC</a:t>
            </a:r>
            <a:r>
              <a:rPr sz="1650" spc="-60">
                <a:solidFill>
                  <a:srgbClr val="262626"/>
                </a:solidFill>
                <a:latin typeface="Microsoft Sans Serif"/>
                <a:cs typeface="Microsoft Sans Serif"/>
              </a:rPr>
              <a:t> </a:t>
            </a:r>
            <a:r>
              <a:rPr sz="1650" spc="-20">
                <a:solidFill>
                  <a:srgbClr val="262626"/>
                </a:solidFill>
                <a:latin typeface="Microsoft Sans Serif"/>
                <a:cs typeface="Microsoft Sans Serif"/>
              </a:rPr>
              <a:t>‘six’ </a:t>
            </a:r>
            <a:r>
              <a:rPr sz="1650" spc="-45">
                <a:solidFill>
                  <a:srgbClr val="262626"/>
                </a:solidFill>
                <a:latin typeface="Microsoft Sans Serif"/>
                <a:cs typeface="Microsoft Sans Serif"/>
              </a:rPr>
              <a:t>engine,</a:t>
            </a:r>
            <a:r>
              <a:rPr sz="1650" spc="-70">
                <a:solidFill>
                  <a:srgbClr val="262626"/>
                </a:solidFill>
                <a:latin typeface="Microsoft Sans Serif"/>
                <a:cs typeface="Microsoft Sans Serif"/>
              </a:rPr>
              <a:t> </a:t>
            </a:r>
            <a:r>
              <a:rPr sz="1650">
                <a:solidFill>
                  <a:srgbClr val="262626"/>
                </a:solidFill>
                <a:latin typeface="Microsoft Sans Serif"/>
                <a:cs typeface="Microsoft Sans Serif"/>
              </a:rPr>
              <a:t>the</a:t>
            </a:r>
            <a:r>
              <a:rPr sz="1650" spc="-60">
                <a:solidFill>
                  <a:srgbClr val="262626"/>
                </a:solidFill>
                <a:latin typeface="Microsoft Sans Serif"/>
                <a:cs typeface="Microsoft Sans Serif"/>
              </a:rPr>
              <a:t> </a:t>
            </a:r>
            <a:r>
              <a:rPr sz="1650" spc="-20">
                <a:solidFill>
                  <a:srgbClr val="262626"/>
                </a:solidFill>
                <a:latin typeface="Microsoft Sans Serif"/>
                <a:cs typeface="Microsoft Sans Serif"/>
              </a:rPr>
              <a:t>Jaguar</a:t>
            </a:r>
            <a:r>
              <a:rPr sz="1650" spc="-65">
                <a:solidFill>
                  <a:srgbClr val="262626"/>
                </a:solidFill>
                <a:latin typeface="Microsoft Sans Serif"/>
                <a:cs typeface="Microsoft Sans Serif"/>
              </a:rPr>
              <a:t> </a:t>
            </a:r>
            <a:r>
              <a:rPr sz="1650" spc="-95">
                <a:solidFill>
                  <a:srgbClr val="262626"/>
                </a:solidFill>
                <a:latin typeface="Microsoft Sans Serif"/>
                <a:cs typeface="Microsoft Sans Serif"/>
              </a:rPr>
              <a:t>XK120</a:t>
            </a:r>
            <a:r>
              <a:rPr sz="1650" spc="-60">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launched</a:t>
            </a:r>
            <a:endParaRPr sz="1650">
              <a:latin typeface="Microsoft Sans Serif"/>
              <a:cs typeface="Microsoft Sans Serif"/>
            </a:endParaRPr>
          </a:p>
        </p:txBody>
      </p:sp>
      <p:grpSp>
        <p:nvGrpSpPr>
          <p:cNvPr id="15" name="object 15"/>
          <p:cNvGrpSpPr/>
          <p:nvPr/>
        </p:nvGrpSpPr>
        <p:grpSpPr>
          <a:xfrm>
            <a:off x="14864469" y="7988866"/>
            <a:ext cx="4219575" cy="2289810"/>
            <a:chOff x="14864469" y="7988866"/>
            <a:chExt cx="4219575" cy="2289810"/>
          </a:xfrm>
        </p:grpSpPr>
        <p:pic>
          <p:nvPicPr>
            <p:cNvPr id="16" name="object 16"/>
            <p:cNvPicPr/>
            <p:nvPr/>
          </p:nvPicPr>
          <p:blipFill>
            <a:blip r:embed="rId5" cstate="print"/>
            <a:stretch>
              <a:fillRect/>
            </a:stretch>
          </p:blipFill>
          <p:spPr>
            <a:xfrm>
              <a:off x="14864469" y="7988866"/>
              <a:ext cx="4219347" cy="2289354"/>
            </a:xfrm>
            <a:prstGeom prst="rect">
              <a:avLst/>
            </a:prstGeom>
          </p:spPr>
        </p:pic>
        <p:pic>
          <p:nvPicPr>
            <p:cNvPr id="17" name="object 17"/>
            <p:cNvPicPr/>
            <p:nvPr/>
          </p:nvPicPr>
          <p:blipFill>
            <a:blip r:embed="rId6" cstate="print"/>
            <a:stretch>
              <a:fillRect/>
            </a:stretch>
          </p:blipFill>
          <p:spPr>
            <a:xfrm>
              <a:off x="14970119" y="8094926"/>
              <a:ext cx="4006998" cy="2077695"/>
            </a:xfrm>
            <a:prstGeom prst="rect">
              <a:avLst/>
            </a:prstGeom>
          </p:spPr>
        </p:pic>
      </p:grpSp>
      <p:sp>
        <p:nvSpPr>
          <p:cNvPr id="18" name="object 18"/>
          <p:cNvSpPr txBox="1"/>
          <p:nvPr/>
        </p:nvSpPr>
        <p:spPr>
          <a:xfrm>
            <a:off x="15178040" y="8160655"/>
            <a:ext cx="3480435" cy="1856105"/>
          </a:xfrm>
          <a:prstGeom prst="rect">
            <a:avLst/>
          </a:prstGeom>
        </p:spPr>
        <p:txBody>
          <a:bodyPr vert="horz" wrap="square" lIns="0" tIns="70485" rIns="0" bIns="0" rtlCol="0">
            <a:spAutoFit/>
          </a:bodyPr>
          <a:lstStyle/>
          <a:p>
            <a:pPr marL="12700">
              <a:lnSpc>
                <a:spcPct val="100000"/>
              </a:lnSpc>
              <a:spcBef>
                <a:spcPts val="555"/>
              </a:spcBef>
            </a:pPr>
            <a:r>
              <a:rPr sz="3200" spc="-20">
                <a:solidFill>
                  <a:srgbClr val="FFFFFF"/>
                </a:solidFill>
                <a:latin typeface="Arial Black"/>
                <a:cs typeface="Arial Black"/>
              </a:rPr>
              <a:t>2025</a:t>
            </a:r>
            <a:endParaRPr sz="3200">
              <a:latin typeface="Arial Black"/>
              <a:cs typeface="Arial Black"/>
            </a:endParaRPr>
          </a:p>
          <a:p>
            <a:pPr marL="12700" marR="163830" algn="just">
              <a:lnSpc>
                <a:spcPct val="100000"/>
              </a:lnSpc>
              <a:spcBef>
                <a:spcPts val="220"/>
              </a:spcBef>
            </a:pPr>
            <a:r>
              <a:rPr sz="1650" spc="-40">
                <a:solidFill>
                  <a:srgbClr val="FFFFFF"/>
                </a:solidFill>
                <a:latin typeface="Microsoft Sans Serif"/>
                <a:cs typeface="Microsoft Sans Serif"/>
              </a:rPr>
              <a:t>Set</a:t>
            </a:r>
            <a:r>
              <a:rPr sz="1650" spc="-50">
                <a:solidFill>
                  <a:srgbClr val="FFFFFF"/>
                </a:solidFill>
                <a:latin typeface="Microsoft Sans Serif"/>
                <a:cs typeface="Microsoft Sans Serif"/>
              </a:rPr>
              <a:t> </a:t>
            </a:r>
            <a:r>
              <a:rPr sz="1650">
                <a:solidFill>
                  <a:srgbClr val="FFFFFF"/>
                </a:solidFill>
                <a:latin typeface="Microsoft Sans Serif"/>
                <a:cs typeface="Microsoft Sans Serif"/>
              </a:rPr>
              <a:t>to</a:t>
            </a:r>
            <a:r>
              <a:rPr sz="1650" spc="-50">
                <a:solidFill>
                  <a:srgbClr val="FFFFFF"/>
                </a:solidFill>
                <a:latin typeface="Microsoft Sans Serif"/>
                <a:cs typeface="Microsoft Sans Serif"/>
              </a:rPr>
              <a:t> </a:t>
            </a:r>
            <a:r>
              <a:rPr sz="1650" spc="-10">
                <a:solidFill>
                  <a:srgbClr val="FFFFFF"/>
                </a:solidFill>
                <a:latin typeface="Microsoft Sans Serif"/>
                <a:cs typeface="Microsoft Sans Serif"/>
              </a:rPr>
              <a:t>launch</a:t>
            </a:r>
            <a:r>
              <a:rPr sz="1650" spc="-45">
                <a:solidFill>
                  <a:srgbClr val="FFFFFF"/>
                </a:solidFill>
                <a:latin typeface="Microsoft Sans Serif"/>
                <a:cs typeface="Microsoft Sans Serif"/>
              </a:rPr>
              <a:t> </a:t>
            </a:r>
            <a:r>
              <a:rPr sz="1650">
                <a:solidFill>
                  <a:srgbClr val="FFFFFF"/>
                </a:solidFill>
                <a:latin typeface="Microsoft Sans Serif"/>
                <a:cs typeface="Microsoft Sans Serif"/>
              </a:rPr>
              <a:t>first</a:t>
            </a:r>
            <a:r>
              <a:rPr sz="1650" spc="-50">
                <a:solidFill>
                  <a:srgbClr val="FFFFFF"/>
                </a:solidFill>
                <a:latin typeface="Microsoft Sans Serif"/>
                <a:cs typeface="Microsoft Sans Serif"/>
              </a:rPr>
              <a:t> </a:t>
            </a:r>
            <a:r>
              <a:rPr sz="1650">
                <a:solidFill>
                  <a:srgbClr val="FFFFFF"/>
                </a:solidFill>
                <a:latin typeface="Microsoft Sans Serif"/>
                <a:cs typeface="Microsoft Sans Serif"/>
              </a:rPr>
              <a:t>pure</a:t>
            </a:r>
            <a:r>
              <a:rPr sz="1650" spc="-45">
                <a:solidFill>
                  <a:srgbClr val="FFFFFF"/>
                </a:solidFill>
                <a:latin typeface="Microsoft Sans Serif"/>
                <a:cs typeface="Microsoft Sans Serif"/>
              </a:rPr>
              <a:t> </a:t>
            </a:r>
            <a:r>
              <a:rPr sz="1650" spc="-10">
                <a:solidFill>
                  <a:srgbClr val="FFFFFF"/>
                </a:solidFill>
                <a:latin typeface="Microsoft Sans Serif"/>
                <a:cs typeface="Microsoft Sans Serif"/>
              </a:rPr>
              <a:t>electric </a:t>
            </a:r>
            <a:r>
              <a:rPr sz="1650" spc="-65">
                <a:solidFill>
                  <a:srgbClr val="FFFFFF"/>
                </a:solidFill>
                <a:latin typeface="Microsoft Sans Serif"/>
                <a:cs typeface="Microsoft Sans Serif"/>
              </a:rPr>
              <a:t>Range</a:t>
            </a:r>
            <a:r>
              <a:rPr sz="1650" spc="-40">
                <a:solidFill>
                  <a:srgbClr val="FFFFFF"/>
                </a:solidFill>
                <a:latin typeface="Microsoft Sans Serif"/>
                <a:cs typeface="Microsoft Sans Serif"/>
              </a:rPr>
              <a:t> Rover </a:t>
            </a:r>
            <a:r>
              <a:rPr sz="1650" spc="-20">
                <a:solidFill>
                  <a:srgbClr val="FFFFFF"/>
                </a:solidFill>
                <a:latin typeface="Microsoft Sans Serif"/>
                <a:cs typeface="Microsoft Sans Serif"/>
              </a:rPr>
              <a:t>Electric</a:t>
            </a:r>
            <a:r>
              <a:rPr sz="1650" spc="-35">
                <a:solidFill>
                  <a:srgbClr val="FFFFFF"/>
                </a:solidFill>
                <a:latin typeface="Microsoft Sans Serif"/>
                <a:cs typeface="Microsoft Sans Serif"/>
              </a:rPr>
              <a:t> </a:t>
            </a:r>
            <a:r>
              <a:rPr sz="1650">
                <a:solidFill>
                  <a:srgbClr val="FFFFFF"/>
                </a:solidFill>
                <a:latin typeface="Microsoft Sans Serif"/>
                <a:cs typeface="Microsoft Sans Serif"/>
              </a:rPr>
              <a:t>with</a:t>
            </a:r>
            <a:r>
              <a:rPr sz="1650" spc="-40">
                <a:solidFill>
                  <a:srgbClr val="FFFFFF"/>
                </a:solidFill>
                <a:latin typeface="Microsoft Sans Serif"/>
                <a:cs typeface="Microsoft Sans Serif"/>
              </a:rPr>
              <a:t> </a:t>
            </a:r>
            <a:r>
              <a:rPr sz="1650" spc="-10">
                <a:solidFill>
                  <a:srgbClr val="FFFFFF"/>
                </a:solidFill>
                <a:latin typeface="Microsoft Sans Serif"/>
                <a:cs typeface="Microsoft Sans Serif"/>
              </a:rPr>
              <a:t>waitlisting</a:t>
            </a:r>
            <a:endParaRPr sz="1650">
              <a:latin typeface="Microsoft Sans Serif"/>
              <a:cs typeface="Microsoft Sans Serif"/>
            </a:endParaRPr>
          </a:p>
          <a:p>
            <a:pPr marL="12700" marR="5080" algn="just">
              <a:lnSpc>
                <a:spcPts val="1980"/>
              </a:lnSpc>
              <a:spcBef>
                <a:spcPts val="65"/>
              </a:spcBef>
            </a:pPr>
            <a:r>
              <a:rPr sz="1650" spc="-40">
                <a:solidFill>
                  <a:srgbClr val="FFFFFF"/>
                </a:solidFill>
                <a:latin typeface="Microsoft Sans Serif"/>
                <a:cs typeface="Microsoft Sans Serif"/>
              </a:rPr>
              <a:t>exceeding</a:t>
            </a:r>
            <a:r>
              <a:rPr sz="1650" spc="-20">
                <a:solidFill>
                  <a:srgbClr val="FFFFFF"/>
                </a:solidFill>
                <a:latin typeface="Microsoft Sans Serif"/>
                <a:cs typeface="Microsoft Sans Serif"/>
              </a:rPr>
              <a:t> </a:t>
            </a:r>
            <a:r>
              <a:rPr sz="1650">
                <a:solidFill>
                  <a:srgbClr val="FFFFFF"/>
                </a:solidFill>
                <a:latin typeface="Microsoft Sans Serif"/>
                <a:cs typeface="Microsoft Sans Serif"/>
              </a:rPr>
              <a:t>59,000;</a:t>
            </a:r>
            <a:r>
              <a:rPr sz="1650" spc="-15">
                <a:solidFill>
                  <a:srgbClr val="FFFFFF"/>
                </a:solidFill>
                <a:latin typeface="Microsoft Sans Serif"/>
                <a:cs typeface="Microsoft Sans Serif"/>
              </a:rPr>
              <a:t> </a:t>
            </a:r>
            <a:r>
              <a:rPr sz="1650" spc="-20">
                <a:solidFill>
                  <a:srgbClr val="FFFFFF"/>
                </a:solidFill>
                <a:latin typeface="Microsoft Sans Serif"/>
                <a:cs typeface="Microsoft Sans Serif"/>
              </a:rPr>
              <a:t>Jaguar </a:t>
            </a:r>
            <a:r>
              <a:rPr sz="1650" spc="-10">
                <a:solidFill>
                  <a:srgbClr val="FFFFFF"/>
                </a:solidFill>
                <a:latin typeface="Microsoft Sans Serif"/>
                <a:cs typeface="Microsoft Sans Serif"/>
              </a:rPr>
              <a:t>unveiled</a:t>
            </a:r>
            <a:r>
              <a:rPr sz="1650" spc="-15">
                <a:solidFill>
                  <a:srgbClr val="FFFFFF"/>
                </a:solidFill>
                <a:latin typeface="Microsoft Sans Serif"/>
                <a:cs typeface="Microsoft Sans Serif"/>
              </a:rPr>
              <a:t> </a:t>
            </a:r>
            <a:r>
              <a:rPr sz="1650" spc="-25">
                <a:solidFill>
                  <a:srgbClr val="FFFFFF"/>
                </a:solidFill>
                <a:latin typeface="Microsoft Sans Serif"/>
                <a:cs typeface="Microsoft Sans Serif"/>
              </a:rPr>
              <a:t>its </a:t>
            </a:r>
            <a:r>
              <a:rPr sz="1650">
                <a:solidFill>
                  <a:srgbClr val="FFFFFF"/>
                </a:solidFill>
                <a:latin typeface="Microsoft Sans Serif"/>
                <a:cs typeface="Microsoft Sans Serif"/>
              </a:rPr>
              <a:t>new</a:t>
            </a:r>
            <a:r>
              <a:rPr sz="1650" spc="-70">
                <a:solidFill>
                  <a:srgbClr val="FFFFFF"/>
                </a:solidFill>
                <a:latin typeface="Microsoft Sans Serif"/>
                <a:cs typeface="Microsoft Sans Serif"/>
              </a:rPr>
              <a:t> </a:t>
            </a:r>
            <a:r>
              <a:rPr sz="1650" spc="-10">
                <a:solidFill>
                  <a:srgbClr val="FFFFFF"/>
                </a:solidFill>
                <a:latin typeface="Microsoft Sans Serif"/>
                <a:cs typeface="Microsoft Sans Serif"/>
              </a:rPr>
              <a:t>brand</a:t>
            </a:r>
            <a:r>
              <a:rPr sz="1650" spc="-70">
                <a:solidFill>
                  <a:srgbClr val="FFFFFF"/>
                </a:solidFill>
                <a:latin typeface="Microsoft Sans Serif"/>
                <a:cs typeface="Microsoft Sans Serif"/>
              </a:rPr>
              <a:t> </a:t>
            </a:r>
            <a:r>
              <a:rPr sz="1650" spc="-35">
                <a:solidFill>
                  <a:srgbClr val="FFFFFF"/>
                </a:solidFill>
                <a:latin typeface="Microsoft Sans Serif"/>
                <a:cs typeface="Microsoft Sans Serif"/>
              </a:rPr>
              <a:t>and</a:t>
            </a:r>
            <a:r>
              <a:rPr sz="1650" spc="-65">
                <a:solidFill>
                  <a:srgbClr val="FFFFFF"/>
                </a:solidFill>
                <a:latin typeface="Microsoft Sans Serif"/>
                <a:cs typeface="Microsoft Sans Serif"/>
              </a:rPr>
              <a:t> </a:t>
            </a:r>
            <a:r>
              <a:rPr sz="1650">
                <a:solidFill>
                  <a:srgbClr val="FFFFFF"/>
                </a:solidFill>
                <a:latin typeface="Microsoft Sans Serif"/>
                <a:cs typeface="Microsoft Sans Serif"/>
              </a:rPr>
              <a:t>the</a:t>
            </a:r>
            <a:r>
              <a:rPr sz="1650" spc="-70">
                <a:solidFill>
                  <a:srgbClr val="FFFFFF"/>
                </a:solidFill>
                <a:latin typeface="Microsoft Sans Serif"/>
                <a:cs typeface="Microsoft Sans Serif"/>
              </a:rPr>
              <a:t> </a:t>
            </a:r>
            <a:r>
              <a:rPr sz="1650" spc="-20">
                <a:solidFill>
                  <a:srgbClr val="FFFFFF"/>
                </a:solidFill>
                <a:latin typeface="Microsoft Sans Serif"/>
                <a:cs typeface="Microsoft Sans Serif"/>
              </a:rPr>
              <a:t>exuberant</a:t>
            </a:r>
            <a:r>
              <a:rPr sz="1650" spc="-70">
                <a:solidFill>
                  <a:srgbClr val="FFFFFF"/>
                </a:solidFill>
                <a:latin typeface="Microsoft Sans Serif"/>
                <a:cs typeface="Microsoft Sans Serif"/>
              </a:rPr>
              <a:t> </a:t>
            </a:r>
            <a:r>
              <a:rPr sz="1650" spc="-20">
                <a:solidFill>
                  <a:srgbClr val="FFFFFF"/>
                </a:solidFill>
                <a:latin typeface="Microsoft Sans Serif"/>
                <a:cs typeface="Microsoft Sans Serif"/>
              </a:rPr>
              <a:t>Type</a:t>
            </a:r>
            <a:r>
              <a:rPr sz="1650" spc="-70">
                <a:solidFill>
                  <a:srgbClr val="FFFFFF"/>
                </a:solidFill>
                <a:latin typeface="Microsoft Sans Serif"/>
                <a:cs typeface="Microsoft Sans Serif"/>
              </a:rPr>
              <a:t> </a:t>
            </a:r>
            <a:r>
              <a:rPr sz="1650" spc="65">
                <a:solidFill>
                  <a:srgbClr val="FFFFFF"/>
                </a:solidFill>
                <a:latin typeface="Microsoft Sans Serif"/>
                <a:cs typeface="Microsoft Sans Serif"/>
              </a:rPr>
              <a:t>00 </a:t>
            </a:r>
            <a:r>
              <a:rPr sz="1650" spc="-30">
                <a:solidFill>
                  <a:srgbClr val="FFFFFF"/>
                </a:solidFill>
                <a:latin typeface="Microsoft Sans Serif"/>
                <a:cs typeface="Microsoft Sans Serif"/>
              </a:rPr>
              <a:t>design</a:t>
            </a:r>
            <a:r>
              <a:rPr sz="1650" spc="-70">
                <a:solidFill>
                  <a:srgbClr val="FFFFFF"/>
                </a:solidFill>
                <a:latin typeface="Microsoft Sans Serif"/>
                <a:cs typeface="Microsoft Sans Serif"/>
              </a:rPr>
              <a:t> </a:t>
            </a:r>
            <a:r>
              <a:rPr sz="1650" spc="-20">
                <a:solidFill>
                  <a:srgbClr val="FFFFFF"/>
                </a:solidFill>
                <a:latin typeface="Microsoft Sans Serif"/>
                <a:cs typeface="Microsoft Sans Serif"/>
              </a:rPr>
              <a:t>vision</a:t>
            </a:r>
            <a:r>
              <a:rPr sz="1650" spc="-65">
                <a:solidFill>
                  <a:srgbClr val="FFFFFF"/>
                </a:solidFill>
                <a:latin typeface="Microsoft Sans Serif"/>
                <a:cs typeface="Microsoft Sans Serif"/>
              </a:rPr>
              <a:t> </a:t>
            </a:r>
            <a:r>
              <a:rPr sz="1650" spc="-10">
                <a:solidFill>
                  <a:srgbClr val="FFFFFF"/>
                </a:solidFill>
                <a:latin typeface="Microsoft Sans Serif"/>
                <a:cs typeface="Microsoft Sans Serif"/>
              </a:rPr>
              <a:t>concept</a:t>
            </a:r>
            <a:endParaRPr sz="1650">
              <a:latin typeface="Microsoft Sans Serif"/>
              <a:cs typeface="Microsoft Sans Serif"/>
            </a:endParaRPr>
          </a:p>
        </p:txBody>
      </p:sp>
      <p:sp>
        <p:nvSpPr>
          <p:cNvPr id="19" name="object 19"/>
          <p:cNvSpPr/>
          <p:nvPr/>
        </p:nvSpPr>
        <p:spPr>
          <a:xfrm>
            <a:off x="3012379" y="3317553"/>
            <a:ext cx="314960" cy="253365"/>
          </a:xfrm>
          <a:custGeom>
            <a:avLst/>
            <a:gdLst/>
            <a:ahLst/>
            <a:cxnLst/>
            <a:rect l="l" t="t" r="r" b="b"/>
            <a:pathLst>
              <a:path w="314960" h="253364">
                <a:moveTo>
                  <a:pt x="314702" y="0"/>
                </a:moveTo>
                <a:lnTo>
                  <a:pt x="157345" y="95630"/>
                </a:lnTo>
                <a:lnTo>
                  <a:pt x="0" y="0"/>
                </a:lnTo>
                <a:lnTo>
                  <a:pt x="157345" y="253206"/>
                </a:lnTo>
                <a:lnTo>
                  <a:pt x="314702" y="0"/>
                </a:lnTo>
                <a:close/>
              </a:path>
            </a:pathLst>
          </a:custGeom>
          <a:solidFill>
            <a:srgbClr val="065088"/>
          </a:solidFill>
        </p:spPr>
        <p:txBody>
          <a:bodyPr wrap="square" lIns="0" tIns="0" rIns="0" bIns="0" rtlCol="0"/>
          <a:lstStyle/>
          <a:p>
            <a:endParaRPr/>
          </a:p>
        </p:txBody>
      </p:sp>
      <p:grpSp>
        <p:nvGrpSpPr>
          <p:cNvPr id="20" name="object 20"/>
          <p:cNvGrpSpPr/>
          <p:nvPr/>
        </p:nvGrpSpPr>
        <p:grpSpPr>
          <a:xfrm>
            <a:off x="1160849" y="2716604"/>
            <a:ext cx="15970250" cy="6531609"/>
            <a:chOff x="1160849" y="2716604"/>
            <a:chExt cx="15970250" cy="6531609"/>
          </a:xfrm>
        </p:grpSpPr>
        <p:sp>
          <p:nvSpPr>
            <p:cNvPr id="21" name="object 21"/>
            <p:cNvSpPr/>
            <p:nvPr/>
          </p:nvSpPr>
          <p:spPr>
            <a:xfrm>
              <a:off x="5173214" y="2825878"/>
              <a:ext cx="594360" cy="6153150"/>
            </a:xfrm>
            <a:custGeom>
              <a:avLst/>
              <a:gdLst/>
              <a:ahLst/>
              <a:cxnLst/>
              <a:rect l="l" t="t" r="r" b="b"/>
              <a:pathLst>
                <a:path w="594360" h="6153150">
                  <a:moveTo>
                    <a:pt x="0" y="6152832"/>
                  </a:moveTo>
                  <a:lnTo>
                    <a:pt x="297160" y="6152832"/>
                  </a:lnTo>
                  <a:lnTo>
                    <a:pt x="297160" y="0"/>
                  </a:lnTo>
                  <a:lnTo>
                    <a:pt x="594314" y="0"/>
                  </a:lnTo>
                </a:path>
              </a:pathLst>
            </a:custGeom>
            <a:ln w="10470">
              <a:solidFill>
                <a:srgbClr val="065088"/>
              </a:solidFill>
            </a:ln>
          </p:spPr>
          <p:txBody>
            <a:bodyPr wrap="square" lIns="0" tIns="0" rIns="0" bIns="0" rtlCol="0"/>
            <a:lstStyle/>
            <a:p>
              <a:endParaRPr/>
            </a:p>
          </p:txBody>
        </p:sp>
        <p:sp>
          <p:nvSpPr>
            <p:cNvPr id="22" name="object 22"/>
            <p:cNvSpPr/>
            <p:nvPr/>
          </p:nvSpPr>
          <p:spPr>
            <a:xfrm>
              <a:off x="5313021" y="5775698"/>
              <a:ext cx="314960" cy="253365"/>
            </a:xfrm>
            <a:custGeom>
              <a:avLst/>
              <a:gdLst/>
              <a:ahLst/>
              <a:cxnLst/>
              <a:rect l="l" t="t" r="r" b="b"/>
              <a:pathLst>
                <a:path w="314960" h="253364">
                  <a:moveTo>
                    <a:pt x="157345" y="0"/>
                  </a:moveTo>
                  <a:lnTo>
                    <a:pt x="0" y="253206"/>
                  </a:lnTo>
                  <a:lnTo>
                    <a:pt x="157345" y="157576"/>
                  </a:lnTo>
                  <a:lnTo>
                    <a:pt x="314702" y="253206"/>
                  </a:lnTo>
                  <a:lnTo>
                    <a:pt x="157345" y="0"/>
                  </a:lnTo>
                  <a:close/>
                </a:path>
              </a:pathLst>
            </a:custGeom>
            <a:solidFill>
              <a:srgbClr val="065088"/>
            </a:solidFill>
          </p:spPr>
          <p:txBody>
            <a:bodyPr wrap="square" lIns="0" tIns="0" rIns="0" bIns="0" rtlCol="0"/>
            <a:lstStyle/>
            <a:p>
              <a:endParaRPr/>
            </a:p>
          </p:txBody>
        </p:sp>
        <p:sp>
          <p:nvSpPr>
            <p:cNvPr id="23" name="object 23"/>
            <p:cNvSpPr/>
            <p:nvPr/>
          </p:nvSpPr>
          <p:spPr>
            <a:xfrm>
              <a:off x="9774498" y="2722002"/>
              <a:ext cx="594360" cy="6520815"/>
            </a:xfrm>
            <a:custGeom>
              <a:avLst/>
              <a:gdLst/>
              <a:ahLst/>
              <a:cxnLst/>
              <a:rect l="l" t="t" r="r" b="b"/>
              <a:pathLst>
                <a:path w="594359" h="6520815">
                  <a:moveTo>
                    <a:pt x="0" y="6520805"/>
                  </a:moveTo>
                  <a:lnTo>
                    <a:pt x="297161" y="6520805"/>
                  </a:lnTo>
                  <a:lnTo>
                    <a:pt x="297161" y="0"/>
                  </a:lnTo>
                  <a:lnTo>
                    <a:pt x="594315" y="0"/>
                  </a:lnTo>
                </a:path>
              </a:pathLst>
            </a:custGeom>
            <a:ln w="10470">
              <a:solidFill>
                <a:srgbClr val="065088"/>
              </a:solidFill>
            </a:ln>
          </p:spPr>
          <p:txBody>
            <a:bodyPr wrap="square" lIns="0" tIns="0" rIns="0" bIns="0" rtlCol="0"/>
            <a:lstStyle/>
            <a:p>
              <a:endParaRPr/>
            </a:p>
          </p:txBody>
        </p:sp>
        <p:sp>
          <p:nvSpPr>
            <p:cNvPr id="24" name="object 24"/>
            <p:cNvSpPr/>
            <p:nvPr/>
          </p:nvSpPr>
          <p:spPr>
            <a:xfrm>
              <a:off x="9914305" y="5855800"/>
              <a:ext cx="314960" cy="253365"/>
            </a:xfrm>
            <a:custGeom>
              <a:avLst/>
              <a:gdLst/>
              <a:ahLst/>
              <a:cxnLst/>
              <a:rect l="l" t="t" r="r" b="b"/>
              <a:pathLst>
                <a:path w="314959" h="253364">
                  <a:moveTo>
                    <a:pt x="157345" y="0"/>
                  </a:moveTo>
                  <a:lnTo>
                    <a:pt x="0" y="253206"/>
                  </a:lnTo>
                  <a:lnTo>
                    <a:pt x="157345" y="157576"/>
                  </a:lnTo>
                  <a:lnTo>
                    <a:pt x="314691" y="253206"/>
                  </a:lnTo>
                  <a:lnTo>
                    <a:pt x="157345" y="0"/>
                  </a:lnTo>
                  <a:close/>
                </a:path>
              </a:pathLst>
            </a:custGeom>
            <a:solidFill>
              <a:srgbClr val="065088"/>
            </a:solidFill>
          </p:spPr>
          <p:txBody>
            <a:bodyPr wrap="square" lIns="0" tIns="0" rIns="0" bIns="0" rtlCol="0"/>
            <a:lstStyle/>
            <a:p>
              <a:endParaRPr/>
            </a:p>
          </p:txBody>
        </p:sp>
        <p:sp>
          <p:nvSpPr>
            <p:cNvPr id="25" name="object 25"/>
            <p:cNvSpPr/>
            <p:nvPr/>
          </p:nvSpPr>
          <p:spPr>
            <a:xfrm>
              <a:off x="14375793" y="3107499"/>
              <a:ext cx="594360" cy="5924550"/>
            </a:xfrm>
            <a:custGeom>
              <a:avLst/>
              <a:gdLst/>
              <a:ahLst/>
              <a:cxnLst/>
              <a:rect l="l" t="t" r="r" b="b"/>
              <a:pathLst>
                <a:path w="594359" h="5924550">
                  <a:moveTo>
                    <a:pt x="0" y="5924100"/>
                  </a:moveTo>
                  <a:lnTo>
                    <a:pt x="297158" y="5924100"/>
                  </a:lnTo>
                  <a:lnTo>
                    <a:pt x="297158" y="0"/>
                  </a:lnTo>
                  <a:lnTo>
                    <a:pt x="594316" y="0"/>
                  </a:lnTo>
                </a:path>
              </a:pathLst>
            </a:custGeom>
            <a:ln w="10470">
              <a:solidFill>
                <a:srgbClr val="065088"/>
              </a:solidFill>
            </a:ln>
          </p:spPr>
          <p:txBody>
            <a:bodyPr wrap="square" lIns="0" tIns="0" rIns="0" bIns="0" rtlCol="0"/>
            <a:lstStyle/>
            <a:p>
              <a:endParaRPr/>
            </a:p>
          </p:txBody>
        </p:sp>
        <p:sp>
          <p:nvSpPr>
            <p:cNvPr id="26" name="object 26"/>
            <p:cNvSpPr/>
            <p:nvPr/>
          </p:nvSpPr>
          <p:spPr>
            <a:xfrm>
              <a:off x="14515580" y="4085278"/>
              <a:ext cx="2615565" cy="3903345"/>
            </a:xfrm>
            <a:custGeom>
              <a:avLst/>
              <a:gdLst/>
              <a:ahLst/>
              <a:cxnLst/>
              <a:rect l="l" t="t" r="r" b="b"/>
              <a:pathLst>
                <a:path w="2615565" h="3903345">
                  <a:moveTo>
                    <a:pt x="314744" y="2110879"/>
                  </a:moveTo>
                  <a:lnTo>
                    <a:pt x="157365" y="1857679"/>
                  </a:lnTo>
                  <a:lnTo>
                    <a:pt x="0" y="2110879"/>
                  </a:lnTo>
                  <a:lnTo>
                    <a:pt x="157365" y="2015248"/>
                  </a:lnTo>
                  <a:lnTo>
                    <a:pt x="314744" y="2110879"/>
                  </a:lnTo>
                  <a:close/>
                </a:path>
                <a:path w="2615565" h="3903345">
                  <a:moveTo>
                    <a:pt x="2615311" y="3650030"/>
                  </a:moveTo>
                  <a:lnTo>
                    <a:pt x="2458034" y="3745661"/>
                  </a:lnTo>
                  <a:lnTo>
                    <a:pt x="2300655" y="3650030"/>
                  </a:lnTo>
                  <a:lnTo>
                    <a:pt x="2458034" y="3903243"/>
                  </a:lnTo>
                  <a:lnTo>
                    <a:pt x="2615311" y="3650030"/>
                  </a:lnTo>
                  <a:close/>
                </a:path>
                <a:path w="2615565" h="3903345">
                  <a:moveTo>
                    <a:pt x="2615311" y="1437030"/>
                  </a:moveTo>
                  <a:lnTo>
                    <a:pt x="2458034" y="1532661"/>
                  </a:lnTo>
                  <a:lnTo>
                    <a:pt x="2300655" y="1437030"/>
                  </a:lnTo>
                  <a:lnTo>
                    <a:pt x="2458034" y="1690243"/>
                  </a:lnTo>
                  <a:lnTo>
                    <a:pt x="2615311" y="1437030"/>
                  </a:lnTo>
                  <a:close/>
                </a:path>
                <a:path w="2615565" h="3903345">
                  <a:moveTo>
                    <a:pt x="2615311" y="0"/>
                  </a:moveTo>
                  <a:lnTo>
                    <a:pt x="2458034" y="95631"/>
                  </a:lnTo>
                  <a:lnTo>
                    <a:pt x="2300655" y="0"/>
                  </a:lnTo>
                  <a:lnTo>
                    <a:pt x="2458034" y="253212"/>
                  </a:lnTo>
                  <a:lnTo>
                    <a:pt x="2615311" y="0"/>
                  </a:lnTo>
                  <a:close/>
                </a:path>
              </a:pathLst>
            </a:custGeom>
            <a:solidFill>
              <a:srgbClr val="065088"/>
            </a:solidFill>
          </p:spPr>
          <p:txBody>
            <a:bodyPr wrap="square" lIns="0" tIns="0" rIns="0" bIns="0" rtlCol="0"/>
            <a:lstStyle/>
            <a:p>
              <a:endParaRPr/>
            </a:p>
          </p:txBody>
        </p:sp>
        <p:pic>
          <p:nvPicPr>
            <p:cNvPr id="27" name="object 27"/>
            <p:cNvPicPr/>
            <p:nvPr/>
          </p:nvPicPr>
          <p:blipFill>
            <a:blip r:embed="rId7" cstate="print"/>
            <a:stretch>
              <a:fillRect/>
            </a:stretch>
          </p:blipFill>
          <p:spPr>
            <a:xfrm>
              <a:off x="1166037" y="5593965"/>
              <a:ext cx="4008254" cy="982587"/>
            </a:xfrm>
            <a:prstGeom prst="rect">
              <a:avLst/>
            </a:prstGeom>
          </p:spPr>
        </p:pic>
        <p:sp>
          <p:nvSpPr>
            <p:cNvPr id="28" name="object 28"/>
            <p:cNvSpPr/>
            <p:nvPr/>
          </p:nvSpPr>
          <p:spPr>
            <a:xfrm>
              <a:off x="1166247" y="5595798"/>
              <a:ext cx="4007485" cy="979805"/>
            </a:xfrm>
            <a:custGeom>
              <a:avLst/>
              <a:gdLst/>
              <a:ahLst/>
              <a:cxnLst/>
              <a:rect l="l" t="t" r="r" b="b"/>
              <a:pathLst>
                <a:path w="4007485"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33" name="object 33"/>
          <p:cNvSpPr txBox="1"/>
          <p:nvPr/>
        </p:nvSpPr>
        <p:spPr>
          <a:xfrm>
            <a:off x="3339993" y="381005"/>
            <a:ext cx="346075" cy="266098"/>
          </a:xfrm>
          <a:prstGeom prst="rect">
            <a:avLst/>
          </a:prstGeom>
        </p:spPr>
        <p:txBody>
          <a:bodyPr vert="horz" wrap="square" lIns="0" tIns="12065" rIns="0" bIns="0" rtlCol="0">
            <a:spAutoFit/>
          </a:bodyPr>
          <a:lstStyle/>
          <a:p>
            <a:pPr marL="12700">
              <a:lnSpc>
                <a:spcPct val="100000"/>
              </a:lnSpc>
              <a:spcBef>
                <a:spcPts val="95"/>
              </a:spcBef>
            </a:pPr>
            <a:r>
              <a:rPr sz="1650" spc="-125">
                <a:solidFill>
                  <a:srgbClr val="FFFFFF"/>
                </a:solidFill>
                <a:latin typeface="Microsoft Sans Serif"/>
                <a:cs typeface="Microsoft Sans Serif"/>
              </a:rPr>
              <a:t>J</a:t>
            </a:r>
            <a:endParaRPr sz="1650">
              <a:latin typeface="Microsoft Sans Serif"/>
              <a:cs typeface="Microsoft Sans Serif"/>
            </a:endParaRPr>
          </a:p>
        </p:txBody>
      </p:sp>
      <p:sp>
        <p:nvSpPr>
          <p:cNvPr id="34" name="object 34"/>
          <p:cNvSpPr txBox="1"/>
          <p:nvPr/>
        </p:nvSpPr>
        <p:spPr>
          <a:xfrm>
            <a:off x="1356483" y="5614974"/>
            <a:ext cx="2572385" cy="850900"/>
          </a:xfrm>
          <a:prstGeom prst="rect">
            <a:avLst/>
          </a:prstGeom>
        </p:spPr>
        <p:txBody>
          <a:bodyPr vert="horz" wrap="square" lIns="0" tIns="70485" rIns="0" bIns="0" rtlCol="0">
            <a:spAutoFit/>
          </a:bodyPr>
          <a:lstStyle/>
          <a:p>
            <a:pPr marL="12700">
              <a:lnSpc>
                <a:spcPct val="100000"/>
              </a:lnSpc>
              <a:spcBef>
                <a:spcPts val="555"/>
              </a:spcBef>
            </a:pPr>
            <a:r>
              <a:rPr sz="3200" spc="-535">
                <a:solidFill>
                  <a:srgbClr val="065088"/>
                </a:solidFill>
                <a:latin typeface="Arial Black"/>
                <a:cs typeface="Arial Black"/>
              </a:rPr>
              <a:t>1961</a:t>
            </a:r>
            <a:endParaRPr sz="3200">
              <a:latin typeface="Arial Black"/>
              <a:cs typeface="Arial Black"/>
            </a:endParaRPr>
          </a:p>
          <a:p>
            <a:pPr marL="12700">
              <a:lnSpc>
                <a:spcPct val="100000"/>
              </a:lnSpc>
              <a:spcBef>
                <a:spcPts val="220"/>
              </a:spcBef>
            </a:pPr>
            <a:r>
              <a:rPr sz="1650" spc="-20">
                <a:solidFill>
                  <a:srgbClr val="262626"/>
                </a:solidFill>
                <a:latin typeface="Microsoft Sans Serif"/>
                <a:cs typeface="Microsoft Sans Serif"/>
              </a:rPr>
              <a:t>Jaguar</a:t>
            </a:r>
            <a:r>
              <a:rPr sz="1650" spc="-70">
                <a:solidFill>
                  <a:srgbClr val="262626"/>
                </a:solidFill>
                <a:latin typeface="Microsoft Sans Serif"/>
                <a:cs typeface="Microsoft Sans Serif"/>
              </a:rPr>
              <a:t> </a:t>
            </a:r>
            <a:r>
              <a:rPr sz="1650" spc="-25">
                <a:solidFill>
                  <a:srgbClr val="262626"/>
                </a:solidFill>
                <a:latin typeface="Microsoft Sans Serif"/>
                <a:cs typeface="Microsoft Sans Serif"/>
              </a:rPr>
              <a:t>E-</a:t>
            </a:r>
            <a:r>
              <a:rPr sz="1650" spc="-20">
                <a:solidFill>
                  <a:srgbClr val="262626"/>
                </a:solidFill>
                <a:latin typeface="Microsoft Sans Serif"/>
                <a:cs typeface="Microsoft Sans Serif"/>
              </a:rPr>
              <a:t>Type</a:t>
            </a:r>
            <a:r>
              <a:rPr sz="1650" spc="-65">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5">
                <a:solidFill>
                  <a:srgbClr val="262626"/>
                </a:solidFill>
                <a:latin typeface="Microsoft Sans Serif"/>
                <a:cs typeface="Microsoft Sans Serif"/>
              </a:rPr>
              <a:t> </a:t>
            </a:r>
            <a:r>
              <a:rPr sz="1650" spc="-10">
                <a:solidFill>
                  <a:srgbClr val="262626"/>
                </a:solidFill>
                <a:latin typeface="Microsoft Sans Serif"/>
                <a:cs typeface="Microsoft Sans Serif"/>
              </a:rPr>
              <a:t>introduced</a:t>
            </a:r>
            <a:endParaRPr sz="1650">
              <a:latin typeface="Microsoft Sans Serif"/>
              <a:cs typeface="Microsoft Sans Serif"/>
            </a:endParaRPr>
          </a:p>
        </p:txBody>
      </p:sp>
      <p:grpSp>
        <p:nvGrpSpPr>
          <p:cNvPr id="35" name="object 35"/>
          <p:cNvGrpSpPr/>
          <p:nvPr/>
        </p:nvGrpSpPr>
        <p:grpSpPr>
          <a:xfrm>
            <a:off x="1160849" y="7034712"/>
            <a:ext cx="4018279" cy="990600"/>
            <a:chOff x="1160849" y="7034712"/>
            <a:chExt cx="4018279" cy="990600"/>
          </a:xfrm>
        </p:grpSpPr>
        <p:pic>
          <p:nvPicPr>
            <p:cNvPr id="36" name="object 36"/>
            <p:cNvPicPr/>
            <p:nvPr/>
          </p:nvPicPr>
          <p:blipFill>
            <a:blip r:embed="rId8" cstate="print"/>
            <a:stretch>
              <a:fillRect/>
            </a:stretch>
          </p:blipFill>
          <p:spPr>
            <a:xfrm>
              <a:off x="1166037" y="7038947"/>
              <a:ext cx="4008254" cy="982587"/>
            </a:xfrm>
            <a:prstGeom prst="rect">
              <a:avLst/>
            </a:prstGeom>
          </p:spPr>
        </p:pic>
        <p:sp>
          <p:nvSpPr>
            <p:cNvPr id="37" name="object 37"/>
            <p:cNvSpPr/>
            <p:nvPr/>
          </p:nvSpPr>
          <p:spPr>
            <a:xfrm>
              <a:off x="1166247" y="7040109"/>
              <a:ext cx="4007485" cy="979805"/>
            </a:xfrm>
            <a:custGeom>
              <a:avLst/>
              <a:gdLst/>
              <a:ahLst/>
              <a:cxnLst/>
              <a:rect l="l" t="t" r="r" b="b"/>
              <a:pathLst>
                <a:path w="4007485"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38" name="object 38"/>
          <p:cNvSpPr txBox="1"/>
          <p:nvPr/>
        </p:nvSpPr>
        <p:spPr>
          <a:xfrm>
            <a:off x="1356483" y="7059955"/>
            <a:ext cx="1910714" cy="850900"/>
          </a:xfrm>
          <a:prstGeom prst="rect">
            <a:avLst/>
          </a:prstGeom>
        </p:spPr>
        <p:txBody>
          <a:bodyPr vert="horz" wrap="square" lIns="0" tIns="70485" rIns="0" bIns="0" rtlCol="0">
            <a:spAutoFit/>
          </a:bodyPr>
          <a:lstStyle/>
          <a:p>
            <a:pPr marL="12700">
              <a:lnSpc>
                <a:spcPct val="100000"/>
              </a:lnSpc>
              <a:spcBef>
                <a:spcPts val="555"/>
              </a:spcBef>
            </a:pPr>
            <a:r>
              <a:rPr sz="3200" spc="-409">
                <a:solidFill>
                  <a:srgbClr val="065088"/>
                </a:solidFill>
                <a:latin typeface="Arial Black"/>
                <a:cs typeface="Arial Black"/>
              </a:rPr>
              <a:t>1970</a:t>
            </a:r>
            <a:endParaRPr sz="3200">
              <a:latin typeface="Arial Black"/>
              <a:cs typeface="Arial Black"/>
            </a:endParaRPr>
          </a:p>
          <a:p>
            <a:pPr marL="12700">
              <a:lnSpc>
                <a:spcPct val="100000"/>
              </a:lnSpc>
              <a:spcBef>
                <a:spcPts val="220"/>
              </a:spcBef>
            </a:pPr>
            <a:r>
              <a:rPr sz="1650">
                <a:solidFill>
                  <a:srgbClr val="262626"/>
                </a:solidFill>
                <a:latin typeface="Microsoft Sans Serif"/>
                <a:cs typeface="Microsoft Sans Serif"/>
              </a:rPr>
              <a:t>Birth</a:t>
            </a:r>
            <a:r>
              <a:rPr sz="1650" spc="-55">
                <a:solidFill>
                  <a:srgbClr val="262626"/>
                </a:solidFill>
                <a:latin typeface="Microsoft Sans Serif"/>
                <a:cs typeface="Microsoft Sans Serif"/>
              </a:rPr>
              <a:t> </a:t>
            </a:r>
            <a:r>
              <a:rPr sz="1650">
                <a:solidFill>
                  <a:srgbClr val="262626"/>
                </a:solidFill>
                <a:latin typeface="Microsoft Sans Serif"/>
                <a:cs typeface="Microsoft Sans Serif"/>
              </a:rPr>
              <a:t>of</a:t>
            </a:r>
            <a:r>
              <a:rPr sz="1650" spc="-35">
                <a:solidFill>
                  <a:srgbClr val="262626"/>
                </a:solidFill>
                <a:latin typeface="Microsoft Sans Serif"/>
                <a:cs typeface="Microsoft Sans Serif"/>
              </a:rPr>
              <a:t> </a:t>
            </a:r>
            <a:r>
              <a:rPr sz="1650">
                <a:solidFill>
                  <a:srgbClr val="262626"/>
                </a:solidFill>
                <a:latin typeface="Microsoft Sans Serif"/>
                <a:cs typeface="Microsoft Sans Serif"/>
              </a:rPr>
              <a:t>British</a:t>
            </a:r>
            <a:r>
              <a:rPr sz="1650" spc="-50">
                <a:solidFill>
                  <a:srgbClr val="262626"/>
                </a:solidFill>
                <a:latin typeface="Microsoft Sans Serif"/>
                <a:cs typeface="Microsoft Sans Serif"/>
              </a:rPr>
              <a:t> </a:t>
            </a:r>
            <a:r>
              <a:rPr sz="1650" spc="-20">
                <a:solidFill>
                  <a:srgbClr val="262626"/>
                </a:solidFill>
                <a:latin typeface="Microsoft Sans Serif"/>
                <a:cs typeface="Microsoft Sans Serif"/>
              </a:rPr>
              <a:t>Rover</a:t>
            </a:r>
            <a:endParaRPr sz="1650">
              <a:latin typeface="Microsoft Sans Serif"/>
              <a:cs typeface="Microsoft Sans Serif"/>
            </a:endParaRPr>
          </a:p>
        </p:txBody>
      </p:sp>
      <p:grpSp>
        <p:nvGrpSpPr>
          <p:cNvPr id="39" name="object 39"/>
          <p:cNvGrpSpPr/>
          <p:nvPr/>
        </p:nvGrpSpPr>
        <p:grpSpPr>
          <a:xfrm>
            <a:off x="1160849" y="8483579"/>
            <a:ext cx="4018279" cy="990600"/>
            <a:chOff x="1160849" y="8483579"/>
            <a:chExt cx="4018279" cy="990600"/>
          </a:xfrm>
        </p:grpSpPr>
        <p:pic>
          <p:nvPicPr>
            <p:cNvPr id="40" name="object 40"/>
            <p:cNvPicPr/>
            <p:nvPr/>
          </p:nvPicPr>
          <p:blipFill>
            <a:blip r:embed="rId9" cstate="print"/>
            <a:stretch>
              <a:fillRect/>
            </a:stretch>
          </p:blipFill>
          <p:spPr>
            <a:xfrm>
              <a:off x="1166037" y="8488956"/>
              <a:ext cx="4008254" cy="980074"/>
            </a:xfrm>
            <a:prstGeom prst="rect">
              <a:avLst/>
            </a:prstGeom>
          </p:spPr>
        </p:pic>
        <p:sp>
          <p:nvSpPr>
            <p:cNvPr id="41" name="object 41"/>
            <p:cNvSpPr/>
            <p:nvPr/>
          </p:nvSpPr>
          <p:spPr>
            <a:xfrm>
              <a:off x="1166247" y="8488977"/>
              <a:ext cx="4007485" cy="979805"/>
            </a:xfrm>
            <a:custGeom>
              <a:avLst/>
              <a:gdLst/>
              <a:ahLst/>
              <a:cxnLst/>
              <a:rect l="l" t="t" r="r" b="b"/>
              <a:pathLst>
                <a:path w="4007485"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42" name="object 42"/>
          <p:cNvSpPr txBox="1"/>
          <p:nvPr/>
        </p:nvSpPr>
        <p:spPr>
          <a:xfrm>
            <a:off x="1356483" y="8507450"/>
            <a:ext cx="3354070" cy="850900"/>
          </a:xfrm>
          <a:prstGeom prst="rect">
            <a:avLst/>
          </a:prstGeom>
        </p:spPr>
        <p:txBody>
          <a:bodyPr vert="horz" wrap="square" lIns="0" tIns="70485" rIns="0" bIns="0" rtlCol="0">
            <a:spAutoFit/>
          </a:bodyPr>
          <a:lstStyle/>
          <a:p>
            <a:pPr marL="12700">
              <a:lnSpc>
                <a:spcPct val="100000"/>
              </a:lnSpc>
              <a:spcBef>
                <a:spcPts val="555"/>
              </a:spcBef>
            </a:pPr>
            <a:r>
              <a:rPr sz="3200" spc="-340">
                <a:solidFill>
                  <a:srgbClr val="065088"/>
                </a:solidFill>
                <a:latin typeface="Arial Black"/>
                <a:cs typeface="Arial Black"/>
              </a:rPr>
              <a:t>1989</a:t>
            </a:r>
            <a:endParaRPr sz="3200">
              <a:latin typeface="Arial Black"/>
              <a:cs typeface="Arial Black"/>
            </a:endParaRPr>
          </a:p>
          <a:p>
            <a:pPr marL="12700">
              <a:lnSpc>
                <a:spcPct val="100000"/>
              </a:lnSpc>
              <a:spcBef>
                <a:spcPts val="220"/>
              </a:spcBef>
            </a:pPr>
            <a:r>
              <a:rPr sz="1650" spc="50">
                <a:solidFill>
                  <a:srgbClr val="262626"/>
                </a:solidFill>
                <a:latin typeface="Microsoft Sans Serif"/>
                <a:cs typeface="Microsoft Sans Serif"/>
              </a:rPr>
              <a:t>All-</a:t>
            </a:r>
            <a:r>
              <a:rPr sz="1650">
                <a:solidFill>
                  <a:srgbClr val="262626"/>
                </a:solidFill>
                <a:latin typeface="Microsoft Sans Serif"/>
                <a:cs typeface="Microsoft Sans Serif"/>
              </a:rPr>
              <a:t>new</a:t>
            </a:r>
            <a:r>
              <a:rPr sz="1650" spc="-65">
                <a:solidFill>
                  <a:srgbClr val="262626"/>
                </a:solidFill>
                <a:latin typeface="Microsoft Sans Serif"/>
                <a:cs typeface="Microsoft Sans Serif"/>
              </a:rPr>
              <a:t> </a:t>
            </a:r>
            <a:r>
              <a:rPr sz="1650" spc="-20">
                <a:solidFill>
                  <a:srgbClr val="262626"/>
                </a:solidFill>
                <a:latin typeface="Microsoft Sans Serif"/>
                <a:cs typeface="Microsoft Sans Serif"/>
              </a:rPr>
              <a:t>Discovery</a:t>
            </a:r>
            <a:r>
              <a:rPr sz="1650" spc="-65">
                <a:solidFill>
                  <a:srgbClr val="262626"/>
                </a:solidFill>
                <a:latin typeface="Microsoft Sans Serif"/>
                <a:cs typeface="Microsoft Sans Serif"/>
              </a:rPr>
              <a:t> </a:t>
            </a:r>
            <a:r>
              <a:rPr sz="1650" spc="-40">
                <a:solidFill>
                  <a:srgbClr val="262626"/>
                </a:solidFill>
                <a:latin typeface="Microsoft Sans Serif"/>
                <a:cs typeface="Microsoft Sans Serif"/>
              </a:rPr>
              <a:t>Rover</a:t>
            </a:r>
            <a:r>
              <a:rPr sz="1650" spc="-70">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launched</a:t>
            </a:r>
            <a:endParaRPr sz="1650">
              <a:latin typeface="Microsoft Sans Serif"/>
              <a:cs typeface="Microsoft Sans Serif"/>
            </a:endParaRPr>
          </a:p>
        </p:txBody>
      </p:sp>
      <p:grpSp>
        <p:nvGrpSpPr>
          <p:cNvPr id="43" name="object 43"/>
          <p:cNvGrpSpPr/>
          <p:nvPr/>
        </p:nvGrpSpPr>
        <p:grpSpPr>
          <a:xfrm>
            <a:off x="3012379" y="2226859"/>
            <a:ext cx="6767830" cy="6154420"/>
            <a:chOff x="3012379" y="2226859"/>
            <a:chExt cx="6767830" cy="6154420"/>
          </a:xfrm>
        </p:grpSpPr>
        <p:sp>
          <p:nvSpPr>
            <p:cNvPr id="44" name="object 44"/>
            <p:cNvSpPr/>
            <p:nvPr/>
          </p:nvSpPr>
          <p:spPr>
            <a:xfrm>
              <a:off x="3012376" y="5236774"/>
              <a:ext cx="314960" cy="3144520"/>
            </a:xfrm>
            <a:custGeom>
              <a:avLst/>
              <a:gdLst/>
              <a:ahLst/>
              <a:cxnLst/>
              <a:rect l="l" t="t" r="r" b="b"/>
              <a:pathLst>
                <a:path w="314960" h="3144520">
                  <a:moveTo>
                    <a:pt x="314693" y="2890913"/>
                  </a:moveTo>
                  <a:lnTo>
                    <a:pt x="157340" y="2986544"/>
                  </a:lnTo>
                  <a:lnTo>
                    <a:pt x="0" y="2890913"/>
                  </a:lnTo>
                  <a:lnTo>
                    <a:pt x="157340" y="3144113"/>
                  </a:lnTo>
                  <a:lnTo>
                    <a:pt x="314693" y="2890913"/>
                  </a:lnTo>
                  <a:close/>
                </a:path>
                <a:path w="314960" h="3144520">
                  <a:moveTo>
                    <a:pt x="314693" y="1444320"/>
                  </a:moveTo>
                  <a:lnTo>
                    <a:pt x="157340" y="1539951"/>
                  </a:lnTo>
                  <a:lnTo>
                    <a:pt x="0" y="1444320"/>
                  </a:lnTo>
                  <a:lnTo>
                    <a:pt x="157340" y="1697532"/>
                  </a:lnTo>
                  <a:lnTo>
                    <a:pt x="314693" y="1444320"/>
                  </a:lnTo>
                  <a:close/>
                </a:path>
                <a:path w="314960" h="3144520">
                  <a:moveTo>
                    <a:pt x="314693" y="0"/>
                  </a:moveTo>
                  <a:lnTo>
                    <a:pt x="157340" y="95631"/>
                  </a:lnTo>
                  <a:lnTo>
                    <a:pt x="0" y="0"/>
                  </a:lnTo>
                  <a:lnTo>
                    <a:pt x="157340" y="253212"/>
                  </a:lnTo>
                  <a:lnTo>
                    <a:pt x="314693" y="0"/>
                  </a:lnTo>
                  <a:close/>
                </a:path>
              </a:pathLst>
            </a:custGeom>
            <a:solidFill>
              <a:srgbClr val="065088"/>
            </a:solidFill>
          </p:spPr>
          <p:txBody>
            <a:bodyPr wrap="square" lIns="0" tIns="0" rIns="0" bIns="0" rtlCol="0"/>
            <a:lstStyle/>
            <a:p>
              <a:endParaRPr/>
            </a:p>
          </p:txBody>
        </p:sp>
        <p:pic>
          <p:nvPicPr>
            <p:cNvPr id="45" name="object 45"/>
            <p:cNvPicPr/>
            <p:nvPr/>
          </p:nvPicPr>
          <p:blipFill>
            <a:blip r:embed="rId10" cstate="print"/>
            <a:stretch>
              <a:fillRect/>
            </a:stretch>
          </p:blipFill>
          <p:spPr>
            <a:xfrm>
              <a:off x="5767363" y="2231555"/>
              <a:ext cx="4008254" cy="1188654"/>
            </a:xfrm>
            <a:prstGeom prst="rect">
              <a:avLst/>
            </a:prstGeom>
          </p:spPr>
        </p:pic>
        <p:sp>
          <p:nvSpPr>
            <p:cNvPr id="46" name="object 46"/>
            <p:cNvSpPr/>
            <p:nvPr/>
          </p:nvSpPr>
          <p:spPr>
            <a:xfrm>
              <a:off x="5767531" y="2232256"/>
              <a:ext cx="4007485" cy="1187450"/>
            </a:xfrm>
            <a:custGeom>
              <a:avLst/>
              <a:gdLst/>
              <a:ahLst/>
              <a:cxnLst/>
              <a:rect l="l" t="t" r="r" b="b"/>
              <a:pathLst>
                <a:path w="4007484" h="1187450">
                  <a:moveTo>
                    <a:pt x="0" y="177566"/>
                  </a:moveTo>
                  <a:lnTo>
                    <a:pt x="6342" y="130362"/>
                  </a:lnTo>
                  <a:lnTo>
                    <a:pt x="24242" y="87945"/>
                  </a:lnTo>
                  <a:lnTo>
                    <a:pt x="52007" y="52007"/>
                  </a:lnTo>
                  <a:lnTo>
                    <a:pt x="87945" y="24243"/>
                  </a:lnTo>
                  <a:lnTo>
                    <a:pt x="130362" y="6342"/>
                  </a:lnTo>
                  <a:lnTo>
                    <a:pt x="177566" y="0"/>
                  </a:lnTo>
                  <a:lnTo>
                    <a:pt x="3829404" y="0"/>
                  </a:lnTo>
                  <a:lnTo>
                    <a:pt x="3876608" y="6342"/>
                  </a:lnTo>
                  <a:lnTo>
                    <a:pt x="3919025" y="24243"/>
                  </a:lnTo>
                  <a:lnTo>
                    <a:pt x="3954962" y="52007"/>
                  </a:lnTo>
                  <a:lnTo>
                    <a:pt x="3982727" y="87945"/>
                  </a:lnTo>
                  <a:lnTo>
                    <a:pt x="4000627" y="130362"/>
                  </a:lnTo>
                  <a:lnTo>
                    <a:pt x="4006970" y="177566"/>
                  </a:lnTo>
                  <a:lnTo>
                    <a:pt x="4006970" y="1009684"/>
                  </a:lnTo>
                  <a:lnTo>
                    <a:pt x="4000627" y="1056888"/>
                  </a:lnTo>
                  <a:lnTo>
                    <a:pt x="3982727" y="1099305"/>
                  </a:lnTo>
                  <a:lnTo>
                    <a:pt x="3954962" y="1135242"/>
                  </a:lnTo>
                  <a:lnTo>
                    <a:pt x="3919025" y="1163007"/>
                  </a:lnTo>
                  <a:lnTo>
                    <a:pt x="3876608" y="1180907"/>
                  </a:lnTo>
                  <a:lnTo>
                    <a:pt x="3829404" y="1187250"/>
                  </a:lnTo>
                  <a:lnTo>
                    <a:pt x="177566" y="1187250"/>
                  </a:lnTo>
                  <a:lnTo>
                    <a:pt x="130362" y="1180907"/>
                  </a:lnTo>
                  <a:lnTo>
                    <a:pt x="87945" y="1163007"/>
                  </a:lnTo>
                  <a:lnTo>
                    <a:pt x="52007" y="1135242"/>
                  </a:lnTo>
                  <a:lnTo>
                    <a:pt x="24242" y="1099305"/>
                  </a:lnTo>
                  <a:lnTo>
                    <a:pt x="6342" y="1056888"/>
                  </a:lnTo>
                  <a:lnTo>
                    <a:pt x="0" y="1009684"/>
                  </a:lnTo>
                  <a:lnTo>
                    <a:pt x="0" y="177566"/>
                  </a:lnTo>
                  <a:close/>
                </a:path>
              </a:pathLst>
            </a:custGeom>
            <a:ln w="10470">
              <a:solidFill>
                <a:srgbClr val="065088"/>
              </a:solidFill>
            </a:ln>
          </p:spPr>
          <p:txBody>
            <a:bodyPr wrap="square" lIns="0" tIns="0" rIns="0" bIns="0" rtlCol="0"/>
            <a:lstStyle/>
            <a:p>
              <a:endParaRPr/>
            </a:p>
          </p:txBody>
        </p:sp>
      </p:grpSp>
      <p:sp>
        <p:nvSpPr>
          <p:cNvPr id="47" name="object 47"/>
          <p:cNvSpPr txBox="1"/>
          <p:nvPr/>
        </p:nvSpPr>
        <p:spPr>
          <a:xfrm>
            <a:off x="5955243" y="2229945"/>
            <a:ext cx="2709545" cy="1101725"/>
          </a:xfrm>
          <a:prstGeom prst="rect">
            <a:avLst/>
          </a:prstGeom>
        </p:spPr>
        <p:txBody>
          <a:bodyPr vert="horz" wrap="square" lIns="0" tIns="70485" rIns="0" bIns="0" rtlCol="0">
            <a:spAutoFit/>
          </a:bodyPr>
          <a:lstStyle/>
          <a:p>
            <a:pPr marL="12700">
              <a:lnSpc>
                <a:spcPct val="100000"/>
              </a:lnSpc>
              <a:spcBef>
                <a:spcPts val="555"/>
              </a:spcBef>
            </a:pPr>
            <a:r>
              <a:rPr sz="3200" spc="-340">
                <a:solidFill>
                  <a:srgbClr val="065088"/>
                </a:solidFill>
                <a:latin typeface="Arial Black"/>
                <a:cs typeface="Arial Black"/>
              </a:rPr>
              <a:t>1990</a:t>
            </a:r>
            <a:endParaRPr sz="3200">
              <a:latin typeface="Arial Black"/>
              <a:cs typeface="Arial Black"/>
            </a:endParaRPr>
          </a:p>
          <a:p>
            <a:pPr marL="12700" marR="5080">
              <a:lnSpc>
                <a:spcPct val="100000"/>
              </a:lnSpc>
              <a:spcBef>
                <a:spcPts val="220"/>
              </a:spcBef>
            </a:pPr>
            <a:r>
              <a:rPr sz="1650" spc="-20">
                <a:solidFill>
                  <a:srgbClr val="262626"/>
                </a:solidFill>
                <a:latin typeface="Microsoft Sans Serif"/>
                <a:cs typeface="Microsoft Sans Serif"/>
              </a:rPr>
              <a:t>Jaguar</a:t>
            </a:r>
            <a:r>
              <a:rPr sz="1650" spc="-75">
                <a:solidFill>
                  <a:srgbClr val="262626"/>
                </a:solidFill>
                <a:latin typeface="Microsoft Sans Serif"/>
                <a:cs typeface="Microsoft Sans Serif"/>
              </a:rPr>
              <a:t> </a:t>
            </a:r>
            <a:r>
              <a:rPr sz="1650">
                <a:solidFill>
                  <a:srgbClr val="262626"/>
                </a:solidFill>
                <a:latin typeface="Microsoft Sans Serif"/>
                <a:cs typeface="Microsoft Sans Serif"/>
              </a:rPr>
              <a:t>XJ220</a:t>
            </a:r>
            <a:r>
              <a:rPr sz="1650" spc="-65">
                <a:solidFill>
                  <a:srgbClr val="262626"/>
                </a:solidFill>
                <a:latin typeface="Microsoft Sans Serif"/>
                <a:cs typeface="Microsoft Sans Serif"/>
              </a:rPr>
              <a:t> </a:t>
            </a:r>
            <a:r>
              <a:rPr sz="1650" spc="-50">
                <a:solidFill>
                  <a:srgbClr val="262626"/>
                </a:solidFill>
                <a:latin typeface="Microsoft Sans Serif"/>
                <a:cs typeface="Microsoft Sans Serif"/>
              </a:rPr>
              <a:t>becomes</a:t>
            </a:r>
            <a:r>
              <a:rPr sz="1650" spc="-70">
                <a:solidFill>
                  <a:srgbClr val="262626"/>
                </a:solidFill>
                <a:latin typeface="Microsoft Sans Serif"/>
                <a:cs typeface="Microsoft Sans Serif"/>
              </a:rPr>
              <a:t> </a:t>
            </a:r>
            <a:r>
              <a:rPr sz="1650" spc="-25">
                <a:solidFill>
                  <a:srgbClr val="262626"/>
                </a:solidFill>
                <a:latin typeface="Microsoft Sans Serif"/>
                <a:cs typeface="Microsoft Sans Serif"/>
              </a:rPr>
              <a:t>the </a:t>
            </a:r>
            <a:r>
              <a:rPr sz="1650">
                <a:solidFill>
                  <a:srgbClr val="262626"/>
                </a:solidFill>
                <a:latin typeface="Microsoft Sans Serif"/>
                <a:cs typeface="Microsoft Sans Serif"/>
              </a:rPr>
              <a:t>world’s</a:t>
            </a:r>
            <a:r>
              <a:rPr sz="1650" spc="-25">
                <a:solidFill>
                  <a:srgbClr val="262626"/>
                </a:solidFill>
                <a:latin typeface="Microsoft Sans Serif"/>
                <a:cs typeface="Microsoft Sans Serif"/>
              </a:rPr>
              <a:t> </a:t>
            </a:r>
            <a:r>
              <a:rPr sz="1650" spc="-10">
                <a:solidFill>
                  <a:srgbClr val="262626"/>
                </a:solidFill>
                <a:latin typeface="Microsoft Sans Serif"/>
                <a:cs typeface="Microsoft Sans Serif"/>
              </a:rPr>
              <a:t>fastest</a:t>
            </a:r>
            <a:r>
              <a:rPr sz="1650" spc="-25">
                <a:solidFill>
                  <a:srgbClr val="262626"/>
                </a:solidFill>
                <a:latin typeface="Microsoft Sans Serif"/>
                <a:cs typeface="Microsoft Sans Serif"/>
              </a:rPr>
              <a:t> </a:t>
            </a:r>
            <a:r>
              <a:rPr sz="1650" spc="-10">
                <a:solidFill>
                  <a:srgbClr val="262626"/>
                </a:solidFill>
                <a:latin typeface="Microsoft Sans Serif"/>
                <a:cs typeface="Microsoft Sans Serif"/>
              </a:rPr>
              <a:t>production</a:t>
            </a:r>
            <a:r>
              <a:rPr sz="1650" spc="-20">
                <a:solidFill>
                  <a:srgbClr val="262626"/>
                </a:solidFill>
                <a:latin typeface="Microsoft Sans Serif"/>
                <a:cs typeface="Microsoft Sans Serif"/>
              </a:rPr>
              <a:t> </a:t>
            </a:r>
            <a:r>
              <a:rPr sz="1650" spc="-25">
                <a:solidFill>
                  <a:srgbClr val="262626"/>
                </a:solidFill>
                <a:latin typeface="Microsoft Sans Serif"/>
                <a:cs typeface="Microsoft Sans Serif"/>
              </a:rPr>
              <a:t>car</a:t>
            </a:r>
            <a:endParaRPr sz="1650">
              <a:latin typeface="Microsoft Sans Serif"/>
              <a:cs typeface="Microsoft Sans Serif"/>
            </a:endParaRPr>
          </a:p>
        </p:txBody>
      </p:sp>
      <p:grpSp>
        <p:nvGrpSpPr>
          <p:cNvPr id="48" name="object 48"/>
          <p:cNvGrpSpPr/>
          <p:nvPr/>
        </p:nvGrpSpPr>
        <p:grpSpPr>
          <a:xfrm>
            <a:off x="5762133" y="3868191"/>
            <a:ext cx="4018279" cy="990600"/>
            <a:chOff x="5762133" y="3868191"/>
            <a:chExt cx="4018279" cy="990600"/>
          </a:xfrm>
        </p:grpSpPr>
        <p:pic>
          <p:nvPicPr>
            <p:cNvPr id="49" name="object 49"/>
            <p:cNvPicPr/>
            <p:nvPr/>
          </p:nvPicPr>
          <p:blipFill>
            <a:blip r:embed="rId11" cstate="print"/>
            <a:stretch>
              <a:fillRect/>
            </a:stretch>
          </p:blipFill>
          <p:spPr>
            <a:xfrm>
              <a:off x="5767363" y="3872552"/>
              <a:ext cx="4008254" cy="982587"/>
            </a:xfrm>
            <a:prstGeom prst="rect">
              <a:avLst/>
            </a:prstGeom>
          </p:spPr>
        </p:pic>
        <p:sp>
          <p:nvSpPr>
            <p:cNvPr id="50" name="object 50"/>
            <p:cNvSpPr/>
            <p:nvPr/>
          </p:nvSpPr>
          <p:spPr>
            <a:xfrm>
              <a:off x="5767531" y="3873588"/>
              <a:ext cx="4007485" cy="979805"/>
            </a:xfrm>
            <a:custGeom>
              <a:avLst/>
              <a:gdLst/>
              <a:ahLst/>
              <a:cxnLst/>
              <a:rect l="l" t="t" r="r" b="b"/>
              <a:pathLst>
                <a:path w="4007484"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51" name="object 51"/>
          <p:cNvSpPr txBox="1"/>
          <p:nvPr/>
        </p:nvSpPr>
        <p:spPr>
          <a:xfrm>
            <a:off x="5957756" y="3891046"/>
            <a:ext cx="2028189" cy="850900"/>
          </a:xfrm>
          <a:prstGeom prst="rect">
            <a:avLst/>
          </a:prstGeom>
        </p:spPr>
        <p:txBody>
          <a:bodyPr vert="horz" wrap="square" lIns="0" tIns="70485" rIns="0" bIns="0" rtlCol="0">
            <a:spAutoFit/>
          </a:bodyPr>
          <a:lstStyle/>
          <a:p>
            <a:pPr marL="12700">
              <a:lnSpc>
                <a:spcPct val="100000"/>
              </a:lnSpc>
              <a:spcBef>
                <a:spcPts val="555"/>
              </a:spcBef>
            </a:pPr>
            <a:r>
              <a:rPr sz="3200" spc="-365">
                <a:solidFill>
                  <a:srgbClr val="065088"/>
                </a:solidFill>
                <a:latin typeface="Arial Black"/>
                <a:cs typeface="Arial Black"/>
              </a:rPr>
              <a:t>1996</a:t>
            </a:r>
            <a:endParaRPr sz="3200">
              <a:latin typeface="Arial Black"/>
              <a:cs typeface="Arial Black"/>
            </a:endParaRPr>
          </a:p>
          <a:p>
            <a:pPr marL="12700">
              <a:lnSpc>
                <a:spcPct val="100000"/>
              </a:lnSpc>
              <a:spcBef>
                <a:spcPts val="220"/>
              </a:spcBef>
            </a:pPr>
            <a:r>
              <a:rPr sz="1650" spc="-20">
                <a:solidFill>
                  <a:srgbClr val="262626"/>
                </a:solidFill>
                <a:latin typeface="Microsoft Sans Serif"/>
                <a:cs typeface="Microsoft Sans Serif"/>
              </a:rPr>
              <a:t>Jaguar</a:t>
            </a:r>
            <a:r>
              <a:rPr sz="1650" spc="-65">
                <a:solidFill>
                  <a:srgbClr val="262626"/>
                </a:solidFill>
                <a:latin typeface="Microsoft Sans Serif"/>
                <a:cs typeface="Microsoft Sans Serif"/>
              </a:rPr>
              <a:t> </a:t>
            </a:r>
            <a:r>
              <a:rPr sz="1650" spc="-120">
                <a:solidFill>
                  <a:srgbClr val="262626"/>
                </a:solidFill>
                <a:latin typeface="Microsoft Sans Serif"/>
                <a:cs typeface="Microsoft Sans Serif"/>
              </a:rPr>
              <a:t>XK</a:t>
            </a:r>
            <a:r>
              <a:rPr sz="1650" spc="-60">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55">
                <a:solidFill>
                  <a:srgbClr val="262626"/>
                </a:solidFill>
                <a:latin typeface="Microsoft Sans Serif"/>
                <a:cs typeface="Microsoft Sans Serif"/>
              </a:rPr>
              <a:t> </a:t>
            </a:r>
            <a:r>
              <a:rPr sz="1650" spc="-10">
                <a:solidFill>
                  <a:srgbClr val="262626"/>
                </a:solidFill>
                <a:latin typeface="Microsoft Sans Serif"/>
                <a:cs typeface="Microsoft Sans Serif"/>
              </a:rPr>
              <a:t>launched</a:t>
            </a:r>
            <a:endParaRPr sz="1650">
              <a:latin typeface="Microsoft Sans Serif"/>
              <a:cs typeface="Microsoft Sans Serif"/>
            </a:endParaRPr>
          </a:p>
        </p:txBody>
      </p:sp>
      <p:grpSp>
        <p:nvGrpSpPr>
          <p:cNvPr id="52" name="object 52"/>
          <p:cNvGrpSpPr/>
          <p:nvPr/>
        </p:nvGrpSpPr>
        <p:grpSpPr>
          <a:xfrm>
            <a:off x="5762133" y="5301760"/>
            <a:ext cx="4018279" cy="990600"/>
            <a:chOff x="5762133" y="5301760"/>
            <a:chExt cx="4018279" cy="990600"/>
          </a:xfrm>
        </p:grpSpPr>
        <p:pic>
          <p:nvPicPr>
            <p:cNvPr id="53" name="object 53"/>
            <p:cNvPicPr/>
            <p:nvPr/>
          </p:nvPicPr>
          <p:blipFill>
            <a:blip r:embed="rId12" cstate="print"/>
            <a:stretch>
              <a:fillRect/>
            </a:stretch>
          </p:blipFill>
          <p:spPr>
            <a:xfrm>
              <a:off x="5767363" y="5304969"/>
              <a:ext cx="4008254" cy="982587"/>
            </a:xfrm>
            <a:prstGeom prst="rect">
              <a:avLst/>
            </a:prstGeom>
          </p:spPr>
        </p:pic>
        <p:sp>
          <p:nvSpPr>
            <p:cNvPr id="54" name="object 54"/>
            <p:cNvSpPr/>
            <p:nvPr/>
          </p:nvSpPr>
          <p:spPr>
            <a:xfrm>
              <a:off x="5767531" y="5307157"/>
              <a:ext cx="4007485" cy="979805"/>
            </a:xfrm>
            <a:custGeom>
              <a:avLst/>
              <a:gdLst/>
              <a:ahLst/>
              <a:cxnLst/>
              <a:rect l="l" t="t" r="r" b="b"/>
              <a:pathLst>
                <a:path w="4007484"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55" name="object 55"/>
          <p:cNvSpPr txBox="1"/>
          <p:nvPr/>
        </p:nvSpPr>
        <p:spPr>
          <a:xfrm>
            <a:off x="5957756" y="5325976"/>
            <a:ext cx="2763520" cy="850900"/>
          </a:xfrm>
          <a:prstGeom prst="rect">
            <a:avLst/>
          </a:prstGeom>
        </p:spPr>
        <p:txBody>
          <a:bodyPr vert="horz" wrap="square" lIns="0" tIns="70485" rIns="0" bIns="0" rtlCol="0">
            <a:spAutoFit/>
          </a:bodyPr>
          <a:lstStyle/>
          <a:p>
            <a:pPr marL="12700">
              <a:lnSpc>
                <a:spcPct val="100000"/>
              </a:lnSpc>
              <a:spcBef>
                <a:spcPts val="555"/>
              </a:spcBef>
            </a:pPr>
            <a:r>
              <a:rPr sz="3200" spc="-20">
                <a:solidFill>
                  <a:srgbClr val="065088"/>
                </a:solidFill>
                <a:latin typeface="Arial Black"/>
                <a:cs typeface="Arial Black"/>
              </a:rPr>
              <a:t>2005</a:t>
            </a:r>
            <a:endParaRPr sz="3200">
              <a:latin typeface="Arial Black"/>
              <a:cs typeface="Arial Black"/>
            </a:endParaRPr>
          </a:p>
          <a:p>
            <a:pPr marL="12700">
              <a:lnSpc>
                <a:spcPct val="100000"/>
              </a:lnSpc>
              <a:spcBef>
                <a:spcPts val="220"/>
              </a:spcBef>
            </a:pPr>
            <a:r>
              <a:rPr sz="1650" spc="-65">
                <a:solidFill>
                  <a:srgbClr val="262626"/>
                </a:solidFill>
                <a:latin typeface="Microsoft Sans Serif"/>
                <a:cs typeface="Microsoft Sans Serif"/>
              </a:rPr>
              <a:t>Range</a:t>
            </a:r>
            <a:r>
              <a:rPr sz="1650" spc="-70">
                <a:solidFill>
                  <a:srgbClr val="262626"/>
                </a:solidFill>
                <a:latin typeface="Microsoft Sans Serif"/>
                <a:cs typeface="Microsoft Sans Serif"/>
              </a:rPr>
              <a:t> </a:t>
            </a:r>
            <a:r>
              <a:rPr sz="1650" spc="-40">
                <a:solidFill>
                  <a:srgbClr val="262626"/>
                </a:solidFill>
                <a:latin typeface="Microsoft Sans Serif"/>
                <a:cs typeface="Microsoft Sans Serif"/>
              </a:rPr>
              <a:t>Rover</a:t>
            </a:r>
            <a:r>
              <a:rPr sz="1650" spc="-75">
                <a:solidFill>
                  <a:srgbClr val="262626"/>
                </a:solidFill>
                <a:latin typeface="Microsoft Sans Serif"/>
                <a:cs typeface="Microsoft Sans Serif"/>
              </a:rPr>
              <a:t> </a:t>
            </a:r>
            <a:r>
              <a:rPr sz="1650">
                <a:solidFill>
                  <a:srgbClr val="262626"/>
                </a:solidFill>
                <a:latin typeface="Microsoft Sans Serif"/>
                <a:cs typeface="Microsoft Sans Serif"/>
              </a:rPr>
              <a:t>Sport</a:t>
            </a:r>
            <a:r>
              <a:rPr sz="1650" spc="-80">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70">
                <a:solidFill>
                  <a:srgbClr val="262626"/>
                </a:solidFill>
                <a:latin typeface="Microsoft Sans Serif"/>
                <a:cs typeface="Microsoft Sans Serif"/>
              </a:rPr>
              <a:t> </a:t>
            </a:r>
            <a:r>
              <a:rPr sz="1650" spc="-10">
                <a:solidFill>
                  <a:srgbClr val="262626"/>
                </a:solidFill>
                <a:latin typeface="Microsoft Sans Serif"/>
                <a:cs typeface="Microsoft Sans Serif"/>
              </a:rPr>
              <a:t>revealed</a:t>
            </a:r>
            <a:endParaRPr sz="1650">
              <a:latin typeface="Microsoft Sans Serif"/>
              <a:cs typeface="Microsoft Sans Serif"/>
            </a:endParaRPr>
          </a:p>
        </p:txBody>
      </p:sp>
      <p:grpSp>
        <p:nvGrpSpPr>
          <p:cNvPr id="56" name="object 56"/>
          <p:cNvGrpSpPr/>
          <p:nvPr/>
        </p:nvGrpSpPr>
        <p:grpSpPr>
          <a:xfrm>
            <a:off x="5762133" y="6735319"/>
            <a:ext cx="4018279" cy="1465580"/>
            <a:chOff x="5762133" y="6735319"/>
            <a:chExt cx="4018279" cy="1465580"/>
          </a:xfrm>
        </p:grpSpPr>
        <p:pic>
          <p:nvPicPr>
            <p:cNvPr id="57" name="object 57"/>
            <p:cNvPicPr/>
            <p:nvPr/>
          </p:nvPicPr>
          <p:blipFill>
            <a:blip r:embed="rId13" cstate="print"/>
            <a:stretch>
              <a:fillRect/>
            </a:stretch>
          </p:blipFill>
          <p:spPr>
            <a:xfrm>
              <a:off x="5767363" y="6739899"/>
              <a:ext cx="4008254" cy="1457547"/>
            </a:xfrm>
            <a:prstGeom prst="rect">
              <a:avLst/>
            </a:prstGeom>
          </p:spPr>
        </p:pic>
        <p:sp>
          <p:nvSpPr>
            <p:cNvPr id="58" name="object 58"/>
            <p:cNvSpPr/>
            <p:nvPr/>
          </p:nvSpPr>
          <p:spPr>
            <a:xfrm>
              <a:off x="5767531" y="6740716"/>
              <a:ext cx="4007485" cy="1454785"/>
            </a:xfrm>
            <a:custGeom>
              <a:avLst/>
              <a:gdLst/>
              <a:ahLst/>
              <a:cxnLst/>
              <a:rect l="l" t="t" r="r" b="b"/>
              <a:pathLst>
                <a:path w="4007484" h="1454784">
                  <a:moveTo>
                    <a:pt x="0" y="217517"/>
                  </a:moveTo>
                  <a:lnTo>
                    <a:pt x="5744" y="167642"/>
                  </a:lnTo>
                  <a:lnTo>
                    <a:pt x="22108" y="121858"/>
                  </a:lnTo>
                  <a:lnTo>
                    <a:pt x="47786" y="81471"/>
                  </a:lnTo>
                  <a:lnTo>
                    <a:pt x="81471" y="47786"/>
                  </a:lnTo>
                  <a:lnTo>
                    <a:pt x="121858" y="22108"/>
                  </a:lnTo>
                  <a:lnTo>
                    <a:pt x="167642" y="5744"/>
                  </a:lnTo>
                  <a:lnTo>
                    <a:pt x="217517" y="0"/>
                  </a:lnTo>
                  <a:lnTo>
                    <a:pt x="3789453" y="0"/>
                  </a:lnTo>
                  <a:lnTo>
                    <a:pt x="3839328" y="5744"/>
                  </a:lnTo>
                  <a:lnTo>
                    <a:pt x="3885111" y="22108"/>
                  </a:lnTo>
                  <a:lnTo>
                    <a:pt x="3925499" y="47786"/>
                  </a:lnTo>
                  <a:lnTo>
                    <a:pt x="3959184" y="81471"/>
                  </a:lnTo>
                  <a:lnTo>
                    <a:pt x="3984862" y="121858"/>
                  </a:lnTo>
                  <a:lnTo>
                    <a:pt x="4001225" y="167642"/>
                  </a:lnTo>
                  <a:lnTo>
                    <a:pt x="4006970" y="217517"/>
                  </a:lnTo>
                  <a:lnTo>
                    <a:pt x="4006970" y="1236864"/>
                  </a:lnTo>
                  <a:lnTo>
                    <a:pt x="4001225" y="1286739"/>
                  </a:lnTo>
                  <a:lnTo>
                    <a:pt x="3984862" y="1332523"/>
                  </a:lnTo>
                  <a:lnTo>
                    <a:pt x="3959184" y="1372910"/>
                  </a:lnTo>
                  <a:lnTo>
                    <a:pt x="3925499" y="1406595"/>
                  </a:lnTo>
                  <a:lnTo>
                    <a:pt x="3885111" y="1432273"/>
                  </a:lnTo>
                  <a:lnTo>
                    <a:pt x="3839328" y="1448637"/>
                  </a:lnTo>
                  <a:lnTo>
                    <a:pt x="3789453" y="1454381"/>
                  </a:lnTo>
                  <a:lnTo>
                    <a:pt x="217517" y="1454381"/>
                  </a:lnTo>
                  <a:lnTo>
                    <a:pt x="167642" y="1448637"/>
                  </a:lnTo>
                  <a:lnTo>
                    <a:pt x="121858" y="1432273"/>
                  </a:lnTo>
                  <a:lnTo>
                    <a:pt x="81471" y="1406595"/>
                  </a:lnTo>
                  <a:lnTo>
                    <a:pt x="47786" y="1372910"/>
                  </a:lnTo>
                  <a:lnTo>
                    <a:pt x="22108" y="1332523"/>
                  </a:lnTo>
                  <a:lnTo>
                    <a:pt x="5744" y="1286739"/>
                  </a:lnTo>
                  <a:lnTo>
                    <a:pt x="0" y="1236864"/>
                  </a:lnTo>
                  <a:lnTo>
                    <a:pt x="0" y="217517"/>
                  </a:lnTo>
                  <a:close/>
                </a:path>
              </a:pathLst>
            </a:custGeom>
            <a:ln w="10470">
              <a:solidFill>
                <a:srgbClr val="065088"/>
              </a:solidFill>
            </a:ln>
          </p:spPr>
          <p:txBody>
            <a:bodyPr wrap="square" lIns="0" tIns="0" rIns="0" bIns="0" rtlCol="0"/>
            <a:lstStyle/>
            <a:p>
              <a:endParaRPr/>
            </a:p>
          </p:txBody>
        </p:sp>
      </p:grpSp>
      <p:sp>
        <p:nvSpPr>
          <p:cNvPr id="59" name="object 59"/>
          <p:cNvSpPr txBox="1"/>
          <p:nvPr/>
        </p:nvSpPr>
        <p:spPr>
          <a:xfrm>
            <a:off x="5966940" y="6745829"/>
            <a:ext cx="3121660" cy="1353185"/>
          </a:xfrm>
          <a:prstGeom prst="rect">
            <a:avLst/>
          </a:prstGeom>
        </p:spPr>
        <p:txBody>
          <a:bodyPr vert="horz" wrap="square" lIns="0" tIns="70485" rIns="0" bIns="0" rtlCol="0">
            <a:spAutoFit/>
          </a:bodyPr>
          <a:lstStyle/>
          <a:p>
            <a:pPr marL="12700">
              <a:lnSpc>
                <a:spcPct val="100000"/>
              </a:lnSpc>
              <a:spcBef>
                <a:spcPts val="555"/>
              </a:spcBef>
            </a:pPr>
            <a:r>
              <a:rPr sz="3200" spc="-20">
                <a:solidFill>
                  <a:srgbClr val="065088"/>
                </a:solidFill>
                <a:latin typeface="Arial Black"/>
                <a:cs typeface="Arial Black"/>
              </a:rPr>
              <a:t>2008</a:t>
            </a:r>
            <a:endParaRPr sz="3200">
              <a:latin typeface="Arial Black"/>
              <a:cs typeface="Arial Black"/>
            </a:endParaRPr>
          </a:p>
          <a:p>
            <a:pPr marL="12700" marR="5080">
              <a:lnSpc>
                <a:spcPct val="100000"/>
              </a:lnSpc>
              <a:spcBef>
                <a:spcPts val="220"/>
              </a:spcBef>
            </a:pPr>
            <a:r>
              <a:rPr sz="1650" spc="-20">
                <a:solidFill>
                  <a:srgbClr val="262626"/>
                </a:solidFill>
                <a:latin typeface="Microsoft Sans Serif"/>
                <a:cs typeface="Microsoft Sans Serif"/>
              </a:rPr>
              <a:t>Jaguar</a:t>
            </a:r>
            <a:r>
              <a:rPr sz="1650" spc="-70">
                <a:solidFill>
                  <a:srgbClr val="262626"/>
                </a:solidFill>
                <a:latin typeface="Microsoft Sans Serif"/>
                <a:cs typeface="Microsoft Sans Serif"/>
              </a:rPr>
              <a:t> </a:t>
            </a:r>
            <a:r>
              <a:rPr sz="1650" spc="-50">
                <a:solidFill>
                  <a:srgbClr val="262626"/>
                </a:solidFill>
                <a:latin typeface="Microsoft Sans Serif"/>
                <a:cs typeface="Microsoft Sans Serif"/>
              </a:rPr>
              <a:t>Land</a:t>
            </a:r>
            <a:r>
              <a:rPr sz="1650" spc="-60">
                <a:solidFill>
                  <a:srgbClr val="262626"/>
                </a:solidFill>
                <a:latin typeface="Microsoft Sans Serif"/>
                <a:cs typeface="Microsoft Sans Serif"/>
              </a:rPr>
              <a:t> </a:t>
            </a:r>
            <a:r>
              <a:rPr sz="1650" spc="-40">
                <a:solidFill>
                  <a:srgbClr val="262626"/>
                </a:solidFill>
                <a:latin typeface="Microsoft Sans Serif"/>
                <a:cs typeface="Microsoft Sans Serif"/>
              </a:rPr>
              <a:t>Rover</a:t>
            </a:r>
            <a:r>
              <a:rPr sz="1650" spc="-65">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founded</a:t>
            </a:r>
            <a:r>
              <a:rPr sz="1650" spc="-60">
                <a:solidFill>
                  <a:srgbClr val="262626"/>
                </a:solidFill>
                <a:latin typeface="Microsoft Sans Serif"/>
                <a:cs typeface="Microsoft Sans Serif"/>
              </a:rPr>
              <a:t> </a:t>
            </a:r>
            <a:r>
              <a:rPr sz="1650" spc="-25">
                <a:solidFill>
                  <a:srgbClr val="262626"/>
                </a:solidFill>
                <a:latin typeface="Microsoft Sans Serif"/>
                <a:cs typeface="Microsoft Sans Serif"/>
              </a:rPr>
              <a:t>as </a:t>
            </a:r>
            <a:r>
              <a:rPr sz="1650" spc="-50">
                <a:solidFill>
                  <a:srgbClr val="262626"/>
                </a:solidFill>
                <a:latin typeface="Microsoft Sans Serif"/>
                <a:cs typeface="Microsoft Sans Serif"/>
              </a:rPr>
              <a:t>Tata</a:t>
            </a:r>
            <a:r>
              <a:rPr sz="1650" spc="-30">
                <a:solidFill>
                  <a:srgbClr val="262626"/>
                </a:solidFill>
                <a:latin typeface="Microsoft Sans Serif"/>
                <a:cs typeface="Microsoft Sans Serif"/>
              </a:rPr>
              <a:t> </a:t>
            </a:r>
            <a:r>
              <a:rPr sz="1650">
                <a:solidFill>
                  <a:srgbClr val="262626"/>
                </a:solidFill>
                <a:latin typeface="Microsoft Sans Serif"/>
                <a:cs typeface="Microsoft Sans Serif"/>
              </a:rPr>
              <a:t>Motors</a:t>
            </a:r>
            <a:r>
              <a:rPr sz="1650" spc="-35">
                <a:solidFill>
                  <a:srgbClr val="262626"/>
                </a:solidFill>
                <a:latin typeface="Microsoft Sans Serif"/>
                <a:cs typeface="Microsoft Sans Serif"/>
              </a:rPr>
              <a:t> </a:t>
            </a:r>
            <a:r>
              <a:rPr sz="1650" spc="-25">
                <a:solidFill>
                  <a:srgbClr val="262626"/>
                </a:solidFill>
                <a:latin typeface="Microsoft Sans Serif"/>
                <a:cs typeface="Microsoft Sans Serif"/>
              </a:rPr>
              <a:t>completes</a:t>
            </a:r>
            <a:r>
              <a:rPr sz="1650" spc="-35">
                <a:solidFill>
                  <a:srgbClr val="262626"/>
                </a:solidFill>
                <a:latin typeface="Microsoft Sans Serif"/>
                <a:cs typeface="Microsoft Sans Serif"/>
              </a:rPr>
              <a:t> </a:t>
            </a:r>
            <a:r>
              <a:rPr sz="1650" spc="-10">
                <a:solidFill>
                  <a:srgbClr val="262626"/>
                </a:solidFill>
                <a:latin typeface="Microsoft Sans Serif"/>
                <a:cs typeface="Microsoft Sans Serif"/>
              </a:rPr>
              <a:t>acquisition </a:t>
            </a:r>
            <a:r>
              <a:rPr sz="1650">
                <a:solidFill>
                  <a:srgbClr val="262626"/>
                </a:solidFill>
                <a:latin typeface="Microsoft Sans Serif"/>
                <a:cs typeface="Microsoft Sans Serif"/>
              </a:rPr>
              <a:t>of</a:t>
            </a:r>
            <a:r>
              <a:rPr sz="1650" spc="-60">
                <a:solidFill>
                  <a:srgbClr val="262626"/>
                </a:solidFill>
                <a:latin typeface="Microsoft Sans Serif"/>
                <a:cs typeface="Microsoft Sans Serif"/>
              </a:rPr>
              <a:t> </a:t>
            </a:r>
            <a:r>
              <a:rPr sz="1650">
                <a:solidFill>
                  <a:srgbClr val="262626"/>
                </a:solidFill>
                <a:latin typeface="Microsoft Sans Serif"/>
                <a:cs typeface="Microsoft Sans Serif"/>
              </a:rPr>
              <a:t>the</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brands</a:t>
            </a:r>
            <a:endParaRPr sz="1650">
              <a:latin typeface="Microsoft Sans Serif"/>
              <a:cs typeface="Microsoft Sans Serif"/>
            </a:endParaRPr>
          </a:p>
        </p:txBody>
      </p:sp>
      <p:grpSp>
        <p:nvGrpSpPr>
          <p:cNvPr id="60" name="object 60"/>
          <p:cNvGrpSpPr/>
          <p:nvPr/>
        </p:nvGrpSpPr>
        <p:grpSpPr>
          <a:xfrm>
            <a:off x="5762133" y="8643784"/>
            <a:ext cx="4018279" cy="1198245"/>
            <a:chOff x="5762133" y="8643784"/>
            <a:chExt cx="4018279" cy="1198245"/>
          </a:xfrm>
        </p:grpSpPr>
        <p:pic>
          <p:nvPicPr>
            <p:cNvPr id="61" name="object 61"/>
            <p:cNvPicPr/>
            <p:nvPr/>
          </p:nvPicPr>
          <p:blipFill>
            <a:blip r:embed="rId14" cstate="print"/>
            <a:stretch>
              <a:fillRect/>
            </a:stretch>
          </p:blipFill>
          <p:spPr>
            <a:xfrm>
              <a:off x="5767363" y="8647275"/>
              <a:ext cx="4008254" cy="1191167"/>
            </a:xfrm>
            <a:prstGeom prst="rect">
              <a:avLst/>
            </a:prstGeom>
          </p:spPr>
        </p:pic>
        <p:sp>
          <p:nvSpPr>
            <p:cNvPr id="62" name="object 62"/>
            <p:cNvSpPr/>
            <p:nvPr/>
          </p:nvSpPr>
          <p:spPr>
            <a:xfrm>
              <a:off x="5767531" y="8649181"/>
              <a:ext cx="4007485" cy="1187450"/>
            </a:xfrm>
            <a:custGeom>
              <a:avLst/>
              <a:gdLst/>
              <a:ahLst/>
              <a:cxnLst/>
              <a:rect l="l" t="t" r="r" b="b"/>
              <a:pathLst>
                <a:path w="4007484" h="1187450">
                  <a:moveTo>
                    <a:pt x="0" y="177566"/>
                  </a:moveTo>
                  <a:lnTo>
                    <a:pt x="6342" y="130362"/>
                  </a:lnTo>
                  <a:lnTo>
                    <a:pt x="24242" y="87945"/>
                  </a:lnTo>
                  <a:lnTo>
                    <a:pt x="52007" y="52007"/>
                  </a:lnTo>
                  <a:lnTo>
                    <a:pt x="87945" y="24243"/>
                  </a:lnTo>
                  <a:lnTo>
                    <a:pt x="130362" y="6342"/>
                  </a:lnTo>
                  <a:lnTo>
                    <a:pt x="177566" y="0"/>
                  </a:lnTo>
                  <a:lnTo>
                    <a:pt x="3829404" y="0"/>
                  </a:lnTo>
                  <a:lnTo>
                    <a:pt x="3876608" y="6342"/>
                  </a:lnTo>
                  <a:lnTo>
                    <a:pt x="3919025" y="24243"/>
                  </a:lnTo>
                  <a:lnTo>
                    <a:pt x="3954962" y="52007"/>
                  </a:lnTo>
                  <a:lnTo>
                    <a:pt x="3982727" y="87945"/>
                  </a:lnTo>
                  <a:lnTo>
                    <a:pt x="4000627" y="130362"/>
                  </a:lnTo>
                  <a:lnTo>
                    <a:pt x="4006970" y="177566"/>
                  </a:lnTo>
                  <a:lnTo>
                    <a:pt x="4006970" y="1009684"/>
                  </a:lnTo>
                  <a:lnTo>
                    <a:pt x="4000627" y="1056888"/>
                  </a:lnTo>
                  <a:lnTo>
                    <a:pt x="3982727" y="1099305"/>
                  </a:lnTo>
                  <a:lnTo>
                    <a:pt x="3954962" y="1135242"/>
                  </a:lnTo>
                  <a:lnTo>
                    <a:pt x="3919025" y="1163007"/>
                  </a:lnTo>
                  <a:lnTo>
                    <a:pt x="3876608" y="1180907"/>
                  </a:lnTo>
                  <a:lnTo>
                    <a:pt x="3829404" y="1187250"/>
                  </a:lnTo>
                  <a:lnTo>
                    <a:pt x="177566" y="1187250"/>
                  </a:lnTo>
                  <a:lnTo>
                    <a:pt x="130362" y="1180907"/>
                  </a:lnTo>
                  <a:lnTo>
                    <a:pt x="87945" y="1163007"/>
                  </a:lnTo>
                  <a:lnTo>
                    <a:pt x="52007" y="1135242"/>
                  </a:lnTo>
                  <a:lnTo>
                    <a:pt x="24242" y="1099305"/>
                  </a:lnTo>
                  <a:lnTo>
                    <a:pt x="6342" y="1056888"/>
                  </a:lnTo>
                  <a:lnTo>
                    <a:pt x="0" y="1009684"/>
                  </a:lnTo>
                  <a:lnTo>
                    <a:pt x="0" y="177566"/>
                  </a:lnTo>
                  <a:close/>
                </a:path>
              </a:pathLst>
            </a:custGeom>
            <a:ln w="10470">
              <a:solidFill>
                <a:srgbClr val="065088"/>
              </a:solidFill>
            </a:ln>
          </p:spPr>
          <p:txBody>
            <a:bodyPr wrap="square" lIns="0" tIns="0" rIns="0" bIns="0" rtlCol="0"/>
            <a:lstStyle/>
            <a:p>
              <a:endParaRPr/>
            </a:p>
          </p:txBody>
        </p:sp>
      </p:grpSp>
      <p:sp>
        <p:nvSpPr>
          <p:cNvPr id="63" name="object 63"/>
          <p:cNvSpPr txBox="1"/>
          <p:nvPr/>
        </p:nvSpPr>
        <p:spPr>
          <a:xfrm>
            <a:off x="5955243" y="8645666"/>
            <a:ext cx="2865755" cy="1101725"/>
          </a:xfrm>
          <a:prstGeom prst="rect">
            <a:avLst/>
          </a:prstGeom>
        </p:spPr>
        <p:txBody>
          <a:bodyPr vert="horz" wrap="square" lIns="0" tIns="70485" rIns="0" bIns="0" rtlCol="0">
            <a:spAutoFit/>
          </a:bodyPr>
          <a:lstStyle/>
          <a:p>
            <a:pPr marL="12700">
              <a:lnSpc>
                <a:spcPct val="100000"/>
              </a:lnSpc>
              <a:spcBef>
                <a:spcPts val="555"/>
              </a:spcBef>
            </a:pPr>
            <a:r>
              <a:rPr sz="3200" spc="-565">
                <a:solidFill>
                  <a:srgbClr val="065088"/>
                </a:solidFill>
                <a:latin typeface="Arial Black"/>
                <a:cs typeface="Arial Black"/>
              </a:rPr>
              <a:t>2011</a:t>
            </a:r>
            <a:endParaRPr sz="3200">
              <a:latin typeface="Arial Black"/>
              <a:cs typeface="Arial Black"/>
            </a:endParaRPr>
          </a:p>
          <a:p>
            <a:pPr marL="12700" marR="5080">
              <a:lnSpc>
                <a:spcPct val="100000"/>
              </a:lnSpc>
              <a:spcBef>
                <a:spcPts val="220"/>
              </a:spcBef>
            </a:pPr>
            <a:r>
              <a:rPr sz="1650" spc="-65">
                <a:solidFill>
                  <a:srgbClr val="262626"/>
                </a:solidFill>
                <a:latin typeface="Microsoft Sans Serif"/>
                <a:cs typeface="Microsoft Sans Serif"/>
              </a:rPr>
              <a:t>Range</a:t>
            </a:r>
            <a:r>
              <a:rPr sz="1650" spc="-60">
                <a:solidFill>
                  <a:srgbClr val="262626"/>
                </a:solidFill>
                <a:latin typeface="Microsoft Sans Serif"/>
                <a:cs typeface="Microsoft Sans Serif"/>
              </a:rPr>
              <a:t> </a:t>
            </a:r>
            <a:r>
              <a:rPr sz="1650" spc="-40">
                <a:solidFill>
                  <a:srgbClr val="262626"/>
                </a:solidFill>
                <a:latin typeface="Microsoft Sans Serif"/>
                <a:cs typeface="Microsoft Sans Serif"/>
              </a:rPr>
              <a:t>Rover</a:t>
            </a:r>
            <a:r>
              <a:rPr sz="1650" spc="-60">
                <a:solidFill>
                  <a:srgbClr val="262626"/>
                </a:solidFill>
                <a:latin typeface="Microsoft Sans Serif"/>
                <a:cs typeface="Microsoft Sans Serif"/>
              </a:rPr>
              <a:t> </a:t>
            </a:r>
            <a:r>
              <a:rPr sz="1650" spc="-50">
                <a:solidFill>
                  <a:srgbClr val="262626"/>
                </a:solidFill>
                <a:latin typeface="Microsoft Sans Serif"/>
                <a:cs typeface="Microsoft Sans Serif"/>
              </a:rPr>
              <a:t>Evoque</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brings</a:t>
            </a:r>
            <a:r>
              <a:rPr sz="1650" spc="-55">
                <a:solidFill>
                  <a:srgbClr val="262626"/>
                </a:solidFill>
                <a:latin typeface="Microsoft Sans Serif"/>
                <a:cs typeface="Microsoft Sans Serif"/>
              </a:rPr>
              <a:t> </a:t>
            </a:r>
            <a:r>
              <a:rPr sz="1650" spc="-25">
                <a:solidFill>
                  <a:srgbClr val="262626"/>
                </a:solidFill>
                <a:latin typeface="Microsoft Sans Serif"/>
                <a:cs typeface="Microsoft Sans Serif"/>
              </a:rPr>
              <a:t>the </a:t>
            </a:r>
            <a:r>
              <a:rPr sz="1650" spc="-125">
                <a:solidFill>
                  <a:srgbClr val="262626"/>
                </a:solidFill>
                <a:latin typeface="Microsoft Sans Serif"/>
                <a:cs typeface="Microsoft Sans Serif"/>
              </a:rPr>
              <a:t>LRX</a:t>
            </a:r>
            <a:r>
              <a:rPr sz="1650" spc="-60">
                <a:solidFill>
                  <a:srgbClr val="262626"/>
                </a:solidFill>
                <a:latin typeface="Microsoft Sans Serif"/>
                <a:cs typeface="Microsoft Sans Serif"/>
              </a:rPr>
              <a:t> </a:t>
            </a:r>
            <a:r>
              <a:rPr sz="1650" spc="-30">
                <a:solidFill>
                  <a:srgbClr val="262626"/>
                </a:solidFill>
                <a:latin typeface="Microsoft Sans Serif"/>
                <a:cs typeface="Microsoft Sans Serif"/>
              </a:rPr>
              <a:t>concept</a:t>
            </a:r>
            <a:r>
              <a:rPr sz="1650" spc="-55">
                <a:solidFill>
                  <a:srgbClr val="262626"/>
                </a:solidFill>
                <a:latin typeface="Microsoft Sans Serif"/>
                <a:cs typeface="Microsoft Sans Serif"/>
              </a:rPr>
              <a:t> </a:t>
            </a:r>
            <a:r>
              <a:rPr sz="1650" spc="-20">
                <a:solidFill>
                  <a:srgbClr val="262626"/>
                </a:solidFill>
                <a:latin typeface="Microsoft Sans Serif"/>
                <a:cs typeface="Microsoft Sans Serif"/>
              </a:rPr>
              <a:t>car</a:t>
            </a:r>
            <a:r>
              <a:rPr sz="1650" spc="-55">
                <a:solidFill>
                  <a:srgbClr val="262626"/>
                </a:solidFill>
                <a:latin typeface="Microsoft Sans Serif"/>
                <a:cs typeface="Microsoft Sans Serif"/>
              </a:rPr>
              <a:t> </a:t>
            </a:r>
            <a:r>
              <a:rPr sz="1650">
                <a:solidFill>
                  <a:srgbClr val="262626"/>
                </a:solidFill>
                <a:latin typeface="Microsoft Sans Serif"/>
                <a:cs typeface="Microsoft Sans Serif"/>
              </a:rPr>
              <a:t>to</a:t>
            </a:r>
            <a:r>
              <a:rPr sz="1650" spc="-60">
                <a:solidFill>
                  <a:srgbClr val="262626"/>
                </a:solidFill>
                <a:latin typeface="Microsoft Sans Serif"/>
                <a:cs typeface="Microsoft Sans Serif"/>
              </a:rPr>
              <a:t> </a:t>
            </a:r>
            <a:r>
              <a:rPr sz="1650" spc="-20">
                <a:solidFill>
                  <a:srgbClr val="262626"/>
                </a:solidFill>
                <a:latin typeface="Microsoft Sans Serif"/>
                <a:cs typeface="Microsoft Sans Serif"/>
              </a:rPr>
              <a:t>life</a:t>
            </a:r>
            <a:endParaRPr sz="1650">
              <a:latin typeface="Microsoft Sans Serif"/>
              <a:cs typeface="Microsoft Sans Serif"/>
            </a:endParaRPr>
          </a:p>
        </p:txBody>
      </p:sp>
      <p:grpSp>
        <p:nvGrpSpPr>
          <p:cNvPr id="64" name="object 64"/>
          <p:cNvGrpSpPr/>
          <p:nvPr/>
        </p:nvGrpSpPr>
        <p:grpSpPr>
          <a:xfrm>
            <a:off x="7613663" y="2226859"/>
            <a:ext cx="6767830" cy="6322060"/>
            <a:chOff x="7613663" y="2226859"/>
            <a:chExt cx="6767830" cy="6322060"/>
          </a:xfrm>
        </p:grpSpPr>
        <p:sp>
          <p:nvSpPr>
            <p:cNvPr id="65" name="object 65"/>
            <p:cNvSpPr/>
            <p:nvPr/>
          </p:nvSpPr>
          <p:spPr>
            <a:xfrm>
              <a:off x="7613662" y="3519950"/>
              <a:ext cx="314960" cy="5029200"/>
            </a:xfrm>
            <a:custGeom>
              <a:avLst/>
              <a:gdLst/>
              <a:ahLst/>
              <a:cxnLst/>
              <a:rect l="l" t="t" r="r" b="b"/>
              <a:pathLst>
                <a:path w="314959" h="5029200">
                  <a:moveTo>
                    <a:pt x="314680" y="4775593"/>
                  </a:moveTo>
                  <a:lnTo>
                    <a:pt x="157340" y="4871224"/>
                  </a:lnTo>
                  <a:lnTo>
                    <a:pt x="0" y="4775593"/>
                  </a:lnTo>
                  <a:lnTo>
                    <a:pt x="157340" y="5028806"/>
                  </a:lnTo>
                  <a:lnTo>
                    <a:pt x="314680" y="4775593"/>
                  </a:lnTo>
                  <a:close/>
                </a:path>
                <a:path w="314959" h="5029200">
                  <a:moveTo>
                    <a:pt x="314680" y="2867126"/>
                  </a:moveTo>
                  <a:lnTo>
                    <a:pt x="157340" y="2962757"/>
                  </a:lnTo>
                  <a:lnTo>
                    <a:pt x="0" y="2867126"/>
                  </a:lnTo>
                  <a:lnTo>
                    <a:pt x="157340" y="3120339"/>
                  </a:lnTo>
                  <a:lnTo>
                    <a:pt x="314680" y="2867126"/>
                  </a:lnTo>
                  <a:close/>
                </a:path>
                <a:path w="314959" h="5029200">
                  <a:moveTo>
                    <a:pt x="314680" y="1433563"/>
                  </a:moveTo>
                  <a:lnTo>
                    <a:pt x="157340" y="1529194"/>
                  </a:lnTo>
                  <a:lnTo>
                    <a:pt x="0" y="1433563"/>
                  </a:lnTo>
                  <a:lnTo>
                    <a:pt x="157340" y="1686775"/>
                  </a:lnTo>
                  <a:lnTo>
                    <a:pt x="314680" y="1433563"/>
                  </a:lnTo>
                  <a:close/>
                </a:path>
                <a:path w="314959" h="5029200">
                  <a:moveTo>
                    <a:pt x="314680" y="0"/>
                  </a:moveTo>
                  <a:lnTo>
                    <a:pt x="157340" y="95631"/>
                  </a:lnTo>
                  <a:lnTo>
                    <a:pt x="0" y="0"/>
                  </a:lnTo>
                  <a:lnTo>
                    <a:pt x="157340" y="253212"/>
                  </a:lnTo>
                  <a:lnTo>
                    <a:pt x="314680" y="0"/>
                  </a:lnTo>
                  <a:close/>
                </a:path>
              </a:pathLst>
            </a:custGeom>
            <a:solidFill>
              <a:srgbClr val="065088"/>
            </a:solidFill>
          </p:spPr>
          <p:txBody>
            <a:bodyPr wrap="square" lIns="0" tIns="0" rIns="0" bIns="0" rtlCol="0"/>
            <a:lstStyle/>
            <a:p>
              <a:endParaRPr/>
            </a:p>
          </p:txBody>
        </p:sp>
        <p:pic>
          <p:nvPicPr>
            <p:cNvPr id="66" name="object 66"/>
            <p:cNvPicPr/>
            <p:nvPr/>
          </p:nvPicPr>
          <p:blipFill>
            <a:blip r:embed="rId15" cstate="print"/>
            <a:stretch>
              <a:fillRect/>
            </a:stretch>
          </p:blipFill>
          <p:spPr>
            <a:xfrm>
              <a:off x="10368689" y="2231555"/>
              <a:ext cx="4008254" cy="982587"/>
            </a:xfrm>
            <a:prstGeom prst="rect">
              <a:avLst/>
            </a:prstGeom>
          </p:spPr>
        </p:pic>
        <p:sp>
          <p:nvSpPr>
            <p:cNvPr id="67" name="object 67"/>
            <p:cNvSpPr/>
            <p:nvPr/>
          </p:nvSpPr>
          <p:spPr>
            <a:xfrm>
              <a:off x="10368814" y="2232256"/>
              <a:ext cx="4007485" cy="979805"/>
            </a:xfrm>
            <a:custGeom>
              <a:avLst/>
              <a:gdLst/>
              <a:ahLst/>
              <a:cxnLst/>
              <a:rect l="l" t="t" r="r" b="b"/>
              <a:pathLst>
                <a:path w="4007484" h="979805">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68" name="object 68"/>
          <p:cNvSpPr txBox="1"/>
          <p:nvPr/>
        </p:nvSpPr>
        <p:spPr>
          <a:xfrm>
            <a:off x="10559019" y="2250050"/>
            <a:ext cx="2388235" cy="850900"/>
          </a:xfrm>
          <a:prstGeom prst="rect">
            <a:avLst/>
          </a:prstGeom>
        </p:spPr>
        <p:txBody>
          <a:bodyPr vert="horz" wrap="square" lIns="0" tIns="70485" rIns="0" bIns="0" rtlCol="0">
            <a:spAutoFit/>
          </a:bodyPr>
          <a:lstStyle/>
          <a:p>
            <a:pPr marL="12700">
              <a:lnSpc>
                <a:spcPct val="100000"/>
              </a:lnSpc>
              <a:spcBef>
                <a:spcPts val="555"/>
              </a:spcBef>
            </a:pPr>
            <a:r>
              <a:rPr sz="3200" spc="-395">
                <a:solidFill>
                  <a:srgbClr val="065088"/>
                </a:solidFill>
                <a:latin typeface="Arial Black"/>
                <a:cs typeface="Arial Black"/>
              </a:rPr>
              <a:t>2013</a:t>
            </a:r>
            <a:endParaRPr sz="3200">
              <a:latin typeface="Arial Black"/>
              <a:cs typeface="Arial Black"/>
            </a:endParaRPr>
          </a:p>
          <a:p>
            <a:pPr marL="12700">
              <a:lnSpc>
                <a:spcPct val="100000"/>
              </a:lnSpc>
              <a:spcBef>
                <a:spcPts val="220"/>
              </a:spcBef>
            </a:pPr>
            <a:r>
              <a:rPr sz="1650" spc="-20">
                <a:solidFill>
                  <a:srgbClr val="262626"/>
                </a:solidFill>
                <a:latin typeface="Microsoft Sans Serif"/>
                <a:cs typeface="Microsoft Sans Serif"/>
              </a:rPr>
              <a:t>Jaguar</a:t>
            </a:r>
            <a:r>
              <a:rPr sz="1650" spc="-70">
                <a:solidFill>
                  <a:srgbClr val="262626"/>
                </a:solidFill>
                <a:latin typeface="Microsoft Sans Serif"/>
                <a:cs typeface="Microsoft Sans Serif"/>
              </a:rPr>
              <a:t> </a:t>
            </a:r>
            <a:r>
              <a:rPr sz="1650">
                <a:solidFill>
                  <a:srgbClr val="262626"/>
                </a:solidFill>
                <a:latin typeface="Microsoft Sans Serif"/>
                <a:cs typeface="Microsoft Sans Serif"/>
              </a:rPr>
              <a:t>F-</a:t>
            </a:r>
            <a:r>
              <a:rPr sz="1650" spc="-20">
                <a:solidFill>
                  <a:srgbClr val="262626"/>
                </a:solidFill>
                <a:latin typeface="Microsoft Sans Serif"/>
                <a:cs typeface="Microsoft Sans Serif"/>
              </a:rPr>
              <a:t>Type</a:t>
            </a:r>
            <a:r>
              <a:rPr sz="1650" spc="-60">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revealed</a:t>
            </a:r>
            <a:endParaRPr sz="1650">
              <a:latin typeface="Microsoft Sans Serif"/>
              <a:cs typeface="Microsoft Sans Serif"/>
            </a:endParaRPr>
          </a:p>
        </p:txBody>
      </p:sp>
      <p:grpSp>
        <p:nvGrpSpPr>
          <p:cNvPr id="69" name="object 69"/>
          <p:cNvGrpSpPr/>
          <p:nvPr/>
        </p:nvGrpSpPr>
        <p:grpSpPr>
          <a:xfrm>
            <a:off x="10363417" y="3671181"/>
            <a:ext cx="4018279" cy="1198245"/>
            <a:chOff x="10363417" y="3671181"/>
            <a:chExt cx="4018279" cy="1198245"/>
          </a:xfrm>
        </p:grpSpPr>
        <p:pic>
          <p:nvPicPr>
            <p:cNvPr id="70" name="object 70"/>
            <p:cNvPicPr/>
            <p:nvPr/>
          </p:nvPicPr>
          <p:blipFill>
            <a:blip r:embed="rId16" cstate="print"/>
            <a:stretch>
              <a:fillRect/>
            </a:stretch>
          </p:blipFill>
          <p:spPr>
            <a:xfrm>
              <a:off x="10368689" y="3676537"/>
              <a:ext cx="4008254" cy="1188654"/>
            </a:xfrm>
            <a:prstGeom prst="rect">
              <a:avLst/>
            </a:prstGeom>
          </p:spPr>
        </p:pic>
        <p:sp>
          <p:nvSpPr>
            <p:cNvPr id="71" name="object 71"/>
            <p:cNvSpPr/>
            <p:nvPr/>
          </p:nvSpPr>
          <p:spPr>
            <a:xfrm>
              <a:off x="10368815" y="3676579"/>
              <a:ext cx="4007485" cy="1187450"/>
            </a:xfrm>
            <a:custGeom>
              <a:avLst/>
              <a:gdLst/>
              <a:ahLst/>
              <a:cxnLst/>
              <a:rect l="l" t="t" r="r" b="b"/>
              <a:pathLst>
                <a:path w="4007484" h="1187450">
                  <a:moveTo>
                    <a:pt x="0" y="177566"/>
                  </a:moveTo>
                  <a:lnTo>
                    <a:pt x="6342" y="130362"/>
                  </a:lnTo>
                  <a:lnTo>
                    <a:pt x="24242" y="87945"/>
                  </a:lnTo>
                  <a:lnTo>
                    <a:pt x="52007" y="52007"/>
                  </a:lnTo>
                  <a:lnTo>
                    <a:pt x="87945" y="24243"/>
                  </a:lnTo>
                  <a:lnTo>
                    <a:pt x="130362" y="6342"/>
                  </a:lnTo>
                  <a:lnTo>
                    <a:pt x="177566" y="0"/>
                  </a:lnTo>
                  <a:lnTo>
                    <a:pt x="3829404" y="0"/>
                  </a:lnTo>
                  <a:lnTo>
                    <a:pt x="3876608" y="6342"/>
                  </a:lnTo>
                  <a:lnTo>
                    <a:pt x="3919025" y="24243"/>
                  </a:lnTo>
                  <a:lnTo>
                    <a:pt x="3954962" y="52007"/>
                  </a:lnTo>
                  <a:lnTo>
                    <a:pt x="3982727" y="87945"/>
                  </a:lnTo>
                  <a:lnTo>
                    <a:pt x="4000627" y="130362"/>
                  </a:lnTo>
                  <a:lnTo>
                    <a:pt x="4006970" y="177566"/>
                  </a:lnTo>
                  <a:lnTo>
                    <a:pt x="4006970" y="1009684"/>
                  </a:lnTo>
                  <a:lnTo>
                    <a:pt x="4000627" y="1056888"/>
                  </a:lnTo>
                  <a:lnTo>
                    <a:pt x="3982727" y="1099305"/>
                  </a:lnTo>
                  <a:lnTo>
                    <a:pt x="3954962" y="1135242"/>
                  </a:lnTo>
                  <a:lnTo>
                    <a:pt x="3919025" y="1163007"/>
                  </a:lnTo>
                  <a:lnTo>
                    <a:pt x="3876608" y="1180907"/>
                  </a:lnTo>
                  <a:lnTo>
                    <a:pt x="3829404" y="1187250"/>
                  </a:lnTo>
                  <a:lnTo>
                    <a:pt x="177566" y="1187250"/>
                  </a:lnTo>
                  <a:lnTo>
                    <a:pt x="130362" y="1180907"/>
                  </a:lnTo>
                  <a:lnTo>
                    <a:pt x="87945" y="1163007"/>
                  </a:lnTo>
                  <a:lnTo>
                    <a:pt x="52007" y="1135242"/>
                  </a:lnTo>
                  <a:lnTo>
                    <a:pt x="24242" y="1099305"/>
                  </a:lnTo>
                  <a:lnTo>
                    <a:pt x="6342" y="1056888"/>
                  </a:lnTo>
                  <a:lnTo>
                    <a:pt x="0" y="1009684"/>
                  </a:lnTo>
                  <a:lnTo>
                    <a:pt x="0" y="177566"/>
                  </a:lnTo>
                  <a:close/>
                </a:path>
              </a:pathLst>
            </a:custGeom>
            <a:ln w="10470">
              <a:solidFill>
                <a:srgbClr val="065088"/>
              </a:solidFill>
            </a:ln>
          </p:spPr>
          <p:txBody>
            <a:bodyPr wrap="square" lIns="0" tIns="0" rIns="0" bIns="0" rtlCol="0"/>
            <a:lstStyle/>
            <a:p>
              <a:endParaRPr/>
            </a:p>
          </p:txBody>
        </p:sp>
      </p:grpSp>
      <p:sp>
        <p:nvSpPr>
          <p:cNvPr id="72" name="object 72"/>
          <p:cNvSpPr txBox="1"/>
          <p:nvPr/>
        </p:nvSpPr>
        <p:spPr>
          <a:xfrm>
            <a:off x="10556506" y="3672414"/>
            <a:ext cx="2976880" cy="1101725"/>
          </a:xfrm>
          <a:prstGeom prst="rect">
            <a:avLst/>
          </a:prstGeom>
        </p:spPr>
        <p:txBody>
          <a:bodyPr vert="horz" wrap="square" lIns="0" tIns="70485" rIns="0" bIns="0" rtlCol="0">
            <a:spAutoFit/>
          </a:bodyPr>
          <a:lstStyle/>
          <a:p>
            <a:pPr marL="12700">
              <a:lnSpc>
                <a:spcPct val="100000"/>
              </a:lnSpc>
              <a:spcBef>
                <a:spcPts val="555"/>
              </a:spcBef>
            </a:pPr>
            <a:r>
              <a:rPr sz="3200" spc="-390">
                <a:solidFill>
                  <a:srgbClr val="065088"/>
                </a:solidFill>
                <a:latin typeface="Arial Black"/>
                <a:cs typeface="Arial Black"/>
              </a:rPr>
              <a:t>2015</a:t>
            </a:r>
            <a:endParaRPr sz="3200">
              <a:latin typeface="Arial Black"/>
              <a:cs typeface="Arial Black"/>
            </a:endParaRPr>
          </a:p>
          <a:p>
            <a:pPr marL="12700" marR="5080">
              <a:lnSpc>
                <a:spcPct val="100000"/>
              </a:lnSpc>
              <a:spcBef>
                <a:spcPts val="220"/>
              </a:spcBef>
            </a:pPr>
            <a:r>
              <a:rPr sz="1650" spc="-60">
                <a:solidFill>
                  <a:srgbClr val="262626"/>
                </a:solidFill>
                <a:latin typeface="Microsoft Sans Serif"/>
                <a:cs typeface="Microsoft Sans Serif"/>
              </a:rPr>
              <a:t>The</a:t>
            </a:r>
            <a:r>
              <a:rPr sz="1650" spc="-30">
                <a:solidFill>
                  <a:srgbClr val="262626"/>
                </a:solidFill>
                <a:latin typeface="Microsoft Sans Serif"/>
                <a:cs typeface="Microsoft Sans Serif"/>
              </a:rPr>
              <a:t> </a:t>
            </a:r>
            <a:r>
              <a:rPr sz="1650">
                <a:solidFill>
                  <a:srgbClr val="262626"/>
                </a:solidFill>
                <a:latin typeface="Microsoft Sans Serif"/>
                <a:cs typeface="Microsoft Sans Serif"/>
              </a:rPr>
              <a:t>first</a:t>
            </a:r>
            <a:r>
              <a:rPr sz="1650" spc="-35">
                <a:solidFill>
                  <a:srgbClr val="262626"/>
                </a:solidFill>
                <a:latin typeface="Microsoft Sans Serif"/>
                <a:cs typeface="Microsoft Sans Serif"/>
              </a:rPr>
              <a:t> </a:t>
            </a:r>
            <a:r>
              <a:rPr sz="1650" spc="-20">
                <a:solidFill>
                  <a:srgbClr val="262626"/>
                </a:solidFill>
                <a:latin typeface="Microsoft Sans Serif"/>
                <a:cs typeface="Microsoft Sans Serif"/>
              </a:rPr>
              <a:t>Jaguar</a:t>
            </a:r>
            <a:r>
              <a:rPr sz="1650" spc="-40">
                <a:solidFill>
                  <a:srgbClr val="262626"/>
                </a:solidFill>
                <a:latin typeface="Microsoft Sans Serif"/>
                <a:cs typeface="Microsoft Sans Serif"/>
              </a:rPr>
              <a:t> </a:t>
            </a:r>
            <a:r>
              <a:rPr sz="1650" spc="-95">
                <a:solidFill>
                  <a:srgbClr val="262626"/>
                </a:solidFill>
                <a:latin typeface="Microsoft Sans Serif"/>
                <a:cs typeface="Microsoft Sans Serif"/>
              </a:rPr>
              <a:t>SUV,</a:t>
            </a:r>
            <a:r>
              <a:rPr sz="1650" spc="-35">
                <a:solidFill>
                  <a:srgbClr val="262626"/>
                </a:solidFill>
                <a:latin typeface="Microsoft Sans Serif"/>
                <a:cs typeface="Microsoft Sans Serif"/>
              </a:rPr>
              <a:t> </a:t>
            </a:r>
            <a:r>
              <a:rPr sz="1650">
                <a:solidFill>
                  <a:srgbClr val="262626"/>
                </a:solidFill>
                <a:latin typeface="Microsoft Sans Serif"/>
                <a:cs typeface="Microsoft Sans Serif"/>
              </a:rPr>
              <a:t>the</a:t>
            </a:r>
            <a:r>
              <a:rPr sz="1650" spc="-30">
                <a:solidFill>
                  <a:srgbClr val="262626"/>
                </a:solidFill>
                <a:latin typeface="Microsoft Sans Serif"/>
                <a:cs typeface="Microsoft Sans Serif"/>
              </a:rPr>
              <a:t> </a:t>
            </a:r>
            <a:r>
              <a:rPr sz="1650">
                <a:solidFill>
                  <a:srgbClr val="262626"/>
                </a:solidFill>
                <a:latin typeface="Microsoft Sans Serif"/>
                <a:cs typeface="Microsoft Sans Serif"/>
              </a:rPr>
              <a:t>F-</a:t>
            </a:r>
            <a:r>
              <a:rPr sz="1650" spc="-40">
                <a:solidFill>
                  <a:srgbClr val="262626"/>
                </a:solidFill>
                <a:latin typeface="Microsoft Sans Serif"/>
                <a:cs typeface="Microsoft Sans Serif"/>
              </a:rPr>
              <a:t>Pace </a:t>
            </a:r>
            <a:r>
              <a:rPr sz="1650" spc="-35">
                <a:solidFill>
                  <a:srgbClr val="262626"/>
                </a:solidFill>
                <a:latin typeface="Microsoft Sans Serif"/>
                <a:cs typeface="Microsoft Sans Serif"/>
              </a:rPr>
              <a:t>is</a:t>
            </a:r>
            <a:r>
              <a:rPr sz="1650" spc="-70">
                <a:solidFill>
                  <a:srgbClr val="262626"/>
                </a:solidFill>
                <a:latin typeface="Microsoft Sans Serif"/>
                <a:cs typeface="Microsoft Sans Serif"/>
              </a:rPr>
              <a:t> </a:t>
            </a:r>
            <a:r>
              <a:rPr sz="1650" spc="-10">
                <a:solidFill>
                  <a:srgbClr val="262626"/>
                </a:solidFill>
                <a:latin typeface="Microsoft Sans Serif"/>
                <a:cs typeface="Microsoft Sans Serif"/>
              </a:rPr>
              <a:t>announced</a:t>
            </a:r>
            <a:endParaRPr sz="1650">
              <a:latin typeface="Microsoft Sans Serif"/>
              <a:cs typeface="Microsoft Sans Serif"/>
            </a:endParaRPr>
          </a:p>
        </p:txBody>
      </p:sp>
      <p:grpSp>
        <p:nvGrpSpPr>
          <p:cNvPr id="73" name="object 73"/>
          <p:cNvGrpSpPr/>
          <p:nvPr/>
        </p:nvGrpSpPr>
        <p:grpSpPr>
          <a:xfrm>
            <a:off x="10363417" y="5327843"/>
            <a:ext cx="4018279" cy="990600"/>
            <a:chOff x="10363417" y="5327843"/>
            <a:chExt cx="4018279" cy="990600"/>
          </a:xfrm>
        </p:grpSpPr>
        <p:pic>
          <p:nvPicPr>
            <p:cNvPr id="74" name="object 74"/>
            <p:cNvPicPr/>
            <p:nvPr/>
          </p:nvPicPr>
          <p:blipFill>
            <a:blip r:embed="rId17" cstate="print"/>
            <a:stretch>
              <a:fillRect/>
            </a:stretch>
          </p:blipFill>
          <p:spPr>
            <a:xfrm>
              <a:off x="10368689" y="5332612"/>
              <a:ext cx="4008254" cy="982587"/>
            </a:xfrm>
            <a:prstGeom prst="rect">
              <a:avLst/>
            </a:prstGeom>
          </p:spPr>
        </p:pic>
        <p:sp>
          <p:nvSpPr>
            <p:cNvPr id="75" name="object 75"/>
            <p:cNvSpPr/>
            <p:nvPr/>
          </p:nvSpPr>
          <p:spPr>
            <a:xfrm>
              <a:off x="10368815" y="5333240"/>
              <a:ext cx="4007485" cy="979805"/>
            </a:xfrm>
            <a:custGeom>
              <a:avLst/>
              <a:gdLst/>
              <a:ahLst/>
              <a:cxnLst/>
              <a:rect l="l" t="t" r="r" b="b"/>
              <a:pathLst>
                <a:path w="4007484"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76" name="object 76"/>
          <p:cNvSpPr txBox="1"/>
          <p:nvPr/>
        </p:nvSpPr>
        <p:spPr>
          <a:xfrm>
            <a:off x="10559019" y="5351107"/>
            <a:ext cx="2797810" cy="850900"/>
          </a:xfrm>
          <a:prstGeom prst="rect">
            <a:avLst/>
          </a:prstGeom>
        </p:spPr>
        <p:txBody>
          <a:bodyPr vert="horz" wrap="square" lIns="0" tIns="70485" rIns="0" bIns="0" rtlCol="0">
            <a:spAutoFit/>
          </a:bodyPr>
          <a:lstStyle/>
          <a:p>
            <a:pPr marL="12700">
              <a:lnSpc>
                <a:spcPct val="100000"/>
              </a:lnSpc>
              <a:spcBef>
                <a:spcPts val="555"/>
              </a:spcBef>
            </a:pPr>
            <a:r>
              <a:rPr sz="3200" spc="-434">
                <a:solidFill>
                  <a:srgbClr val="065088"/>
                </a:solidFill>
                <a:latin typeface="Arial Black"/>
                <a:cs typeface="Arial Black"/>
              </a:rPr>
              <a:t>2017</a:t>
            </a:r>
            <a:endParaRPr sz="3200">
              <a:latin typeface="Arial Black"/>
              <a:cs typeface="Arial Black"/>
            </a:endParaRPr>
          </a:p>
          <a:p>
            <a:pPr marL="12700">
              <a:lnSpc>
                <a:spcPct val="100000"/>
              </a:lnSpc>
              <a:spcBef>
                <a:spcPts val="220"/>
              </a:spcBef>
            </a:pPr>
            <a:r>
              <a:rPr sz="1650" spc="-65">
                <a:solidFill>
                  <a:srgbClr val="262626"/>
                </a:solidFill>
                <a:latin typeface="Microsoft Sans Serif"/>
                <a:cs typeface="Microsoft Sans Serif"/>
              </a:rPr>
              <a:t>Range</a:t>
            </a:r>
            <a:r>
              <a:rPr sz="1650" spc="-60">
                <a:solidFill>
                  <a:srgbClr val="262626"/>
                </a:solidFill>
                <a:latin typeface="Microsoft Sans Serif"/>
                <a:cs typeface="Microsoft Sans Serif"/>
              </a:rPr>
              <a:t> </a:t>
            </a:r>
            <a:r>
              <a:rPr sz="1650" spc="-40">
                <a:solidFill>
                  <a:srgbClr val="262626"/>
                </a:solidFill>
                <a:latin typeface="Microsoft Sans Serif"/>
                <a:cs typeface="Microsoft Sans Serif"/>
              </a:rPr>
              <a:t>Rover</a:t>
            </a:r>
            <a:r>
              <a:rPr sz="1650" spc="-65">
                <a:solidFill>
                  <a:srgbClr val="262626"/>
                </a:solidFill>
                <a:latin typeface="Microsoft Sans Serif"/>
                <a:cs typeface="Microsoft Sans Serif"/>
              </a:rPr>
              <a:t> </a:t>
            </a:r>
            <a:r>
              <a:rPr sz="1650" spc="-10">
                <a:solidFill>
                  <a:srgbClr val="262626"/>
                </a:solidFill>
                <a:latin typeface="Microsoft Sans Serif"/>
                <a:cs typeface="Microsoft Sans Serif"/>
              </a:rPr>
              <a:t>Velar</a:t>
            </a:r>
            <a:r>
              <a:rPr sz="1650" spc="-65">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launched</a:t>
            </a:r>
            <a:endParaRPr sz="1650">
              <a:latin typeface="Microsoft Sans Serif"/>
              <a:cs typeface="Microsoft Sans Serif"/>
            </a:endParaRPr>
          </a:p>
        </p:txBody>
      </p:sp>
      <p:grpSp>
        <p:nvGrpSpPr>
          <p:cNvPr id="77" name="object 77"/>
          <p:cNvGrpSpPr/>
          <p:nvPr/>
        </p:nvGrpSpPr>
        <p:grpSpPr>
          <a:xfrm>
            <a:off x="10363417" y="6776731"/>
            <a:ext cx="4018279" cy="1198245"/>
            <a:chOff x="10363417" y="6776731"/>
            <a:chExt cx="4018279" cy="1198245"/>
          </a:xfrm>
        </p:grpSpPr>
        <p:pic>
          <p:nvPicPr>
            <p:cNvPr id="78" name="object 78"/>
            <p:cNvPicPr/>
            <p:nvPr/>
          </p:nvPicPr>
          <p:blipFill>
            <a:blip r:embed="rId18" cstate="print"/>
            <a:stretch>
              <a:fillRect/>
            </a:stretch>
          </p:blipFill>
          <p:spPr>
            <a:xfrm>
              <a:off x="10368689" y="6780107"/>
              <a:ext cx="4008254" cy="1191167"/>
            </a:xfrm>
            <a:prstGeom prst="rect">
              <a:avLst/>
            </a:prstGeom>
          </p:spPr>
        </p:pic>
        <p:sp>
          <p:nvSpPr>
            <p:cNvPr id="79" name="object 79"/>
            <p:cNvSpPr/>
            <p:nvPr/>
          </p:nvSpPr>
          <p:spPr>
            <a:xfrm>
              <a:off x="10368815" y="6782128"/>
              <a:ext cx="4007485" cy="1187450"/>
            </a:xfrm>
            <a:custGeom>
              <a:avLst/>
              <a:gdLst/>
              <a:ahLst/>
              <a:cxnLst/>
              <a:rect l="l" t="t" r="r" b="b"/>
              <a:pathLst>
                <a:path w="4007484" h="1187450">
                  <a:moveTo>
                    <a:pt x="0" y="177566"/>
                  </a:moveTo>
                  <a:lnTo>
                    <a:pt x="6342" y="130362"/>
                  </a:lnTo>
                  <a:lnTo>
                    <a:pt x="24242" y="87945"/>
                  </a:lnTo>
                  <a:lnTo>
                    <a:pt x="52007" y="52007"/>
                  </a:lnTo>
                  <a:lnTo>
                    <a:pt x="87945" y="24243"/>
                  </a:lnTo>
                  <a:lnTo>
                    <a:pt x="130362" y="6342"/>
                  </a:lnTo>
                  <a:lnTo>
                    <a:pt x="177566" y="0"/>
                  </a:lnTo>
                  <a:lnTo>
                    <a:pt x="3829404" y="0"/>
                  </a:lnTo>
                  <a:lnTo>
                    <a:pt x="3876608" y="6342"/>
                  </a:lnTo>
                  <a:lnTo>
                    <a:pt x="3919025" y="24243"/>
                  </a:lnTo>
                  <a:lnTo>
                    <a:pt x="3954962" y="52007"/>
                  </a:lnTo>
                  <a:lnTo>
                    <a:pt x="3982727" y="87945"/>
                  </a:lnTo>
                  <a:lnTo>
                    <a:pt x="4000627" y="130362"/>
                  </a:lnTo>
                  <a:lnTo>
                    <a:pt x="4006970" y="177566"/>
                  </a:lnTo>
                  <a:lnTo>
                    <a:pt x="4006970" y="1009684"/>
                  </a:lnTo>
                  <a:lnTo>
                    <a:pt x="4000627" y="1056888"/>
                  </a:lnTo>
                  <a:lnTo>
                    <a:pt x="3982727" y="1099305"/>
                  </a:lnTo>
                  <a:lnTo>
                    <a:pt x="3954962" y="1135242"/>
                  </a:lnTo>
                  <a:lnTo>
                    <a:pt x="3919025" y="1163007"/>
                  </a:lnTo>
                  <a:lnTo>
                    <a:pt x="3876608" y="1180907"/>
                  </a:lnTo>
                  <a:lnTo>
                    <a:pt x="3829404" y="1187250"/>
                  </a:lnTo>
                  <a:lnTo>
                    <a:pt x="177566" y="1187250"/>
                  </a:lnTo>
                  <a:lnTo>
                    <a:pt x="130362" y="1180907"/>
                  </a:lnTo>
                  <a:lnTo>
                    <a:pt x="87945" y="1163007"/>
                  </a:lnTo>
                  <a:lnTo>
                    <a:pt x="52007" y="1135242"/>
                  </a:lnTo>
                  <a:lnTo>
                    <a:pt x="24242" y="1099305"/>
                  </a:lnTo>
                  <a:lnTo>
                    <a:pt x="6342" y="1056888"/>
                  </a:lnTo>
                  <a:lnTo>
                    <a:pt x="0" y="1009684"/>
                  </a:lnTo>
                  <a:lnTo>
                    <a:pt x="0" y="177566"/>
                  </a:lnTo>
                  <a:close/>
                </a:path>
              </a:pathLst>
            </a:custGeom>
            <a:ln w="10470">
              <a:solidFill>
                <a:srgbClr val="065088"/>
              </a:solidFill>
            </a:ln>
          </p:spPr>
          <p:txBody>
            <a:bodyPr wrap="square" lIns="0" tIns="0" rIns="0" bIns="0" rtlCol="0"/>
            <a:lstStyle/>
            <a:p>
              <a:endParaRPr/>
            </a:p>
          </p:txBody>
        </p:sp>
      </p:grpSp>
      <p:sp>
        <p:nvSpPr>
          <p:cNvPr id="80" name="object 80"/>
          <p:cNvSpPr txBox="1"/>
          <p:nvPr/>
        </p:nvSpPr>
        <p:spPr>
          <a:xfrm>
            <a:off x="10556506" y="6778498"/>
            <a:ext cx="3010535" cy="1101725"/>
          </a:xfrm>
          <a:prstGeom prst="rect">
            <a:avLst/>
          </a:prstGeom>
        </p:spPr>
        <p:txBody>
          <a:bodyPr vert="horz" wrap="square" lIns="0" tIns="70485" rIns="0" bIns="0" rtlCol="0">
            <a:spAutoFit/>
          </a:bodyPr>
          <a:lstStyle/>
          <a:p>
            <a:pPr marL="12700">
              <a:lnSpc>
                <a:spcPct val="100000"/>
              </a:lnSpc>
              <a:spcBef>
                <a:spcPts val="555"/>
              </a:spcBef>
            </a:pPr>
            <a:r>
              <a:rPr sz="3200" spc="-360">
                <a:solidFill>
                  <a:srgbClr val="065088"/>
                </a:solidFill>
                <a:latin typeface="Arial Black"/>
                <a:cs typeface="Arial Black"/>
              </a:rPr>
              <a:t>2018</a:t>
            </a:r>
            <a:endParaRPr sz="3200">
              <a:latin typeface="Arial Black"/>
              <a:cs typeface="Arial Black"/>
            </a:endParaRPr>
          </a:p>
          <a:p>
            <a:pPr marL="12700" marR="5080">
              <a:lnSpc>
                <a:spcPct val="100000"/>
              </a:lnSpc>
              <a:spcBef>
                <a:spcPts val="220"/>
              </a:spcBef>
            </a:pPr>
            <a:r>
              <a:rPr sz="1650" spc="-60">
                <a:solidFill>
                  <a:srgbClr val="262626"/>
                </a:solidFill>
                <a:latin typeface="Microsoft Sans Serif"/>
                <a:cs typeface="Microsoft Sans Serif"/>
              </a:rPr>
              <a:t>The</a:t>
            </a:r>
            <a:r>
              <a:rPr sz="1650">
                <a:solidFill>
                  <a:srgbClr val="262626"/>
                </a:solidFill>
                <a:latin typeface="Microsoft Sans Serif"/>
                <a:cs typeface="Microsoft Sans Serif"/>
              </a:rPr>
              <a:t> world’s</a:t>
            </a:r>
            <a:r>
              <a:rPr sz="1650" spc="5">
                <a:solidFill>
                  <a:srgbClr val="262626"/>
                </a:solidFill>
                <a:latin typeface="Microsoft Sans Serif"/>
                <a:cs typeface="Microsoft Sans Serif"/>
              </a:rPr>
              <a:t> </a:t>
            </a:r>
            <a:r>
              <a:rPr sz="1650">
                <a:solidFill>
                  <a:srgbClr val="262626"/>
                </a:solidFill>
                <a:latin typeface="Microsoft Sans Serif"/>
                <a:cs typeface="Microsoft Sans Serif"/>
              </a:rPr>
              <a:t>first</a:t>
            </a:r>
            <a:r>
              <a:rPr sz="1650" spc="-5">
                <a:solidFill>
                  <a:srgbClr val="262626"/>
                </a:solidFill>
                <a:latin typeface="Microsoft Sans Serif"/>
                <a:cs typeface="Microsoft Sans Serif"/>
              </a:rPr>
              <a:t> </a:t>
            </a:r>
            <a:r>
              <a:rPr sz="1650" spc="55">
                <a:solidFill>
                  <a:srgbClr val="262626"/>
                </a:solidFill>
                <a:latin typeface="Microsoft Sans Serif"/>
                <a:cs typeface="Microsoft Sans Serif"/>
              </a:rPr>
              <a:t>all-</a:t>
            </a:r>
            <a:r>
              <a:rPr sz="1650" spc="-10">
                <a:solidFill>
                  <a:srgbClr val="262626"/>
                </a:solidFill>
                <a:latin typeface="Microsoft Sans Serif"/>
                <a:cs typeface="Microsoft Sans Serif"/>
              </a:rPr>
              <a:t>electric</a:t>
            </a:r>
            <a:r>
              <a:rPr sz="1650" spc="5">
                <a:solidFill>
                  <a:srgbClr val="262626"/>
                </a:solidFill>
                <a:latin typeface="Microsoft Sans Serif"/>
                <a:cs typeface="Microsoft Sans Serif"/>
              </a:rPr>
              <a:t> </a:t>
            </a:r>
            <a:r>
              <a:rPr sz="1650" spc="-55">
                <a:solidFill>
                  <a:srgbClr val="262626"/>
                </a:solidFill>
                <a:latin typeface="Microsoft Sans Serif"/>
                <a:cs typeface="Microsoft Sans Serif"/>
              </a:rPr>
              <a:t>SUV, </a:t>
            </a:r>
            <a:r>
              <a:rPr sz="1650" spc="-20">
                <a:solidFill>
                  <a:srgbClr val="262626"/>
                </a:solidFill>
                <a:latin typeface="Microsoft Sans Serif"/>
                <a:cs typeface="Microsoft Sans Serif"/>
              </a:rPr>
              <a:t>Jaguar</a:t>
            </a:r>
            <a:r>
              <a:rPr sz="1650" spc="-35">
                <a:solidFill>
                  <a:srgbClr val="262626"/>
                </a:solidFill>
                <a:latin typeface="Microsoft Sans Serif"/>
                <a:cs typeface="Microsoft Sans Serif"/>
              </a:rPr>
              <a:t> </a:t>
            </a:r>
            <a:r>
              <a:rPr sz="1650">
                <a:solidFill>
                  <a:srgbClr val="262626"/>
                </a:solidFill>
                <a:latin typeface="Microsoft Sans Serif"/>
                <a:cs typeface="Microsoft Sans Serif"/>
              </a:rPr>
              <a:t>I-</a:t>
            </a:r>
            <a:r>
              <a:rPr sz="1650" spc="-75">
                <a:solidFill>
                  <a:srgbClr val="262626"/>
                </a:solidFill>
                <a:latin typeface="Microsoft Sans Serif"/>
                <a:cs typeface="Microsoft Sans Serif"/>
              </a:rPr>
              <a:t>Pace</a:t>
            </a:r>
            <a:r>
              <a:rPr sz="1650" spc="-25">
                <a:solidFill>
                  <a:srgbClr val="262626"/>
                </a:solidFill>
                <a:latin typeface="Microsoft Sans Serif"/>
                <a:cs typeface="Microsoft Sans Serif"/>
              </a:rPr>
              <a:t> </a:t>
            </a:r>
            <a:r>
              <a:rPr sz="1650" spc="-35">
                <a:solidFill>
                  <a:srgbClr val="262626"/>
                </a:solidFill>
                <a:latin typeface="Microsoft Sans Serif"/>
                <a:cs typeface="Microsoft Sans Serif"/>
              </a:rPr>
              <a:t>is</a:t>
            </a:r>
            <a:r>
              <a:rPr sz="1650" spc="-25">
                <a:solidFill>
                  <a:srgbClr val="262626"/>
                </a:solidFill>
                <a:latin typeface="Microsoft Sans Serif"/>
                <a:cs typeface="Microsoft Sans Serif"/>
              </a:rPr>
              <a:t> </a:t>
            </a:r>
            <a:r>
              <a:rPr sz="1650" spc="-10">
                <a:solidFill>
                  <a:srgbClr val="262626"/>
                </a:solidFill>
                <a:latin typeface="Microsoft Sans Serif"/>
                <a:cs typeface="Microsoft Sans Serif"/>
              </a:rPr>
              <a:t>revealed</a:t>
            </a:r>
            <a:endParaRPr sz="1650">
              <a:latin typeface="Microsoft Sans Serif"/>
              <a:cs typeface="Microsoft Sans Serif"/>
            </a:endParaRPr>
          </a:p>
        </p:txBody>
      </p:sp>
      <p:grpSp>
        <p:nvGrpSpPr>
          <p:cNvPr id="81" name="object 81"/>
          <p:cNvGrpSpPr/>
          <p:nvPr/>
        </p:nvGrpSpPr>
        <p:grpSpPr>
          <a:xfrm>
            <a:off x="10363417" y="8432575"/>
            <a:ext cx="4018279" cy="1198245"/>
            <a:chOff x="10363417" y="8432575"/>
            <a:chExt cx="4018279" cy="1198245"/>
          </a:xfrm>
        </p:grpSpPr>
        <p:pic>
          <p:nvPicPr>
            <p:cNvPr id="82" name="object 82"/>
            <p:cNvPicPr/>
            <p:nvPr/>
          </p:nvPicPr>
          <p:blipFill>
            <a:blip r:embed="rId19" cstate="print"/>
            <a:stretch>
              <a:fillRect/>
            </a:stretch>
          </p:blipFill>
          <p:spPr>
            <a:xfrm>
              <a:off x="10368689" y="8436182"/>
              <a:ext cx="4008254" cy="1191167"/>
            </a:xfrm>
            <a:prstGeom prst="rect">
              <a:avLst/>
            </a:prstGeom>
          </p:spPr>
        </p:pic>
        <p:sp>
          <p:nvSpPr>
            <p:cNvPr id="83" name="object 83"/>
            <p:cNvSpPr/>
            <p:nvPr/>
          </p:nvSpPr>
          <p:spPr>
            <a:xfrm>
              <a:off x="10368815" y="8437973"/>
              <a:ext cx="4007485" cy="1187450"/>
            </a:xfrm>
            <a:custGeom>
              <a:avLst/>
              <a:gdLst/>
              <a:ahLst/>
              <a:cxnLst/>
              <a:rect l="l" t="t" r="r" b="b"/>
              <a:pathLst>
                <a:path w="4007484" h="1187450">
                  <a:moveTo>
                    <a:pt x="0" y="177566"/>
                  </a:moveTo>
                  <a:lnTo>
                    <a:pt x="6342" y="130362"/>
                  </a:lnTo>
                  <a:lnTo>
                    <a:pt x="24242" y="87945"/>
                  </a:lnTo>
                  <a:lnTo>
                    <a:pt x="52007" y="52007"/>
                  </a:lnTo>
                  <a:lnTo>
                    <a:pt x="87945" y="24243"/>
                  </a:lnTo>
                  <a:lnTo>
                    <a:pt x="130362" y="6342"/>
                  </a:lnTo>
                  <a:lnTo>
                    <a:pt x="177566" y="0"/>
                  </a:lnTo>
                  <a:lnTo>
                    <a:pt x="3829404" y="0"/>
                  </a:lnTo>
                  <a:lnTo>
                    <a:pt x="3876608" y="6342"/>
                  </a:lnTo>
                  <a:lnTo>
                    <a:pt x="3919025" y="24243"/>
                  </a:lnTo>
                  <a:lnTo>
                    <a:pt x="3954962" y="52007"/>
                  </a:lnTo>
                  <a:lnTo>
                    <a:pt x="3982727" y="87945"/>
                  </a:lnTo>
                  <a:lnTo>
                    <a:pt x="4000627" y="130362"/>
                  </a:lnTo>
                  <a:lnTo>
                    <a:pt x="4006970" y="177566"/>
                  </a:lnTo>
                  <a:lnTo>
                    <a:pt x="4006970" y="1009684"/>
                  </a:lnTo>
                  <a:lnTo>
                    <a:pt x="4000627" y="1056888"/>
                  </a:lnTo>
                  <a:lnTo>
                    <a:pt x="3982727" y="1099305"/>
                  </a:lnTo>
                  <a:lnTo>
                    <a:pt x="3954962" y="1135242"/>
                  </a:lnTo>
                  <a:lnTo>
                    <a:pt x="3919025" y="1163007"/>
                  </a:lnTo>
                  <a:lnTo>
                    <a:pt x="3876608" y="1180907"/>
                  </a:lnTo>
                  <a:lnTo>
                    <a:pt x="3829404" y="1187250"/>
                  </a:lnTo>
                  <a:lnTo>
                    <a:pt x="177566" y="1187250"/>
                  </a:lnTo>
                  <a:lnTo>
                    <a:pt x="130362" y="1180907"/>
                  </a:lnTo>
                  <a:lnTo>
                    <a:pt x="87945" y="1163007"/>
                  </a:lnTo>
                  <a:lnTo>
                    <a:pt x="52007" y="1135242"/>
                  </a:lnTo>
                  <a:lnTo>
                    <a:pt x="24242" y="1099305"/>
                  </a:lnTo>
                  <a:lnTo>
                    <a:pt x="6342" y="1056888"/>
                  </a:lnTo>
                  <a:lnTo>
                    <a:pt x="0" y="1009684"/>
                  </a:lnTo>
                  <a:lnTo>
                    <a:pt x="0" y="177566"/>
                  </a:lnTo>
                  <a:close/>
                </a:path>
              </a:pathLst>
            </a:custGeom>
            <a:ln w="10470">
              <a:solidFill>
                <a:srgbClr val="065088"/>
              </a:solidFill>
            </a:ln>
          </p:spPr>
          <p:txBody>
            <a:bodyPr wrap="square" lIns="0" tIns="0" rIns="0" bIns="0" rtlCol="0"/>
            <a:lstStyle/>
            <a:p>
              <a:endParaRPr/>
            </a:p>
          </p:txBody>
        </p:sp>
      </p:grpSp>
      <p:sp>
        <p:nvSpPr>
          <p:cNvPr id="84" name="object 84"/>
          <p:cNvSpPr txBox="1"/>
          <p:nvPr/>
        </p:nvSpPr>
        <p:spPr>
          <a:xfrm>
            <a:off x="10556506" y="8434573"/>
            <a:ext cx="3346450" cy="1101725"/>
          </a:xfrm>
          <a:prstGeom prst="rect">
            <a:avLst/>
          </a:prstGeom>
        </p:spPr>
        <p:txBody>
          <a:bodyPr vert="horz" wrap="square" lIns="0" tIns="70485" rIns="0" bIns="0" rtlCol="0">
            <a:spAutoFit/>
          </a:bodyPr>
          <a:lstStyle/>
          <a:p>
            <a:pPr marL="12700">
              <a:lnSpc>
                <a:spcPct val="100000"/>
              </a:lnSpc>
              <a:spcBef>
                <a:spcPts val="555"/>
              </a:spcBef>
            </a:pPr>
            <a:r>
              <a:rPr sz="3200" spc="-380">
                <a:solidFill>
                  <a:srgbClr val="065088"/>
                </a:solidFill>
                <a:latin typeface="Arial Black"/>
                <a:cs typeface="Arial Black"/>
              </a:rPr>
              <a:t>2019</a:t>
            </a:r>
            <a:endParaRPr sz="3200">
              <a:latin typeface="Arial Black"/>
              <a:cs typeface="Arial Black"/>
            </a:endParaRPr>
          </a:p>
          <a:p>
            <a:pPr marL="12700" marR="5080">
              <a:lnSpc>
                <a:spcPct val="100000"/>
              </a:lnSpc>
              <a:spcBef>
                <a:spcPts val="220"/>
              </a:spcBef>
            </a:pPr>
            <a:r>
              <a:rPr sz="1650" spc="50">
                <a:solidFill>
                  <a:srgbClr val="262626"/>
                </a:solidFill>
                <a:latin typeface="Microsoft Sans Serif"/>
                <a:cs typeface="Microsoft Sans Serif"/>
              </a:rPr>
              <a:t>All-</a:t>
            </a:r>
            <a:r>
              <a:rPr sz="1650">
                <a:solidFill>
                  <a:srgbClr val="262626"/>
                </a:solidFill>
                <a:latin typeface="Microsoft Sans Serif"/>
                <a:cs typeface="Microsoft Sans Serif"/>
              </a:rPr>
              <a:t>new</a:t>
            </a:r>
            <a:r>
              <a:rPr sz="1650" spc="-55">
                <a:solidFill>
                  <a:srgbClr val="262626"/>
                </a:solidFill>
                <a:latin typeface="Microsoft Sans Serif"/>
                <a:cs typeface="Microsoft Sans Serif"/>
              </a:rPr>
              <a:t> </a:t>
            </a:r>
            <a:r>
              <a:rPr sz="1650" spc="-50">
                <a:solidFill>
                  <a:srgbClr val="262626"/>
                </a:solidFill>
                <a:latin typeface="Microsoft Sans Serif"/>
                <a:cs typeface="Microsoft Sans Serif"/>
              </a:rPr>
              <a:t>Land </a:t>
            </a:r>
            <a:r>
              <a:rPr sz="1650" spc="-40">
                <a:solidFill>
                  <a:srgbClr val="262626"/>
                </a:solidFill>
                <a:latin typeface="Microsoft Sans Serif"/>
                <a:cs typeface="Microsoft Sans Serif"/>
              </a:rPr>
              <a:t>Rover</a:t>
            </a:r>
            <a:r>
              <a:rPr sz="1650" spc="-60">
                <a:solidFill>
                  <a:srgbClr val="262626"/>
                </a:solidFill>
                <a:latin typeface="Microsoft Sans Serif"/>
                <a:cs typeface="Microsoft Sans Serif"/>
              </a:rPr>
              <a:t> </a:t>
            </a:r>
            <a:r>
              <a:rPr sz="1650" spc="-25">
                <a:solidFill>
                  <a:srgbClr val="262626"/>
                </a:solidFill>
                <a:latin typeface="Microsoft Sans Serif"/>
                <a:cs typeface="Microsoft Sans Serif"/>
              </a:rPr>
              <a:t>Defender</a:t>
            </a:r>
            <a:r>
              <a:rPr sz="1650" spc="-60">
                <a:solidFill>
                  <a:srgbClr val="262626"/>
                </a:solidFill>
                <a:latin typeface="Microsoft Sans Serif"/>
                <a:cs typeface="Microsoft Sans Serif"/>
              </a:rPr>
              <a:t> </a:t>
            </a:r>
            <a:r>
              <a:rPr sz="1650" spc="-25">
                <a:solidFill>
                  <a:srgbClr val="262626"/>
                </a:solidFill>
                <a:latin typeface="Microsoft Sans Serif"/>
                <a:cs typeface="Microsoft Sans Serif"/>
              </a:rPr>
              <a:t>makes </a:t>
            </a:r>
            <a:r>
              <a:rPr sz="1650">
                <a:solidFill>
                  <a:srgbClr val="262626"/>
                </a:solidFill>
                <a:latin typeface="Microsoft Sans Serif"/>
                <a:cs typeface="Microsoft Sans Serif"/>
              </a:rPr>
              <a:t>its world</a:t>
            </a:r>
            <a:r>
              <a:rPr sz="1650" spc="5">
                <a:solidFill>
                  <a:srgbClr val="262626"/>
                </a:solidFill>
                <a:latin typeface="Microsoft Sans Serif"/>
                <a:cs typeface="Microsoft Sans Serif"/>
              </a:rPr>
              <a:t> </a:t>
            </a:r>
            <a:r>
              <a:rPr sz="1650" spc="-20">
                <a:solidFill>
                  <a:srgbClr val="262626"/>
                </a:solidFill>
                <a:latin typeface="Microsoft Sans Serif"/>
                <a:cs typeface="Microsoft Sans Serif"/>
              </a:rPr>
              <a:t>debut</a:t>
            </a:r>
            <a:endParaRPr sz="1650">
              <a:latin typeface="Microsoft Sans Serif"/>
              <a:cs typeface="Microsoft Sans Serif"/>
            </a:endParaRPr>
          </a:p>
        </p:txBody>
      </p:sp>
      <p:grpSp>
        <p:nvGrpSpPr>
          <p:cNvPr id="85" name="object 85"/>
          <p:cNvGrpSpPr/>
          <p:nvPr/>
        </p:nvGrpSpPr>
        <p:grpSpPr>
          <a:xfrm>
            <a:off x="12214915" y="2226513"/>
            <a:ext cx="6767830" cy="6104255"/>
            <a:chOff x="12214915" y="2226513"/>
            <a:chExt cx="6767830" cy="6104255"/>
          </a:xfrm>
        </p:grpSpPr>
        <p:sp>
          <p:nvSpPr>
            <p:cNvPr id="86" name="object 86"/>
            <p:cNvSpPr/>
            <p:nvPr/>
          </p:nvSpPr>
          <p:spPr>
            <a:xfrm>
              <a:off x="12214911" y="3317563"/>
              <a:ext cx="314960" cy="5013325"/>
            </a:xfrm>
            <a:custGeom>
              <a:avLst/>
              <a:gdLst/>
              <a:ahLst/>
              <a:cxnLst/>
              <a:rect l="l" t="t" r="r" b="b"/>
              <a:pathLst>
                <a:path w="314959" h="5013325">
                  <a:moveTo>
                    <a:pt x="314756" y="4759515"/>
                  </a:moveTo>
                  <a:lnTo>
                    <a:pt x="157378" y="4855146"/>
                  </a:lnTo>
                  <a:lnTo>
                    <a:pt x="0" y="4759515"/>
                  </a:lnTo>
                  <a:lnTo>
                    <a:pt x="157378" y="5012728"/>
                  </a:lnTo>
                  <a:lnTo>
                    <a:pt x="314756" y="4759515"/>
                  </a:lnTo>
                  <a:close/>
                </a:path>
                <a:path w="314959" h="5013325">
                  <a:moveTo>
                    <a:pt x="314756" y="3103257"/>
                  </a:moveTo>
                  <a:lnTo>
                    <a:pt x="157378" y="3198888"/>
                  </a:lnTo>
                  <a:lnTo>
                    <a:pt x="0" y="3103257"/>
                  </a:lnTo>
                  <a:lnTo>
                    <a:pt x="157378" y="3356470"/>
                  </a:lnTo>
                  <a:lnTo>
                    <a:pt x="314756" y="3103257"/>
                  </a:lnTo>
                  <a:close/>
                </a:path>
                <a:path w="314959" h="5013325">
                  <a:moveTo>
                    <a:pt x="314756" y="1654378"/>
                  </a:moveTo>
                  <a:lnTo>
                    <a:pt x="157378" y="1750009"/>
                  </a:lnTo>
                  <a:lnTo>
                    <a:pt x="0" y="1654378"/>
                  </a:lnTo>
                  <a:lnTo>
                    <a:pt x="157378" y="1907578"/>
                  </a:lnTo>
                  <a:lnTo>
                    <a:pt x="314756" y="1654378"/>
                  </a:lnTo>
                  <a:close/>
                </a:path>
                <a:path w="314959" h="5013325">
                  <a:moveTo>
                    <a:pt x="314756" y="0"/>
                  </a:moveTo>
                  <a:lnTo>
                    <a:pt x="157378" y="95631"/>
                  </a:lnTo>
                  <a:lnTo>
                    <a:pt x="0" y="0"/>
                  </a:lnTo>
                  <a:lnTo>
                    <a:pt x="157378" y="253199"/>
                  </a:lnTo>
                  <a:lnTo>
                    <a:pt x="314756" y="0"/>
                  </a:lnTo>
                  <a:close/>
                </a:path>
              </a:pathLst>
            </a:custGeom>
            <a:solidFill>
              <a:srgbClr val="065088"/>
            </a:solidFill>
          </p:spPr>
          <p:txBody>
            <a:bodyPr wrap="square" lIns="0" tIns="0" rIns="0" bIns="0" rtlCol="0"/>
            <a:lstStyle/>
            <a:p>
              <a:endParaRPr/>
            </a:p>
          </p:txBody>
        </p:sp>
        <p:pic>
          <p:nvPicPr>
            <p:cNvPr id="87" name="object 87"/>
            <p:cNvPicPr/>
            <p:nvPr/>
          </p:nvPicPr>
          <p:blipFill>
            <a:blip r:embed="rId20" cstate="print"/>
            <a:stretch>
              <a:fillRect/>
            </a:stretch>
          </p:blipFill>
          <p:spPr>
            <a:xfrm>
              <a:off x="14970015" y="2231555"/>
              <a:ext cx="4008254" cy="1751569"/>
            </a:xfrm>
            <a:prstGeom prst="rect">
              <a:avLst/>
            </a:prstGeom>
          </p:spPr>
        </p:pic>
        <p:sp>
          <p:nvSpPr>
            <p:cNvPr id="88" name="object 88"/>
            <p:cNvSpPr/>
            <p:nvPr/>
          </p:nvSpPr>
          <p:spPr>
            <a:xfrm>
              <a:off x="14970119" y="2231911"/>
              <a:ext cx="4007485" cy="1751330"/>
            </a:xfrm>
            <a:custGeom>
              <a:avLst/>
              <a:gdLst/>
              <a:ahLst/>
              <a:cxnLst/>
              <a:rect l="l" t="t" r="r" b="b"/>
              <a:pathLst>
                <a:path w="4007484" h="1751329">
                  <a:moveTo>
                    <a:pt x="0" y="187991"/>
                  </a:moveTo>
                  <a:lnTo>
                    <a:pt x="6715" y="138015"/>
                  </a:lnTo>
                  <a:lnTo>
                    <a:pt x="25666" y="93108"/>
                  </a:lnTo>
                  <a:lnTo>
                    <a:pt x="55061" y="55061"/>
                  </a:lnTo>
                  <a:lnTo>
                    <a:pt x="93108" y="25666"/>
                  </a:lnTo>
                  <a:lnTo>
                    <a:pt x="138015" y="6715"/>
                  </a:lnTo>
                  <a:lnTo>
                    <a:pt x="187991" y="0"/>
                  </a:lnTo>
                  <a:lnTo>
                    <a:pt x="3818979" y="0"/>
                  </a:lnTo>
                  <a:lnTo>
                    <a:pt x="3868954" y="6715"/>
                  </a:lnTo>
                  <a:lnTo>
                    <a:pt x="3913862" y="25666"/>
                  </a:lnTo>
                  <a:lnTo>
                    <a:pt x="3951909" y="55061"/>
                  </a:lnTo>
                  <a:lnTo>
                    <a:pt x="3981304" y="93108"/>
                  </a:lnTo>
                  <a:lnTo>
                    <a:pt x="4000255" y="138015"/>
                  </a:lnTo>
                  <a:lnTo>
                    <a:pt x="4006970" y="187991"/>
                  </a:lnTo>
                  <a:lnTo>
                    <a:pt x="4006970" y="1563203"/>
                  </a:lnTo>
                  <a:lnTo>
                    <a:pt x="4000255" y="1613179"/>
                  </a:lnTo>
                  <a:lnTo>
                    <a:pt x="3981304" y="1658086"/>
                  </a:lnTo>
                  <a:lnTo>
                    <a:pt x="3951909" y="1696133"/>
                  </a:lnTo>
                  <a:lnTo>
                    <a:pt x="3913862" y="1725528"/>
                  </a:lnTo>
                  <a:lnTo>
                    <a:pt x="3868954" y="1744479"/>
                  </a:lnTo>
                  <a:lnTo>
                    <a:pt x="3818979" y="1751194"/>
                  </a:lnTo>
                  <a:lnTo>
                    <a:pt x="187991" y="1751194"/>
                  </a:lnTo>
                  <a:lnTo>
                    <a:pt x="138015" y="1744479"/>
                  </a:lnTo>
                  <a:lnTo>
                    <a:pt x="93108" y="1725528"/>
                  </a:lnTo>
                  <a:lnTo>
                    <a:pt x="55061" y="1696133"/>
                  </a:lnTo>
                  <a:lnTo>
                    <a:pt x="25666" y="1658086"/>
                  </a:lnTo>
                  <a:lnTo>
                    <a:pt x="6715" y="1613179"/>
                  </a:lnTo>
                  <a:lnTo>
                    <a:pt x="0" y="1563203"/>
                  </a:lnTo>
                  <a:lnTo>
                    <a:pt x="0" y="187991"/>
                  </a:lnTo>
                  <a:close/>
                </a:path>
              </a:pathLst>
            </a:custGeom>
            <a:ln w="10470">
              <a:solidFill>
                <a:srgbClr val="065088"/>
              </a:solidFill>
            </a:ln>
          </p:spPr>
          <p:txBody>
            <a:bodyPr wrap="square" lIns="0" tIns="0" rIns="0" bIns="0" rtlCol="0"/>
            <a:lstStyle/>
            <a:p>
              <a:endParaRPr/>
            </a:p>
          </p:txBody>
        </p:sp>
      </p:grpSp>
      <p:sp>
        <p:nvSpPr>
          <p:cNvPr id="89" name="object 89"/>
          <p:cNvSpPr txBox="1"/>
          <p:nvPr/>
        </p:nvSpPr>
        <p:spPr>
          <a:xfrm>
            <a:off x="15160869" y="2260102"/>
            <a:ext cx="3392804" cy="1604645"/>
          </a:xfrm>
          <a:prstGeom prst="rect">
            <a:avLst/>
          </a:prstGeom>
        </p:spPr>
        <p:txBody>
          <a:bodyPr vert="horz" wrap="square" lIns="0" tIns="70485" rIns="0" bIns="0" rtlCol="0">
            <a:spAutoFit/>
          </a:bodyPr>
          <a:lstStyle/>
          <a:p>
            <a:pPr marL="12700">
              <a:lnSpc>
                <a:spcPct val="100000"/>
              </a:lnSpc>
              <a:spcBef>
                <a:spcPts val="555"/>
              </a:spcBef>
            </a:pPr>
            <a:r>
              <a:rPr sz="3200" spc="-385">
                <a:solidFill>
                  <a:srgbClr val="065088"/>
                </a:solidFill>
                <a:latin typeface="Arial Black"/>
                <a:cs typeface="Arial Black"/>
              </a:rPr>
              <a:t>2021</a:t>
            </a:r>
            <a:endParaRPr sz="3200">
              <a:latin typeface="Arial Black"/>
              <a:cs typeface="Arial Black"/>
            </a:endParaRPr>
          </a:p>
          <a:p>
            <a:pPr marL="12700" marR="5080">
              <a:lnSpc>
                <a:spcPct val="100000"/>
              </a:lnSpc>
              <a:spcBef>
                <a:spcPts val="220"/>
              </a:spcBef>
            </a:pPr>
            <a:r>
              <a:rPr sz="1650" spc="-35">
                <a:solidFill>
                  <a:srgbClr val="262626"/>
                </a:solidFill>
                <a:latin typeface="Microsoft Sans Serif"/>
                <a:cs typeface="Microsoft Sans Serif"/>
              </a:rPr>
              <a:t>Reimagine</a:t>
            </a:r>
            <a:r>
              <a:rPr sz="1650" spc="-20">
                <a:solidFill>
                  <a:srgbClr val="262626"/>
                </a:solidFill>
                <a:latin typeface="Microsoft Sans Serif"/>
                <a:cs typeface="Microsoft Sans Serif"/>
              </a:rPr>
              <a:t> </a:t>
            </a:r>
            <a:r>
              <a:rPr sz="1650">
                <a:solidFill>
                  <a:srgbClr val="262626"/>
                </a:solidFill>
                <a:latin typeface="Microsoft Sans Serif"/>
                <a:cs typeface="Microsoft Sans Serif"/>
              </a:rPr>
              <a:t>Strategy</a:t>
            </a:r>
            <a:r>
              <a:rPr sz="1650" spc="-20">
                <a:solidFill>
                  <a:srgbClr val="262626"/>
                </a:solidFill>
                <a:latin typeface="Microsoft Sans Serif"/>
                <a:cs typeface="Microsoft Sans Serif"/>
              </a:rPr>
              <a:t> </a:t>
            </a:r>
            <a:r>
              <a:rPr sz="1650" spc="-10">
                <a:solidFill>
                  <a:srgbClr val="262626"/>
                </a:solidFill>
                <a:latin typeface="Microsoft Sans Serif"/>
                <a:cs typeface="Microsoft Sans Serif"/>
              </a:rPr>
              <a:t>Launched </a:t>
            </a:r>
            <a:r>
              <a:rPr sz="1650" spc="-20">
                <a:solidFill>
                  <a:srgbClr val="262626"/>
                </a:solidFill>
                <a:latin typeface="Microsoft Sans Serif"/>
                <a:cs typeface="Microsoft Sans Serif"/>
              </a:rPr>
              <a:t>Jaguar</a:t>
            </a:r>
            <a:r>
              <a:rPr sz="1650" spc="-30">
                <a:solidFill>
                  <a:srgbClr val="262626"/>
                </a:solidFill>
                <a:latin typeface="Microsoft Sans Serif"/>
                <a:cs typeface="Microsoft Sans Serif"/>
              </a:rPr>
              <a:t> </a:t>
            </a:r>
            <a:r>
              <a:rPr sz="1650">
                <a:solidFill>
                  <a:srgbClr val="262626"/>
                </a:solidFill>
                <a:latin typeface="Microsoft Sans Serif"/>
                <a:cs typeface="Microsoft Sans Serif"/>
              </a:rPr>
              <a:t>to</a:t>
            </a:r>
            <a:r>
              <a:rPr sz="1650" spc="-30">
                <a:solidFill>
                  <a:srgbClr val="262626"/>
                </a:solidFill>
                <a:latin typeface="Microsoft Sans Serif"/>
                <a:cs typeface="Microsoft Sans Serif"/>
              </a:rPr>
              <a:t> </a:t>
            </a:r>
            <a:r>
              <a:rPr sz="1650" spc="-50">
                <a:solidFill>
                  <a:srgbClr val="262626"/>
                </a:solidFill>
                <a:latin typeface="Microsoft Sans Serif"/>
                <a:cs typeface="Microsoft Sans Serif"/>
              </a:rPr>
              <a:t>become</a:t>
            </a:r>
            <a:r>
              <a:rPr sz="1650" spc="-25">
                <a:solidFill>
                  <a:srgbClr val="262626"/>
                </a:solidFill>
                <a:latin typeface="Microsoft Sans Serif"/>
                <a:cs typeface="Microsoft Sans Serif"/>
              </a:rPr>
              <a:t> </a:t>
            </a:r>
            <a:r>
              <a:rPr sz="1650">
                <a:solidFill>
                  <a:srgbClr val="262626"/>
                </a:solidFill>
                <a:latin typeface="Microsoft Sans Serif"/>
                <a:cs typeface="Microsoft Sans Serif"/>
              </a:rPr>
              <a:t>all</a:t>
            </a:r>
            <a:r>
              <a:rPr sz="1650" spc="-30">
                <a:solidFill>
                  <a:srgbClr val="262626"/>
                </a:solidFill>
                <a:latin typeface="Microsoft Sans Serif"/>
                <a:cs typeface="Microsoft Sans Serif"/>
              </a:rPr>
              <a:t> </a:t>
            </a:r>
            <a:r>
              <a:rPr sz="1650" spc="-10">
                <a:solidFill>
                  <a:srgbClr val="262626"/>
                </a:solidFill>
                <a:latin typeface="Microsoft Sans Serif"/>
                <a:cs typeface="Microsoft Sans Serif"/>
              </a:rPr>
              <a:t>electric</a:t>
            </a:r>
            <a:r>
              <a:rPr sz="1650" spc="-20">
                <a:solidFill>
                  <a:srgbClr val="262626"/>
                </a:solidFill>
                <a:latin typeface="Microsoft Sans Serif"/>
                <a:cs typeface="Microsoft Sans Serif"/>
              </a:rPr>
              <a:t> brand </a:t>
            </a:r>
            <a:r>
              <a:rPr sz="1650">
                <a:solidFill>
                  <a:srgbClr val="262626"/>
                </a:solidFill>
                <a:latin typeface="Microsoft Sans Serif"/>
                <a:cs typeface="Microsoft Sans Serif"/>
              </a:rPr>
              <a:t>by</a:t>
            </a:r>
            <a:r>
              <a:rPr sz="1650" spc="-25">
                <a:solidFill>
                  <a:srgbClr val="262626"/>
                </a:solidFill>
                <a:latin typeface="Microsoft Sans Serif"/>
                <a:cs typeface="Microsoft Sans Serif"/>
              </a:rPr>
              <a:t> </a:t>
            </a:r>
            <a:r>
              <a:rPr sz="1650">
                <a:solidFill>
                  <a:srgbClr val="262626"/>
                </a:solidFill>
                <a:latin typeface="Microsoft Sans Serif"/>
                <a:cs typeface="Microsoft Sans Serif"/>
              </a:rPr>
              <a:t>2025;</a:t>
            </a:r>
            <a:r>
              <a:rPr sz="1650" spc="-25">
                <a:solidFill>
                  <a:srgbClr val="262626"/>
                </a:solidFill>
                <a:latin typeface="Microsoft Sans Serif"/>
                <a:cs typeface="Microsoft Sans Serif"/>
              </a:rPr>
              <a:t> </a:t>
            </a:r>
            <a:r>
              <a:rPr sz="1650" spc="-10">
                <a:solidFill>
                  <a:srgbClr val="262626"/>
                </a:solidFill>
                <a:latin typeface="Microsoft Sans Serif"/>
                <a:cs typeface="Microsoft Sans Serif"/>
              </a:rPr>
              <a:t>First</a:t>
            </a:r>
            <a:r>
              <a:rPr sz="1650" spc="-25">
                <a:solidFill>
                  <a:srgbClr val="262626"/>
                </a:solidFill>
                <a:latin typeface="Microsoft Sans Serif"/>
                <a:cs typeface="Microsoft Sans Serif"/>
              </a:rPr>
              <a:t> </a:t>
            </a:r>
            <a:r>
              <a:rPr sz="1650" spc="55">
                <a:solidFill>
                  <a:srgbClr val="262626"/>
                </a:solidFill>
                <a:latin typeface="Microsoft Sans Serif"/>
                <a:cs typeface="Microsoft Sans Serif"/>
              </a:rPr>
              <a:t>all-</a:t>
            </a:r>
            <a:r>
              <a:rPr sz="1650" spc="-10">
                <a:solidFill>
                  <a:srgbClr val="262626"/>
                </a:solidFill>
                <a:latin typeface="Microsoft Sans Serif"/>
                <a:cs typeface="Microsoft Sans Serif"/>
              </a:rPr>
              <a:t>electric</a:t>
            </a:r>
            <a:r>
              <a:rPr sz="1650" spc="-25">
                <a:solidFill>
                  <a:srgbClr val="262626"/>
                </a:solidFill>
                <a:latin typeface="Microsoft Sans Serif"/>
                <a:cs typeface="Microsoft Sans Serif"/>
              </a:rPr>
              <a:t> </a:t>
            </a:r>
            <a:r>
              <a:rPr sz="1650" spc="-50">
                <a:solidFill>
                  <a:srgbClr val="262626"/>
                </a:solidFill>
                <a:latin typeface="Microsoft Sans Serif"/>
                <a:cs typeface="Microsoft Sans Serif"/>
              </a:rPr>
              <a:t>Land</a:t>
            </a:r>
            <a:r>
              <a:rPr sz="1650" spc="-25">
                <a:solidFill>
                  <a:srgbClr val="262626"/>
                </a:solidFill>
                <a:latin typeface="Microsoft Sans Serif"/>
                <a:cs typeface="Microsoft Sans Serif"/>
              </a:rPr>
              <a:t> </a:t>
            </a:r>
            <a:r>
              <a:rPr sz="1650" spc="-10">
                <a:solidFill>
                  <a:srgbClr val="262626"/>
                </a:solidFill>
                <a:latin typeface="Microsoft Sans Serif"/>
                <a:cs typeface="Microsoft Sans Serif"/>
              </a:rPr>
              <a:t>Rover </a:t>
            </a:r>
            <a:r>
              <a:rPr sz="1650" spc="-20">
                <a:solidFill>
                  <a:srgbClr val="262626"/>
                </a:solidFill>
                <a:latin typeface="Microsoft Sans Serif"/>
                <a:cs typeface="Microsoft Sans Serif"/>
              </a:rPr>
              <a:t>vehicle</a:t>
            </a:r>
            <a:r>
              <a:rPr sz="1650" spc="-75">
                <a:solidFill>
                  <a:srgbClr val="262626"/>
                </a:solidFill>
                <a:latin typeface="Microsoft Sans Serif"/>
                <a:cs typeface="Microsoft Sans Serif"/>
              </a:rPr>
              <a:t> </a:t>
            </a:r>
            <a:r>
              <a:rPr sz="1650">
                <a:solidFill>
                  <a:srgbClr val="262626"/>
                </a:solidFill>
                <a:latin typeface="Microsoft Sans Serif"/>
                <a:cs typeface="Microsoft Sans Serif"/>
              </a:rPr>
              <a:t>in</a:t>
            </a:r>
            <a:r>
              <a:rPr sz="1650" spc="-70">
                <a:solidFill>
                  <a:srgbClr val="262626"/>
                </a:solidFill>
                <a:latin typeface="Microsoft Sans Serif"/>
                <a:cs typeface="Microsoft Sans Serif"/>
              </a:rPr>
              <a:t> </a:t>
            </a:r>
            <a:r>
              <a:rPr sz="1650" spc="-20">
                <a:solidFill>
                  <a:srgbClr val="262626"/>
                </a:solidFill>
                <a:latin typeface="Microsoft Sans Serif"/>
                <a:cs typeface="Microsoft Sans Serif"/>
              </a:rPr>
              <a:t>2024</a:t>
            </a:r>
            <a:endParaRPr sz="1650">
              <a:latin typeface="Microsoft Sans Serif"/>
              <a:cs typeface="Microsoft Sans Serif"/>
            </a:endParaRPr>
          </a:p>
        </p:txBody>
      </p:sp>
      <p:grpSp>
        <p:nvGrpSpPr>
          <p:cNvPr id="90" name="object 90"/>
          <p:cNvGrpSpPr/>
          <p:nvPr/>
        </p:nvGrpSpPr>
        <p:grpSpPr>
          <a:xfrm>
            <a:off x="14964722" y="4435252"/>
            <a:ext cx="4018279" cy="990600"/>
            <a:chOff x="14964722" y="4435252"/>
            <a:chExt cx="4018279" cy="990600"/>
          </a:xfrm>
        </p:grpSpPr>
        <p:pic>
          <p:nvPicPr>
            <p:cNvPr id="91" name="object 91"/>
            <p:cNvPicPr/>
            <p:nvPr/>
          </p:nvPicPr>
          <p:blipFill>
            <a:blip r:embed="rId21" cstate="print"/>
            <a:stretch>
              <a:fillRect/>
            </a:stretch>
          </p:blipFill>
          <p:spPr>
            <a:xfrm>
              <a:off x="14970015" y="4440492"/>
              <a:ext cx="4008254" cy="980074"/>
            </a:xfrm>
            <a:prstGeom prst="rect">
              <a:avLst/>
            </a:prstGeom>
          </p:spPr>
        </p:pic>
        <p:sp>
          <p:nvSpPr>
            <p:cNvPr id="92" name="object 92"/>
            <p:cNvSpPr/>
            <p:nvPr/>
          </p:nvSpPr>
          <p:spPr>
            <a:xfrm>
              <a:off x="14970119" y="4440650"/>
              <a:ext cx="4007485" cy="979805"/>
            </a:xfrm>
            <a:custGeom>
              <a:avLst/>
              <a:gdLst/>
              <a:ahLst/>
              <a:cxnLst/>
              <a:rect l="l" t="t" r="r" b="b"/>
              <a:pathLst>
                <a:path w="4007484" h="979804">
                  <a:moveTo>
                    <a:pt x="0" y="186168"/>
                  </a:moveTo>
                  <a:lnTo>
                    <a:pt x="6650" y="136677"/>
                  </a:lnTo>
                  <a:lnTo>
                    <a:pt x="25417" y="92205"/>
                  </a:lnTo>
                  <a:lnTo>
                    <a:pt x="54527" y="54527"/>
                  </a:lnTo>
                  <a:lnTo>
                    <a:pt x="92205" y="25417"/>
                  </a:lnTo>
                  <a:lnTo>
                    <a:pt x="136677" y="6650"/>
                  </a:lnTo>
                  <a:lnTo>
                    <a:pt x="186168" y="0"/>
                  </a:lnTo>
                  <a:lnTo>
                    <a:pt x="3820802" y="0"/>
                  </a:lnTo>
                  <a:lnTo>
                    <a:pt x="3870293" y="6650"/>
                  </a:lnTo>
                  <a:lnTo>
                    <a:pt x="3914764" y="25417"/>
                  </a:lnTo>
                  <a:lnTo>
                    <a:pt x="3952443" y="54527"/>
                  </a:lnTo>
                  <a:lnTo>
                    <a:pt x="3981553" y="92205"/>
                  </a:lnTo>
                  <a:lnTo>
                    <a:pt x="4000320" y="136677"/>
                  </a:lnTo>
                  <a:lnTo>
                    <a:pt x="4006970" y="186168"/>
                  </a:lnTo>
                  <a:lnTo>
                    <a:pt x="4006970" y="793313"/>
                  </a:lnTo>
                  <a:lnTo>
                    <a:pt x="4000320" y="842804"/>
                  </a:lnTo>
                  <a:lnTo>
                    <a:pt x="3981553" y="887276"/>
                  </a:lnTo>
                  <a:lnTo>
                    <a:pt x="3952443" y="924954"/>
                  </a:lnTo>
                  <a:lnTo>
                    <a:pt x="3914764" y="954064"/>
                  </a:lnTo>
                  <a:lnTo>
                    <a:pt x="3870293" y="972831"/>
                  </a:lnTo>
                  <a:lnTo>
                    <a:pt x="3820802" y="979481"/>
                  </a:lnTo>
                  <a:lnTo>
                    <a:pt x="186168" y="979481"/>
                  </a:lnTo>
                  <a:lnTo>
                    <a:pt x="136677" y="972831"/>
                  </a:lnTo>
                  <a:lnTo>
                    <a:pt x="92205" y="954064"/>
                  </a:lnTo>
                  <a:lnTo>
                    <a:pt x="54527" y="924954"/>
                  </a:lnTo>
                  <a:lnTo>
                    <a:pt x="25417" y="887276"/>
                  </a:lnTo>
                  <a:lnTo>
                    <a:pt x="6650" y="842804"/>
                  </a:lnTo>
                  <a:lnTo>
                    <a:pt x="0" y="793313"/>
                  </a:lnTo>
                  <a:lnTo>
                    <a:pt x="0" y="186168"/>
                  </a:lnTo>
                  <a:close/>
                </a:path>
              </a:pathLst>
            </a:custGeom>
            <a:ln w="10470">
              <a:solidFill>
                <a:srgbClr val="065088"/>
              </a:solidFill>
            </a:ln>
          </p:spPr>
          <p:txBody>
            <a:bodyPr wrap="square" lIns="0" tIns="0" rIns="0" bIns="0" rtlCol="0"/>
            <a:lstStyle/>
            <a:p>
              <a:endParaRPr/>
            </a:p>
          </p:txBody>
        </p:sp>
      </p:grpSp>
      <p:sp>
        <p:nvSpPr>
          <p:cNvPr id="93" name="object 93"/>
          <p:cNvSpPr txBox="1"/>
          <p:nvPr/>
        </p:nvSpPr>
        <p:spPr>
          <a:xfrm>
            <a:off x="15160345" y="4458987"/>
            <a:ext cx="3416300" cy="850900"/>
          </a:xfrm>
          <a:prstGeom prst="rect">
            <a:avLst/>
          </a:prstGeom>
        </p:spPr>
        <p:txBody>
          <a:bodyPr vert="horz" wrap="square" lIns="0" tIns="70485" rIns="0" bIns="0" rtlCol="0">
            <a:spAutoFit/>
          </a:bodyPr>
          <a:lstStyle/>
          <a:p>
            <a:pPr marL="12700">
              <a:lnSpc>
                <a:spcPct val="100000"/>
              </a:lnSpc>
              <a:spcBef>
                <a:spcPts val="555"/>
              </a:spcBef>
            </a:pPr>
            <a:r>
              <a:rPr sz="3200" spc="-20">
                <a:solidFill>
                  <a:srgbClr val="065088"/>
                </a:solidFill>
                <a:latin typeface="Arial Black"/>
                <a:cs typeface="Arial Black"/>
              </a:rPr>
              <a:t>2022</a:t>
            </a:r>
            <a:endParaRPr sz="3200">
              <a:latin typeface="Arial Black"/>
              <a:cs typeface="Arial Black"/>
            </a:endParaRPr>
          </a:p>
          <a:p>
            <a:pPr marL="12700">
              <a:lnSpc>
                <a:spcPct val="100000"/>
              </a:lnSpc>
              <a:spcBef>
                <a:spcPts val="220"/>
              </a:spcBef>
            </a:pPr>
            <a:r>
              <a:rPr sz="1650" spc="-10">
                <a:solidFill>
                  <a:srgbClr val="262626"/>
                </a:solidFill>
                <a:latin typeface="Microsoft Sans Serif"/>
                <a:cs typeface="Microsoft Sans Serif"/>
              </a:rPr>
              <a:t>New</a:t>
            </a:r>
            <a:r>
              <a:rPr sz="1650" spc="-70">
                <a:solidFill>
                  <a:srgbClr val="262626"/>
                </a:solidFill>
                <a:latin typeface="Microsoft Sans Serif"/>
                <a:cs typeface="Microsoft Sans Serif"/>
              </a:rPr>
              <a:t> </a:t>
            </a:r>
            <a:r>
              <a:rPr sz="1650" spc="-145">
                <a:solidFill>
                  <a:srgbClr val="262626"/>
                </a:solidFill>
                <a:latin typeface="Microsoft Sans Serif"/>
                <a:cs typeface="Microsoft Sans Serif"/>
              </a:rPr>
              <a:t>RR,</a:t>
            </a:r>
            <a:r>
              <a:rPr sz="1650" spc="-70">
                <a:solidFill>
                  <a:srgbClr val="262626"/>
                </a:solidFill>
                <a:latin typeface="Microsoft Sans Serif"/>
                <a:cs typeface="Microsoft Sans Serif"/>
              </a:rPr>
              <a:t> </a:t>
            </a:r>
            <a:r>
              <a:rPr sz="1650" spc="-10">
                <a:solidFill>
                  <a:srgbClr val="262626"/>
                </a:solidFill>
                <a:latin typeface="Microsoft Sans Serif"/>
                <a:cs typeface="Microsoft Sans Serif"/>
              </a:rPr>
              <a:t>New</a:t>
            </a:r>
            <a:r>
              <a:rPr sz="1650" spc="-70">
                <a:solidFill>
                  <a:srgbClr val="262626"/>
                </a:solidFill>
                <a:latin typeface="Microsoft Sans Serif"/>
                <a:cs typeface="Microsoft Sans Serif"/>
              </a:rPr>
              <a:t> </a:t>
            </a:r>
            <a:r>
              <a:rPr sz="1650" spc="-160">
                <a:solidFill>
                  <a:srgbClr val="262626"/>
                </a:solidFill>
                <a:latin typeface="Microsoft Sans Serif"/>
                <a:cs typeface="Microsoft Sans Serif"/>
              </a:rPr>
              <a:t>RR</a:t>
            </a:r>
            <a:r>
              <a:rPr sz="1650" spc="-65">
                <a:solidFill>
                  <a:srgbClr val="262626"/>
                </a:solidFill>
                <a:latin typeface="Microsoft Sans Serif"/>
                <a:cs typeface="Microsoft Sans Serif"/>
              </a:rPr>
              <a:t> </a:t>
            </a:r>
            <a:r>
              <a:rPr sz="1650" spc="-25">
                <a:solidFill>
                  <a:srgbClr val="262626"/>
                </a:solidFill>
                <a:latin typeface="Microsoft Sans Serif"/>
                <a:cs typeface="Microsoft Sans Serif"/>
              </a:rPr>
              <a:t>Sport,</a:t>
            </a:r>
            <a:r>
              <a:rPr sz="1650" spc="-75">
                <a:solidFill>
                  <a:srgbClr val="262626"/>
                </a:solidFill>
                <a:latin typeface="Microsoft Sans Serif"/>
                <a:cs typeface="Microsoft Sans Serif"/>
              </a:rPr>
              <a:t> </a:t>
            </a:r>
            <a:r>
              <a:rPr sz="1650" spc="-25">
                <a:solidFill>
                  <a:srgbClr val="262626"/>
                </a:solidFill>
                <a:latin typeface="Microsoft Sans Serif"/>
                <a:cs typeface="Microsoft Sans Serif"/>
              </a:rPr>
              <a:t>Defender</a:t>
            </a:r>
            <a:r>
              <a:rPr sz="1650" spc="-70">
                <a:solidFill>
                  <a:srgbClr val="262626"/>
                </a:solidFill>
                <a:latin typeface="Microsoft Sans Serif"/>
                <a:cs typeface="Microsoft Sans Serif"/>
              </a:rPr>
              <a:t> </a:t>
            </a:r>
            <a:r>
              <a:rPr sz="1650" spc="-25">
                <a:solidFill>
                  <a:srgbClr val="262626"/>
                </a:solidFill>
                <a:latin typeface="Microsoft Sans Serif"/>
                <a:cs typeface="Microsoft Sans Serif"/>
              </a:rPr>
              <a:t>130</a:t>
            </a:r>
            <a:endParaRPr sz="1650">
              <a:latin typeface="Microsoft Sans Serif"/>
              <a:cs typeface="Microsoft Sans Serif"/>
            </a:endParaRPr>
          </a:p>
        </p:txBody>
      </p:sp>
      <p:grpSp>
        <p:nvGrpSpPr>
          <p:cNvPr id="94" name="object 94"/>
          <p:cNvGrpSpPr/>
          <p:nvPr/>
        </p:nvGrpSpPr>
        <p:grpSpPr>
          <a:xfrm>
            <a:off x="14964885" y="5872449"/>
            <a:ext cx="4017645" cy="1762125"/>
            <a:chOff x="14964885" y="5872449"/>
            <a:chExt cx="4017645" cy="1762125"/>
          </a:xfrm>
        </p:grpSpPr>
        <p:pic>
          <p:nvPicPr>
            <p:cNvPr id="95" name="object 95"/>
            <p:cNvPicPr/>
            <p:nvPr/>
          </p:nvPicPr>
          <p:blipFill>
            <a:blip r:embed="rId22" cstate="print"/>
            <a:stretch>
              <a:fillRect/>
            </a:stretch>
          </p:blipFill>
          <p:spPr>
            <a:xfrm>
              <a:off x="14970015" y="5875423"/>
              <a:ext cx="4008254" cy="1754082"/>
            </a:xfrm>
            <a:prstGeom prst="rect">
              <a:avLst/>
            </a:prstGeom>
          </p:spPr>
        </p:pic>
        <p:sp>
          <p:nvSpPr>
            <p:cNvPr id="96" name="object 96"/>
            <p:cNvSpPr/>
            <p:nvPr/>
          </p:nvSpPr>
          <p:spPr>
            <a:xfrm>
              <a:off x="14970120" y="5877684"/>
              <a:ext cx="4007485" cy="1751330"/>
            </a:xfrm>
            <a:custGeom>
              <a:avLst/>
              <a:gdLst/>
              <a:ahLst/>
              <a:cxnLst/>
              <a:rect l="l" t="t" r="r" b="b"/>
              <a:pathLst>
                <a:path w="4007484" h="1751329">
                  <a:moveTo>
                    <a:pt x="0" y="187991"/>
                  </a:moveTo>
                  <a:lnTo>
                    <a:pt x="6715" y="138015"/>
                  </a:lnTo>
                  <a:lnTo>
                    <a:pt x="25666" y="93108"/>
                  </a:lnTo>
                  <a:lnTo>
                    <a:pt x="55061" y="55061"/>
                  </a:lnTo>
                  <a:lnTo>
                    <a:pt x="93108" y="25666"/>
                  </a:lnTo>
                  <a:lnTo>
                    <a:pt x="138015" y="6715"/>
                  </a:lnTo>
                  <a:lnTo>
                    <a:pt x="187991" y="0"/>
                  </a:lnTo>
                  <a:lnTo>
                    <a:pt x="3818979" y="0"/>
                  </a:lnTo>
                  <a:lnTo>
                    <a:pt x="3868954" y="6715"/>
                  </a:lnTo>
                  <a:lnTo>
                    <a:pt x="3913862" y="25666"/>
                  </a:lnTo>
                  <a:lnTo>
                    <a:pt x="3951909" y="55061"/>
                  </a:lnTo>
                  <a:lnTo>
                    <a:pt x="3981304" y="93108"/>
                  </a:lnTo>
                  <a:lnTo>
                    <a:pt x="4000255" y="138015"/>
                  </a:lnTo>
                  <a:lnTo>
                    <a:pt x="4006970" y="187991"/>
                  </a:lnTo>
                  <a:lnTo>
                    <a:pt x="4006970" y="1563203"/>
                  </a:lnTo>
                  <a:lnTo>
                    <a:pt x="4000255" y="1613179"/>
                  </a:lnTo>
                  <a:lnTo>
                    <a:pt x="3981304" y="1658086"/>
                  </a:lnTo>
                  <a:lnTo>
                    <a:pt x="3951909" y="1696133"/>
                  </a:lnTo>
                  <a:lnTo>
                    <a:pt x="3913862" y="1725528"/>
                  </a:lnTo>
                  <a:lnTo>
                    <a:pt x="3868954" y="1744479"/>
                  </a:lnTo>
                  <a:lnTo>
                    <a:pt x="3818979" y="1751194"/>
                  </a:lnTo>
                  <a:lnTo>
                    <a:pt x="187991" y="1751194"/>
                  </a:lnTo>
                  <a:lnTo>
                    <a:pt x="138015" y="1744479"/>
                  </a:lnTo>
                  <a:lnTo>
                    <a:pt x="93108" y="1725528"/>
                  </a:lnTo>
                  <a:lnTo>
                    <a:pt x="55061" y="1696133"/>
                  </a:lnTo>
                  <a:lnTo>
                    <a:pt x="25666" y="1658086"/>
                  </a:lnTo>
                  <a:lnTo>
                    <a:pt x="6715" y="1613179"/>
                  </a:lnTo>
                  <a:lnTo>
                    <a:pt x="0" y="1563203"/>
                  </a:lnTo>
                  <a:lnTo>
                    <a:pt x="0" y="187991"/>
                  </a:lnTo>
                  <a:close/>
                </a:path>
              </a:pathLst>
            </a:custGeom>
            <a:ln w="10470">
              <a:solidFill>
                <a:srgbClr val="065088"/>
              </a:solidFill>
            </a:ln>
          </p:spPr>
          <p:txBody>
            <a:bodyPr wrap="square" lIns="0" tIns="0" rIns="0" bIns="0" rtlCol="0"/>
            <a:lstStyle/>
            <a:p>
              <a:endParaRPr/>
            </a:p>
          </p:txBody>
        </p:sp>
      </p:grpSp>
      <p:sp>
        <p:nvSpPr>
          <p:cNvPr id="97" name="object 97"/>
          <p:cNvSpPr txBox="1"/>
          <p:nvPr/>
        </p:nvSpPr>
        <p:spPr>
          <a:xfrm>
            <a:off x="15160869" y="5903969"/>
            <a:ext cx="3460115" cy="1604645"/>
          </a:xfrm>
          <a:prstGeom prst="rect">
            <a:avLst/>
          </a:prstGeom>
        </p:spPr>
        <p:txBody>
          <a:bodyPr vert="horz" wrap="square" lIns="0" tIns="70485" rIns="0" bIns="0" rtlCol="0">
            <a:spAutoFit/>
          </a:bodyPr>
          <a:lstStyle/>
          <a:p>
            <a:pPr marL="12700">
              <a:lnSpc>
                <a:spcPct val="100000"/>
              </a:lnSpc>
              <a:spcBef>
                <a:spcPts val="555"/>
              </a:spcBef>
            </a:pPr>
            <a:r>
              <a:rPr sz="3200" spc="-20">
                <a:solidFill>
                  <a:srgbClr val="065088"/>
                </a:solidFill>
                <a:latin typeface="Arial Black"/>
                <a:cs typeface="Arial Black"/>
              </a:rPr>
              <a:t>2023</a:t>
            </a:r>
            <a:endParaRPr sz="3200">
              <a:latin typeface="Arial Black"/>
              <a:cs typeface="Arial Black"/>
            </a:endParaRPr>
          </a:p>
          <a:p>
            <a:pPr marL="12700" marR="5080">
              <a:lnSpc>
                <a:spcPct val="100000"/>
              </a:lnSpc>
              <a:spcBef>
                <a:spcPts val="220"/>
              </a:spcBef>
            </a:pPr>
            <a:r>
              <a:rPr sz="1650" spc="-10">
                <a:solidFill>
                  <a:srgbClr val="262626"/>
                </a:solidFill>
                <a:latin typeface="Microsoft Sans Serif"/>
                <a:cs typeface="Microsoft Sans Serif"/>
              </a:rPr>
              <a:t>Reaffirms</a:t>
            </a:r>
            <a:r>
              <a:rPr sz="1650" spc="-75">
                <a:solidFill>
                  <a:srgbClr val="262626"/>
                </a:solidFill>
                <a:latin typeface="Microsoft Sans Serif"/>
                <a:cs typeface="Microsoft Sans Serif"/>
              </a:rPr>
              <a:t> </a:t>
            </a:r>
            <a:r>
              <a:rPr sz="1650" spc="-35">
                <a:solidFill>
                  <a:srgbClr val="262626"/>
                </a:solidFill>
                <a:latin typeface="Microsoft Sans Serif"/>
                <a:cs typeface="Microsoft Sans Serif"/>
              </a:rPr>
              <a:t>Reimagine</a:t>
            </a:r>
            <a:r>
              <a:rPr sz="1650" spc="-70">
                <a:solidFill>
                  <a:srgbClr val="262626"/>
                </a:solidFill>
                <a:latin typeface="Microsoft Sans Serif"/>
                <a:cs typeface="Microsoft Sans Serif"/>
              </a:rPr>
              <a:t> </a:t>
            </a:r>
            <a:r>
              <a:rPr sz="1650" spc="-10">
                <a:solidFill>
                  <a:srgbClr val="262626"/>
                </a:solidFill>
                <a:latin typeface="Microsoft Sans Serif"/>
                <a:cs typeface="Microsoft Sans Serif"/>
              </a:rPr>
              <a:t>Strategy </a:t>
            </a:r>
            <a:r>
              <a:rPr sz="1650" spc="-40">
                <a:solidFill>
                  <a:srgbClr val="262626"/>
                </a:solidFill>
                <a:latin typeface="Microsoft Sans Serif"/>
                <a:cs typeface="Microsoft Sans Serif"/>
              </a:rPr>
              <a:t>Announces</a:t>
            </a:r>
            <a:r>
              <a:rPr sz="1650" spc="-55">
                <a:solidFill>
                  <a:srgbClr val="262626"/>
                </a:solidFill>
                <a:latin typeface="Microsoft Sans Serif"/>
                <a:cs typeface="Microsoft Sans Serif"/>
              </a:rPr>
              <a:t> </a:t>
            </a:r>
            <a:r>
              <a:rPr sz="1650" spc="-20">
                <a:solidFill>
                  <a:srgbClr val="262626"/>
                </a:solidFill>
                <a:latin typeface="Microsoft Sans Serif"/>
                <a:cs typeface="Microsoft Sans Serif"/>
              </a:rPr>
              <a:t>investment</a:t>
            </a:r>
            <a:r>
              <a:rPr sz="1650" spc="-60">
                <a:solidFill>
                  <a:srgbClr val="262626"/>
                </a:solidFill>
                <a:latin typeface="Microsoft Sans Serif"/>
                <a:cs typeface="Microsoft Sans Serif"/>
              </a:rPr>
              <a:t> </a:t>
            </a:r>
            <a:r>
              <a:rPr sz="1650" spc="-10">
                <a:solidFill>
                  <a:srgbClr val="262626"/>
                </a:solidFill>
                <a:latin typeface="Microsoft Sans Serif"/>
                <a:cs typeface="Microsoft Sans Serif"/>
              </a:rPr>
              <a:t>plans</a:t>
            </a:r>
            <a:r>
              <a:rPr sz="1650" spc="-50">
                <a:solidFill>
                  <a:srgbClr val="262626"/>
                </a:solidFill>
                <a:latin typeface="Microsoft Sans Serif"/>
                <a:cs typeface="Microsoft Sans Serif"/>
              </a:rPr>
              <a:t> </a:t>
            </a:r>
            <a:r>
              <a:rPr sz="1650">
                <a:solidFill>
                  <a:srgbClr val="262626"/>
                </a:solidFill>
                <a:latin typeface="Microsoft Sans Serif"/>
                <a:cs typeface="Microsoft Sans Serif"/>
              </a:rPr>
              <a:t>over</a:t>
            </a:r>
            <a:r>
              <a:rPr sz="1650" spc="-60">
                <a:solidFill>
                  <a:srgbClr val="262626"/>
                </a:solidFill>
                <a:latin typeface="Microsoft Sans Serif"/>
                <a:cs typeface="Microsoft Sans Serif"/>
              </a:rPr>
              <a:t> </a:t>
            </a:r>
            <a:r>
              <a:rPr sz="1650" spc="-20">
                <a:solidFill>
                  <a:srgbClr val="262626"/>
                </a:solidFill>
                <a:latin typeface="Microsoft Sans Serif"/>
                <a:cs typeface="Microsoft Sans Serif"/>
              </a:rPr>
              <a:t>five </a:t>
            </a:r>
            <a:r>
              <a:rPr sz="1650" spc="-10">
                <a:solidFill>
                  <a:srgbClr val="262626"/>
                </a:solidFill>
                <a:latin typeface="Microsoft Sans Serif"/>
                <a:cs typeface="Microsoft Sans Serif"/>
              </a:rPr>
              <a:t>years</a:t>
            </a:r>
            <a:r>
              <a:rPr sz="1650" spc="-70">
                <a:solidFill>
                  <a:srgbClr val="262626"/>
                </a:solidFill>
                <a:latin typeface="Microsoft Sans Serif"/>
                <a:cs typeface="Microsoft Sans Serif"/>
              </a:rPr>
              <a:t> </a:t>
            </a:r>
            <a:r>
              <a:rPr sz="1650">
                <a:solidFill>
                  <a:srgbClr val="262626"/>
                </a:solidFill>
                <a:latin typeface="Microsoft Sans Serif"/>
                <a:cs typeface="Microsoft Sans Serif"/>
              </a:rPr>
              <a:t>in</a:t>
            </a:r>
            <a:r>
              <a:rPr sz="1650" spc="-60">
                <a:solidFill>
                  <a:srgbClr val="262626"/>
                </a:solidFill>
                <a:latin typeface="Microsoft Sans Serif"/>
                <a:cs typeface="Microsoft Sans Serif"/>
              </a:rPr>
              <a:t> </a:t>
            </a:r>
            <a:r>
              <a:rPr sz="1650">
                <a:solidFill>
                  <a:srgbClr val="262626"/>
                </a:solidFill>
                <a:latin typeface="Microsoft Sans Serif"/>
                <a:cs typeface="Microsoft Sans Serif"/>
              </a:rPr>
              <a:t>industrial</a:t>
            </a:r>
            <a:r>
              <a:rPr sz="1650" spc="-65">
                <a:solidFill>
                  <a:srgbClr val="262626"/>
                </a:solidFill>
                <a:latin typeface="Microsoft Sans Serif"/>
                <a:cs typeface="Microsoft Sans Serif"/>
              </a:rPr>
              <a:t> </a:t>
            </a:r>
            <a:r>
              <a:rPr sz="1650">
                <a:solidFill>
                  <a:srgbClr val="262626"/>
                </a:solidFill>
                <a:latin typeface="Microsoft Sans Serif"/>
                <a:cs typeface="Microsoft Sans Serif"/>
              </a:rPr>
              <a:t>footprint,</a:t>
            </a:r>
            <a:r>
              <a:rPr sz="1650" spc="-65">
                <a:solidFill>
                  <a:srgbClr val="262626"/>
                </a:solidFill>
                <a:latin typeface="Microsoft Sans Serif"/>
                <a:cs typeface="Microsoft Sans Serif"/>
              </a:rPr>
              <a:t> </a:t>
            </a:r>
            <a:r>
              <a:rPr sz="1650" spc="-10">
                <a:solidFill>
                  <a:srgbClr val="262626"/>
                </a:solidFill>
                <a:latin typeface="Microsoft Sans Serif"/>
                <a:cs typeface="Microsoft Sans Serif"/>
              </a:rPr>
              <a:t>vehicle </a:t>
            </a:r>
            <a:r>
              <a:rPr sz="1650" spc="-35">
                <a:solidFill>
                  <a:srgbClr val="262626"/>
                </a:solidFill>
                <a:latin typeface="Microsoft Sans Serif"/>
                <a:cs typeface="Microsoft Sans Serif"/>
              </a:rPr>
              <a:t>programmes,</a:t>
            </a:r>
            <a:r>
              <a:rPr sz="1650" spc="-45">
                <a:solidFill>
                  <a:srgbClr val="262626"/>
                </a:solidFill>
                <a:latin typeface="Microsoft Sans Serif"/>
                <a:cs typeface="Microsoft Sans Serif"/>
              </a:rPr>
              <a:t> </a:t>
            </a:r>
            <a:r>
              <a:rPr sz="1650" spc="-70">
                <a:solidFill>
                  <a:srgbClr val="262626"/>
                </a:solidFill>
                <a:latin typeface="Microsoft Sans Serif"/>
                <a:cs typeface="Microsoft Sans Serif"/>
              </a:rPr>
              <a:t>AI</a:t>
            </a:r>
            <a:r>
              <a:rPr sz="1650" spc="-40">
                <a:solidFill>
                  <a:srgbClr val="262626"/>
                </a:solidFill>
                <a:latin typeface="Microsoft Sans Serif"/>
                <a:cs typeface="Microsoft Sans Serif"/>
              </a:rPr>
              <a:t> </a:t>
            </a:r>
            <a:r>
              <a:rPr sz="1650" spc="-35">
                <a:solidFill>
                  <a:srgbClr val="262626"/>
                </a:solidFill>
                <a:latin typeface="Microsoft Sans Serif"/>
                <a:cs typeface="Microsoft Sans Serif"/>
              </a:rPr>
              <a:t>and</a:t>
            </a:r>
            <a:r>
              <a:rPr sz="1650" spc="-40">
                <a:solidFill>
                  <a:srgbClr val="262626"/>
                </a:solidFill>
                <a:latin typeface="Microsoft Sans Serif"/>
                <a:cs typeface="Microsoft Sans Serif"/>
              </a:rPr>
              <a:t> </a:t>
            </a:r>
            <a:r>
              <a:rPr sz="1650">
                <a:solidFill>
                  <a:srgbClr val="262626"/>
                </a:solidFill>
                <a:latin typeface="Microsoft Sans Serif"/>
                <a:cs typeface="Microsoft Sans Serif"/>
              </a:rPr>
              <a:t>digital</a:t>
            </a:r>
            <a:r>
              <a:rPr sz="1650" spc="-45">
                <a:solidFill>
                  <a:srgbClr val="262626"/>
                </a:solidFill>
                <a:latin typeface="Microsoft Sans Serif"/>
                <a:cs typeface="Microsoft Sans Serif"/>
              </a:rPr>
              <a:t> tech, </a:t>
            </a:r>
            <a:r>
              <a:rPr sz="1650" spc="-20">
                <a:solidFill>
                  <a:srgbClr val="262626"/>
                </a:solidFill>
                <a:latin typeface="Microsoft Sans Serif"/>
                <a:cs typeface="Microsoft Sans Serif"/>
              </a:rPr>
              <a:t>etc.</a:t>
            </a:r>
            <a:endParaRPr sz="1650">
              <a:latin typeface="Microsoft Sans Serif"/>
              <a:cs typeface="Microsoft Sans Serif"/>
            </a:endParaRPr>
          </a:p>
        </p:txBody>
      </p:sp>
      <p:sp>
        <p:nvSpPr>
          <p:cNvPr id="99" name="object 99"/>
          <p:cNvSpPr txBox="1">
            <a:spLocks noGrp="1"/>
          </p:cNvSpPr>
          <p:nvPr>
            <p:ph type="sldNum" sz="quarter" idx="7"/>
          </p:nvPr>
        </p:nvSpPr>
        <p:spPr>
          <a:xfrm>
            <a:off x="18811488" y="10548235"/>
            <a:ext cx="274319" cy="556563"/>
          </a:xfrm>
          <a:prstGeom prst="rect">
            <a:avLst/>
          </a:prstGeom>
        </p:spPr>
        <p:txBody>
          <a:bodyPr vert="horz" wrap="square" lIns="0" tIns="22860" rIns="0" bIns="0" rtlCol="0" anchor="t">
            <a:spAutoFit/>
          </a:bodyPr>
          <a:lstStyle/>
          <a:p>
            <a:pPr marL="12065">
              <a:spcBef>
                <a:spcPts val="180"/>
              </a:spcBef>
            </a:pPr>
            <a:r>
              <a:rPr lang="en-US" spc="-25">
                <a:ea typeface="Microsoft Sans Serif"/>
              </a:rPr>
              <a:t>3</a:t>
            </a:r>
          </a:p>
          <a:p>
            <a:pPr marL="12065">
              <a:lnSpc>
                <a:spcPct val="100000"/>
              </a:lnSpc>
              <a:spcBef>
                <a:spcPts val="180"/>
              </a:spcBef>
            </a:pPr>
            <a:endParaRPr lang="en-US" spc="-25">
              <a:ea typeface="Microsoft Sans Serif"/>
            </a:endParaRPr>
          </a:p>
        </p:txBody>
      </p:sp>
      <p:sp>
        <p:nvSpPr>
          <p:cNvPr id="100" name="object 2">
            <a:extLst>
              <a:ext uri="{FF2B5EF4-FFF2-40B4-BE49-F238E27FC236}">
                <a16:creationId xmlns:a16="http://schemas.microsoft.com/office/drawing/2014/main" id="{1AC72026-22CF-AFEE-0655-1E8C8F236F07}"/>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01" name="object 4">
            <a:extLst>
              <a:ext uri="{FF2B5EF4-FFF2-40B4-BE49-F238E27FC236}">
                <a16:creationId xmlns:a16="http://schemas.microsoft.com/office/drawing/2014/main" id="{CB1077FC-CBA2-D9EB-15B2-A3D5344053ED}"/>
              </a:ext>
            </a:extLst>
          </p:cNvPr>
          <p:cNvPicPr/>
          <p:nvPr/>
        </p:nvPicPr>
        <p:blipFill>
          <a:blip r:embed="rId23" cstate="print"/>
          <a:stretch>
            <a:fillRect/>
          </a:stretch>
        </p:blipFill>
        <p:spPr>
          <a:xfrm>
            <a:off x="17726790" y="399568"/>
            <a:ext cx="1233889" cy="263866"/>
          </a:xfrm>
          <a:prstGeom prst="rect">
            <a:avLst/>
          </a:prstGeom>
        </p:spPr>
      </p:pic>
      <p:sp>
        <p:nvSpPr>
          <p:cNvPr id="4" name="object 2">
            <a:extLst>
              <a:ext uri="{FF2B5EF4-FFF2-40B4-BE49-F238E27FC236}">
                <a16:creationId xmlns:a16="http://schemas.microsoft.com/office/drawing/2014/main" id="{059D8271-F1CB-8549-B003-1ADFD1EDA8A4}"/>
              </a:ext>
            </a:extLst>
          </p:cNvPr>
          <p:cNvSpPr/>
          <p:nvPr/>
        </p:nvSpPr>
        <p:spPr>
          <a:xfrm>
            <a:off x="-3022" y="-7924"/>
            <a:ext cx="20111277" cy="11472916"/>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05783F-CE0B-423D-3C09-09D26E319326}"/>
            </a:ext>
          </a:extLst>
        </p:cNvPr>
        <p:cNvGrpSpPr/>
        <p:nvPr/>
      </p:nvGrpSpPr>
      <p:grpSpPr>
        <a:xfrm>
          <a:off x="0" y="0"/>
          <a:ext cx="0" cy="0"/>
          <a:chOff x="0" y="0"/>
          <a:chExt cx="0" cy="0"/>
        </a:xfrm>
      </p:grpSpPr>
      <p:pic>
        <p:nvPicPr>
          <p:cNvPr id="17" name="Jaguar _ Copy Nothing">
            <a:hlinkClick r:id="" action="ppaction://media"/>
            <a:extLst>
              <a:ext uri="{FF2B5EF4-FFF2-40B4-BE49-F238E27FC236}">
                <a16:creationId xmlns:a16="http://schemas.microsoft.com/office/drawing/2014/main" id="{0A034B4D-56A8-8442-4A85-A9B2D646601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20104100" cy="11308556"/>
          </a:xfrm>
          <a:prstGeom prst="rect">
            <a:avLst/>
          </a:prstGeom>
        </p:spPr>
      </p:pic>
      <p:pic>
        <p:nvPicPr>
          <p:cNvPr id="3" name="object 8">
            <a:extLst>
              <a:ext uri="{FF2B5EF4-FFF2-40B4-BE49-F238E27FC236}">
                <a16:creationId xmlns:a16="http://schemas.microsoft.com/office/drawing/2014/main" id="{07CA1923-60C5-417D-E429-11DC2EF92F34}"/>
              </a:ext>
            </a:extLst>
          </p:cNvPr>
          <p:cNvPicPr/>
          <p:nvPr/>
        </p:nvPicPr>
        <p:blipFill>
          <a:blip r:embed="rId5" cstate="print"/>
          <a:stretch>
            <a:fillRect/>
          </a:stretch>
        </p:blipFill>
        <p:spPr>
          <a:xfrm>
            <a:off x="17415177" y="786657"/>
            <a:ext cx="1548015" cy="329204"/>
          </a:xfrm>
          <a:prstGeom prst="rect">
            <a:avLst/>
          </a:prstGeom>
        </p:spPr>
      </p:pic>
    </p:spTree>
    <p:extLst>
      <p:ext uri="{BB962C8B-B14F-4D97-AF65-F5344CB8AC3E}">
        <p14:creationId xmlns:p14="http://schemas.microsoft.com/office/powerpoint/2010/main" val="238130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47"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E8E59-501B-3321-355B-8B42A4C429B1}"/>
            </a:ext>
          </a:extLst>
        </p:cNvPr>
        <p:cNvGrpSpPr/>
        <p:nvPr/>
      </p:nvGrpSpPr>
      <p:grpSpPr>
        <a:xfrm>
          <a:off x="0" y="0"/>
          <a:ext cx="0" cy="0"/>
          <a:chOff x="0" y="0"/>
          <a:chExt cx="0" cy="0"/>
        </a:xfrm>
      </p:grpSpPr>
      <p:pic>
        <p:nvPicPr>
          <p:cNvPr id="143" name="object 92">
            <a:extLst>
              <a:ext uri="{FF2B5EF4-FFF2-40B4-BE49-F238E27FC236}">
                <a16:creationId xmlns:a16="http://schemas.microsoft.com/office/drawing/2014/main" id="{9674AD3A-9F62-041A-E55B-BA72B0BA1EF9}"/>
              </a:ext>
            </a:extLst>
          </p:cNvPr>
          <p:cNvPicPr/>
          <p:nvPr/>
        </p:nvPicPr>
        <p:blipFill>
          <a:blip r:embed="rId2" cstate="print">
            <a:alphaModFix amt="49000"/>
          </a:blip>
          <a:stretch>
            <a:fillRect/>
          </a:stretch>
        </p:blipFill>
        <p:spPr>
          <a:xfrm>
            <a:off x="876155" y="3175166"/>
            <a:ext cx="16708521" cy="7075146"/>
          </a:xfrm>
          <a:prstGeom prst="rect">
            <a:avLst/>
          </a:prstGeom>
        </p:spPr>
      </p:pic>
      <p:grpSp>
        <p:nvGrpSpPr>
          <p:cNvPr id="119" name="object 22">
            <a:extLst>
              <a:ext uri="{FF2B5EF4-FFF2-40B4-BE49-F238E27FC236}">
                <a16:creationId xmlns:a16="http://schemas.microsoft.com/office/drawing/2014/main" id="{EDECDD74-E244-4657-50B1-118FB1FB1872}"/>
              </a:ext>
            </a:extLst>
          </p:cNvPr>
          <p:cNvGrpSpPr/>
          <p:nvPr/>
        </p:nvGrpSpPr>
        <p:grpSpPr>
          <a:xfrm>
            <a:off x="12839534" y="2541221"/>
            <a:ext cx="4510989" cy="5571440"/>
            <a:chOff x="4646560" y="6023690"/>
            <a:chExt cx="3623764" cy="4204270"/>
          </a:xfrm>
        </p:grpSpPr>
        <p:pic>
          <p:nvPicPr>
            <p:cNvPr id="120" name="object 23">
              <a:extLst>
                <a:ext uri="{FF2B5EF4-FFF2-40B4-BE49-F238E27FC236}">
                  <a16:creationId xmlns:a16="http://schemas.microsoft.com/office/drawing/2014/main" id="{B61AE22B-0331-01A9-05C9-F1204B3C3AA7}"/>
                </a:ext>
              </a:extLst>
            </p:cNvPr>
            <p:cNvPicPr/>
            <p:nvPr/>
          </p:nvPicPr>
          <p:blipFill>
            <a:blip r:embed="rId3" cstate="print"/>
            <a:stretch>
              <a:fillRect/>
            </a:stretch>
          </p:blipFill>
          <p:spPr>
            <a:xfrm>
              <a:off x="4749593" y="6129237"/>
              <a:ext cx="3417697" cy="4098723"/>
            </a:xfrm>
            <a:prstGeom prst="rect">
              <a:avLst/>
            </a:prstGeom>
          </p:spPr>
        </p:pic>
        <p:pic>
          <p:nvPicPr>
            <p:cNvPr id="121" name="object 24">
              <a:extLst>
                <a:ext uri="{FF2B5EF4-FFF2-40B4-BE49-F238E27FC236}">
                  <a16:creationId xmlns:a16="http://schemas.microsoft.com/office/drawing/2014/main" id="{2987AA6A-58E3-5A4A-82CE-F210CAE28ADA}"/>
                </a:ext>
              </a:extLst>
            </p:cNvPr>
            <p:cNvPicPr/>
            <p:nvPr/>
          </p:nvPicPr>
          <p:blipFill>
            <a:blip r:embed="rId4" cstate="print"/>
            <a:stretch>
              <a:fillRect/>
            </a:stretch>
          </p:blipFill>
          <p:spPr>
            <a:xfrm>
              <a:off x="4646560" y="6023690"/>
              <a:ext cx="3623764" cy="887256"/>
            </a:xfrm>
            <a:prstGeom prst="rect">
              <a:avLst/>
            </a:prstGeom>
          </p:spPr>
        </p:pic>
        <p:pic>
          <p:nvPicPr>
            <p:cNvPr id="122" name="object 25">
              <a:extLst>
                <a:ext uri="{FF2B5EF4-FFF2-40B4-BE49-F238E27FC236}">
                  <a16:creationId xmlns:a16="http://schemas.microsoft.com/office/drawing/2014/main" id="{A4FE11DD-5FBB-7A86-8DAD-4F6E4D8AEEFA}"/>
                </a:ext>
              </a:extLst>
            </p:cNvPr>
            <p:cNvPicPr/>
            <p:nvPr/>
          </p:nvPicPr>
          <p:blipFill>
            <a:blip r:embed="rId5" cstate="print"/>
            <a:stretch>
              <a:fillRect/>
            </a:stretch>
          </p:blipFill>
          <p:spPr>
            <a:xfrm>
              <a:off x="4749593" y="6099967"/>
              <a:ext cx="3417697" cy="726800"/>
            </a:xfrm>
            <a:prstGeom prst="rect">
              <a:avLst/>
            </a:prstGeom>
          </p:spPr>
        </p:pic>
      </p:grpSp>
      <p:sp>
        <p:nvSpPr>
          <p:cNvPr id="2" name="object 2">
            <a:extLst>
              <a:ext uri="{FF2B5EF4-FFF2-40B4-BE49-F238E27FC236}">
                <a16:creationId xmlns:a16="http://schemas.microsoft.com/office/drawing/2014/main" id="{FD553CE9-6449-7572-C720-84C5FD1B2BE1}"/>
              </a:ext>
            </a:extLst>
          </p:cNvPr>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pic>
        <p:nvPicPr>
          <p:cNvPr id="5" name="object 5">
            <a:extLst>
              <a:ext uri="{FF2B5EF4-FFF2-40B4-BE49-F238E27FC236}">
                <a16:creationId xmlns:a16="http://schemas.microsoft.com/office/drawing/2014/main" id="{077C1EAE-D84C-C7BC-C389-8AE4015157B5}"/>
              </a:ext>
            </a:extLst>
          </p:cNvPr>
          <p:cNvPicPr/>
          <p:nvPr/>
        </p:nvPicPr>
        <p:blipFill>
          <a:blip r:embed="rId6" cstate="print"/>
          <a:stretch>
            <a:fillRect/>
          </a:stretch>
        </p:blipFill>
        <p:spPr>
          <a:xfrm>
            <a:off x="0" y="1095673"/>
            <a:ext cx="1015257" cy="271405"/>
          </a:xfrm>
          <a:prstGeom prst="rect">
            <a:avLst/>
          </a:prstGeom>
        </p:spPr>
      </p:pic>
      <p:sp>
        <p:nvSpPr>
          <p:cNvPr id="6" name="object 6">
            <a:extLst>
              <a:ext uri="{FF2B5EF4-FFF2-40B4-BE49-F238E27FC236}">
                <a16:creationId xmlns:a16="http://schemas.microsoft.com/office/drawing/2014/main" id="{7E86D9FD-81D1-B85F-BF08-8F18C97FC904}"/>
              </a:ext>
            </a:extLst>
          </p:cNvPr>
          <p:cNvSpPr txBox="1">
            <a:spLocks noGrp="1"/>
          </p:cNvSpPr>
          <p:nvPr>
            <p:ph type="title"/>
          </p:nvPr>
        </p:nvSpPr>
        <p:spPr>
          <a:xfrm>
            <a:off x="1133558" y="786438"/>
            <a:ext cx="7851692" cy="773930"/>
          </a:xfrm>
          <a:prstGeom prst="rect">
            <a:avLst/>
          </a:prstGeom>
        </p:spPr>
        <p:txBody>
          <a:bodyPr vert="horz" wrap="square" lIns="0" tIns="12065" rIns="0" bIns="0" rtlCol="0">
            <a:spAutoFit/>
          </a:bodyPr>
          <a:lstStyle/>
          <a:p>
            <a:pPr marL="12700">
              <a:lnSpc>
                <a:spcPct val="100000"/>
              </a:lnSpc>
              <a:spcBef>
                <a:spcPts val="95"/>
              </a:spcBef>
            </a:pPr>
            <a:r>
              <a:rPr lang="en-US" spc="-75"/>
              <a:t>The Jaguar Challenge</a:t>
            </a:r>
            <a:endParaRPr spc="-95"/>
          </a:p>
        </p:txBody>
      </p:sp>
      <p:grpSp>
        <p:nvGrpSpPr>
          <p:cNvPr id="7" name="object 7">
            <a:extLst>
              <a:ext uri="{FF2B5EF4-FFF2-40B4-BE49-F238E27FC236}">
                <a16:creationId xmlns:a16="http://schemas.microsoft.com/office/drawing/2014/main" id="{6936CAA3-2C7F-959B-2F51-1200936AFA11}"/>
              </a:ext>
            </a:extLst>
          </p:cNvPr>
          <p:cNvGrpSpPr/>
          <p:nvPr/>
        </p:nvGrpSpPr>
        <p:grpSpPr>
          <a:xfrm>
            <a:off x="1777573" y="2539428"/>
            <a:ext cx="4237687" cy="5847802"/>
            <a:chOff x="1054094" y="5925927"/>
            <a:chExt cx="3626277" cy="4302033"/>
          </a:xfrm>
        </p:grpSpPr>
        <p:pic>
          <p:nvPicPr>
            <p:cNvPr id="8" name="object 8">
              <a:extLst>
                <a:ext uri="{FF2B5EF4-FFF2-40B4-BE49-F238E27FC236}">
                  <a16:creationId xmlns:a16="http://schemas.microsoft.com/office/drawing/2014/main" id="{D3CE3412-2AC8-56AB-0D68-8B2B855E7EF5}"/>
                </a:ext>
              </a:extLst>
            </p:cNvPr>
            <p:cNvPicPr/>
            <p:nvPr/>
          </p:nvPicPr>
          <p:blipFill>
            <a:blip r:embed="rId7" cstate="print"/>
            <a:stretch>
              <a:fillRect/>
            </a:stretch>
          </p:blipFill>
          <p:spPr>
            <a:xfrm>
              <a:off x="1145933" y="6129237"/>
              <a:ext cx="3415183" cy="4098723"/>
            </a:xfrm>
            <a:prstGeom prst="rect">
              <a:avLst/>
            </a:prstGeom>
          </p:spPr>
        </p:pic>
        <p:pic>
          <p:nvPicPr>
            <p:cNvPr id="9" name="object 9">
              <a:extLst>
                <a:ext uri="{FF2B5EF4-FFF2-40B4-BE49-F238E27FC236}">
                  <a16:creationId xmlns:a16="http://schemas.microsoft.com/office/drawing/2014/main" id="{523EE6D5-26C0-A365-DBE4-8DFDE660B7E9}"/>
                </a:ext>
              </a:extLst>
            </p:cNvPr>
            <p:cNvPicPr/>
            <p:nvPr/>
          </p:nvPicPr>
          <p:blipFill>
            <a:blip r:embed="rId8" cstate="print"/>
            <a:stretch>
              <a:fillRect/>
            </a:stretch>
          </p:blipFill>
          <p:spPr>
            <a:xfrm>
              <a:off x="1054094" y="5925927"/>
              <a:ext cx="3626277" cy="954944"/>
            </a:xfrm>
            <a:prstGeom prst="rect">
              <a:avLst/>
            </a:prstGeom>
          </p:spPr>
        </p:pic>
        <p:pic>
          <p:nvPicPr>
            <p:cNvPr id="10" name="object 10">
              <a:extLst>
                <a:ext uri="{FF2B5EF4-FFF2-40B4-BE49-F238E27FC236}">
                  <a16:creationId xmlns:a16="http://schemas.microsoft.com/office/drawing/2014/main" id="{620F56A0-2F95-D8FE-6415-0262CB8E4115}"/>
                </a:ext>
              </a:extLst>
            </p:cNvPr>
            <p:cNvPicPr/>
            <p:nvPr/>
          </p:nvPicPr>
          <p:blipFill>
            <a:blip r:embed="rId9" cstate="print"/>
            <a:stretch>
              <a:fillRect/>
            </a:stretch>
          </p:blipFill>
          <p:spPr>
            <a:xfrm>
              <a:off x="1175863" y="6031474"/>
              <a:ext cx="3415183" cy="743851"/>
            </a:xfrm>
            <a:prstGeom prst="rect">
              <a:avLst/>
            </a:prstGeom>
          </p:spPr>
        </p:pic>
      </p:grpSp>
      <p:sp>
        <p:nvSpPr>
          <p:cNvPr id="11" name="object 11">
            <a:extLst>
              <a:ext uri="{FF2B5EF4-FFF2-40B4-BE49-F238E27FC236}">
                <a16:creationId xmlns:a16="http://schemas.microsoft.com/office/drawing/2014/main" id="{2423F0CF-6F5D-E321-ADC2-28760BA6733A}"/>
              </a:ext>
            </a:extLst>
          </p:cNvPr>
          <p:cNvSpPr txBox="1"/>
          <p:nvPr/>
        </p:nvSpPr>
        <p:spPr>
          <a:xfrm>
            <a:off x="2284257" y="2947364"/>
            <a:ext cx="3215892" cy="1716047"/>
          </a:xfrm>
          <a:prstGeom prst="rect">
            <a:avLst/>
          </a:prstGeom>
        </p:spPr>
        <p:txBody>
          <a:bodyPr vert="horz" wrap="square" lIns="0" tIns="17145" rIns="0" bIns="0" rtlCol="0">
            <a:spAutoFit/>
          </a:bodyPr>
          <a:lstStyle/>
          <a:p>
            <a:pPr marL="46990" algn="ctr">
              <a:lnSpc>
                <a:spcPct val="100000"/>
              </a:lnSpc>
              <a:spcBef>
                <a:spcPts val="135"/>
              </a:spcBef>
            </a:pPr>
            <a:r>
              <a:rPr lang="en-US" sz="2600" spc="-10" dirty="0">
                <a:solidFill>
                  <a:srgbClr val="FFFFFF"/>
                </a:solidFill>
                <a:latin typeface="Microsoft Sans Serif"/>
                <a:cs typeface="Microsoft Sans Serif"/>
              </a:rPr>
              <a:t>Acquisition </a:t>
            </a:r>
            <a:endParaRPr sz="2600" dirty="0">
              <a:latin typeface="Microsoft Sans Serif"/>
              <a:cs typeface="Microsoft Sans Serif"/>
            </a:endParaRPr>
          </a:p>
          <a:p>
            <a:pPr algn="ctr">
              <a:lnSpc>
                <a:spcPct val="100000"/>
              </a:lnSpc>
              <a:spcBef>
                <a:spcPts val="125"/>
              </a:spcBef>
            </a:pPr>
            <a:endParaRPr sz="2600" dirty="0">
              <a:latin typeface="Microsoft Sans Serif"/>
              <a:cs typeface="Microsoft Sans Serif"/>
            </a:endParaRPr>
          </a:p>
          <a:p>
            <a:pPr marL="0" marR="0" lvl="0" indent="0" algn="ctr" defTabSz="914400" rtl="0" eaLnBrk="1" fontAlgn="auto" latinLnBrk="0" hangingPunct="1">
              <a:lnSpc>
                <a:spcPts val="2310"/>
              </a:lnSpc>
              <a:spcBef>
                <a:spcPct val="0"/>
              </a:spcBef>
              <a:spcAft>
                <a:spcPts val="0"/>
              </a:spcAft>
              <a:buClrTx/>
              <a:buSzTx/>
              <a:buFontTx/>
              <a:buNone/>
              <a:tabLst/>
              <a:defRPr/>
            </a:pPr>
            <a:r>
              <a:rPr kumimoji="0" lang="en-US" sz="2100" b="1" i="0" u="none" strike="noStrike" kern="1200" cap="none" spc="-115" normalizeH="0" baseline="0" noProof="0" dirty="0">
                <a:ln>
                  <a:noFill/>
                </a:ln>
                <a:solidFill>
                  <a:srgbClr val="002060"/>
                </a:solidFill>
                <a:effectLst/>
                <a:uLnTx/>
                <a:uFillTx/>
                <a:latin typeface="Aptos Bold"/>
                <a:ea typeface="Aptos Bold"/>
                <a:cs typeface="Aptos Bold"/>
                <a:sym typeface="Aptos Bold"/>
              </a:rPr>
              <a:t>2008</a:t>
            </a:r>
            <a:r>
              <a:rPr kumimoji="0" lang="en-US" sz="2100" b="0" i="0" u="none" strike="noStrike" kern="1200" cap="none" spc="-115" normalizeH="0" baseline="0" noProof="0" dirty="0">
                <a:ln>
                  <a:noFill/>
                </a:ln>
                <a:solidFill>
                  <a:srgbClr val="002060"/>
                </a:solidFill>
                <a:effectLst/>
                <a:uLnTx/>
                <a:uFillTx/>
                <a:latin typeface="Aptos"/>
                <a:ea typeface="Aptos"/>
                <a:cs typeface="Aptos"/>
                <a:sym typeface="Aptos"/>
              </a:rPr>
              <a:t>: Tata Motors acquires Jaguar Land Rover from Ford for </a:t>
            </a:r>
            <a:r>
              <a:rPr kumimoji="0" lang="en-US" sz="2100" b="1" i="0" u="none" strike="noStrike" kern="1200" cap="none" spc="-115" normalizeH="0" baseline="0" noProof="0" dirty="0">
                <a:ln>
                  <a:noFill/>
                </a:ln>
                <a:solidFill>
                  <a:srgbClr val="002060"/>
                </a:solidFill>
                <a:effectLst/>
                <a:uLnTx/>
                <a:uFillTx/>
                <a:latin typeface="Aptos Bold"/>
                <a:ea typeface="Aptos Bold"/>
                <a:cs typeface="Aptos Bold"/>
                <a:sym typeface="Aptos Bold"/>
              </a:rPr>
              <a:t>$2.3B.</a:t>
            </a:r>
          </a:p>
        </p:txBody>
      </p:sp>
      <p:sp>
        <p:nvSpPr>
          <p:cNvPr id="12" name="object 12">
            <a:extLst>
              <a:ext uri="{FF2B5EF4-FFF2-40B4-BE49-F238E27FC236}">
                <a16:creationId xmlns:a16="http://schemas.microsoft.com/office/drawing/2014/main" id="{448978B7-A70E-E1A2-4062-C34D9AB845CF}"/>
              </a:ext>
            </a:extLst>
          </p:cNvPr>
          <p:cNvSpPr txBox="1"/>
          <p:nvPr/>
        </p:nvSpPr>
        <p:spPr>
          <a:xfrm>
            <a:off x="2079648" y="5137312"/>
            <a:ext cx="3630724" cy="897875"/>
          </a:xfrm>
          <a:prstGeom prst="rect">
            <a:avLst/>
          </a:prstGeom>
        </p:spPr>
        <p:txBody>
          <a:bodyPr vert="horz" wrap="square" lIns="0" tIns="12065" rIns="0" bIns="0" rtlCol="0">
            <a:spAutoFit/>
          </a:bodyPr>
          <a:lstStyle/>
          <a:p>
            <a:pPr marL="0" marR="0" lvl="0" indent="0" algn="ctr" defTabSz="914400" rtl="0" eaLnBrk="1" fontAlgn="auto" latinLnBrk="0" hangingPunct="1">
              <a:lnSpc>
                <a:spcPts val="2310"/>
              </a:lnSpc>
              <a:spcBef>
                <a:spcPct val="0"/>
              </a:spcBef>
              <a:spcAft>
                <a:spcPts val="0"/>
              </a:spcAft>
              <a:buClrTx/>
              <a:buSzTx/>
              <a:buFontTx/>
              <a:buNone/>
              <a:tabLst/>
              <a:defRPr/>
            </a:pPr>
            <a:r>
              <a:rPr kumimoji="0" lang="en-US" sz="2100" b="1" i="0" u="none" strike="noStrike" kern="1200" cap="none" spc="-115" normalizeH="0" baseline="0" noProof="0">
                <a:ln>
                  <a:noFill/>
                </a:ln>
                <a:solidFill>
                  <a:srgbClr val="002060"/>
                </a:solidFill>
                <a:effectLst/>
                <a:uLnTx/>
                <a:uFillTx/>
                <a:latin typeface="Aptos Bold"/>
                <a:ea typeface="Aptos Bold"/>
                <a:cs typeface="Aptos Bold"/>
                <a:sym typeface="Aptos Bold"/>
              </a:rPr>
              <a:t>Early boom</a:t>
            </a:r>
            <a:r>
              <a:rPr kumimoji="0" lang="en-US" sz="2100" b="0" i="0" u="none" strike="noStrike" kern="1200" cap="none" spc="-115" normalizeH="0" baseline="0" noProof="0">
                <a:ln>
                  <a:noFill/>
                </a:ln>
                <a:solidFill>
                  <a:srgbClr val="002060"/>
                </a:solidFill>
                <a:effectLst/>
                <a:uLnTx/>
                <a:uFillTx/>
                <a:latin typeface="Aptos"/>
                <a:ea typeface="Aptos"/>
                <a:cs typeface="Aptos"/>
                <a:sym typeface="Aptos"/>
              </a:rPr>
              <a:t>: new models, surging China sales, global prestige comeback.</a:t>
            </a:r>
          </a:p>
        </p:txBody>
      </p:sp>
      <p:sp>
        <p:nvSpPr>
          <p:cNvPr id="13" name="object 13">
            <a:extLst>
              <a:ext uri="{FF2B5EF4-FFF2-40B4-BE49-F238E27FC236}">
                <a16:creationId xmlns:a16="http://schemas.microsoft.com/office/drawing/2014/main" id="{A622209C-60C3-496C-C63A-FC9F95051DCF}"/>
              </a:ext>
            </a:extLst>
          </p:cNvPr>
          <p:cNvSpPr/>
          <p:nvPr/>
        </p:nvSpPr>
        <p:spPr>
          <a:xfrm>
            <a:off x="1869736" y="4892848"/>
            <a:ext cx="4041137" cy="45719"/>
          </a:xfrm>
          <a:custGeom>
            <a:avLst/>
            <a:gdLst/>
            <a:ahLst/>
            <a:cxnLst/>
            <a:rect l="l" t="t" r="r" b="b"/>
            <a:pathLst>
              <a:path w="3413760">
                <a:moveTo>
                  <a:pt x="0" y="0"/>
                </a:moveTo>
                <a:lnTo>
                  <a:pt x="3413345" y="0"/>
                </a:lnTo>
              </a:path>
            </a:pathLst>
          </a:custGeom>
          <a:ln w="15706">
            <a:solidFill>
              <a:srgbClr val="FFFFFF"/>
            </a:solidFill>
          </a:ln>
        </p:spPr>
        <p:txBody>
          <a:bodyPr wrap="square" lIns="0" tIns="0" rIns="0" bIns="0" rtlCol="0"/>
          <a:lstStyle/>
          <a:p>
            <a:endParaRPr/>
          </a:p>
        </p:txBody>
      </p:sp>
      <p:sp>
        <p:nvSpPr>
          <p:cNvPr id="14" name="object 14">
            <a:extLst>
              <a:ext uri="{FF2B5EF4-FFF2-40B4-BE49-F238E27FC236}">
                <a16:creationId xmlns:a16="http://schemas.microsoft.com/office/drawing/2014/main" id="{0EE1FBCA-992D-AB4D-04BD-39F438C8EB5B}"/>
              </a:ext>
            </a:extLst>
          </p:cNvPr>
          <p:cNvSpPr txBox="1"/>
          <p:nvPr/>
        </p:nvSpPr>
        <p:spPr>
          <a:xfrm>
            <a:off x="1899342" y="6390273"/>
            <a:ext cx="3811030" cy="1196674"/>
          </a:xfrm>
          <a:prstGeom prst="rect">
            <a:avLst/>
          </a:prstGeom>
        </p:spPr>
        <p:txBody>
          <a:bodyPr vert="horz" wrap="square" lIns="0" tIns="15875" rIns="0" bIns="0" rtlCol="0">
            <a:spAutoFit/>
          </a:bodyPr>
          <a:lstStyle/>
          <a:p>
            <a:pPr marL="0" marR="0" lvl="0" indent="0" algn="ctr" defTabSz="914400" rtl="0" eaLnBrk="1" fontAlgn="auto" latinLnBrk="0" hangingPunct="1">
              <a:lnSpc>
                <a:spcPts val="2310"/>
              </a:lnSpc>
              <a:spcBef>
                <a:spcPct val="0"/>
              </a:spcBef>
              <a:spcAft>
                <a:spcPts val="0"/>
              </a:spcAft>
              <a:buClrTx/>
              <a:buSzTx/>
              <a:buFontTx/>
              <a:buNone/>
              <a:tabLst/>
              <a:defRPr/>
            </a:pPr>
            <a:r>
              <a:rPr kumimoji="0" lang="en-US" sz="2100" b="1" i="0" u="none" strike="noStrike" kern="1200" cap="none" spc="-115" normalizeH="0" baseline="0" noProof="0">
                <a:ln>
                  <a:noFill/>
                </a:ln>
                <a:solidFill>
                  <a:srgbClr val="002060"/>
                </a:solidFill>
                <a:effectLst/>
                <a:uLnTx/>
                <a:uFillTx/>
                <a:latin typeface="Aptos Bold"/>
                <a:ea typeface="Aptos Bold"/>
                <a:cs typeface="Aptos Bold"/>
                <a:sym typeface="Aptos Bold"/>
              </a:rPr>
              <a:t>Jaguar vision:</a:t>
            </a:r>
            <a:r>
              <a:rPr kumimoji="0" lang="en-US" sz="2100" b="0" i="0" u="none" strike="noStrike" kern="1200" cap="none" spc="-115" normalizeH="0" baseline="0" noProof="0">
                <a:ln>
                  <a:noFill/>
                </a:ln>
                <a:solidFill>
                  <a:srgbClr val="002060"/>
                </a:solidFill>
                <a:effectLst/>
                <a:uLnTx/>
                <a:uFillTx/>
                <a:latin typeface="Aptos"/>
                <a:ea typeface="Aptos"/>
                <a:cs typeface="Aptos"/>
                <a:sym typeface="Aptos"/>
              </a:rPr>
              <a:t> </a:t>
            </a:r>
          </a:p>
          <a:p>
            <a:pPr marL="0" marR="0" lvl="0" indent="0" algn="ctr" defTabSz="914400" rtl="0" eaLnBrk="1" fontAlgn="auto" latinLnBrk="0" hangingPunct="1">
              <a:lnSpc>
                <a:spcPts val="2310"/>
              </a:lnSpc>
              <a:spcBef>
                <a:spcPct val="0"/>
              </a:spcBef>
              <a:spcAft>
                <a:spcPts val="0"/>
              </a:spcAft>
              <a:buClrTx/>
              <a:buSzTx/>
              <a:buFontTx/>
              <a:buNone/>
              <a:tabLst/>
              <a:defRPr/>
            </a:pPr>
            <a:r>
              <a:rPr kumimoji="0" lang="en-US" sz="2100" b="0" i="0" u="none" strike="noStrike" kern="1200" cap="none" spc="-115" normalizeH="0" baseline="0" noProof="0">
                <a:ln>
                  <a:noFill/>
                </a:ln>
                <a:solidFill>
                  <a:srgbClr val="002060"/>
                </a:solidFill>
                <a:effectLst/>
                <a:uLnTx/>
                <a:uFillTx/>
                <a:latin typeface="Aptos"/>
                <a:ea typeface="Aptos"/>
                <a:cs typeface="Aptos"/>
                <a:sym typeface="Aptos"/>
              </a:rPr>
              <a:t>•  “Live the exceptional with soul”</a:t>
            </a:r>
          </a:p>
          <a:p>
            <a:pPr marL="0" marR="0" lvl="0" indent="0" algn="ctr" defTabSz="914400" rtl="0" eaLnBrk="1" fontAlgn="auto" latinLnBrk="0" hangingPunct="1">
              <a:lnSpc>
                <a:spcPts val="2310"/>
              </a:lnSpc>
              <a:spcBef>
                <a:spcPct val="0"/>
              </a:spcBef>
              <a:spcAft>
                <a:spcPts val="0"/>
              </a:spcAft>
              <a:buClrTx/>
              <a:buSzTx/>
              <a:buFontTx/>
              <a:buNone/>
              <a:tabLst/>
              <a:defRPr/>
            </a:pPr>
            <a:r>
              <a:rPr kumimoji="0" lang="en-US" sz="2100" b="0" i="0" u="none" strike="noStrike" kern="1200" cap="none" spc="-115" normalizeH="0" baseline="0" noProof="0">
                <a:ln>
                  <a:noFill/>
                </a:ln>
                <a:solidFill>
                  <a:srgbClr val="002060"/>
                </a:solidFill>
                <a:effectLst/>
                <a:uLnTx/>
                <a:uFillTx/>
                <a:latin typeface="Aptos"/>
                <a:ea typeface="Aptos"/>
                <a:cs typeface="Aptos"/>
                <a:sym typeface="Aptos"/>
              </a:rPr>
              <a:t>•  “Creators of modern luxury, all-electric, sustainable future.”</a:t>
            </a:r>
          </a:p>
        </p:txBody>
      </p:sp>
      <p:grpSp>
        <p:nvGrpSpPr>
          <p:cNvPr id="22" name="object 22">
            <a:extLst>
              <a:ext uri="{FF2B5EF4-FFF2-40B4-BE49-F238E27FC236}">
                <a16:creationId xmlns:a16="http://schemas.microsoft.com/office/drawing/2014/main" id="{700B9E3C-833E-EDC3-9E8F-1F4C06513F04}"/>
              </a:ext>
            </a:extLst>
          </p:cNvPr>
          <p:cNvGrpSpPr/>
          <p:nvPr/>
        </p:nvGrpSpPr>
        <p:grpSpPr>
          <a:xfrm>
            <a:off x="7115032" y="2539453"/>
            <a:ext cx="4510989" cy="5714912"/>
            <a:chOff x="4646560" y="6023690"/>
            <a:chExt cx="3623764" cy="4204270"/>
          </a:xfrm>
        </p:grpSpPr>
        <p:pic>
          <p:nvPicPr>
            <p:cNvPr id="23" name="object 23">
              <a:extLst>
                <a:ext uri="{FF2B5EF4-FFF2-40B4-BE49-F238E27FC236}">
                  <a16:creationId xmlns:a16="http://schemas.microsoft.com/office/drawing/2014/main" id="{2F878A08-2E58-D9D2-504E-38ED96142E7A}"/>
                </a:ext>
              </a:extLst>
            </p:cNvPr>
            <p:cNvPicPr/>
            <p:nvPr/>
          </p:nvPicPr>
          <p:blipFill>
            <a:blip r:embed="rId3" cstate="print"/>
            <a:stretch>
              <a:fillRect/>
            </a:stretch>
          </p:blipFill>
          <p:spPr>
            <a:xfrm>
              <a:off x="4749593" y="6129237"/>
              <a:ext cx="3417697" cy="4098723"/>
            </a:xfrm>
            <a:prstGeom prst="rect">
              <a:avLst/>
            </a:prstGeom>
          </p:spPr>
        </p:pic>
        <p:pic>
          <p:nvPicPr>
            <p:cNvPr id="24" name="object 24">
              <a:extLst>
                <a:ext uri="{FF2B5EF4-FFF2-40B4-BE49-F238E27FC236}">
                  <a16:creationId xmlns:a16="http://schemas.microsoft.com/office/drawing/2014/main" id="{1BC8D939-E325-D2BF-C6BB-4744BF0C4718}"/>
                </a:ext>
              </a:extLst>
            </p:cNvPr>
            <p:cNvPicPr/>
            <p:nvPr/>
          </p:nvPicPr>
          <p:blipFill>
            <a:blip r:embed="rId4" cstate="print"/>
            <a:stretch>
              <a:fillRect/>
            </a:stretch>
          </p:blipFill>
          <p:spPr>
            <a:xfrm>
              <a:off x="4646560" y="6023690"/>
              <a:ext cx="3623764" cy="827052"/>
            </a:xfrm>
            <a:prstGeom prst="rect">
              <a:avLst/>
            </a:prstGeom>
          </p:spPr>
        </p:pic>
        <p:pic>
          <p:nvPicPr>
            <p:cNvPr id="25" name="object 25">
              <a:extLst>
                <a:ext uri="{FF2B5EF4-FFF2-40B4-BE49-F238E27FC236}">
                  <a16:creationId xmlns:a16="http://schemas.microsoft.com/office/drawing/2014/main" id="{861A010F-221A-A2F9-D7A0-66FC2ECBFC6F}"/>
                </a:ext>
              </a:extLst>
            </p:cNvPr>
            <p:cNvPicPr/>
            <p:nvPr/>
          </p:nvPicPr>
          <p:blipFill>
            <a:blip r:embed="rId5" cstate="print"/>
            <a:stretch>
              <a:fillRect/>
            </a:stretch>
          </p:blipFill>
          <p:spPr>
            <a:xfrm>
              <a:off x="4749593" y="6067881"/>
              <a:ext cx="3417697" cy="726800"/>
            </a:xfrm>
            <a:prstGeom prst="rect">
              <a:avLst/>
            </a:prstGeom>
          </p:spPr>
        </p:pic>
      </p:grpSp>
      <p:sp>
        <p:nvSpPr>
          <p:cNvPr id="26" name="object 26">
            <a:extLst>
              <a:ext uri="{FF2B5EF4-FFF2-40B4-BE49-F238E27FC236}">
                <a16:creationId xmlns:a16="http://schemas.microsoft.com/office/drawing/2014/main" id="{508039DF-8095-0A1E-E1D3-79B18F7B0FB1}"/>
              </a:ext>
            </a:extLst>
          </p:cNvPr>
          <p:cNvSpPr txBox="1"/>
          <p:nvPr/>
        </p:nvSpPr>
        <p:spPr>
          <a:xfrm>
            <a:off x="8046165" y="3927724"/>
            <a:ext cx="2833231" cy="355867"/>
          </a:xfrm>
          <a:prstGeom prst="rect">
            <a:avLst/>
          </a:prstGeom>
        </p:spPr>
        <p:txBody>
          <a:bodyPr vert="horz" wrap="square" lIns="0" tIns="17145" rIns="0" bIns="0" rtlCol="0">
            <a:spAutoFit/>
          </a:bodyPr>
          <a:lstStyle/>
          <a:p>
            <a:pPr marL="46990">
              <a:lnSpc>
                <a:spcPct val="100000"/>
              </a:lnSpc>
              <a:spcBef>
                <a:spcPts val="135"/>
              </a:spcBef>
            </a:pPr>
            <a:r>
              <a:rPr lang="en-US" sz="2200" spc="-121">
                <a:solidFill>
                  <a:srgbClr val="002060"/>
                </a:solidFill>
                <a:latin typeface="Aptos"/>
                <a:ea typeface="Aptos"/>
                <a:cs typeface="Aptos"/>
                <a:sym typeface="Aptos"/>
              </a:rPr>
              <a:t>Sales </a:t>
            </a:r>
            <a:r>
              <a:rPr lang="en-US" sz="2200" b="1" spc="-121">
                <a:solidFill>
                  <a:srgbClr val="002060"/>
                </a:solidFill>
                <a:latin typeface="Aptos Bold"/>
                <a:ea typeface="Aptos Bold"/>
                <a:cs typeface="Aptos Bold"/>
                <a:sym typeface="Aptos Bold"/>
              </a:rPr>
              <a:t>↓ 70% </a:t>
            </a:r>
            <a:r>
              <a:rPr lang="en-US" sz="2200" spc="-121">
                <a:solidFill>
                  <a:srgbClr val="002060"/>
                </a:solidFill>
                <a:latin typeface="Aptos"/>
                <a:ea typeface="Aptos"/>
                <a:cs typeface="Aptos"/>
                <a:sym typeface="Aptos"/>
              </a:rPr>
              <a:t>since 2018</a:t>
            </a:r>
          </a:p>
        </p:txBody>
      </p:sp>
      <p:sp>
        <p:nvSpPr>
          <p:cNvPr id="27" name="object 27">
            <a:extLst>
              <a:ext uri="{FF2B5EF4-FFF2-40B4-BE49-F238E27FC236}">
                <a16:creationId xmlns:a16="http://schemas.microsoft.com/office/drawing/2014/main" id="{5EFB7828-BFC5-336E-EFB3-CFB8B8AFF53B}"/>
              </a:ext>
            </a:extLst>
          </p:cNvPr>
          <p:cNvSpPr txBox="1"/>
          <p:nvPr/>
        </p:nvSpPr>
        <p:spPr>
          <a:xfrm>
            <a:off x="7383380" y="5138771"/>
            <a:ext cx="3964070" cy="628955"/>
          </a:xfrm>
          <a:prstGeom prst="rect">
            <a:avLst/>
          </a:prstGeom>
        </p:spPr>
        <p:txBody>
          <a:bodyPr vert="horz" wrap="square" lIns="0" tIns="12065" rIns="0" bIns="0" rtlCol="0">
            <a:spAutoFit/>
          </a:bodyPr>
          <a:lstStyle/>
          <a:p>
            <a:pPr marL="237492" lvl="1" algn="ctr">
              <a:lnSpc>
                <a:spcPts val="2420"/>
              </a:lnSpc>
              <a:spcBef>
                <a:spcPct val="0"/>
              </a:spcBef>
            </a:pPr>
            <a:r>
              <a:rPr lang="en-US" sz="2200" spc="-121">
                <a:solidFill>
                  <a:srgbClr val="002060"/>
                </a:solidFill>
                <a:latin typeface="Aptos"/>
                <a:ea typeface="Aptos"/>
                <a:cs typeface="Aptos"/>
                <a:sym typeface="Aptos"/>
              </a:rPr>
              <a:t>Luxury EV market +25%/year, Jaguar has </a:t>
            </a:r>
            <a:r>
              <a:rPr lang="en-US" sz="2200" b="1" spc="-121">
                <a:solidFill>
                  <a:srgbClr val="002060"/>
                </a:solidFill>
                <a:latin typeface="Aptos Bold"/>
                <a:ea typeface="Aptos Bold"/>
                <a:cs typeface="Aptos Bold"/>
                <a:sym typeface="Aptos Bold"/>
              </a:rPr>
              <a:t>only one</a:t>
            </a:r>
            <a:r>
              <a:rPr lang="en-US" sz="2200" spc="-121">
                <a:solidFill>
                  <a:srgbClr val="002060"/>
                </a:solidFill>
                <a:latin typeface="Aptos"/>
                <a:ea typeface="Aptos"/>
                <a:cs typeface="Aptos"/>
                <a:sym typeface="Aptos"/>
              </a:rPr>
              <a:t> EV (I-Pace)</a:t>
            </a:r>
          </a:p>
        </p:txBody>
      </p:sp>
      <p:sp>
        <p:nvSpPr>
          <p:cNvPr id="29" name="object 29">
            <a:extLst>
              <a:ext uri="{FF2B5EF4-FFF2-40B4-BE49-F238E27FC236}">
                <a16:creationId xmlns:a16="http://schemas.microsoft.com/office/drawing/2014/main" id="{3861749B-1F59-C9FD-2AF4-51CCF2828583}"/>
              </a:ext>
            </a:extLst>
          </p:cNvPr>
          <p:cNvSpPr/>
          <p:nvPr/>
        </p:nvSpPr>
        <p:spPr>
          <a:xfrm>
            <a:off x="7282149" y="4892849"/>
            <a:ext cx="4273720" cy="45719"/>
          </a:xfrm>
          <a:custGeom>
            <a:avLst/>
            <a:gdLst/>
            <a:ahLst/>
            <a:cxnLst/>
            <a:rect l="l" t="t" r="r" b="b"/>
            <a:pathLst>
              <a:path w="3413759">
                <a:moveTo>
                  <a:pt x="0" y="0"/>
                </a:moveTo>
                <a:lnTo>
                  <a:pt x="3413345" y="0"/>
                </a:lnTo>
              </a:path>
            </a:pathLst>
          </a:custGeom>
          <a:ln w="15706">
            <a:solidFill>
              <a:srgbClr val="FFFFFF"/>
            </a:solidFill>
          </a:ln>
        </p:spPr>
        <p:txBody>
          <a:bodyPr wrap="square" lIns="0" tIns="0" rIns="0" bIns="0" rtlCol="0"/>
          <a:lstStyle/>
          <a:p>
            <a:endParaRPr/>
          </a:p>
        </p:txBody>
      </p:sp>
      <p:sp>
        <p:nvSpPr>
          <p:cNvPr id="40" name="object 40">
            <a:extLst>
              <a:ext uri="{FF2B5EF4-FFF2-40B4-BE49-F238E27FC236}">
                <a16:creationId xmlns:a16="http://schemas.microsoft.com/office/drawing/2014/main" id="{EB6D9E76-E14B-590D-F0C4-4ABAAC655598}"/>
              </a:ext>
            </a:extLst>
          </p:cNvPr>
          <p:cNvSpPr/>
          <p:nvPr/>
        </p:nvSpPr>
        <p:spPr>
          <a:xfrm>
            <a:off x="12813543" y="4892849"/>
            <a:ext cx="3413760" cy="0"/>
          </a:xfrm>
          <a:custGeom>
            <a:avLst/>
            <a:gdLst/>
            <a:ahLst/>
            <a:cxnLst/>
            <a:rect l="l" t="t" r="r" b="b"/>
            <a:pathLst>
              <a:path w="3413759">
                <a:moveTo>
                  <a:pt x="0" y="0"/>
                </a:moveTo>
                <a:lnTo>
                  <a:pt x="3413345" y="0"/>
                </a:lnTo>
              </a:path>
            </a:pathLst>
          </a:custGeom>
          <a:ln w="15706">
            <a:solidFill>
              <a:srgbClr val="FFFFFF"/>
            </a:solidFill>
          </a:ln>
        </p:spPr>
        <p:txBody>
          <a:bodyPr wrap="square" lIns="0" tIns="0" rIns="0" bIns="0" rtlCol="0"/>
          <a:lstStyle/>
          <a:p>
            <a:endParaRPr/>
          </a:p>
        </p:txBody>
      </p:sp>
      <p:sp>
        <p:nvSpPr>
          <p:cNvPr id="68" name="object 68">
            <a:extLst>
              <a:ext uri="{FF2B5EF4-FFF2-40B4-BE49-F238E27FC236}">
                <a16:creationId xmlns:a16="http://schemas.microsoft.com/office/drawing/2014/main" id="{09239615-7783-3CE9-CD07-69D77914E1F6}"/>
              </a:ext>
            </a:extLst>
          </p:cNvPr>
          <p:cNvSpPr/>
          <p:nvPr/>
        </p:nvSpPr>
        <p:spPr>
          <a:xfrm>
            <a:off x="15567902" y="4892849"/>
            <a:ext cx="3413760" cy="0"/>
          </a:xfrm>
          <a:custGeom>
            <a:avLst/>
            <a:gdLst/>
            <a:ahLst/>
            <a:cxnLst/>
            <a:rect l="l" t="t" r="r" b="b"/>
            <a:pathLst>
              <a:path w="3413759">
                <a:moveTo>
                  <a:pt x="0" y="0"/>
                </a:moveTo>
                <a:lnTo>
                  <a:pt x="3413345" y="0"/>
                </a:lnTo>
              </a:path>
            </a:pathLst>
          </a:custGeom>
          <a:ln w="15706">
            <a:solidFill>
              <a:srgbClr val="FFFFFF"/>
            </a:solidFill>
          </a:ln>
        </p:spPr>
        <p:txBody>
          <a:bodyPr wrap="square" lIns="0" tIns="0" rIns="0" bIns="0" rtlCol="0"/>
          <a:lstStyle/>
          <a:p>
            <a:endParaRPr/>
          </a:p>
        </p:txBody>
      </p:sp>
      <p:cxnSp>
        <p:nvCxnSpPr>
          <p:cNvPr id="116" name="Straight Connector 115">
            <a:extLst>
              <a:ext uri="{FF2B5EF4-FFF2-40B4-BE49-F238E27FC236}">
                <a16:creationId xmlns:a16="http://schemas.microsoft.com/office/drawing/2014/main" id="{BD7690FE-2E19-8F29-EFEF-7F32B2AC0199}"/>
              </a:ext>
            </a:extLst>
          </p:cNvPr>
          <p:cNvCxnSpPr/>
          <p:nvPr/>
        </p:nvCxnSpPr>
        <p:spPr>
          <a:xfrm>
            <a:off x="1015257" y="6040041"/>
            <a:ext cx="178357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7" name="object 27">
            <a:extLst>
              <a:ext uri="{FF2B5EF4-FFF2-40B4-BE49-F238E27FC236}">
                <a16:creationId xmlns:a16="http://schemas.microsoft.com/office/drawing/2014/main" id="{A486168D-7D54-048F-1525-AC4C63E26974}"/>
              </a:ext>
            </a:extLst>
          </p:cNvPr>
          <p:cNvSpPr txBox="1"/>
          <p:nvPr/>
        </p:nvSpPr>
        <p:spPr>
          <a:xfrm>
            <a:off x="7383380" y="6358196"/>
            <a:ext cx="4176380" cy="628955"/>
          </a:xfrm>
          <a:prstGeom prst="rect">
            <a:avLst/>
          </a:prstGeom>
        </p:spPr>
        <p:txBody>
          <a:bodyPr vert="horz" wrap="square" lIns="0" tIns="12065" rIns="0" bIns="0" rtlCol="0">
            <a:spAutoFit/>
          </a:bodyPr>
          <a:lstStyle/>
          <a:p>
            <a:pPr marL="237492" lvl="1" algn="ctr">
              <a:lnSpc>
                <a:spcPts val="2420"/>
              </a:lnSpc>
              <a:spcBef>
                <a:spcPct val="0"/>
              </a:spcBef>
            </a:pPr>
            <a:r>
              <a:rPr lang="en-US" sz="2200" spc="-121">
                <a:solidFill>
                  <a:srgbClr val="002060"/>
                </a:solidFill>
                <a:latin typeface="Aptos"/>
                <a:ea typeface="Aptos"/>
                <a:cs typeface="Aptos"/>
                <a:sym typeface="Aptos"/>
              </a:rPr>
              <a:t>&lt;20% of JLR sales → </a:t>
            </a:r>
            <a:r>
              <a:rPr lang="en-US" sz="2200" b="1" spc="-121">
                <a:solidFill>
                  <a:srgbClr val="002060"/>
                </a:solidFill>
                <a:latin typeface="Aptos Bold"/>
                <a:ea typeface="Aptos Bold"/>
                <a:cs typeface="Aptos Bold"/>
                <a:sym typeface="Aptos Bold"/>
              </a:rPr>
              <a:t>lowest profitability in Tata motors portfolio</a:t>
            </a:r>
          </a:p>
        </p:txBody>
      </p:sp>
      <p:sp>
        <p:nvSpPr>
          <p:cNvPr id="118" name="object 26">
            <a:extLst>
              <a:ext uri="{FF2B5EF4-FFF2-40B4-BE49-F238E27FC236}">
                <a16:creationId xmlns:a16="http://schemas.microsoft.com/office/drawing/2014/main" id="{8B29D501-BD05-D8FB-1E48-C108D581D73A}"/>
              </a:ext>
            </a:extLst>
          </p:cNvPr>
          <p:cNvSpPr txBox="1"/>
          <p:nvPr/>
        </p:nvSpPr>
        <p:spPr>
          <a:xfrm>
            <a:off x="8669573" y="2944908"/>
            <a:ext cx="1356408" cy="830356"/>
          </a:xfrm>
          <a:prstGeom prst="rect">
            <a:avLst/>
          </a:prstGeom>
        </p:spPr>
        <p:txBody>
          <a:bodyPr vert="horz" wrap="square" lIns="0" tIns="17145" rIns="0" bIns="0" rtlCol="0">
            <a:spAutoFit/>
          </a:bodyPr>
          <a:lstStyle/>
          <a:p>
            <a:pPr marL="46990">
              <a:lnSpc>
                <a:spcPct val="100000"/>
              </a:lnSpc>
              <a:spcBef>
                <a:spcPts val="135"/>
              </a:spcBef>
            </a:pPr>
            <a:r>
              <a:rPr lang="en-US" sz="2600" spc="50">
                <a:solidFill>
                  <a:srgbClr val="FFFFFF"/>
                </a:solidFill>
                <a:latin typeface="Microsoft Sans Serif"/>
                <a:cs typeface="Microsoft Sans Serif"/>
              </a:rPr>
              <a:t>Decline</a:t>
            </a:r>
            <a:endParaRPr sz="2600">
              <a:latin typeface="Microsoft Sans Serif"/>
              <a:cs typeface="Microsoft Sans Serif"/>
            </a:endParaRPr>
          </a:p>
          <a:p>
            <a:pPr>
              <a:lnSpc>
                <a:spcPct val="100000"/>
              </a:lnSpc>
              <a:spcBef>
                <a:spcPts val="125"/>
              </a:spcBef>
            </a:pPr>
            <a:endParaRPr sz="2600">
              <a:latin typeface="Microsoft Sans Serif"/>
              <a:cs typeface="Microsoft Sans Serif"/>
            </a:endParaRPr>
          </a:p>
        </p:txBody>
      </p:sp>
      <p:sp>
        <p:nvSpPr>
          <p:cNvPr id="124" name="object 27">
            <a:extLst>
              <a:ext uri="{FF2B5EF4-FFF2-40B4-BE49-F238E27FC236}">
                <a16:creationId xmlns:a16="http://schemas.microsoft.com/office/drawing/2014/main" id="{9E2DF562-45CB-1E15-E4D0-890C94DFF74E}"/>
              </a:ext>
            </a:extLst>
          </p:cNvPr>
          <p:cNvSpPr txBox="1"/>
          <p:nvPr/>
        </p:nvSpPr>
        <p:spPr>
          <a:xfrm>
            <a:off x="13099950" y="3827805"/>
            <a:ext cx="3989880" cy="897875"/>
          </a:xfrm>
          <a:prstGeom prst="rect">
            <a:avLst/>
          </a:prstGeom>
        </p:spPr>
        <p:txBody>
          <a:bodyPr vert="horz" wrap="square" lIns="0" tIns="12065" rIns="0" bIns="0" rtlCol="0">
            <a:spAutoFit/>
          </a:bodyPr>
          <a:lstStyle/>
          <a:p>
            <a:pPr marL="0" lvl="0" indent="0" algn="ctr">
              <a:lnSpc>
                <a:spcPts val="2310"/>
              </a:lnSpc>
              <a:spcBef>
                <a:spcPct val="0"/>
              </a:spcBef>
            </a:pPr>
            <a:r>
              <a:rPr lang="en-US" sz="2100" b="1" spc="-115">
                <a:solidFill>
                  <a:srgbClr val="002060"/>
                </a:solidFill>
                <a:latin typeface="Aptos Bold"/>
                <a:ea typeface="Aptos Bold"/>
                <a:cs typeface="Aptos Bold"/>
                <a:sym typeface="Aptos Bold"/>
              </a:rPr>
              <a:t>C</a:t>
            </a:r>
            <a:r>
              <a:rPr lang="en-US" sz="2100" b="1" u="none" strike="noStrike" spc="-115">
                <a:solidFill>
                  <a:srgbClr val="002060"/>
                </a:solidFill>
                <a:latin typeface="Aptos Bold"/>
                <a:ea typeface="Aptos Bold"/>
                <a:cs typeface="Aptos Bold"/>
                <a:sym typeface="Aptos Bold"/>
              </a:rPr>
              <a:t>ore issue</a:t>
            </a:r>
            <a:r>
              <a:rPr lang="en-US" sz="2100" u="none" strike="noStrike" spc="-115">
                <a:solidFill>
                  <a:srgbClr val="002060"/>
                </a:solidFill>
                <a:latin typeface="Aptos"/>
                <a:ea typeface="Aptos"/>
                <a:cs typeface="Aptos"/>
                <a:sym typeface="Aptos"/>
              </a:rPr>
              <a:t>: Blurred brand positioning, neither true luxury nor pure performance.</a:t>
            </a:r>
          </a:p>
        </p:txBody>
      </p:sp>
      <p:sp>
        <p:nvSpPr>
          <p:cNvPr id="125" name="object 27">
            <a:extLst>
              <a:ext uri="{FF2B5EF4-FFF2-40B4-BE49-F238E27FC236}">
                <a16:creationId xmlns:a16="http://schemas.microsoft.com/office/drawing/2014/main" id="{31EACDCC-026F-E683-E9B8-E106C5C2DFAD}"/>
              </a:ext>
            </a:extLst>
          </p:cNvPr>
          <p:cNvSpPr txBox="1"/>
          <p:nvPr/>
        </p:nvSpPr>
        <p:spPr>
          <a:xfrm>
            <a:off x="13098371" y="5150589"/>
            <a:ext cx="3973745" cy="2090893"/>
          </a:xfrm>
          <a:prstGeom prst="rect">
            <a:avLst/>
          </a:prstGeom>
        </p:spPr>
        <p:txBody>
          <a:bodyPr vert="horz" wrap="square" lIns="0" tIns="12065" rIns="0" bIns="0" rtlCol="0" anchor="t">
            <a:spAutoFit/>
          </a:bodyPr>
          <a:lstStyle/>
          <a:p>
            <a:pPr marL="0" lvl="0" indent="0" algn="ctr">
              <a:lnSpc>
                <a:spcPts val="2310"/>
              </a:lnSpc>
              <a:spcBef>
                <a:spcPct val="0"/>
              </a:spcBef>
            </a:pPr>
            <a:r>
              <a:rPr lang="en-US" sz="2100" b="1" u="none" strike="noStrike" spc="-115">
                <a:solidFill>
                  <a:srgbClr val="002060"/>
                </a:solidFill>
                <a:latin typeface="Aptos Bold"/>
                <a:ea typeface="Aptos Bold"/>
                <a:cs typeface="Aptos Bold"/>
                <a:sym typeface="Aptos Bold"/>
              </a:rPr>
              <a:t>Mixed messages</a:t>
            </a:r>
            <a:r>
              <a:rPr lang="en-US" sz="2100" u="none" strike="noStrike" spc="-115">
                <a:solidFill>
                  <a:srgbClr val="002060"/>
                </a:solidFill>
                <a:latin typeface="Aptos"/>
                <a:ea typeface="Aptos"/>
                <a:cs typeface="Aptos"/>
                <a:sym typeface="Aptos"/>
              </a:rPr>
              <a:t>: sporty classics (F-Type, XE) vs futuristic “modern luxury” (I-Pace)</a:t>
            </a:r>
          </a:p>
          <a:p>
            <a:pPr algn="ctr">
              <a:lnSpc>
                <a:spcPts val="2310"/>
              </a:lnSpc>
              <a:spcBef>
                <a:spcPct val="0"/>
              </a:spcBef>
            </a:pPr>
            <a:endParaRPr lang="en-US" sz="2100" spc="-115">
              <a:solidFill>
                <a:srgbClr val="002060"/>
              </a:solidFill>
              <a:latin typeface="Aptos"/>
              <a:ea typeface="Aptos Bold"/>
              <a:cs typeface="Aptos Bold"/>
              <a:sym typeface="Aptos Bold"/>
            </a:endParaRPr>
          </a:p>
          <a:p>
            <a:pPr marL="226695" lvl="1" algn="ctr">
              <a:lnSpc>
                <a:spcPts val="2310"/>
              </a:lnSpc>
            </a:pPr>
            <a:r>
              <a:rPr lang="en-US" sz="2100" b="1" u="none" strike="noStrike" spc="-115">
                <a:solidFill>
                  <a:srgbClr val="002060"/>
                </a:solidFill>
                <a:latin typeface="Aptos Bold"/>
                <a:ea typeface="Aptos Bold"/>
                <a:cs typeface="Aptos Bold"/>
                <a:sym typeface="Aptos Bold"/>
              </a:rPr>
              <a:t>Pricing: </a:t>
            </a:r>
            <a:r>
              <a:rPr lang="en-US" sz="2100" u="none" strike="noStrike" spc="-115">
                <a:solidFill>
                  <a:srgbClr val="002060"/>
                </a:solidFill>
                <a:latin typeface="Aptos"/>
                <a:ea typeface="Aptos"/>
                <a:cs typeface="Aptos"/>
                <a:sym typeface="Aptos"/>
              </a:rPr>
              <a:t>too high for BMW M / Porsche competitors</a:t>
            </a:r>
            <a:endParaRPr lang="en-US" sz="2100" u="none" strike="noStrike" spc="-115">
              <a:solidFill>
                <a:srgbClr val="002060"/>
              </a:solidFill>
              <a:latin typeface="Aptos"/>
              <a:ea typeface="Aptos"/>
              <a:cs typeface="Aptos"/>
            </a:endParaRPr>
          </a:p>
          <a:p>
            <a:pPr marL="237490" lvl="1" algn="ctr">
              <a:lnSpc>
                <a:spcPts val="2420"/>
              </a:lnSpc>
              <a:spcBef>
                <a:spcPct val="0"/>
              </a:spcBef>
            </a:pPr>
            <a:endParaRPr lang="en-US" sz="2200" b="1" spc="-121">
              <a:solidFill>
                <a:srgbClr val="002060"/>
              </a:solidFill>
              <a:latin typeface="Aptos Bold"/>
              <a:ea typeface="Aptos Bold"/>
              <a:cs typeface="Aptos Bold"/>
            </a:endParaRPr>
          </a:p>
        </p:txBody>
      </p:sp>
      <p:sp>
        <p:nvSpPr>
          <p:cNvPr id="126" name="object 26">
            <a:extLst>
              <a:ext uri="{FF2B5EF4-FFF2-40B4-BE49-F238E27FC236}">
                <a16:creationId xmlns:a16="http://schemas.microsoft.com/office/drawing/2014/main" id="{8AFD6518-F260-2F80-4363-C43CF96D0993}"/>
              </a:ext>
            </a:extLst>
          </p:cNvPr>
          <p:cNvSpPr txBox="1"/>
          <p:nvPr/>
        </p:nvSpPr>
        <p:spPr>
          <a:xfrm>
            <a:off x="13898196" y="2943375"/>
            <a:ext cx="2971916" cy="830356"/>
          </a:xfrm>
          <a:prstGeom prst="rect">
            <a:avLst/>
          </a:prstGeom>
        </p:spPr>
        <p:txBody>
          <a:bodyPr vert="horz" wrap="square" lIns="0" tIns="17145" rIns="0" bIns="0" rtlCol="0">
            <a:spAutoFit/>
          </a:bodyPr>
          <a:lstStyle/>
          <a:p>
            <a:pPr marL="46990">
              <a:lnSpc>
                <a:spcPct val="100000"/>
              </a:lnSpc>
              <a:spcBef>
                <a:spcPts val="135"/>
              </a:spcBef>
            </a:pPr>
            <a:r>
              <a:rPr lang="en-US" sz="2600" spc="50">
                <a:solidFill>
                  <a:srgbClr val="FFFFFF"/>
                </a:solidFill>
                <a:latin typeface="Microsoft Sans Serif"/>
                <a:cs typeface="Microsoft Sans Serif"/>
              </a:rPr>
              <a:t>Identity Crisis</a:t>
            </a:r>
            <a:endParaRPr sz="2600">
              <a:latin typeface="Microsoft Sans Serif"/>
              <a:cs typeface="Microsoft Sans Serif"/>
            </a:endParaRPr>
          </a:p>
          <a:p>
            <a:pPr>
              <a:lnSpc>
                <a:spcPct val="100000"/>
              </a:lnSpc>
              <a:spcBef>
                <a:spcPts val="125"/>
              </a:spcBef>
            </a:pPr>
            <a:endParaRPr sz="2600">
              <a:latin typeface="Microsoft Sans Serif"/>
              <a:cs typeface="Microsoft Sans Serif"/>
            </a:endParaRPr>
          </a:p>
        </p:txBody>
      </p:sp>
      <p:grpSp>
        <p:nvGrpSpPr>
          <p:cNvPr id="131" name="object 17">
            <a:extLst>
              <a:ext uri="{FF2B5EF4-FFF2-40B4-BE49-F238E27FC236}">
                <a16:creationId xmlns:a16="http://schemas.microsoft.com/office/drawing/2014/main" id="{D7B4C07D-194E-79C9-4CA4-F18250C17EB4}"/>
              </a:ext>
            </a:extLst>
          </p:cNvPr>
          <p:cNvGrpSpPr/>
          <p:nvPr/>
        </p:nvGrpSpPr>
        <p:grpSpPr>
          <a:xfrm>
            <a:off x="1517650" y="8805952"/>
            <a:ext cx="15519038" cy="674263"/>
            <a:chOff x="8221680" y="3373238"/>
            <a:chExt cx="3744388" cy="952431"/>
          </a:xfrm>
        </p:grpSpPr>
        <p:pic>
          <p:nvPicPr>
            <p:cNvPr id="133" name="object 19">
              <a:extLst>
                <a:ext uri="{FF2B5EF4-FFF2-40B4-BE49-F238E27FC236}">
                  <a16:creationId xmlns:a16="http://schemas.microsoft.com/office/drawing/2014/main" id="{7E3BD4B2-ACD3-C8F0-14F2-F00B39CA516C}"/>
                </a:ext>
              </a:extLst>
            </p:cNvPr>
            <p:cNvPicPr/>
            <p:nvPr/>
          </p:nvPicPr>
          <p:blipFill>
            <a:blip r:embed="rId10" cstate="print"/>
            <a:stretch>
              <a:fillRect/>
            </a:stretch>
          </p:blipFill>
          <p:spPr>
            <a:xfrm>
              <a:off x="8221680" y="3373238"/>
              <a:ext cx="3744388" cy="952431"/>
            </a:xfrm>
            <a:prstGeom prst="rect">
              <a:avLst/>
            </a:prstGeom>
          </p:spPr>
        </p:pic>
        <p:pic>
          <p:nvPicPr>
            <p:cNvPr id="134" name="object 20">
              <a:extLst>
                <a:ext uri="{FF2B5EF4-FFF2-40B4-BE49-F238E27FC236}">
                  <a16:creationId xmlns:a16="http://schemas.microsoft.com/office/drawing/2014/main" id="{589C71F4-9043-C943-4847-76BCE2BFCB44}"/>
                </a:ext>
              </a:extLst>
            </p:cNvPr>
            <p:cNvPicPr/>
            <p:nvPr/>
          </p:nvPicPr>
          <p:blipFill>
            <a:blip r:embed="rId11" cstate="print"/>
            <a:stretch>
              <a:fillRect/>
            </a:stretch>
          </p:blipFill>
          <p:spPr>
            <a:xfrm>
              <a:off x="8327845" y="3484857"/>
              <a:ext cx="3532059" cy="742029"/>
            </a:xfrm>
            <a:prstGeom prst="rect">
              <a:avLst/>
            </a:prstGeom>
          </p:spPr>
        </p:pic>
      </p:grpSp>
      <p:sp>
        <p:nvSpPr>
          <p:cNvPr id="135" name="object 26">
            <a:extLst>
              <a:ext uri="{FF2B5EF4-FFF2-40B4-BE49-F238E27FC236}">
                <a16:creationId xmlns:a16="http://schemas.microsoft.com/office/drawing/2014/main" id="{426D0012-D7CD-287E-08F9-73097A390E68}"/>
              </a:ext>
            </a:extLst>
          </p:cNvPr>
          <p:cNvSpPr txBox="1"/>
          <p:nvPr/>
        </p:nvSpPr>
        <p:spPr>
          <a:xfrm>
            <a:off x="2459738" y="8906074"/>
            <a:ext cx="13988901" cy="1335622"/>
          </a:xfrm>
          <a:prstGeom prst="rect">
            <a:avLst/>
          </a:prstGeom>
        </p:spPr>
        <p:txBody>
          <a:bodyPr vert="horz" wrap="square" lIns="0" tIns="17145" rIns="0" bIns="0" rtlCol="0" anchor="t">
            <a:spAutoFit/>
          </a:bodyPr>
          <a:lstStyle/>
          <a:p>
            <a:pPr marL="46990" algn="ctr">
              <a:spcBef>
                <a:spcPts val="135"/>
              </a:spcBef>
            </a:pPr>
            <a:r>
              <a:rPr lang="en-US" sz="2800" b="1" spc="-115">
                <a:solidFill>
                  <a:schemeClr val="bg1"/>
                </a:solidFill>
                <a:latin typeface="Aptos"/>
                <a:ea typeface="Aptos"/>
                <a:cs typeface="Aptos"/>
                <a:sym typeface="Aptos"/>
              </a:rPr>
              <a:t>Because a brand without a clear position loses both differentiation and emotional connection</a:t>
            </a:r>
          </a:p>
          <a:p>
            <a:pPr marL="46990">
              <a:lnSpc>
                <a:spcPct val="100000"/>
              </a:lnSpc>
              <a:spcBef>
                <a:spcPts val="135"/>
              </a:spcBef>
            </a:pPr>
            <a:endParaRPr sz="2800" b="1">
              <a:solidFill>
                <a:schemeClr val="bg1"/>
              </a:solidFill>
              <a:latin typeface="Microsoft Sans Serif"/>
              <a:cs typeface="Microsoft Sans Serif"/>
            </a:endParaRPr>
          </a:p>
          <a:p>
            <a:pPr>
              <a:lnSpc>
                <a:spcPct val="100000"/>
              </a:lnSpc>
              <a:spcBef>
                <a:spcPts val="125"/>
              </a:spcBef>
            </a:pPr>
            <a:endParaRPr sz="2800" b="1">
              <a:solidFill>
                <a:schemeClr val="bg1"/>
              </a:solidFill>
              <a:latin typeface="Microsoft Sans Serif"/>
              <a:cs typeface="Microsoft Sans Serif"/>
            </a:endParaRPr>
          </a:p>
        </p:txBody>
      </p:sp>
      <p:sp>
        <p:nvSpPr>
          <p:cNvPr id="136" name="object 27">
            <a:extLst>
              <a:ext uri="{FF2B5EF4-FFF2-40B4-BE49-F238E27FC236}">
                <a16:creationId xmlns:a16="http://schemas.microsoft.com/office/drawing/2014/main" id="{1DEB3192-1ED5-DDBA-A2DE-81836030F3F1}"/>
              </a:ext>
            </a:extLst>
          </p:cNvPr>
          <p:cNvSpPr txBox="1"/>
          <p:nvPr/>
        </p:nvSpPr>
        <p:spPr>
          <a:xfrm>
            <a:off x="7326621" y="7557904"/>
            <a:ext cx="4176380" cy="628955"/>
          </a:xfrm>
          <a:prstGeom prst="rect">
            <a:avLst/>
          </a:prstGeom>
        </p:spPr>
        <p:txBody>
          <a:bodyPr vert="horz" wrap="square" lIns="0" tIns="12065" rIns="0" bIns="0" rtlCol="0">
            <a:spAutoFit/>
          </a:bodyPr>
          <a:lstStyle/>
          <a:p>
            <a:pPr algn="ctr">
              <a:lnSpc>
                <a:spcPts val="2420"/>
              </a:lnSpc>
              <a:spcBef>
                <a:spcPct val="0"/>
              </a:spcBef>
            </a:pPr>
            <a:r>
              <a:rPr lang="en-US" sz="2200" spc="-121">
                <a:solidFill>
                  <a:srgbClr val="002060"/>
                </a:solidFill>
                <a:latin typeface="Aptos"/>
                <a:ea typeface="Aptos"/>
                <a:cs typeface="Aptos"/>
                <a:sym typeface="Aptos"/>
              </a:rPr>
              <a:t>Once a rising star, now fighting to stay relevant.</a:t>
            </a:r>
          </a:p>
        </p:txBody>
      </p:sp>
      <p:sp>
        <p:nvSpPr>
          <p:cNvPr id="137" name="object 27">
            <a:extLst>
              <a:ext uri="{FF2B5EF4-FFF2-40B4-BE49-F238E27FC236}">
                <a16:creationId xmlns:a16="http://schemas.microsoft.com/office/drawing/2014/main" id="{FF1C029A-C580-7CF4-14D2-7ACF79B33434}"/>
              </a:ext>
            </a:extLst>
          </p:cNvPr>
          <p:cNvSpPr txBox="1"/>
          <p:nvPr/>
        </p:nvSpPr>
        <p:spPr>
          <a:xfrm>
            <a:off x="13001598" y="6666426"/>
            <a:ext cx="4176380" cy="1192827"/>
          </a:xfrm>
          <a:prstGeom prst="rect">
            <a:avLst/>
          </a:prstGeom>
        </p:spPr>
        <p:txBody>
          <a:bodyPr vert="horz" wrap="square" lIns="0" tIns="12065" rIns="0" bIns="0" rtlCol="0" anchor="t">
            <a:spAutoFit/>
          </a:bodyPr>
          <a:lstStyle/>
          <a:p>
            <a:pPr algn="ctr">
              <a:lnSpc>
                <a:spcPts val="2310"/>
              </a:lnSpc>
            </a:pPr>
            <a:endParaRPr lang="en-US" sz="2100" u="none" strike="noStrike" spc="-115">
              <a:solidFill>
                <a:srgbClr val="002060"/>
              </a:solidFill>
              <a:latin typeface="Aptos"/>
              <a:ea typeface="Aptos"/>
              <a:cs typeface="Aptos"/>
              <a:sym typeface="Aptos"/>
            </a:endParaRPr>
          </a:p>
          <a:p>
            <a:pPr algn="ctr">
              <a:lnSpc>
                <a:spcPts val="2310"/>
              </a:lnSpc>
            </a:pPr>
            <a:endParaRPr lang="en-US" sz="2100" spc="-115">
              <a:solidFill>
                <a:srgbClr val="002060"/>
              </a:solidFill>
              <a:latin typeface="Aptos"/>
              <a:ea typeface="Aptos Bold"/>
              <a:cs typeface="Aptos Bold"/>
              <a:sym typeface="Aptos Bold"/>
            </a:endParaRPr>
          </a:p>
          <a:p>
            <a:pPr marL="226695" lvl="1" algn="ctr">
              <a:lnSpc>
                <a:spcPts val="2310"/>
              </a:lnSpc>
              <a:spcBef>
                <a:spcPct val="0"/>
              </a:spcBef>
            </a:pPr>
            <a:r>
              <a:rPr lang="en-US" sz="2100" b="1" u="none" strike="noStrike" spc="-115">
                <a:solidFill>
                  <a:srgbClr val="002060"/>
                </a:solidFill>
                <a:latin typeface="Aptos Bold"/>
                <a:ea typeface="Aptos Bold"/>
                <a:cs typeface="Aptos Bold"/>
                <a:sym typeface="Aptos Bold"/>
              </a:rPr>
              <a:t>Brand message</a:t>
            </a:r>
            <a:r>
              <a:rPr lang="en-US" sz="2100" u="none" strike="noStrike" spc="-115">
                <a:solidFill>
                  <a:srgbClr val="002060"/>
                </a:solidFill>
                <a:latin typeface="Aptos"/>
                <a:ea typeface="Aptos"/>
                <a:cs typeface="Aptos"/>
                <a:sym typeface="Aptos"/>
              </a:rPr>
              <a:t> “Modern Luxury” feels vague and hollow</a:t>
            </a:r>
            <a:endParaRPr lang="en-US" sz="2100" u="none" strike="noStrike" spc="-115">
              <a:solidFill>
                <a:srgbClr val="002060"/>
              </a:solidFill>
              <a:latin typeface="Aptos"/>
              <a:ea typeface="Aptos"/>
              <a:cs typeface="Aptos"/>
            </a:endParaRPr>
          </a:p>
        </p:txBody>
      </p:sp>
      <p:pic>
        <p:nvPicPr>
          <p:cNvPr id="145" name="object 18">
            <a:extLst>
              <a:ext uri="{FF2B5EF4-FFF2-40B4-BE49-F238E27FC236}">
                <a16:creationId xmlns:a16="http://schemas.microsoft.com/office/drawing/2014/main" id="{CF766029-530B-96D7-535F-2D9FF2DF88EB}"/>
              </a:ext>
            </a:extLst>
          </p:cNvPr>
          <p:cNvPicPr/>
          <p:nvPr/>
        </p:nvPicPr>
        <p:blipFill>
          <a:blip r:embed="rId12" cstate="print"/>
          <a:stretch>
            <a:fillRect/>
          </a:stretch>
        </p:blipFill>
        <p:spPr>
          <a:xfrm>
            <a:off x="13002032" y="8912790"/>
            <a:ext cx="4629628" cy="2590873"/>
          </a:xfrm>
          <a:prstGeom prst="rect">
            <a:avLst/>
          </a:prstGeom>
        </p:spPr>
      </p:pic>
      <p:sp>
        <p:nvSpPr>
          <p:cNvPr id="146" name="object 2">
            <a:extLst>
              <a:ext uri="{FF2B5EF4-FFF2-40B4-BE49-F238E27FC236}">
                <a16:creationId xmlns:a16="http://schemas.microsoft.com/office/drawing/2014/main" id="{F9C0A57C-C8B5-93D9-7D9E-2CADE87236B4}"/>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7" name="object 4">
            <a:extLst>
              <a:ext uri="{FF2B5EF4-FFF2-40B4-BE49-F238E27FC236}">
                <a16:creationId xmlns:a16="http://schemas.microsoft.com/office/drawing/2014/main" id="{AFF39DD5-EFC0-2401-5FC7-C18512E0708C}"/>
              </a:ext>
            </a:extLst>
          </p:cNvPr>
          <p:cNvPicPr/>
          <p:nvPr/>
        </p:nvPicPr>
        <p:blipFill>
          <a:blip r:embed="rId13" cstate="print"/>
          <a:stretch>
            <a:fillRect/>
          </a:stretch>
        </p:blipFill>
        <p:spPr>
          <a:xfrm>
            <a:off x="17726790" y="399568"/>
            <a:ext cx="1233889" cy="263866"/>
          </a:xfrm>
          <a:prstGeom prst="rect">
            <a:avLst/>
          </a:prstGeom>
        </p:spPr>
      </p:pic>
      <p:sp>
        <p:nvSpPr>
          <p:cNvPr id="18" name="object 99">
            <a:extLst>
              <a:ext uri="{FF2B5EF4-FFF2-40B4-BE49-F238E27FC236}">
                <a16:creationId xmlns:a16="http://schemas.microsoft.com/office/drawing/2014/main" id="{C1E4EC6D-8A47-ED54-1853-CBBD59E41A64}"/>
              </a:ext>
            </a:extLst>
          </p:cNvPr>
          <p:cNvSpPr txBox="1">
            <a:spLocks noGrp="1"/>
          </p:cNvSpPr>
          <p:nvPr>
            <p:ph type="sldNum" sz="quarter" idx="7"/>
          </p:nvPr>
        </p:nvSpPr>
        <p:spPr>
          <a:xfrm>
            <a:off x="18790979" y="10548235"/>
            <a:ext cx="274319" cy="556563"/>
          </a:xfrm>
          <a:prstGeom prst="rect">
            <a:avLst/>
          </a:prstGeom>
        </p:spPr>
        <p:txBody>
          <a:bodyPr vert="horz" wrap="square" lIns="0" tIns="22860" rIns="0" bIns="0" rtlCol="0" anchor="t">
            <a:spAutoFit/>
          </a:bodyPr>
          <a:lstStyle/>
          <a:p>
            <a:pPr marL="12065">
              <a:lnSpc>
                <a:spcPct val="100000"/>
              </a:lnSpc>
              <a:spcBef>
                <a:spcPts val="180"/>
              </a:spcBef>
            </a:pPr>
            <a:r>
              <a:rPr lang="en-US" spc="-25">
                <a:ea typeface="Microsoft Sans Serif"/>
              </a:rPr>
              <a:t>5</a:t>
            </a:r>
          </a:p>
          <a:p>
            <a:pPr marL="12065">
              <a:spcBef>
                <a:spcPts val="180"/>
              </a:spcBef>
            </a:pPr>
            <a:endParaRPr lang="en-US" spc="-25">
              <a:ea typeface="Microsoft Sans Serif"/>
            </a:endParaRPr>
          </a:p>
        </p:txBody>
      </p:sp>
      <p:sp>
        <p:nvSpPr>
          <p:cNvPr id="19" name="object 3">
            <a:extLst>
              <a:ext uri="{FF2B5EF4-FFF2-40B4-BE49-F238E27FC236}">
                <a16:creationId xmlns:a16="http://schemas.microsoft.com/office/drawing/2014/main" id="{201DB347-8F1F-B3E7-E68B-7E672631A0E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15" name="ZoneTexte 14">
            <a:extLst>
              <a:ext uri="{FF2B5EF4-FFF2-40B4-BE49-F238E27FC236}">
                <a16:creationId xmlns:a16="http://schemas.microsoft.com/office/drawing/2014/main" id="{957F6E40-9236-CF56-D2A7-B7DD78ACFEB5}"/>
              </a:ext>
            </a:extLst>
          </p:cNvPr>
          <p:cNvSpPr txBox="1"/>
          <p:nvPr/>
        </p:nvSpPr>
        <p:spPr>
          <a:xfrm>
            <a:off x="1205878" y="1545917"/>
            <a:ext cx="834731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2000" err="1"/>
              <a:t>From</a:t>
            </a:r>
            <a:r>
              <a:rPr lang="fr-FR" sz="2000"/>
              <a:t> </a:t>
            </a:r>
            <a:r>
              <a:rPr lang="fr-FR" sz="2000" err="1"/>
              <a:t>glory</a:t>
            </a:r>
            <a:r>
              <a:rPr lang="fr-FR" sz="2000"/>
              <a:t> to </a:t>
            </a:r>
            <a:r>
              <a:rPr lang="fr-FR" sz="2000" err="1"/>
              <a:t>uncertainity</a:t>
            </a:r>
            <a:r>
              <a:rPr lang="fr-FR" sz="2000"/>
              <a:t>: the Jaguar story </a:t>
            </a:r>
          </a:p>
        </p:txBody>
      </p:sp>
      <p:sp>
        <p:nvSpPr>
          <p:cNvPr id="4" name="object 2">
            <a:extLst>
              <a:ext uri="{FF2B5EF4-FFF2-40B4-BE49-F238E27FC236}">
                <a16:creationId xmlns:a16="http://schemas.microsoft.com/office/drawing/2014/main" id="{A13EAD6B-8625-3E05-5F76-507C24E4EE79}"/>
              </a:ext>
            </a:extLst>
          </p:cNvPr>
          <p:cNvSpPr/>
          <p:nvPr/>
        </p:nvSpPr>
        <p:spPr>
          <a:xfrm>
            <a:off x="6627" y="6364"/>
            <a:ext cx="20105626" cy="11294873"/>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dirty="0"/>
          </a:p>
        </p:txBody>
      </p:sp>
    </p:spTree>
    <p:extLst>
      <p:ext uri="{BB962C8B-B14F-4D97-AF65-F5344CB8AC3E}">
        <p14:creationId xmlns:p14="http://schemas.microsoft.com/office/powerpoint/2010/main" val="57964159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C1E0-D7D2-EFFA-3510-1782281CC1D0}"/>
            </a:ext>
          </a:extLst>
        </p:cNvPr>
        <p:cNvGrpSpPr/>
        <p:nvPr/>
      </p:nvGrpSpPr>
      <p:grpSpPr>
        <a:xfrm>
          <a:off x="0" y="0"/>
          <a:ext cx="0" cy="0"/>
          <a:chOff x="0" y="0"/>
          <a:chExt cx="0" cy="0"/>
        </a:xfrm>
      </p:grpSpPr>
      <p:sp>
        <p:nvSpPr>
          <p:cNvPr id="210" name="object 2">
            <a:extLst>
              <a:ext uri="{FF2B5EF4-FFF2-40B4-BE49-F238E27FC236}">
                <a16:creationId xmlns:a16="http://schemas.microsoft.com/office/drawing/2014/main" id="{99A5CD14-4481-F247-D4BA-27DD1C8310B4}"/>
              </a:ext>
            </a:extLst>
          </p:cNvPr>
          <p:cNvSpPr/>
          <p:nvPr/>
        </p:nvSpPr>
        <p:spPr>
          <a:xfrm>
            <a:off x="0" y="-27050"/>
            <a:ext cx="20117944" cy="11336400"/>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dirty="0"/>
          </a:p>
        </p:txBody>
      </p:sp>
      <p:pic>
        <p:nvPicPr>
          <p:cNvPr id="55" name="Picture 2">
            <a:extLst>
              <a:ext uri="{FF2B5EF4-FFF2-40B4-BE49-F238E27FC236}">
                <a16:creationId xmlns:a16="http://schemas.microsoft.com/office/drawing/2014/main" id="{DB1E94FC-7723-FAB3-7E02-B89A2D458149}"/>
              </a:ext>
            </a:extLst>
          </p:cNvPr>
          <p:cNvPicPr>
            <a:picLocks noChangeAspect="1"/>
          </p:cNvPicPr>
          <p:nvPr/>
        </p:nvPicPr>
        <p:blipFill>
          <a:blip r:embed="rId2"/>
          <a:stretch>
            <a:fillRect/>
          </a:stretch>
        </p:blipFill>
        <p:spPr>
          <a:xfrm>
            <a:off x="908050" y="1267706"/>
            <a:ext cx="4941000" cy="5739275"/>
          </a:xfrm>
          <a:prstGeom prst="rect">
            <a:avLst/>
          </a:prstGeom>
        </p:spPr>
      </p:pic>
      <p:pic>
        <p:nvPicPr>
          <p:cNvPr id="56" name="Picture 3">
            <a:extLst>
              <a:ext uri="{FF2B5EF4-FFF2-40B4-BE49-F238E27FC236}">
                <a16:creationId xmlns:a16="http://schemas.microsoft.com/office/drawing/2014/main" id="{B9C1CA92-0770-B773-C560-5ECBDB1EC78E}"/>
              </a:ext>
            </a:extLst>
          </p:cNvPr>
          <p:cNvPicPr>
            <a:picLocks noChangeAspect="1"/>
          </p:cNvPicPr>
          <p:nvPr/>
        </p:nvPicPr>
        <p:blipFill>
          <a:blip r:embed="rId3"/>
          <a:stretch>
            <a:fillRect/>
          </a:stretch>
        </p:blipFill>
        <p:spPr>
          <a:xfrm>
            <a:off x="7156450" y="1434358"/>
            <a:ext cx="6131644" cy="5405972"/>
          </a:xfrm>
          <a:prstGeom prst="rect">
            <a:avLst/>
          </a:prstGeom>
        </p:spPr>
      </p:pic>
      <p:pic>
        <p:nvPicPr>
          <p:cNvPr id="57" name="Picture 4">
            <a:extLst>
              <a:ext uri="{FF2B5EF4-FFF2-40B4-BE49-F238E27FC236}">
                <a16:creationId xmlns:a16="http://schemas.microsoft.com/office/drawing/2014/main" id="{4864882D-C637-CD17-1C2B-78611A2631D3}"/>
              </a:ext>
            </a:extLst>
          </p:cNvPr>
          <p:cNvPicPr>
            <a:picLocks noChangeAspect="1"/>
          </p:cNvPicPr>
          <p:nvPr/>
        </p:nvPicPr>
        <p:blipFill>
          <a:blip r:embed="rId4"/>
          <a:stretch>
            <a:fillRect/>
          </a:stretch>
        </p:blipFill>
        <p:spPr>
          <a:xfrm>
            <a:off x="13890575" y="1477660"/>
            <a:ext cx="6224348" cy="5325589"/>
          </a:xfrm>
          <a:prstGeom prst="rect">
            <a:avLst/>
          </a:prstGeom>
        </p:spPr>
      </p:pic>
      <p:grpSp>
        <p:nvGrpSpPr>
          <p:cNvPr id="58" name="Group 5">
            <a:extLst>
              <a:ext uri="{FF2B5EF4-FFF2-40B4-BE49-F238E27FC236}">
                <a16:creationId xmlns:a16="http://schemas.microsoft.com/office/drawing/2014/main" id="{D36EF38A-0926-8CED-5CF1-269C1C32EE7C}"/>
              </a:ext>
            </a:extLst>
          </p:cNvPr>
          <p:cNvGrpSpPr/>
          <p:nvPr/>
        </p:nvGrpSpPr>
        <p:grpSpPr>
          <a:xfrm>
            <a:off x="1532778" y="7682970"/>
            <a:ext cx="307667" cy="307667"/>
            <a:chOff x="0" y="0"/>
            <a:chExt cx="812800" cy="812800"/>
          </a:xfrm>
        </p:grpSpPr>
        <p:sp>
          <p:nvSpPr>
            <p:cNvPr id="59" name="Freeform 6">
              <a:extLst>
                <a:ext uri="{FF2B5EF4-FFF2-40B4-BE49-F238E27FC236}">
                  <a16:creationId xmlns:a16="http://schemas.microsoft.com/office/drawing/2014/main" id="{32299008-8396-B0FF-2A3A-2327E4F0E4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p:spPr>
          <p:txBody>
            <a:bodyPr/>
            <a:lstStyle/>
            <a:p>
              <a:endParaRPr lang="en-US"/>
            </a:p>
          </p:txBody>
        </p:sp>
        <p:sp>
          <p:nvSpPr>
            <p:cNvPr id="60" name="TextBox 7">
              <a:extLst>
                <a:ext uri="{FF2B5EF4-FFF2-40B4-BE49-F238E27FC236}">
                  <a16:creationId xmlns:a16="http://schemas.microsoft.com/office/drawing/2014/main" id="{1371E144-0218-8942-77CF-A7B3B1DE283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1" name="Group 8">
            <a:extLst>
              <a:ext uri="{FF2B5EF4-FFF2-40B4-BE49-F238E27FC236}">
                <a16:creationId xmlns:a16="http://schemas.microsoft.com/office/drawing/2014/main" id="{66740AB4-3F7F-9EC3-EC6B-1065EFF791A4}"/>
              </a:ext>
            </a:extLst>
          </p:cNvPr>
          <p:cNvGrpSpPr/>
          <p:nvPr/>
        </p:nvGrpSpPr>
        <p:grpSpPr>
          <a:xfrm>
            <a:off x="1542152" y="6661865"/>
            <a:ext cx="307667" cy="307667"/>
            <a:chOff x="0" y="0"/>
            <a:chExt cx="812800" cy="812800"/>
          </a:xfrm>
        </p:grpSpPr>
        <p:sp>
          <p:nvSpPr>
            <p:cNvPr id="62" name="Freeform 9">
              <a:extLst>
                <a:ext uri="{FF2B5EF4-FFF2-40B4-BE49-F238E27FC236}">
                  <a16:creationId xmlns:a16="http://schemas.microsoft.com/office/drawing/2014/main" id="{14A02609-8178-78C1-A476-285F75CA09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C0DF"/>
            </a:solidFill>
          </p:spPr>
          <p:txBody>
            <a:bodyPr/>
            <a:lstStyle/>
            <a:p>
              <a:endParaRPr lang="en-US"/>
            </a:p>
          </p:txBody>
        </p:sp>
        <p:sp>
          <p:nvSpPr>
            <p:cNvPr id="63" name="TextBox 10">
              <a:extLst>
                <a:ext uri="{FF2B5EF4-FFF2-40B4-BE49-F238E27FC236}">
                  <a16:creationId xmlns:a16="http://schemas.microsoft.com/office/drawing/2014/main" id="{FE3B782B-C8EE-49AF-801E-B078E6D9D28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4" name="Group 11">
            <a:extLst>
              <a:ext uri="{FF2B5EF4-FFF2-40B4-BE49-F238E27FC236}">
                <a16:creationId xmlns:a16="http://schemas.microsoft.com/office/drawing/2014/main" id="{98A0522A-1FAA-FE0F-3F5A-2CA085D64ACA}"/>
              </a:ext>
            </a:extLst>
          </p:cNvPr>
          <p:cNvGrpSpPr/>
          <p:nvPr/>
        </p:nvGrpSpPr>
        <p:grpSpPr>
          <a:xfrm>
            <a:off x="8621382" y="8164436"/>
            <a:ext cx="307667" cy="307667"/>
            <a:chOff x="0" y="0"/>
            <a:chExt cx="812800" cy="812800"/>
          </a:xfrm>
        </p:grpSpPr>
        <p:sp>
          <p:nvSpPr>
            <p:cNvPr id="65" name="Freeform 12">
              <a:extLst>
                <a:ext uri="{FF2B5EF4-FFF2-40B4-BE49-F238E27FC236}">
                  <a16:creationId xmlns:a16="http://schemas.microsoft.com/office/drawing/2014/main" id="{0E1616C3-E237-D7A6-01A2-4271A105F1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A3FF"/>
            </a:solidFill>
          </p:spPr>
          <p:txBody>
            <a:bodyPr/>
            <a:lstStyle/>
            <a:p>
              <a:endParaRPr lang="en-US"/>
            </a:p>
          </p:txBody>
        </p:sp>
        <p:sp>
          <p:nvSpPr>
            <p:cNvPr id="66" name="TextBox 13">
              <a:extLst>
                <a:ext uri="{FF2B5EF4-FFF2-40B4-BE49-F238E27FC236}">
                  <a16:creationId xmlns:a16="http://schemas.microsoft.com/office/drawing/2014/main" id="{EA947AAA-0067-7FA7-DAF1-3FA08F80CD3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7" name="Group 14">
            <a:extLst>
              <a:ext uri="{FF2B5EF4-FFF2-40B4-BE49-F238E27FC236}">
                <a16:creationId xmlns:a16="http://schemas.microsoft.com/office/drawing/2014/main" id="{70160F2D-DE1C-47D0-F319-4456B5827FB8}"/>
              </a:ext>
            </a:extLst>
          </p:cNvPr>
          <p:cNvGrpSpPr/>
          <p:nvPr/>
        </p:nvGrpSpPr>
        <p:grpSpPr>
          <a:xfrm>
            <a:off x="8622540" y="7202746"/>
            <a:ext cx="307667" cy="307667"/>
            <a:chOff x="0" y="0"/>
            <a:chExt cx="812800" cy="812800"/>
          </a:xfrm>
        </p:grpSpPr>
        <p:sp>
          <p:nvSpPr>
            <p:cNvPr id="68" name="Freeform 15">
              <a:extLst>
                <a:ext uri="{FF2B5EF4-FFF2-40B4-BE49-F238E27FC236}">
                  <a16:creationId xmlns:a16="http://schemas.microsoft.com/office/drawing/2014/main" id="{9EFE3649-BBDF-76F2-AEDA-455B12AC0E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txBody>
            <a:bodyPr/>
            <a:lstStyle/>
            <a:p>
              <a:endParaRPr lang="en-US"/>
            </a:p>
          </p:txBody>
        </p:sp>
        <p:sp>
          <p:nvSpPr>
            <p:cNvPr id="69" name="TextBox 16">
              <a:extLst>
                <a:ext uri="{FF2B5EF4-FFF2-40B4-BE49-F238E27FC236}">
                  <a16:creationId xmlns:a16="http://schemas.microsoft.com/office/drawing/2014/main" id="{A5CA7221-FAB0-63CF-4873-FCF3E9A52FA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0" name="Group 17">
            <a:extLst>
              <a:ext uri="{FF2B5EF4-FFF2-40B4-BE49-F238E27FC236}">
                <a16:creationId xmlns:a16="http://schemas.microsoft.com/office/drawing/2014/main" id="{BEF41573-49F8-E0F5-9ABC-15A218A74771}"/>
              </a:ext>
            </a:extLst>
          </p:cNvPr>
          <p:cNvGrpSpPr/>
          <p:nvPr/>
        </p:nvGrpSpPr>
        <p:grpSpPr>
          <a:xfrm>
            <a:off x="8622540" y="6673398"/>
            <a:ext cx="307667" cy="307667"/>
            <a:chOff x="0" y="0"/>
            <a:chExt cx="812800" cy="812800"/>
          </a:xfrm>
        </p:grpSpPr>
        <p:sp>
          <p:nvSpPr>
            <p:cNvPr id="71" name="Freeform 18">
              <a:extLst>
                <a:ext uri="{FF2B5EF4-FFF2-40B4-BE49-F238E27FC236}">
                  <a16:creationId xmlns:a16="http://schemas.microsoft.com/office/drawing/2014/main" id="{AF7DB198-2B67-D39F-0BE7-5CE488301B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57A"/>
            </a:solidFill>
          </p:spPr>
          <p:txBody>
            <a:bodyPr/>
            <a:lstStyle/>
            <a:p>
              <a:endParaRPr lang="en-US"/>
            </a:p>
          </p:txBody>
        </p:sp>
        <p:sp>
          <p:nvSpPr>
            <p:cNvPr id="72" name="TextBox 19">
              <a:extLst>
                <a:ext uri="{FF2B5EF4-FFF2-40B4-BE49-F238E27FC236}">
                  <a16:creationId xmlns:a16="http://schemas.microsoft.com/office/drawing/2014/main" id="{FB13D62B-5AB4-044B-F4AC-D4A5008DA1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3" name="Group 20">
            <a:extLst>
              <a:ext uri="{FF2B5EF4-FFF2-40B4-BE49-F238E27FC236}">
                <a16:creationId xmlns:a16="http://schemas.microsoft.com/office/drawing/2014/main" id="{06B9ECC4-F7F8-AC65-9A5A-6705FD5F696E}"/>
              </a:ext>
            </a:extLst>
          </p:cNvPr>
          <p:cNvGrpSpPr/>
          <p:nvPr/>
        </p:nvGrpSpPr>
        <p:grpSpPr>
          <a:xfrm>
            <a:off x="8622540" y="7691672"/>
            <a:ext cx="307667" cy="307667"/>
            <a:chOff x="0" y="0"/>
            <a:chExt cx="812800" cy="812800"/>
          </a:xfrm>
        </p:grpSpPr>
        <p:sp>
          <p:nvSpPr>
            <p:cNvPr id="74" name="Freeform 21">
              <a:extLst>
                <a:ext uri="{FF2B5EF4-FFF2-40B4-BE49-F238E27FC236}">
                  <a16:creationId xmlns:a16="http://schemas.microsoft.com/office/drawing/2014/main" id="{70B9358D-FCA9-880E-5D9A-A5AD0F3CC2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9C5FF"/>
            </a:solidFill>
          </p:spPr>
          <p:txBody>
            <a:bodyPr/>
            <a:lstStyle/>
            <a:p>
              <a:endParaRPr lang="en-US"/>
            </a:p>
          </p:txBody>
        </p:sp>
        <p:sp>
          <p:nvSpPr>
            <p:cNvPr id="75" name="TextBox 22">
              <a:extLst>
                <a:ext uri="{FF2B5EF4-FFF2-40B4-BE49-F238E27FC236}">
                  <a16:creationId xmlns:a16="http://schemas.microsoft.com/office/drawing/2014/main" id="{756A7F3C-391F-F9D3-6477-95E2649D2E6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6" name="Group 23">
            <a:extLst>
              <a:ext uri="{FF2B5EF4-FFF2-40B4-BE49-F238E27FC236}">
                <a16:creationId xmlns:a16="http://schemas.microsoft.com/office/drawing/2014/main" id="{D517EFF3-50D5-26CA-0D46-59BEA13C6E8F}"/>
              </a:ext>
            </a:extLst>
          </p:cNvPr>
          <p:cNvGrpSpPr/>
          <p:nvPr/>
        </p:nvGrpSpPr>
        <p:grpSpPr>
          <a:xfrm>
            <a:off x="15121478" y="7176533"/>
            <a:ext cx="307667" cy="307667"/>
            <a:chOff x="0" y="0"/>
            <a:chExt cx="812800" cy="812800"/>
          </a:xfrm>
        </p:grpSpPr>
        <p:sp>
          <p:nvSpPr>
            <p:cNvPr id="77" name="Freeform 24">
              <a:extLst>
                <a:ext uri="{FF2B5EF4-FFF2-40B4-BE49-F238E27FC236}">
                  <a16:creationId xmlns:a16="http://schemas.microsoft.com/office/drawing/2014/main" id="{EEC672D5-B248-F9D0-6D8E-657DD95EBA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3C2"/>
            </a:solidFill>
          </p:spPr>
          <p:txBody>
            <a:bodyPr/>
            <a:lstStyle/>
            <a:p>
              <a:endParaRPr lang="en-US"/>
            </a:p>
          </p:txBody>
        </p:sp>
        <p:sp>
          <p:nvSpPr>
            <p:cNvPr id="78" name="TextBox 25">
              <a:extLst>
                <a:ext uri="{FF2B5EF4-FFF2-40B4-BE49-F238E27FC236}">
                  <a16:creationId xmlns:a16="http://schemas.microsoft.com/office/drawing/2014/main" id="{B633E444-4F23-FA40-2764-E930FFFBFE0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9" name="Group 26">
            <a:extLst>
              <a:ext uri="{FF2B5EF4-FFF2-40B4-BE49-F238E27FC236}">
                <a16:creationId xmlns:a16="http://schemas.microsoft.com/office/drawing/2014/main" id="{E38E6B32-10AD-0A73-A194-F43DD398B472}"/>
              </a:ext>
            </a:extLst>
          </p:cNvPr>
          <p:cNvGrpSpPr/>
          <p:nvPr/>
        </p:nvGrpSpPr>
        <p:grpSpPr>
          <a:xfrm>
            <a:off x="15133605" y="6711095"/>
            <a:ext cx="307667" cy="307667"/>
            <a:chOff x="0" y="0"/>
            <a:chExt cx="812800" cy="812800"/>
          </a:xfrm>
        </p:grpSpPr>
        <p:sp>
          <p:nvSpPr>
            <p:cNvPr id="80" name="Freeform 27">
              <a:extLst>
                <a:ext uri="{FF2B5EF4-FFF2-40B4-BE49-F238E27FC236}">
                  <a16:creationId xmlns:a16="http://schemas.microsoft.com/office/drawing/2014/main" id="{52C4F9FA-5B7F-A7F3-8B10-73EC323C7C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txBody>
            <a:bodyPr/>
            <a:lstStyle/>
            <a:p>
              <a:endParaRPr lang="en-US"/>
            </a:p>
          </p:txBody>
        </p:sp>
        <p:sp>
          <p:nvSpPr>
            <p:cNvPr id="81" name="TextBox 28">
              <a:extLst>
                <a:ext uri="{FF2B5EF4-FFF2-40B4-BE49-F238E27FC236}">
                  <a16:creationId xmlns:a16="http://schemas.microsoft.com/office/drawing/2014/main" id="{B2CA44A8-0E65-C987-2A78-2C9C529CFE5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2" name="Group 29">
            <a:extLst>
              <a:ext uri="{FF2B5EF4-FFF2-40B4-BE49-F238E27FC236}">
                <a16:creationId xmlns:a16="http://schemas.microsoft.com/office/drawing/2014/main" id="{1C5E4318-800E-03C1-B3DF-1C33F99C5D4D}"/>
              </a:ext>
            </a:extLst>
          </p:cNvPr>
          <p:cNvGrpSpPr/>
          <p:nvPr/>
        </p:nvGrpSpPr>
        <p:grpSpPr>
          <a:xfrm>
            <a:off x="15121476" y="8123265"/>
            <a:ext cx="307667" cy="307667"/>
            <a:chOff x="0" y="0"/>
            <a:chExt cx="812800" cy="812800"/>
          </a:xfrm>
        </p:grpSpPr>
        <p:sp>
          <p:nvSpPr>
            <p:cNvPr id="83" name="Freeform 30">
              <a:extLst>
                <a:ext uri="{FF2B5EF4-FFF2-40B4-BE49-F238E27FC236}">
                  <a16:creationId xmlns:a16="http://schemas.microsoft.com/office/drawing/2014/main" id="{18A956D0-3E85-A373-4F80-5D1E544E78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1F"/>
            </a:solidFill>
          </p:spPr>
          <p:txBody>
            <a:bodyPr/>
            <a:lstStyle/>
            <a:p>
              <a:endParaRPr lang="en-US"/>
            </a:p>
          </p:txBody>
        </p:sp>
        <p:sp>
          <p:nvSpPr>
            <p:cNvPr id="84" name="TextBox 31">
              <a:extLst>
                <a:ext uri="{FF2B5EF4-FFF2-40B4-BE49-F238E27FC236}">
                  <a16:creationId xmlns:a16="http://schemas.microsoft.com/office/drawing/2014/main" id="{37908341-B05E-1DEF-FE22-27E2C7B2D4B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5" name="Group 32">
            <a:extLst>
              <a:ext uri="{FF2B5EF4-FFF2-40B4-BE49-F238E27FC236}">
                <a16:creationId xmlns:a16="http://schemas.microsoft.com/office/drawing/2014/main" id="{239EDD8C-4348-0EB7-3B28-CBBC033A0B8F}"/>
              </a:ext>
            </a:extLst>
          </p:cNvPr>
          <p:cNvGrpSpPr/>
          <p:nvPr/>
        </p:nvGrpSpPr>
        <p:grpSpPr>
          <a:xfrm>
            <a:off x="15121477" y="7679021"/>
            <a:ext cx="307667" cy="307667"/>
            <a:chOff x="0" y="0"/>
            <a:chExt cx="812800" cy="812800"/>
          </a:xfrm>
        </p:grpSpPr>
        <p:sp>
          <p:nvSpPr>
            <p:cNvPr id="86" name="Freeform 33">
              <a:extLst>
                <a:ext uri="{FF2B5EF4-FFF2-40B4-BE49-F238E27FC236}">
                  <a16:creationId xmlns:a16="http://schemas.microsoft.com/office/drawing/2014/main" id="{1B7B4FAE-920B-D6B3-34D9-11D2F4A298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A300"/>
            </a:solidFill>
          </p:spPr>
          <p:txBody>
            <a:bodyPr/>
            <a:lstStyle/>
            <a:p>
              <a:endParaRPr lang="en-US"/>
            </a:p>
          </p:txBody>
        </p:sp>
        <p:sp>
          <p:nvSpPr>
            <p:cNvPr id="87" name="TextBox 34">
              <a:extLst>
                <a:ext uri="{FF2B5EF4-FFF2-40B4-BE49-F238E27FC236}">
                  <a16:creationId xmlns:a16="http://schemas.microsoft.com/office/drawing/2014/main" id="{0326A2E7-60EF-AD1E-BDC8-153F7340F6B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8" name="object 6">
            <a:extLst>
              <a:ext uri="{FF2B5EF4-FFF2-40B4-BE49-F238E27FC236}">
                <a16:creationId xmlns:a16="http://schemas.microsoft.com/office/drawing/2014/main" id="{6C4300F0-7C06-C258-C517-19831390A699}"/>
              </a:ext>
            </a:extLst>
          </p:cNvPr>
          <p:cNvSpPr txBox="1">
            <a:spLocks noGrp="1"/>
          </p:cNvSpPr>
          <p:nvPr>
            <p:ph type="title"/>
          </p:nvPr>
        </p:nvSpPr>
        <p:spPr>
          <a:xfrm>
            <a:off x="4569152" y="9208769"/>
            <a:ext cx="12712600" cy="1243289"/>
          </a:xfrm>
          <a:prstGeom prst="rect">
            <a:avLst/>
          </a:prstGeom>
          <a:ln>
            <a:solidFill>
              <a:schemeClr val="tx1"/>
            </a:solidFill>
            <a:prstDash val="lgDash"/>
          </a:ln>
        </p:spPr>
        <p:txBody>
          <a:bodyPr vert="horz" wrap="square" lIns="0" tIns="12065" rIns="0" bIns="0" rtlCol="0">
            <a:spAutoFit/>
          </a:bodyPr>
          <a:lstStyle/>
          <a:p>
            <a:pPr algn="l"/>
            <a:r>
              <a:rPr lang="en-US" sz="2000" b="1">
                <a:solidFill>
                  <a:schemeClr val="tx1"/>
                </a:solidFill>
              </a:rPr>
              <a:t>Survey Methodology: </a:t>
            </a:r>
            <a:br>
              <a:rPr lang="en-US" sz="2000" b="1">
                <a:solidFill>
                  <a:schemeClr val="tx1"/>
                </a:solidFill>
              </a:rPr>
            </a:br>
            <a:r>
              <a:rPr lang="en-US" sz="2000" u="sng">
                <a:solidFill>
                  <a:schemeClr val="tx1"/>
                </a:solidFill>
              </a:rPr>
              <a:t>Sample size: </a:t>
            </a:r>
            <a:r>
              <a:rPr lang="en-US" sz="2000">
                <a:solidFill>
                  <a:schemeClr val="tx1"/>
                </a:solidFill>
              </a:rPr>
              <a:t>123 respondents</a:t>
            </a:r>
            <a:br>
              <a:rPr lang="en-US" sz="2000">
                <a:solidFill>
                  <a:schemeClr val="tx1"/>
                </a:solidFill>
              </a:rPr>
            </a:br>
            <a:r>
              <a:rPr lang="en-US" sz="2000" u="sng">
                <a:solidFill>
                  <a:schemeClr val="tx1"/>
                </a:solidFill>
              </a:rPr>
              <a:t>Age</a:t>
            </a:r>
            <a:r>
              <a:rPr lang="en-US" sz="2000">
                <a:solidFill>
                  <a:schemeClr val="tx1"/>
                </a:solidFill>
              </a:rPr>
              <a:t>: 20–50 years</a:t>
            </a:r>
            <a:br>
              <a:rPr lang="en-US" sz="2000">
                <a:solidFill>
                  <a:schemeClr val="tx1"/>
                </a:solidFill>
              </a:rPr>
            </a:br>
            <a:endParaRPr lang="en-US" sz="2000">
              <a:solidFill>
                <a:schemeClr val="tx1"/>
              </a:solidFill>
            </a:endParaRPr>
          </a:p>
        </p:txBody>
      </p:sp>
      <p:grpSp>
        <p:nvGrpSpPr>
          <p:cNvPr id="100" name="object 77">
            <a:extLst>
              <a:ext uri="{FF2B5EF4-FFF2-40B4-BE49-F238E27FC236}">
                <a16:creationId xmlns:a16="http://schemas.microsoft.com/office/drawing/2014/main" id="{B04493A4-0432-27A1-2578-27C067396D3B}"/>
              </a:ext>
            </a:extLst>
          </p:cNvPr>
          <p:cNvGrpSpPr/>
          <p:nvPr/>
        </p:nvGrpSpPr>
        <p:grpSpPr>
          <a:xfrm>
            <a:off x="8363348" y="6615113"/>
            <a:ext cx="4493824" cy="391868"/>
            <a:chOff x="1161011" y="2088145"/>
            <a:chExt cx="4433570" cy="753110"/>
          </a:xfrm>
        </p:grpSpPr>
        <p:pic>
          <p:nvPicPr>
            <p:cNvPr id="101" name="object 78">
              <a:extLst>
                <a:ext uri="{FF2B5EF4-FFF2-40B4-BE49-F238E27FC236}">
                  <a16:creationId xmlns:a16="http://schemas.microsoft.com/office/drawing/2014/main" id="{4DAB1F51-A32C-85BE-E8E4-CA1BE575F18A}"/>
                </a:ext>
              </a:extLst>
            </p:cNvPr>
            <p:cNvPicPr/>
            <p:nvPr/>
          </p:nvPicPr>
          <p:blipFill>
            <a:blip r:embed="rId5" cstate="print"/>
            <a:stretch>
              <a:fillRect/>
            </a:stretch>
          </p:blipFill>
          <p:spPr>
            <a:xfrm>
              <a:off x="1166037" y="2093339"/>
              <a:ext cx="4422902" cy="743851"/>
            </a:xfrm>
            <a:prstGeom prst="rect">
              <a:avLst/>
            </a:prstGeom>
          </p:spPr>
        </p:pic>
        <p:sp>
          <p:nvSpPr>
            <p:cNvPr id="102" name="object 79">
              <a:extLst>
                <a:ext uri="{FF2B5EF4-FFF2-40B4-BE49-F238E27FC236}">
                  <a16:creationId xmlns:a16="http://schemas.microsoft.com/office/drawing/2014/main" id="{9523BB6B-DC8A-CD5D-14CB-713806BD519F}"/>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21" name="object 6">
            <a:extLst>
              <a:ext uri="{FF2B5EF4-FFF2-40B4-BE49-F238E27FC236}">
                <a16:creationId xmlns:a16="http://schemas.microsoft.com/office/drawing/2014/main" id="{1AD15CF9-0E73-C0CF-991B-C93273509604}"/>
              </a:ext>
            </a:extLst>
          </p:cNvPr>
          <p:cNvSpPr txBox="1">
            <a:spLocks/>
          </p:cNvSpPr>
          <p:nvPr/>
        </p:nvSpPr>
        <p:spPr>
          <a:xfrm>
            <a:off x="8650226" y="8905319"/>
            <a:ext cx="14422769" cy="1243289"/>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br>
              <a:rPr lang="en-US" sz="2000">
                <a:solidFill>
                  <a:schemeClr val="tx1"/>
                </a:solidFill>
              </a:rPr>
            </a:br>
            <a:r>
              <a:rPr lang="en-US" sz="2000" u="sng">
                <a:solidFill>
                  <a:schemeClr val="tx1"/>
                </a:solidFill>
              </a:rPr>
              <a:t>Geography</a:t>
            </a:r>
            <a:r>
              <a:rPr lang="en-US" sz="2000">
                <a:solidFill>
                  <a:schemeClr val="tx1"/>
                </a:solidFill>
              </a:rPr>
              <a:t>: international (mainly Europe &amp; India)</a:t>
            </a:r>
            <a:br>
              <a:rPr lang="en-US" sz="2000">
                <a:solidFill>
                  <a:schemeClr val="tx1"/>
                </a:solidFill>
              </a:rPr>
            </a:br>
            <a:r>
              <a:rPr lang="en-US" sz="2000" u="sng">
                <a:solidFill>
                  <a:schemeClr val="tx1"/>
                </a:solidFill>
              </a:rPr>
              <a:t>Method</a:t>
            </a:r>
            <a:r>
              <a:rPr lang="en-US" sz="2000">
                <a:solidFill>
                  <a:schemeClr val="tx1"/>
                </a:solidFill>
              </a:rPr>
              <a:t>: online questionnaire, distributed via social media</a:t>
            </a:r>
            <a:br>
              <a:rPr lang="en-US" sz="2000">
                <a:solidFill>
                  <a:schemeClr val="tx1"/>
                </a:solidFill>
              </a:rPr>
            </a:br>
            <a:r>
              <a:rPr lang="en-US" sz="2000" u="sng">
                <a:solidFill>
                  <a:schemeClr val="tx1"/>
                </a:solidFill>
              </a:rPr>
              <a:t>Question type</a:t>
            </a:r>
            <a:r>
              <a:rPr lang="en-US" sz="2000">
                <a:solidFill>
                  <a:schemeClr val="tx1"/>
                </a:solidFill>
              </a:rPr>
              <a:t>: closed multiple-choice questions</a:t>
            </a:r>
          </a:p>
        </p:txBody>
      </p:sp>
      <p:grpSp>
        <p:nvGrpSpPr>
          <p:cNvPr id="129" name="object 77">
            <a:extLst>
              <a:ext uri="{FF2B5EF4-FFF2-40B4-BE49-F238E27FC236}">
                <a16:creationId xmlns:a16="http://schemas.microsoft.com/office/drawing/2014/main" id="{BA045754-C3A7-5692-3C73-8D4AE9D5B645}"/>
              </a:ext>
            </a:extLst>
          </p:cNvPr>
          <p:cNvGrpSpPr/>
          <p:nvPr/>
        </p:nvGrpSpPr>
        <p:grpSpPr>
          <a:xfrm>
            <a:off x="8368442" y="7155836"/>
            <a:ext cx="4493824" cy="391868"/>
            <a:chOff x="1161011" y="2088145"/>
            <a:chExt cx="4433570" cy="753110"/>
          </a:xfrm>
        </p:grpSpPr>
        <p:pic>
          <p:nvPicPr>
            <p:cNvPr id="130" name="object 78">
              <a:extLst>
                <a:ext uri="{FF2B5EF4-FFF2-40B4-BE49-F238E27FC236}">
                  <a16:creationId xmlns:a16="http://schemas.microsoft.com/office/drawing/2014/main" id="{B92D5CA5-5EA8-7967-C382-2B201B80C93A}"/>
                </a:ext>
              </a:extLst>
            </p:cNvPr>
            <p:cNvPicPr/>
            <p:nvPr/>
          </p:nvPicPr>
          <p:blipFill>
            <a:blip r:embed="rId5" cstate="print"/>
            <a:stretch>
              <a:fillRect/>
            </a:stretch>
          </p:blipFill>
          <p:spPr>
            <a:xfrm>
              <a:off x="1166037" y="2093339"/>
              <a:ext cx="4422902" cy="743851"/>
            </a:xfrm>
            <a:prstGeom prst="rect">
              <a:avLst/>
            </a:prstGeom>
          </p:spPr>
        </p:pic>
        <p:sp>
          <p:nvSpPr>
            <p:cNvPr id="131" name="object 79">
              <a:extLst>
                <a:ext uri="{FF2B5EF4-FFF2-40B4-BE49-F238E27FC236}">
                  <a16:creationId xmlns:a16="http://schemas.microsoft.com/office/drawing/2014/main" id="{650E4473-83D6-9CDE-7C4A-E7C3A0177A6D}"/>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grpSp>
        <p:nvGrpSpPr>
          <p:cNvPr id="133" name="object 77">
            <a:extLst>
              <a:ext uri="{FF2B5EF4-FFF2-40B4-BE49-F238E27FC236}">
                <a16:creationId xmlns:a16="http://schemas.microsoft.com/office/drawing/2014/main" id="{EEF316A7-A002-CBB3-B0C3-1D281FC91013}"/>
              </a:ext>
            </a:extLst>
          </p:cNvPr>
          <p:cNvGrpSpPr/>
          <p:nvPr/>
        </p:nvGrpSpPr>
        <p:grpSpPr>
          <a:xfrm>
            <a:off x="8368442" y="7650880"/>
            <a:ext cx="4493824" cy="391868"/>
            <a:chOff x="1161011" y="2088145"/>
            <a:chExt cx="4433570" cy="753110"/>
          </a:xfrm>
        </p:grpSpPr>
        <p:pic>
          <p:nvPicPr>
            <p:cNvPr id="134" name="object 78">
              <a:extLst>
                <a:ext uri="{FF2B5EF4-FFF2-40B4-BE49-F238E27FC236}">
                  <a16:creationId xmlns:a16="http://schemas.microsoft.com/office/drawing/2014/main" id="{074F0D46-D708-E66C-C87B-C82A2170FEE6}"/>
                </a:ext>
              </a:extLst>
            </p:cNvPr>
            <p:cNvPicPr/>
            <p:nvPr/>
          </p:nvPicPr>
          <p:blipFill>
            <a:blip r:embed="rId5" cstate="print"/>
            <a:stretch>
              <a:fillRect/>
            </a:stretch>
          </p:blipFill>
          <p:spPr>
            <a:xfrm>
              <a:off x="1166037" y="2093339"/>
              <a:ext cx="4422902" cy="743851"/>
            </a:xfrm>
            <a:prstGeom prst="rect">
              <a:avLst/>
            </a:prstGeom>
          </p:spPr>
        </p:pic>
        <p:sp>
          <p:nvSpPr>
            <p:cNvPr id="135" name="object 79">
              <a:extLst>
                <a:ext uri="{FF2B5EF4-FFF2-40B4-BE49-F238E27FC236}">
                  <a16:creationId xmlns:a16="http://schemas.microsoft.com/office/drawing/2014/main" id="{B1B322E3-43EB-3F83-183B-C60F45F576E2}"/>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grpSp>
        <p:nvGrpSpPr>
          <p:cNvPr id="137" name="object 77">
            <a:extLst>
              <a:ext uri="{FF2B5EF4-FFF2-40B4-BE49-F238E27FC236}">
                <a16:creationId xmlns:a16="http://schemas.microsoft.com/office/drawing/2014/main" id="{7518B948-F8D1-ACFB-9E82-1720B6730DDE}"/>
              </a:ext>
            </a:extLst>
          </p:cNvPr>
          <p:cNvGrpSpPr/>
          <p:nvPr/>
        </p:nvGrpSpPr>
        <p:grpSpPr>
          <a:xfrm>
            <a:off x="8368442" y="8138175"/>
            <a:ext cx="4493824" cy="391868"/>
            <a:chOff x="1161011" y="2088145"/>
            <a:chExt cx="4433570" cy="753110"/>
          </a:xfrm>
        </p:grpSpPr>
        <p:pic>
          <p:nvPicPr>
            <p:cNvPr id="138" name="object 78">
              <a:extLst>
                <a:ext uri="{FF2B5EF4-FFF2-40B4-BE49-F238E27FC236}">
                  <a16:creationId xmlns:a16="http://schemas.microsoft.com/office/drawing/2014/main" id="{178C8F79-61B4-923D-314A-201BB862CB45}"/>
                </a:ext>
              </a:extLst>
            </p:cNvPr>
            <p:cNvPicPr/>
            <p:nvPr/>
          </p:nvPicPr>
          <p:blipFill>
            <a:blip r:embed="rId5" cstate="print"/>
            <a:stretch>
              <a:fillRect/>
            </a:stretch>
          </p:blipFill>
          <p:spPr>
            <a:xfrm>
              <a:off x="1166037" y="2093339"/>
              <a:ext cx="4422902" cy="743851"/>
            </a:xfrm>
            <a:prstGeom prst="rect">
              <a:avLst/>
            </a:prstGeom>
          </p:spPr>
        </p:pic>
        <p:sp>
          <p:nvSpPr>
            <p:cNvPr id="139" name="object 79">
              <a:extLst>
                <a:ext uri="{FF2B5EF4-FFF2-40B4-BE49-F238E27FC236}">
                  <a16:creationId xmlns:a16="http://schemas.microsoft.com/office/drawing/2014/main" id="{AD9BAC15-725E-6615-84B1-2FBACFAA8B57}"/>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grpSp>
        <p:nvGrpSpPr>
          <p:cNvPr id="141" name="object 77">
            <a:extLst>
              <a:ext uri="{FF2B5EF4-FFF2-40B4-BE49-F238E27FC236}">
                <a16:creationId xmlns:a16="http://schemas.microsoft.com/office/drawing/2014/main" id="{BBF01CEE-A3A4-2B06-D450-8CB66D523851}"/>
              </a:ext>
            </a:extLst>
          </p:cNvPr>
          <p:cNvGrpSpPr/>
          <p:nvPr/>
        </p:nvGrpSpPr>
        <p:grpSpPr>
          <a:xfrm>
            <a:off x="1343161" y="6614532"/>
            <a:ext cx="4493824" cy="391868"/>
            <a:chOff x="1161011" y="2088145"/>
            <a:chExt cx="4433570" cy="753110"/>
          </a:xfrm>
        </p:grpSpPr>
        <p:pic>
          <p:nvPicPr>
            <p:cNvPr id="142" name="object 78">
              <a:extLst>
                <a:ext uri="{FF2B5EF4-FFF2-40B4-BE49-F238E27FC236}">
                  <a16:creationId xmlns:a16="http://schemas.microsoft.com/office/drawing/2014/main" id="{40A6BE65-53CE-24FE-31F3-30876CC3F328}"/>
                </a:ext>
              </a:extLst>
            </p:cNvPr>
            <p:cNvPicPr/>
            <p:nvPr/>
          </p:nvPicPr>
          <p:blipFill>
            <a:blip r:embed="rId5" cstate="print"/>
            <a:stretch>
              <a:fillRect/>
            </a:stretch>
          </p:blipFill>
          <p:spPr>
            <a:xfrm>
              <a:off x="1166037" y="2093339"/>
              <a:ext cx="4422902" cy="743851"/>
            </a:xfrm>
            <a:prstGeom prst="rect">
              <a:avLst/>
            </a:prstGeom>
          </p:spPr>
        </p:pic>
        <p:sp>
          <p:nvSpPr>
            <p:cNvPr id="143" name="object 79">
              <a:extLst>
                <a:ext uri="{FF2B5EF4-FFF2-40B4-BE49-F238E27FC236}">
                  <a16:creationId xmlns:a16="http://schemas.microsoft.com/office/drawing/2014/main" id="{8BD67735-D781-052C-9E20-D7F59FEC793B}"/>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grpSp>
        <p:nvGrpSpPr>
          <p:cNvPr id="145" name="object 77">
            <a:extLst>
              <a:ext uri="{FF2B5EF4-FFF2-40B4-BE49-F238E27FC236}">
                <a16:creationId xmlns:a16="http://schemas.microsoft.com/office/drawing/2014/main" id="{6F94126A-953B-3251-470F-42BA6DEE64FB}"/>
              </a:ext>
            </a:extLst>
          </p:cNvPr>
          <p:cNvGrpSpPr/>
          <p:nvPr/>
        </p:nvGrpSpPr>
        <p:grpSpPr>
          <a:xfrm>
            <a:off x="1349591" y="7121438"/>
            <a:ext cx="4493824" cy="391868"/>
            <a:chOff x="1161011" y="2088145"/>
            <a:chExt cx="4433570" cy="753110"/>
          </a:xfrm>
        </p:grpSpPr>
        <p:pic>
          <p:nvPicPr>
            <p:cNvPr id="146" name="object 78">
              <a:extLst>
                <a:ext uri="{FF2B5EF4-FFF2-40B4-BE49-F238E27FC236}">
                  <a16:creationId xmlns:a16="http://schemas.microsoft.com/office/drawing/2014/main" id="{5D39CCF4-7DFB-9116-7D39-A8A1277C6863}"/>
                </a:ext>
              </a:extLst>
            </p:cNvPr>
            <p:cNvPicPr/>
            <p:nvPr/>
          </p:nvPicPr>
          <p:blipFill>
            <a:blip r:embed="rId5" cstate="print"/>
            <a:stretch>
              <a:fillRect/>
            </a:stretch>
          </p:blipFill>
          <p:spPr>
            <a:xfrm>
              <a:off x="1166037" y="2093339"/>
              <a:ext cx="4422902" cy="743851"/>
            </a:xfrm>
            <a:prstGeom prst="rect">
              <a:avLst/>
            </a:prstGeom>
          </p:spPr>
        </p:pic>
        <p:sp>
          <p:nvSpPr>
            <p:cNvPr id="147" name="object 79">
              <a:extLst>
                <a:ext uri="{FF2B5EF4-FFF2-40B4-BE49-F238E27FC236}">
                  <a16:creationId xmlns:a16="http://schemas.microsoft.com/office/drawing/2014/main" id="{3B0914CC-6BDA-E24F-9B6C-915D8538972C}"/>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44" name="object 83">
            <a:extLst>
              <a:ext uri="{FF2B5EF4-FFF2-40B4-BE49-F238E27FC236}">
                <a16:creationId xmlns:a16="http://schemas.microsoft.com/office/drawing/2014/main" id="{10A20DDA-C7E3-6948-416D-9B79BCFE4FC6}"/>
              </a:ext>
            </a:extLst>
          </p:cNvPr>
          <p:cNvSpPr txBox="1"/>
          <p:nvPr/>
        </p:nvSpPr>
        <p:spPr>
          <a:xfrm>
            <a:off x="1912817" y="6711128"/>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4% </a:t>
            </a:r>
            <a:r>
              <a:rPr lang="en-US" sz="1600" spc="-10">
                <a:solidFill>
                  <a:srgbClr val="262626"/>
                </a:solidFill>
                <a:latin typeface="Microsoft Sans Serif"/>
                <a:cs typeface="Microsoft Sans Serif"/>
              </a:rPr>
              <a:t>A luxury brand(Bently, Rolls Royace)</a:t>
            </a:r>
            <a:endParaRPr sz="1600">
              <a:latin typeface="Microsoft Sans Serif"/>
              <a:cs typeface="Microsoft Sans Serif"/>
            </a:endParaRPr>
          </a:p>
        </p:txBody>
      </p:sp>
      <p:sp>
        <p:nvSpPr>
          <p:cNvPr id="157" name="object 83">
            <a:extLst>
              <a:ext uri="{FF2B5EF4-FFF2-40B4-BE49-F238E27FC236}">
                <a16:creationId xmlns:a16="http://schemas.microsoft.com/office/drawing/2014/main" id="{EA34F973-EC7D-3FC2-4969-DD3A0E6EF231}"/>
              </a:ext>
            </a:extLst>
          </p:cNvPr>
          <p:cNvSpPr txBox="1"/>
          <p:nvPr/>
        </p:nvSpPr>
        <p:spPr>
          <a:xfrm>
            <a:off x="1973729" y="7184537"/>
            <a:ext cx="3658721"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0% </a:t>
            </a:r>
            <a:r>
              <a:rPr lang="en-US" sz="1600" spc="-10">
                <a:solidFill>
                  <a:srgbClr val="262626"/>
                </a:solidFill>
                <a:latin typeface="Microsoft Sans Serif"/>
                <a:cs typeface="Microsoft Sans Serif"/>
              </a:rPr>
              <a:t>A performance brand (Porche, BMW)</a:t>
            </a:r>
            <a:endParaRPr sz="1600">
              <a:latin typeface="Microsoft Sans Serif"/>
              <a:cs typeface="Microsoft Sans Serif"/>
            </a:endParaRPr>
          </a:p>
        </p:txBody>
      </p:sp>
      <p:grpSp>
        <p:nvGrpSpPr>
          <p:cNvPr id="158" name="object 77">
            <a:extLst>
              <a:ext uri="{FF2B5EF4-FFF2-40B4-BE49-F238E27FC236}">
                <a16:creationId xmlns:a16="http://schemas.microsoft.com/office/drawing/2014/main" id="{48168D9A-D5CC-EFF7-821E-3DC06E05F3CF}"/>
              </a:ext>
            </a:extLst>
          </p:cNvPr>
          <p:cNvGrpSpPr/>
          <p:nvPr/>
        </p:nvGrpSpPr>
        <p:grpSpPr>
          <a:xfrm>
            <a:off x="1348880" y="7624166"/>
            <a:ext cx="4493824" cy="391868"/>
            <a:chOff x="1161011" y="2088145"/>
            <a:chExt cx="4433570" cy="753110"/>
          </a:xfrm>
        </p:grpSpPr>
        <p:pic>
          <p:nvPicPr>
            <p:cNvPr id="159" name="object 78">
              <a:extLst>
                <a:ext uri="{FF2B5EF4-FFF2-40B4-BE49-F238E27FC236}">
                  <a16:creationId xmlns:a16="http://schemas.microsoft.com/office/drawing/2014/main" id="{366D7C3D-8320-7C56-807D-B0966BCD02D9}"/>
                </a:ext>
              </a:extLst>
            </p:cNvPr>
            <p:cNvPicPr/>
            <p:nvPr/>
          </p:nvPicPr>
          <p:blipFill>
            <a:blip r:embed="rId5" cstate="print"/>
            <a:stretch>
              <a:fillRect/>
            </a:stretch>
          </p:blipFill>
          <p:spPr>
            <a:xfrm>
              <a:off x="1166037" y="2093339"/>
              <a:ext cx="4422902" cy="743851"/>
            </a:xfrm>
            <a:prstGeom prst="rect">
              <a:avLst/>
            </a:prstGeom>
          </p:spPr>
        </p:pic>
        <p:sp>
          <p:nvSpPr>
            <p:cNvPr id="160" name="object 79">
              <a:extLst>
                <a:ext uri="{FF2B5EF4-FFF2-40B4-BE49-F238E27FC236}">
                  <a16:creationId xmlns:a16="http://schemas.microsoft.com/office/drawing/2014/main" id="{1FDD576A-DA03-B5C1-5837-8FB2930EF816}"/>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61" name="object 83">
            <a:extLst>
              <a:ext uri="{FF2B5EF4-FFF2-40B4-BE49-F238E27FC236}">
                <a16:creationId xmlns:a16="http://schemas.microsoft.com/office/drawing/2014/main" id="{06E6F3D4-73D7-AF10-7672-A5F310FC2C17}"/>
              </a:ext>
            </a:extLst>
          </p:cNvPr>
          <p:cNvSpPr txBox="1"/>
          <p:nvPr/>
        </p:nvSpPr>
        <p:spPr>
          <a:xfrm>
            <a:off x="2019036" y="7671456"/>
            <a:ext cx="3720259"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96% </a:t>
            </a:r>
            <a:r>
              <a:rPr lang="en-US" sz="1600" spc="-10">
                <a:solidFill>
                  <a:srgbClr val="262626"/>
                </a:solidFill>
                <a:latin typeface="Microsoft Sans Serif"/>
                <a:cs typeface="Microsoft Sans Serif"/>
              </a:rPr>
              <a:t>A brand somewhere in between both</a:t>
            </a:r>
            <a:endParaRPr sz="1600">
              <a:latin typeface="Microsoft Sans Serif"/>
              <a:cs typeface="Microsoft Sans Serif"/>
            </a:endParaRPr>
          </a:p>
        </p:txBody>
      </p:sp>
      <p:grpSp>
        <p:nvGrpSpPr>
          <p:cNvPr id="162" name="object 77">
            <a:extLst>
              <a:ext uri="{FF2B5EF4-FFF2-40B4-BE49-F238E27FC236}">
                <a16:creationId xmlns:a16="http://schemas.microsoft.com/office/drawing/2014/main" id="{1E52DC94-FB4E-2C1C-95E4-DAA2CE992076}"/>
              </a:ext>
            </a:extLst>
          </p:cNvPr>
          <p:cNvGrpSpPr/>
          <p:nvPr/>
        </p:nvGrpSpPr>
        <p:grpSpPr>
          <a:xfrm>
            <a:off x="1349591" y="8141778"/>
            <a:ext cx="4493824" cy="391868"/>
            <a:chOff x="1161011" y="2088145"/>
            <a:chExt cx="4433570" cy="753110"/>
          </a:xfrm>
        </p:grpSpPr>
        <p:pic>
          <p:nvPicPr>
            <p:cNvPr id="163" name="object 78">
              <a:extLst>
                <a:ext uri="{FF2B5EF4-FFF2-40B4-BE49-F238E27FC236}">
                  <a16:creationId xmlns:a16="http://schemas.microsoft.com/office/drawing/2014/main" id="{168535EC-C286-E5C8-9734-D4935389C88E}"/>
                </a:ext>
              </a:extLst>
            </p:cNvPr>
            <p:cNvPicPr/>
            <p:nvPr/>
          </p:nvPicPr>
          <p:blipFill>
            <a:blip r:embed="rId5" cstate="print"/>
            <a:stretch>
              <a:fillRect/>
            </a:stretch>
          </p:blipFill>
          <p:spPr>
            <a:xfrm>
              <a:off x="1166037" y="2093339"/>
              <a:ext cx="4422902" cy="743851"/>
            </a:xfrm>
            <a:prstGeom prst="rect">
              <a:avLst/>
            </a:prstGeom>
          </p:spPr>
        </p:pic>
        <p:sp>
          <p:nvSpPr>
            <p:cNvPr id="164" name="object 79">
              <a:extLst>
                <a:ext uri="{FF2B5EF4-FFF2-40B4-BE49-F238E27FC236}">
                  <a16:creationId xmlns:a16="http://schemas.microsoft.com/office/drawing/2014/main" id="{3823F975-AEFD-B327-AABA-8B8AE3F111D7}"/>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65" name="object 83">
            <a:extLst>
              <a:ext uri="{FF2B5EF4-FFF2-40B4-BE49-F238E27FC236}">
                <a16:creationId xmlns:a16="http://schemas.microsoft.com/office/drawing/2014/main" id="{573BAF4D-9217-8A64-7B5D-1A49F4A58D81}"/>
              </a:ext>
            </a:extLst>
          </p:cNvPr>
          <p:cNvSpPr txBox="1"/>
          <p:nvPr/>
        </p:nvSpPr>
        <p:spPr>
          <a:xfrm>
            <a:off x="1419628" y="8204461"/>
            <a:ext cx="3612787"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0% </a:t>
            </a:r>
            <a:r>
              <a:rPr lang="en-US" sz="1600" spc="-10">
                <a:solidFill>
                  <a:srgbClr val="262626"/>
                </a:solidFill>
                <a:latin typeface="Microsoft Sans Serif"/>
                <a:cs typeface="Microsoft Sans Serif"/>
              </a:rPr>
              <a:t>A mass-market brand</a:t>
            </a:r>
            <a:endParaRPr sz="1600">
              <a:latin typeface="Microsoft Sans Serif"/>
              <a:cs typeface="Microsoft Sans Serif"/>
            </a:endParaRPr>
          </a:p>
        </p:txBody>
      </p:sp>
      <p:sp>
        <p:nvSpPr>
          <p:cNvPr id="170" name="Freeform 6">
            <a:extLst>
              <a:ext uri="{FF2B5EF4-FFF2-40B4-BE49-F238E27FC236}">
                <a16:creationId xmlns:a16="http://schemas.microsoft.com/office/drawing/2014/main" id="{CCDEF791-1ACB-573F-CCC4-BEC2DC5F6EB9}"/>
              </a:ext>
            </a:extLst>
          </p:cNvPr>
          <p:cNvSpPr/>
          <p:nvPr/>
        </p:nvSpPr>
        <p:spPr>
          <a:xfrm>
            <a:off x="1532778" y="8187568"/>
            <a:ext cx="307667" cy="307667"/>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solidFill>
        </p:spPr>
        <p:txBody>
          <a:bodyPr/>
          <a:lstStyle/>
          <a:p>
            <a:endParaRPr lang="en-US"/>
          </a:p>
        </p:txBody>
      </p:sp>
      <p:sp>
        <p:nvSpPr>
          <p:cNvPr id="172" name="Freeform 6">
            <a:extLst>
              <a:ext uri="{FF2B5EF4-FFF2-40B4-BE49-F238E27FC236}">
                <a16:creationId xmlns:a16="http://schemas.microsoft.com/office/drawing/2014/main" id="{839DFE00-88B3-2749-7A12-325546E0CF4B}"/>
              </a:ext>
            </a:extLst>
          </p:cNvPr>
          <p:cNvSpPr/>
          <p:nvPr/>
        </p:nvSpPr>
        <p:spPr>
          <a:xfrm>
            <a:off x="1532778" y="7155789"/>
            <a:ext cx="307667" cy="307667"/>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00"/>
          </a:solidFill>
        </p:spPr>
        <p:txBody>
          <a:bodyPr/>
          <a:lstStyle/>
          <a:p>
            <a:endParaRPr lang="en-US"/>
          </a:p>
        </p:txBody>
      </p:sp>
      <p:sp>
        <p:nvSpPr>
          <p:cNvPr id="173" name="object 83">
            <a:extLst>
              <a:ext uri="{FF2B5EF4-FFF2-40B4-BE49-F238E27FC236}">
                <a16:creationId xmlns:a16="http://schemas.microsoft.com/office/drawing/2014/main" id="{E0299DBB-C2A9-FC92-74E3-FD9841184E54}"/>
              </a:ext>
            </a:extLst>
          </p:cNvPr>
          <p:cNvSpPr txBox="1"/>
          <p:nvPr/>
        </p:nvSpPr>
        <p:spPr>
          <a:xfrm>
            <a:off x="8799800" y="6682171"/>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4.9% </a:t>
            </a:r>
            <a:r>
              <a:rPr lang="en-US" sz="1600" spc="-10">
                <a:solidFill>
                  <a:srgbClr val="262626"/>
                </a:solidFill>
                <a:latin typeface="Microsoft Sans Serif"/>
                <a:cs typeface="Microsoft Sans Serif"/>
              </a:rPr>
              <a:t>Very Clear</a:t>
            </a:r>
            <a:endParaRPr sz="1600">
              <a:latin typeface="Microsoft Sans Serif"/>
              <a:cs typeface="Microsoft Sans Serif"/>
            </a:endParaRPr>
          </a:p>
        </p:txBody>
      </p:sp>
      <p:sp>
        <p:nvSpPr>
          <p:cNvPr id="174" name="object 83">
            <a:extLst>
              <a:ext uri="{FF2B5EF4-FFF2-40B4-BE49-F238E27FC236}">
                <a16:creationId xmlns:a16="http://schemas.microsoft.com/office/drawing/2014/main" id="{556133E7-639A-4113-00F5-C2B5F75D8537}"/>
              </a:ext>
            </a:extLst>
          </p:cNvPr>
          <p:cNvSpPr txBox="1"/>
          <p:nvPr/>
        </p:nvSpPr>
        <p:spPr>
          <a:xfrm>
            <a:off x="8755824" y="7216784"/>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spc="-10">
                <a:solidFill>
                  <a:srgbClr val="262626"/>
                </a:solidFill>
                <a:latin typeface="Microsoft Sans Serif"/>
                <a:cs typeface="Microsoft Sans Serif"/>
              </a:rPr>
              <a:t> </a:t>
            </a:r>
            <a:r>
              <a:rPr lang="en-US" sz="1600" b="1" spc="-10">
                <a:solidFill>
                  <a:srgbClr val="262626"/>
                </a:solidFill>
                <a:latin typeface="Microsoft Sans Serif"/>
                <a:cs typeface="Microsoft Sans Serif"/>
              </a:rPr>
              <a:t>13% </a:t>
            </a:r>
            <a:r>
              <a:rPr lang="en-US" sz="1600" spc="-10">
                <a:solidFill>
                  <a:srgbClr val="262626"/>
                </a:solidFill>
                <a:latin typeface="Microsoft Sans Serif"/>
                <a:cs typeface="Microsoft Sans Serif"/>
              </a:rPr>
              <a:t>Somewhat Clear</a:t>
            </a:r>
            <a:endParaRPr sz="1600">
              <a:latin typeface="Microsoft Sans Serif"/>
              <a:cs typeface="Microsoft Sans Serif"/>
            </a:endParaRPr>
          </a:p>
        </p:txBody>
      </p:sp>
      <p:sp>
        <p:nvSpPr>
          <p:cNvPr id="175" name="object 83">
            <a:extLst>
              <a:ext uri="{FF2B5EF4-FFF2-40B4-BE49-F238E27FC236}">
                <a16:creationId xmlns:a16="http://schemas.microsoft.com/office/drawing/2014/main" id="{98A4B420-8A23-6763-F5F9-FB5FAA5D06F1}"/>
              </a:ext>
            </a:extLst>
          </p:cNvPr>
          <p:cNvSpPr txBox="1"/>
          <p:nvPr/>
        </p:nvSpPr>
        <p:spPr>
          <a:xfrm>
            <a:off x="8799800" y="7690813"/>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52% </a:t>
            </a:r>
            <a:r>
              <a:rPr lang="en-US" sz="1600" spc="-10">
                <a:solidFill>
                  <a:srgbClr val="262626"/>
                </a:solidFill>
                <a:latin typeface="Microsoft Sans Serif"/>
                <a:cs typeface="Microsoft Sans Serif"/>
              </a:rPr>
              <a:t>Not Very Clear</a:t>
            </a:r>
            <a:endParaRPr sz="1600">
              <a:latin typeface="Microsoft Sans Serif"/>
              <a:cs typeface="Microsoft Sans Serif"/>
            </a:endParaRPr>
          </a:p>
        </p:txBody>
      </p:sp>
      <p:sp>
        <p:nvSpPr>
          <p:cNvPr id="176" name="object 83">
            <a:extLst>
              <a:ext uri="{FF2B5EF4-FFF2-40B4-BE49-F238E27FC236}">
                <a16:creationId xmlns:a16="http://schemas.microsoft.com/office/drawing/2014/main" id="{ED11452C-4575-C4F3-68A7-0282E364CB43}"/>
              </a:ext>
            </a:extLst>
          </p:cNvPr>
          <p:cNvSpPr txBox="1"/>
          <p:nvPr/>
        </p:nvSpPr>
        <p:spPr>
          <a:xfrm>
            <a:off x="8856158" y="8212199"/>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30.1% </a:t>
            </a:r>
            <a:r>
              <a:rPr lang="en-US" sz="1600" spc="-10">
                <a:solidFill>
                  <a:srgbClr val="262626"/>
                </a:solidFill>
                <a:latin typeface="Microsoft Sans Serif"/>
                <a:cs typeface="Microsoft Sans Serif"/>
              </a:rPr>
              <a:t>Not Clear at all</a:t>
            </a:r>
            <a:endParaRPr sz="1600">
              <a:latin typeface="Microsoft Sans Serif"/>
              <a:cs typeface="Microsoft Sans Serif"/>
            </a:endParaRPr>
          </a:p>
        </p:txBody>
      </p:sp>
      <p:grpSp>
        <p:nvGrpSpPr>
          <p:cNvPr id="177" name="object 77">
            <a:extLst>
              <a:ext uri="{FF2B5EF4-FFF2-40B4-BE49-F238E27FC236}">
                <a16:creationId xmlns:a16="http://schemas.microsoft.com/office/drawing/2014/main" id="{D2CA9427-8F48-7F4F-ED2F-0D721066FF84}"/>
              </a:ext>
            </a:extLst>
          </p:cNvPr>
          <p:cNvGrpSpPr/>
          <p:nvPr/>
        </p:nvGrpSpPr>
        <p:grpSpPr>
          <a:xfrm>
            <a:off x="14922328" y="6662750"/>
            <a:ext cx="4493824" cy="391868"/>
            <a:chOff x="1161011" y="2088145"/>
            <a:chExt cx="4433570" cy="753110"/>
          </a:xfrm>
        </p:grpSpPr>
        <p:pic>
          <p:nvPicPr>
            <p:cNvPr id="178" name="object 78">
              <a:extLst>
                <a:ext uri="{FF2B5EF4-FFF2-40B4-BE49-F238E27FC236}">
                  <a16:creationId xmlns:a16="http://schemas.microsoft.com/office/drawing/2014/main" id="{61409E2D-FEE6-C8DE-B424-F4E35F43AF73}"/>
                </a:ext>
              </a:extLst>
            </p:cNvPr>
            <p:cNvPicPr/>
            <p:nvPr/>
          </p:nvPicPr>
          <p:blipFill>
            <a:blip r:embed="rId5" cstate="print"/>
            <a:stretch>
              <a:fillRect/>
            </a:stretch>
          </p:blipFill>
          <p:spPr>
            <a:xfrm>
              <a:off x="1166037" y="2093339"/>
              <a:ext cx="4422902" cy="743851"/>
            </a:xfrm>
            <a:prstGeom prst="rect">
              <a:avLst/>
            </a:prstGeom>
          </p:spPr>
        </p:pic>
        <p:sp>
          <p:nvSpPr>
            <p:cNvPr id="179" name="object 79">
              <a:extLst>
                <a:ext uri="{FF2B5EF4-FFF2-40B4-BE49-F238E27FC236}">
                  <a16:creationId xmlns:a16="http://schemas.microsoft.com/office/drawing/2014/main" id="{4D0F7684-C080-70AB-02E3-D61F7B646F28}"/>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80" name="object 83">
            <a:extLst>
              <a:ext uri="{FF2B5EF4-FFF2-40B4-BE49-F238E27FC236}">
                <a16:creationId xmlns:a16="http://schemas.microsoft.com/office/drawing/2014/main" id="{C88EFFDE-57A3-10E2-51E7-A44A028209FD}"/>
              </a:ext>
            </a:extLst>
          </p:cNvPr>
          <p:cNvSpPr txBox="1"/>
          <p:nvPr/>
        </p:nvSpPr>
        <p:spPr>
          <a:xfrm>
            <a:off x="15358780" y="6729808"/>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35% </a:t>
            </a:r>
            <a:r>
              <a:rPr lang="en-US" sz="1600" spc="-10">
                <a:solidFill>
                  <a:srgbClr val="262626"/>
                </a:solidFill>
                <a:latin typeface="Microsoft Sans Serif"/>
                <a:cs typeface="Microsoft Sans Serif"/>
              </a:rPr>
              <a:t>Ultra Luxury( Bently, Rolls Royace)</a:t>
            </a:r>
            <a:endParaRPr sz="1600">
              <a:latin typeface="Microsoft Sans Serif"/>
              <a:cs typeface="Microsoft Sans Serif"/>
            </a:endParaRPr>
          </a:p>
        </p:txBody>
      </p:sp>
      <p:grpSp>
        <p:nvGrpSpPr>
          <p:cNvPr id="181" name="object 77">
            <a:extLst>
              <a:ext uri="{FF2B5EF4-FFF2-40B4-BE49-F238E27FC236}">
                <a16:creationId xmlns:a16="http://schemas.microsoft.com/office/drawing/2014/main" id="{4B9A4F90-7C85-2B36-60CE-0EB5A4583AD5}"/>
              </a:ext>
            </a:extLst>
          </p:cNvPr>
          <p:cNvGrpSpPr/>
          <p:nvPr/>
        </p:nvGrpSpPr>
        <p:grpSpPr>
          <a:xfrm>
            <a:off x="14927422" y="7150036"/>
            <a:ext cx="4493824" cy="391868"/>
            <a:chOff x="1161011" y="2088145"/>
            <a:chExt cx="4433570" cy="753110"/>
          </a:xfrm>
        </p:grpSpPr>
        <p:pic>
          <p:nvPicPr>
            <p:cNvPr id="182" name="object 78">
              <a:extLst>
                <a:ext uri="{FF2B5EF4-FFF2-40B4-BE49-F238E27FC236}">
                  <a16:creationId xmlns:a16="http://schemas.microsoft.com/office/drawing/2014/main" id="{35591E32-7CC7-C5BC-3458-9EC6F5FF5756}"/>
                </a:ext>
              </a:extLst>
            </p:cNvPr>
            <p:cNvPicPr/>
            <p:nvPr/>
          </p:nvPicPr>
          <p:blipFill>
            <a:blip r:embed="rId5" cstate="print"/>
            <a:stretch>
              <a:fillRect/>
            </a:stretch>
          </p:blipFill>
          <p:spPr>
            <a:xfrm>
              <a:off x="1166037" y="2093339"/>
              <a:ext cx="4422902" cy="743851"/>
            </a:xfrm>
            <a:prstGeom prst="rect">
              <a:avLst/>
            </a:prstGeom>
          </p:spPr>
        </p:pic>
        <p:sp>
          <p:nvSpPr>
            <p:cNvPr id="183" name="object 79">
              <a:extLst>
                <a:ext uri="{FF2B5EF4-FFF2-40B4-BE49-F238E27FC236}">
                  <a16:creationId xmlns:a16="http://schemas.microsoft.com/office/drawing/2014/main" id="{0D4CE61B-2BB0-6695-25E9-44F6D0D920EB}"/>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84" name="object 83">
            <a:extLst>
              <a:ext uri="{FF2B5EF4-FFF2-40B4-BE49-F238E27FC236}">
                <a16:creationId xmlns:a16="http://schemas.microsoft.com/office/drawing/2014/main" id="{D0271B5B-0382-D472-D178-CA0AA305B878}"/>
              </a:ext>
            </a:extLst>
          </p:cNvPr>
          <p:cNvSpPr txBox="1"/>
          <p:nvPr/>
        </p:nvSpPr>
        <p:spPr>
          <a:xfrm>
            <a:off x="15358779" y="7202746"/>
            <a:ext cx="4085591"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43% </a:t>
            </a:r>
            <a:r>
              <a:rPr lang="en-US" sz="1600" spc="-10">
                <a:solidFill>
                  <a:srgbClr val="262626"/>
                </a:solidFill>
                <a:latin typeface="Microsoft Sans Serif"/>
                <a:cs typeface="Microsoft Sans Serif"/>
              </a:rPr>
              <a:t>Performance and Sports ( BMW)</a:t>
            </a:r>
            <a:endParaRPr sz="1600">
              <a:latin typeface="Microsoft Sans Serif"/>
              <a:cs typeface="Microsoft Sans Serif"/>
            </a:endParaRPr>
          </a:p>
        </p:txBody>
      </p:sp>
      <p:grpSp>
        <p:nvGrpSpPr>
          <p:cNvPr id="185" name="object 77">
            <a:extLst>
              <a:ext uri="{FF2B5EF4-FFF2-40B4-BE49-F238E27FC236}">
                <a16:creationId xmlns:a16="http://schemas.microsoft.com/office/drawing/2014/main" id="{0B3322F1-0A0D-0EA2-F57B-B88DB0F39FBB}"/>
              </a:ext>
            </a:extLst>
          </p:cNvPr>
          <p:cNvGrpSpPr/>
          <p:nvPr/>
        </p:nvGrpSpPr>
        <p:grpSpPr>
          <a:xfrm>
            <a:off x="14959436" y="7594027"/>
            <a:ext cx="4493824" cy="391868"/>
            <a:chOff x="1161011" y="2088145"/>
            <a:chExt cx="4433570" cy="753110"/>
          </a:xfrm>
        </p:grpSpPr>
        <p:pic>
          <p:nvPicPr>
            <p:cNvPr id="186" name="object 78">
              <a:extLst>
                <a:ext uri="{FF2B5EF4-FFF2-40B4-BE49-F238E27FC236}">
                  <a16:creationId xmlns:a16="http://schemas.microsoft.com/office/drawing/2014/main" id="{3886E50E-5F87-FDAF-4A65-A5099E4F22CF}"/>
                </a:ext>
              </a:extLst>
            </p:cNvPr>
            <p:cNvPicPr/>
            <p:nvPr/>
          </p:nvPicPr>
          <p:blipFill>
            <a:blip r:embed="rId5" cstate="print"/>
            <a:stretch>
              <a:fillRect/>
            </a:stretch>
          </p:blipFill>
          <p:spPr>
            <a:xfrm>
              <a:off x="1166037" y="2093339"/>
              <a:ext cx="4422902" cy="743851"/>
            </a:xfrm>
            <a:prstGeom prst="rect">
              <a:avLst/>
            </a:prstGeom>
          </p:spPr>
        </p:pic>
        <p:sp>
          <p:nvSpPr>
            <p:cNvPr id="187" name="object 79">
              <a:extLst>
                <a:ext uri="{FF2B5EF4-FFF2-40B4-BE49-F238E27FC236}">
                  <a16:creationId xmlns:a16="http://schemas.microsoft.com/office/drawing/2014/main" id="{8BA50B40-6C16-6454-9AA6-CE0B7540E8F3}"/>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88" name="object 83">
            <a:extLst>
              <a:ext uri="{FF2B5EF4-FFF2-40B4-BE49-F238E27FC236}">
                <a16:creationId xmlns:a16="http://schemas.microsoft.com/office/drawing/2014/main" id="{219A8426-C115-9266-D78A-E6B29EB53613}"/>
              </a:ext>
            </a:extLst>
          </p:cNvPr>
          <p:cNvSpPr txBox="1"/>
          <p:nvPr/>
        </p:nvSpPr>
        <p:spPr>
          <a:xfrm>
            <a:off x="15358780" y="7660181"/>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13% </a:t>
            </a:r>
            <a:r>
              <a:rPr lang="en-US" sz="1600" spc="-10">
                <a:solidFill>
                  <a:srgbClr val="262626"/>
                </a:solidFill>
                <a:latin typeface="Microsoft Sans Serif"/>
                <a:cs typeface="Microsoft Sans Serif"/>
              </a:rPr>
              <a:t>Sustainability and EV</a:t>
            </a:r>
            <a:endParaRPr sz="1600">
              <a:latin typeface="Microsoft Sans Serif"/>
              <a:cs typeface="Microsoft Sans Serif"/>
            </a:endParaRPr>
          </a:p>
        </p:txBody>
      </p:sp>
      <p:grpSp>
        <p:nvGrpSpPr>
          <p:cNvPr id="189" name="object 77">
            <a:extLst>
              <a:ext uri="{FF2B5EF4-FFF2-40B4-BE49-F238E27FC236}">
                <a16:creationId xmlns:a16="http://schemas.microsoft.com/office/drawing/2014/main" id="{1219BE32-7079-FE3C-ABA7-AD1D5FEAB3DB}"/>
              </a:ext>
            </a:extLst>
          </p:cNvPr>
          <p:cNvGrpSpPr/>
          <p:nvPr/>
        </p:nvGrpSpPr>
        <p:grpSpPr>
          <a:xfrm>
            <a:off x="14927422" y="8062624"/>
            <a:ext cx="4493824" cy="391868"/>
            <a:chOff x="1161011" y="2088145"/>
            <a:chExt cx="4433570" cy="753110"/>
          </a:xfrm>
        </p:grpSpPr>
        <p:pic>
          <p:nvPicPr>
            <p:cNvPr id="190" name="object 78">
              <a:extLst>
                <a:ext uri="{FF2B5EF4-FFF2-40B4-BE49-F238E27FC236}">
                  <a16:creationId xmlns:a16="http://schemas.microsoft.com/office/drawing/2014/main" id="{FF093881-D838-5766-5C9E-75EA1E8EC8D9}"/>
                </a:ext>
              </a:extLst>
            </p:cNvPr>
            <p:cNvPicPr/>
            <p:nvPr/>
          </p:nvPicPr>
          <p:blipFill>
            <a:blip r:embed="rId5" cstate="print"/>
            <a:stretch>
              <a:fillRect/>
            </a:stretch>
          </p:blipFill>
          <p:spPr>
            <a:xfrm>
              <a:off x="1166037" y="2093339"/>
              <a:ext cx="4422902" cy="743851"/>
            </a:xfrm>
            <a:prstGeom prst="rect">
              <a:avLst/>
            </a:prstGeom>
          </p:spPr>
        </p:pic>
        <p:sp>
          <p:nvSpPr>
            <p:cNvPr id="191" name="object 79">
              <a:extLst>
                <a:ext uri="{FF2B5EF4-FFF2-40B4-BE49-F238E27FC236}">
                  <a16:creationId xmlns:a16="http://schemas.microsoft.com/office/drawing/2014/main" id="{23AB6946-61B7-54D5-D475-1C955E8002EA}"/>
                </a:ext>
              </a:extLst>
            </p:cNvPr>
            <p:cNvSpPr/>
            <p:nvPr/>
          </p:nvSpPr>
          <p:spPr>
            <a:xfrm>
              <a:off x="1166247" y="2093381"/>
              <a:ext cx="4422775" cy="742315"/>
            </a:xfrm>
            <a:custGeom>
              <a:avLst/>
              <a:gdLst/>
              <a:ahLst/>
              <a:cxnLst/>
              <a:rect l="l" t="t" r="r" b="b"/>
              <a:pathLst>
                <a:path w="4422775" h="742314">
                  <a:moveTo>
                    <a:pt x="0" y="371015"/>
                  </a:moveTo>
                  <a:lnTo>
                    <a:pt x="2890" y="324476"/>
                  </a:lnTo>
                  <a:lnTo>
                    <a:pt x="11331" y="279662"/>
                  </a:lnTo>
                  <a:lnTo>
                    <a:pt x="24973" y="236920"/>
                  </a:lnTo>
                  <a:lnTo>
                    <a:pt x="43470" y="196599"/>
                  </a:lnTo>
                  <a:lnTo>
                    <a:pt x="66473" y="159046"/>
                  </a:lnTo>
                  <a:lnTo>
                    <a:pt x="93635" y="124609"/>
                  </a:lnTo>
                  <a:lnTo>
                    <a:pt x="124608" y="93635"/>
                  </a:lnTo>
                  <a:lnTo>
                    <a:pt x="159045" y="66473"/>
                  </a:lnTo>
                  <a:lnTo>
                    <a:pt x="196598" y="43470"/>
                  </a:lnTo>
                  <a:lnTo>
                    <a:pt x="236919" y="24973"/>
                  </a:lnTo>
                  <a:lnTo>
                    <a:pt x="279660" y="11331"/>
                  </a:lnTo>
                  <a:lnTo>
                    <a:pt x="324474" y="2890"/>
                  </a:lnTo>
                  <a:lnTo>
                    <a:pt x="371014" y="0"/>
                  </a:lnTo>
                  <a:lnTo>
                    <a:pt x="4051494" y="0"/>
                  </a:lnTo>
                  <a:lnTo>
                    <a:pt x="4098033" y="2890"/>
                  </a:lnTo>
                  <a:lnTo>
                    <a:pt x="4142847" y="11331"/>
                  </a:lnTo>
                  <a:lnTo>
                    <a:pt x="4185589" y="24973"/>
                  </a:lnTo>
                  <a:lnTo>
                    <a:pt x="4225909" y="43470"/>
                  </a:lnTo>
                  <a:lnTo>
                    <a:pt x="4263462" y="66473"/>
                  </a:lnTo>
                  <a:lnTo>
                    <a:pt x="4297899" y="93635"/>
                  </a:lnTo>
                  <a:lnTo>
                    <a:pt x="4328872" y="124609"/>
                  </a:lnTo>
                  <a:lnTo>
                    <a:pt x="4356035" y="159046"/>
                  </a:lnTo>
                  <a:lnTo>
                    <a:pt x="4379038" y="196599"/>
                  </a:lnTo>
                  <a:lnTo>
                    <a:pt x="4397534" y="236920"/>
                  </a:lnTo>
                  <a:lnTo>
                    <a:pt x="4411177" y="279662"/>
                  </a:lnTo>
                  <a:lnTo>
                    <a:pt x="4419617" y="324476"/>
                  </a:lnTo>
                  <a:lnTo>
                    <a:pt x="4422508" y="371015"/>
                  </a:lnTo>
                  <a:lnTo>
                    <a:pt x="4419617" y="417555"/>
                  </a:lnTo>
                  <a:lnTo>
                    <a:pt x="4411177" y="462369"/>
                  </a:lnTo>
                  <a:lnTo>
                    <a:pt x="4397534" y="505111"/>
                  </a:lnTo>
                  <a:lnTo>
                    <a:pt x="4379038" y="545432"/>
                  </a:lnTo>
                  <a:lnTo>
                    <a:pt x="4356035" y="582985"/>
                  </a:lnTo>
                  <a:lnTo>
                    <a:pt x="4328872" y="617422"/>
                  </a:lnTo>
                  <a:lnTo>
                    <a:pt x="4297899" y="648395"/>
                  </a:lnTo>
                  <a:lnTo>
                    <a:pt x="4263462" y="675557"/>
                  </a:lnTo>
                  <a:lnTo>
                    <a:pt x="4225909" y="698561"/>
                  </a:lnTo>
                  <a:lnTo>
                    <a:pt x="4185589" y="717058"/>
                  </a:lnTo>
                  <a:lnTo>
                    <a:pt x="4142847" y="730700"/>
                  </a:lnTo>
                  <a:lnTo>
                    <a:pt x="4098033" y="739140"/>
                  </a:lnTo>
                  <a:lnTo>
                    <a:pt x="4051494" y="742031"/>
                  </a:lnTo>
                  <a:lnTo>
                    <a:pt x="371014" y="742031"/>
                  </a:lnTo>
                  <a:lnTo>
                    <a:pt x="324474" y="739140"/>
                  </a:lnTo>
                  <a:lnTo>
                    <a:pt x="279660" y="730700"/>
                  </a:lnTo>
                  <a:lnTo>
                    <a:pt x="236919" y="717058"/>
                  </a:lnTo>
                  <a:lnTo>
                    <a:pt x="196598" y="698561"/>
                  </a:lnTo>
                  <a:lnTo>
                    <a:pt x="159045" y="675557"/>
                  </a:lnTo>
                  <a:lnTo>
                    <a:pt x="124608" y="648395"/>
                  </a:lnTo>
                  <a:lnTo>
                    <a:pt x="93635" y="617422"/>
                  </a:lnTo>
                  <a:lnTo>
                    <a:pt x="66473" y="582985"/>
                  </a:lnTo>
                  <a:lnTo>
                    <a:pt x="43470" y="545432"/>
                  </a:lnTo>
                  <a:lnTo>
                    <a:pt x="24973" y="505111"/>
                  </a:lnTo>
                  <a:lnTo>
                    <a:pt x="11331" y="462369"/>
                  </a:lnTo>
                  <a:lnTo>
                    <a:pt x="2890" y="417555"/>
                  </a:lnTo>
                  <a:lnTo>
                    <a:pt x="0" y="371015"/>
                  </a:lnTo>
                  <a:close/>
                </a:path>
              </a:pathLst>
            </a:custGeom>
            <a:ln w="10470">
              <a:solidFill>
                <a:srgbClr val="84C7FA"/>
              </a:solidFill>
            </a:ln>
          </p:spPr>
          <p:txBody>
            <a:bodyPr wrap="square" lIns="0" tIns="0" rIns="0" bIns="0" rtlCol="0"/>
            <a:lstStyle/>
            <a:p>
              <a:endParaRPr/>
            </a:p>
          </p:txBody>
        </p:sp>
      </p:grpSp>
      <p:sp>
        <p:nvSpPr>
          <p:cNvPr id="192" name="object 83">
            <a:extLst>
              <a:ext uri="{FF2B5EF4-FFF2-40B4-BE49-F238E27FC236}">
                <a16:creationId xmlns:a16="http://schemas.microsoft.com/office/drawing/2014/main" id="{B69FA348-3441-60E1-C2CC-C14670853D71}"/>
              </a:ext>
            </a:extLst>
          </p:cNvPr>
          <p:cNvSpPr txBox="1"/>
          <p:nvPr/>
        </p:nvSpPr>
        <p:spPr>
          <a:xfrm>
            <a:off x="15358780" y="8115334"/>
            <a:ext cx="3826478" cy="258404"/>
          </a:xfrm>
          <a:prstGeom prst="rect">
            <a:avLst/>
          </a:prstGeom>
        </p:spPr>
        <p:txBody>
          <a:bodyPr vert="horz" wrap="square" lIns="0" tIns="12065" rIns="0" bIns="0" rtlCol="0">
            <a:spAutoFit/>
          </a:bodyPr>
          <a:lstStyle/>
          <a:p>
            <a:pPr algn="ctr">
              <a:lnSpc>
                <a:spcPct val="100000"/>
              </a:lnSpc>
              <a:spcBef>
                <a:spcPts val="95"/>
              </a:spcBef>
            </a:pPr>
            <a:r>
              <a:rPr lang="en-US" sz="1600" b="1" spc="-10">
                <a:solidFill>
                  <a:srgbClr val="262626"/>
                </a:solidFill>
                <a:latin typeface="Microsoft Sans Serif"/>
                <a:cs typeface="Microsoft Sans Serif"/>
              </a:rPr>
              <a:t>8.9% </a:t>
            </a:r>
            <a:r>
              <a:rPr lang="en-US" sz="1600" spc="-10">
                <a:solidFill>
                  <a:srgbClr val="262626"/>
                </a:solidFill>
                <a:latin typeface="Microsoft Sans Serif"/>
                <a:cs typeface="Microsoft Sans Serif"/>
              </a:rPr>
              <a:t>Keep a balance of both</a:t>
            </a:r>
            <a:endParaRPr sz="1600">
              <a:latin typeface="Microsoft Sans Serif"/>
              <a:cs typeface="Microsoft Sans Serif"/>
            </a:endParaRPr>
          </a:p>
        </p:txBody>
      </p:sp>
      <p:sp>
        <p:nvSpPr>
          <p:cNvPr id="193" name="object 2">
            <a:extLst>
              <a:ext uri="{FF2B5EF4-FFF2-40B4-BE49-F238E27FC236}">
                <a16:creationId xmlns:a16="http://schemas.microsoft.com/office/drawing/2014/main" id="{453C8B11-BA46-CABB-2B43-604C15F7C940}"/>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194" name="object 2">
            <a:extLst>
              <a:ext uri="{FF2B5EF4-FFF2-40B4-BE49-F238E27FC236}">
                <a16:creationId xmlns:a16="http://schemas.microsoft.com/office/drawing/2014/main" id="{90E253E7-A56E-4DFD-72DD-0C49D9D7D6EB}"/>
              </a:ext>
            </a:extLst>
          </p:cNvPr>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195" name="object 6">
            <a:extLst>
              <a:ext uri="{FF2B5EF4-FFF2-40B4-BE49-F238E27FC236}">
                <a16:creationId xmlns:a16="http://schemas.microsoft.com/office/drawing/2014/main" id="{B84ACDD3-9600-C7C6-623D-834E7F3A66BA}"/>
              </a:ext>
            </a:extLst>
          </p:cNvPr>
          <p:cNvSpPr txBox="1">
            <a:spLocks/>
          </p:cNvSpPr>
          <p:nvPr/>
        </p:nvSpPr>
        <p:spPr>
          <a:xfrm>
            <a:off x="965200" y="1120490"/>
            <a:ext cx="4851413" cy="627736"/>
          </a:xfrm>
          <a:prstGeom prst="rect">
            <a:avLst/>
          </a:prstGeom>
          <a:ln>
            <a:solidFill>
              <a:schemeClr val="tx1"/>
            </a:solid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2000">
                <a:solidFill>
                  <a:schemeClr val="tx1"/>
                </a:solidFill>
              </a:rPr>
              <a:t>Which of the following best describes Jaguar in your opinion?</a:t>
            </a:r>
          </a:p>
        </p:txBody>
      </p:sp>
      <p:sp>
        <p:nvSpPr>
          <p:cNvPr id="196" name="object 6">
            <a:extLst>
              <a:ext uri="{FF2B5EF4-FFF2-40B4-BE49-F238E27FC236}">
                <a16:creationId xmlns:a16="http://schemas.microsoft.com/office/drawing/2014/main" id="{C887C7C9-1D8C-F319-7050-3A0A4F04E89A}"/>
              </a:ext>
            </a:extLst>
          </p:cNvPr>
          <p:cNvSpPr txBox="1">
            <a:spLocks/>
          </p:cNvSpPr>
          <p:nvPr/>
        </p:nvSpPr>
        <p:spPr>
          <a:xfrm>
            <a:off x="7626343" y="1120490"/>
            <a:ext cx="5661751" cy="627736"/>
          </a:xfrm>
          <a:prstGeom prst="rect">
            <a:avLst/>
          </a:prstGeom>
          <a:ln>
            <a:solidFill>
              <a:schemeClr val="tx1"/>
            </a:solid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2000">
                <a:solidFill>
                  <a:schemeClr val="tx1"/>
                </a:solidFill>
              </a:rPr>
              <a:t>How clear do you think Jaguar’s brand identity is compared to other premium brands?</a:t>
            </a:r>
          </a:p>
        </p:txBody>
      </p:sp>
      <p:sp>
        <p:nvSpPr>
          <p:cNvPr id="197" name="object 6">
            <a:extLst>
              <a:ext uri="{FF2B5EF4-FFF2-40B4-BE49-F238E27FC236}">
                <a16:creationId xmlns:a16="http://schemas.microsoft.com/office/drawing/2014/main" id="{D025D81C-3359-7431-C2A4-67E25973D2EB}"/>
              </a:ext>
            </a:extLst>
          </p:cNvPr>
          <p:cNvSpPr txBox="1">
            <a:spLocks/>
          </p:cNvSpPr>
          <p:nvPr/>
        </p:nvSpPr>
        <p:spPr>
          <a:xfrm>
            <a:off x="14171873" y="1120490"/>
            <a:ext cx="5661751" cy="627736"/>
          </a:xfrm>
          <a:prstGeom prst="rect">
            <a:avLst/>
          </a:prstGeom>
          <a:ln>
            <a:solidFill>
              <a:schemeClr val="tx1"/>
            </a:solid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2000">
                <a:solidFill>
                  <a:schemeClr val="tx1"/>
                </a:solidFill>
              </a:rPr>
              <a:t>If Jaguar were to focus more on one direction, which would you prefer?</a:t>
            </a:r>
          </a:p>
        </p:txBody>
      </p:sp>
      <p:sp>
        <p:nvSpPr>
          <p:cNvPr id="198" name="object 6">
            <a:extLst>
              <a:ext uri="{FF2B5EF4-FFF2-40B4-BE49-F238E27FC236}">
                <a16:creationId xmlns:a16="http://schemas.microsoft.com/office/drawing/2014/main" id="{37CB4C2A-156C-54E0-F0EF-F75E1B55F18D}"/>
              </a:ext>
            </a:extLst>
          </p:cNvPr>
          <p:cNvSpPr txBox="1">
            <a:spLocks/>
          </p:cNvSpPr>
          <p:nvPr/>
        </p:nvSpPr>
        <p:spPr>
          <a:xfrm>
            <a:off x="325889" y="1058934"/>
            <a:ext cx="4851413" cy="750847"/>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4800">
                <a:solidFill>
                  <a:schemeClr val="tx1"/>
                </a:solidFill>
              </a:rPr>
              <a:t>1.</a:t>
            </a:r>
          </a:p>
        </p:txBody>
      </p:sp>
      <p:sp>
        <p:nvSpPr>
          <p:cNvPr id="199" name="object 6">
            <a:extLst>
              <a:ext uri="{FF2B5EF4-FFF2-40B4-BE49-F238E27FC236}">
                <a16:creationId xmlns:a16="http://schemas.microsoft.com/office/drawing/2014/main" id="{9FA6335D-3108-44B1-0D51-BD60FCC24163}"/>
              </a:ext>
            </a:extLst>
          </p:cNvPr>
          <p:cNvSpPr txBox="1">
            <a:spLocks/>
          </p:cNvSpPr>
          <p:nvPr/>
        </p:nvSpPr>
        <p:spPr>
          <a:xfrm>
            <a:off x="6954595" y="1058934"/>
            <a:ext cx="4851413" cy="750847"/>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4800">
                <a:solidFill>
                  <a:schemeClr val="tx1"/>
                </a:solidFill>
              </a:rPr>
              <a:t>2.</a:t>
            </a:r>
          </a:p>
        </p:txBody>
      </p:sp>
      <p:sp>
        <p:nvSpPr>
          <p:cNvPr id="200" name="object 6">
            <a:extLst>
              <a:ext uri="{FF2B5EF4-FFF2-40B4-BE49-F238E27FC236}">
                <a16:creationId xmlns:a16="http://schemas.microsoft.com/office/drawing/2014/main" id="{17999C18-8835-BFF9-19B9-C10977C44DFC}"/>
              </a:ext>
            </a:extLst>
          </p:cNvPr>
          <p:cNvSpPr txBox="1">
            <a:spLocks/>
          </p:cNvSpPr>
          <p:nvPr/>
        </p:nvSpPr>
        <p:spPr>
          <a:xfrm>
            <a:off x="13547802" y="1096976"/>
            <a:ext cx="4851413" cy="750847"/>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4800">
                <a:solidFill>
                  <a:schemeClr val="tx1"/>
                </a:solidFill>
              </a:rPr>
              <a:t>3.</a:t>
            </a:r>
          </a:p>
        </p:txBody>
      </p:sp>
      <p:sp>
        <p:nvSpPr>
          <p:cNvPr id="201" name="ZoneTexte 15">
            <a:extLst>
              <a:ext uri="{FF2B5EF4-FFF2-40B4-BE49-F238E27FC236}">
                <a16:creationId xmlns:a16="http://schemas.microsoft.com/office/drawing/2014/main" id="{78B5CA36-DE3B-44E1-E27B-F4E29F7D6BA9}"/>
              </a:ext>
            </a:extLst>
          </p:cNvPr>
          <p:cNvSpPr txBox="1"/>
          <p:nvPr/>
        </p:nvSpPr>
        <p:spPr>
          <a:xfrm>
            <a:off x="14232778" y="10195713"/>
            <a:ext cx="3250096" cy="261610"/>
          </a:xfrm>
          <a:prstGeom prst="rect">
            <a:avLst/>
          </a:prstGeom>
          <a:noFill/>
        </p:spPr>
        <p:txBody>
          <a:bodyPr wrap="square">
            <a:spAutoFit/>
          </a:bodyPr>
          <a:lstStyle/>
          <a:p>
            <a:r>
              <a:rPr lang="en-US" sz="1050" dirty="0">
                <a:solidFill>
                  <a:schemeClr val="tx1"/>
                </a:solidFill>
                <a:hlinkClick r:id="rId6">
                  <a:extLst>
                    <a:ext uri="{A12FA001-AC4F-418D-AE19-62706E023703}">
                      <ahyp:hlinkClr xmlns:ahyp="http://schemas.microsoft.com/office/drawing/2018/hyperlinkcolor" val="tx"/>
                    </a:ext>
                  </a:extLst>
                </a:hlinkClick>
              </a:rPr>
              <a:t>OUR  JAGUAR BRAND PERCEPTION SURVEY</a:t>
            </a:r>
            <a:endParaRPr lang="en-US" sz="1050" dirty="0">
              <a:solidFill>
                <a:schemeClr val="tx1"/>
              </a:solidFill>
            </a:endParaRPr>
          </a:p>
        </p:txBody>
      </p:sp>
      <p:grpSp>
        <p:nvGrpSpPr>
          <p:cNvPr id="207" name="object 22">
            <a:extLst>
              <a:ext uri="{FF2B5EF4-FFF2-40B4-BE49-F238E27FC236}">
                <a16:creationId xmlns:a16="http://schemas.microsoft.com/office/drawing/2014/main" id="{8E85D0FE-0CD9-993F-984A-F5FE4C3A300C}"/>
              </a:ext>
            </a:extLst>
          </p:cNvPr>
          <p:cNvGrpSpPr/>
          <p:nvPr/>
        </p:nvGrpSpPr>
        <p:grpSpPr>
          <a:xfrm>
            <a:off x="15185465" y="9211706"/>
            <a:ext cx="2020570" cy="1056640"/>
            <a:chOff x="1166037" y="7592345"/>
            <a:chExt cx="2020570" cy="1056640"/>
          </a:xfrm>
        </p:grpSpPr>
        <p:pic>
          <p:nvPicPr>
            <p:cNvPr id="208" name="object 23">
              <a:extLst>
                <a:ext uri="{FF2B5EF4-FFF2-40B4-BE49-F238E27FC236}">
                  <a16:creationId xmlns:a16="http://schemas.microsoft.com/office/drawing/2014/main" id="{9DAD069A-9D38-5F83-CD42-3BBA88F609BF}"/>
                </a:ext>
              </a:extLst>
            </p:cNvPr>
            <p:cNvPicPr/>
            <p:nvPr/>
          </p:nvPicPr>
          <p:blipFill>
            <a:blip r:embed="rId7" cstate="print"/>
            <a:stretch>
              <a:fillRect/>
            </a:stretch>
          </p:blipFill>
          <p:spPr>
            <a:xfrm>
              <a:off x="1166037" y="8297967"/>
              <a:ext cx="2020462" cy="306587"/>
            </a:xfrm>
            <a:prstGeom prst="rect">
              <a:avLst/>
            </a:prstGeom>
          </p:spPr>
        </p:pic>
        <p:pic>
          <p:nvPicPr>
            <p:cNvPr id="209" name="object 24">
              <a:extLst>
                <a:ext uri="{FF2B5EF4-FFF2-40B4-BE49-F238E27FC236}">
                  <a16:creationId xmlns:a16="http://schemas.microsoft.com/office/drawing/2014/main" id="{0EF58A2F-3C00-F169-1963-B96A8B978D97}"/>
                </a:ext>
              </a:extLst>
            </p:cNvPr>
            <p:cNvPicPr/>
            <p:nvPr/>
          </p:nvPicPr>
          <p:blipFill>
            <a:blip r:embed="rId8" cstate="print"/>
            <a:stretch>
              <a:fillRect/>
            </a:stretch>
          </p:blipFill>
          <p:spPr>
            <a:xfrm>
              <a:off x="1325310" y="7592345"/>
              <a:ext cx="1557429" cy="1056250"/>
            </a:xfrm>
            <a:prstGeom prst="rect">
              <a:avLst/>
            </a:prstGeom>
          </p:spPr>
        </p:pic>
      </p:grpSp>
      <p:sp>
        <p:nvSpPr>
          <p:cNvPr id="205" name="object 7">
            <a:extLst>
              <a:ext uri="{FF2B5EF4-FFF2-40B4-BE49-F238E27FC236}">
                <a16:creationId xmlns:a16="http://schemas.microsoft.com/office/drawing/2014/main" id="{99861FB9-0F43-D156-D2C6-F3DAC5535BC9}"/>
              </a:ext>
            </a:extLst>
          </p:cNvPr>
          <p:cNvSpPr txBox="1"/>
          <p:nvPr/>
        </p:nvSpPr>
        <p:spPr>
          <a:xfrm>
            <a:off x="906914" y="278147"/>
            <a:ext cx="15697819" cy="441146"/>
          </a:xfrm>
          <a:prstGeom prst="rect">
            <a:avLst/>
          </a:prstGeom>
        </p:spPr>
        <p:txBody>
          <a:bodyPr vert="horz" wrap="square" lIns="0" tIns="10160" rIns="0" bIns="0" rtlCol="0" anchor="t">
            <a:spAutoFit/>
          </a:bodyPr>
          <a:lstStyle/>
          <a:p>
            <a:r>
              <a:rPr lang="en-US" sz="2800" b="1">
                <a:solidFill>
                  <a:srgbClr val="065088"/>
                </a:solidFill>
                <a:latin typeface="Arial Black"/>
              </a:rPr>
              <a:t>Survey results confirm Jaguar’s grey zone – A brand In need of specialization</a:t>
            </a:r>
          </a:p>
        </p:txBody>
      </p:sp>
      <p:pic>
        <p:nvPicPr>
          <p:cNvPr id="4" name="object 4">
            <a:extLst>
              <a:ext uri="{FF2B5EF4-FFF2-40B4-BE49-F238E27FC236}">
                <a16:creationId xmlns:a16="http://schemas.microsoft.com/office/drawing/2014/main" id="{954C1821-047A-D377-582E-8540FA7ACBB7}"/>
              </a:ext>
            </a:extLst>
          </p:cNvPr>
          <p:cNvPicPr/>
          <p:nvPr/>
        </p:nvPicPr>
        <p:blipFill>
          <a:blip r:embed="rId9" cstate="print"/>
          <a:stretch>
            <a:fillRect/>
          </a:stretch>
        </p:blipFill>
        <p:spPr>
          <a:xfrm>
            <a:off x="17726790" y="399568"/>
            <a:ext cx="1233889" cy="263866"/>
          </a:xfrm>
          <a:prstGeom prst="rect">
            <a:avLst/>
          </a:prstGeom>
        </p:spPr>
      </p:pic>
      <p:sp>
        <p:nvSpPr>
          <p:cNvPr id="5" name="object 99">
            <a:extLst>
              <a:ext uri="{FF2B5EF4-FFF2-40B4-BE49-F238E27FC236}">
                <a16:creationId xmlns:a16="http://schemas.microsoft.com/office/drawing/2014/main" id="{C6A4A1D6-E5C8-B18C-BE9F-425BC5061C60}"/>
              </a:ext>
            </a:extLst>
          </p:cNvPr>
          <p:cNvSpPr txBox="1">
            <a:spLocks noGrp="1"/>
          </p:cNvSpPr>
          <p:nvPr>
            <p:ph type="sldNum" sz="quarter" idx="7"/>
          </p:nvPr>
        </p:nvSpPr>
        <p:spPr>
          <a:xfrm>
            <a:off x="18790979" y="10589274"/>
            <a:ext cx="274319" cy="276999"/>
          </a:xfrm>
          <a:prstGeom prst="rect">
            <a:avLst/>
          </a:prstGeom>
        </p:spPr>
        <p:txBody>
          <a:bodyPr vert="horz" wrap="square" lIns="0" tIns="22860" rIns="0" bIns="0" rtlCol="0" anchor="t">
            <a:spAutoFit/>
          </a:bodyPr>
          <a:lstStyle/>
          <a:p>
            <a:pPr marL="12065">
              <a:lnSpc>
                <a:spcPct val="100000"/>
              </a:lnSpc>
              <a:spcBef>
                <a:spcPts val="180"/>
              </a:spcBef>
            </a:pPr>
            <a:r>
              <a:rPr lang="en-US" spc="-25">
                <a:ea typeface="Microsoft Sans Serif"/>
              </a:rPr>
              <a:t>6</a:t>
            </a:r>
          </a:p>
        </p:txBody>
      </p:sp>
      <p:sp>
        <p:nvSpPr>
          <p:cNvPr id="6" name="object 3">
            <a:extLst>
              <a:ext uri="{FF2B5EF4-FFF2-40B4-BE49-F238E27FC236}">
                <a16:creationId xmlns:a16="http://schemas.microsoft.com/office/drawing/2014/main" id="{598B277A-0E6D-2FBD-E25C-5EF613B3F60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Tree>
    <p:extLst>
      <p:ext uri="{BB962C8B-B14F-4D97-AF65-F5344CB8AC3E}">
        <p14:creationId xmlns:p14="http://schemas.microsoft.com/office/powerpoint/2010/main" val="101000750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5219098-2202-815C-7F14-D08776B3DAC9}"/>
              </a:ext>
            </a:extLst>
          </p:cNvPr>
          <p:cNvSpPr/>
          <p:nvPr/>
        </p:nvSpPr>
        <p:spPr>
          <a:xfrm>
            <a:off x="-58405" y="-7924"/>
            <a:ext cx="20173328"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grpSp>
        <p:nvGrpSpPr>
          <p:cNvPr id="210" name="object 57">
            <a:extLst>
              <a:ext uri="{FF2B5EF4-FFF2-40B4-BE49-F238E27FC236}">
                <a16:creationId xmlns:a16="http://schemas.microsoft.com/office/drawing/2014/main" id="{BC5A70D2-2F68-8477-A41D-2B1E8B8E10EF}"/>
              </a:ext>
            </a:extLst>
          </p:cNvPr>
          <p:cNvGrpSpPr/>
          <p:nvPr/>
        </p:nvGrpSpPr>
        <p:grpSpPr>
          <a:xfrm>
            <a:off x="5792282" y="3024263"/>
            <a:ext cx="8546686" cy="3960511"/>
            <a:chOff x="13172582" y="3320056"/>
            <a:chExt cx="5788025" cy="3265170"/>
          </a:xfrm>
        </p:grpSpPr>
        <p:sp>
          <p:nvSpPr>
            <p:cNvPr id="211" name="object 58">
              <a:extLst>
                <a:ext uri="{FF2B5EF4-FFF2-40B4-BE49-F238E27FC236}">
                  <a16:creationId xmlns:a16="http://schemas.microsoft.com/office/drawing/2014/main" id="{23170EF9-AF09-BDE0-1944-642274858575}"/>
                </a:ext>
              </a:extLst>
            </p:cNvPr>
            <p:cNvSpPr/>
            <p:nvPr/>
          </p:nvSpPr>
          <p:spPr>
            <a:xfrm>
              <a:off x="13172582" y="3320056"/>
              <a:ext cx="5788025" cy="3265170"/>
            </a:xfrm>
            <a:custGeom>
              <a:avLst/>
              <a:gdLst/>
              <a:ahLst/>
              <a:cxnLst/>
              <a:rect l="l" t="t" r="r" b="b"/>
              <a:pathLst>
                <a:path w="5788025" h="3265170">
                  <a:moveTo>
                    <a:pt x="5517842" y="0"/>
                  </a:moveTo>
                  <a:lnTo>
                    <a:pt x="270148" y="0"/>
                  </a:lnTo>
                  <a:lnTo>
                    <a:pt x="221586" y="4351"/>
                  </a:lnTo>
                  <a:lnTo>
                    <a:pt x="175880" y="16896"/>
                  </a:lnTo>
                  <a:lnTo>
                    <a:pt x="133794" y="36873"/>
                  </a:lnTo>
                  <a:lnTo>
                    <a:pt x="96090" y="63518"/>
                  </a:lnTo>
                  <a:lnTo>
                    <a:pt x="63531" y="96069"/>
                  </a:lnTo>
                  <a:lnTo>
                    <a:pt x="36880" y="133763"/>
                  </a:lnTo>
                  <a:lnTo>
                    <a:pt x="16899" y="175837"/>
                  </a:lnTo>
                  <a:lnTo>
                    <a:pt x="4352" y="221529"/>
                  </a:lnTo>
                  <a:lnTo>
                    <a:pt x="0" y="270075"/>
                  </a:lnTo>
                  <a:lnTo>
                    <a:pt x="0" y="2994861"/>
                  </a:lnTo>
                  <a:lnTo>
                    <a:pt x="4352" y="3043407"/>
                  </a:lnTo>
                  <a:lnTo>
                    <a:pt x="16899" y="3089099"/>
                  </a:lnTo>
                  <a:lnTo>
                    <a:pt x="36880" y="3131173"/>
                  </a:lnTo>
                  <a:lnTo>
                    <a:pt x="63531" y="3168867"/>
                  </a:lnTo>
                  <a:lnTo>
                    <a:pt x="96090" y="3201418"/>
                  </a:lnTo>
                  <a:lnTo>
                    <a:pt x="133794" y="3228063"/>
                  </a:lnTo>
                  <a:lnTo>
                    <a:pt x="175880" y="3248040"/>
                  </a:lnTo>
                  <a:lnTo>
                    <a:pt x="221586" y="3260585"/>
                  </a:lnTo>
                  <a:lnTo>
                    <a:pt x="270148" y="3264937"/>
                  </a:lnTo>
                  <a:lnTo>
                    <a:pt x="5517842" y="3264937"/>
                  </a:lnTo>
                  <a:lnTo>
                    <a:pt x="5566373" y="3260585"/>
                  </a:lnTo>
                  <a:lnTo>
                    <a:pt x="5612055" y="3248040"/>
                  </a:lnTo>
                  <a:lnTo>
                    <a:pt x="5654122" y="3228063"/>
                  </a:lnTo>
                  <a:lnTo>
                    <a:pt x="5691813" y="3201418"/>
                  </a:lnTo>
                  <a:lnTo>
                    <a:pt x="5724363" y="3168867"/>
                  </a:lnTo>
                  <a:lnTo>
                    <a:pt x="5751009" y="3131173"/>
                  </a:lnTo>
                  <a:lnTo>
                    <a:pt x="5770987" y="3089099"/>
                  </a:lnTo>
                  <a:lnTo>
                    <a:pt x="5783534" y="3043407"/>
                  </a:lnTo>
                  <a:lnTo>
                    <a:pt x="5787886" y="2994861"/>
                  </a:lnTo>
                  <a:lnTo>
                    <a:pt x="5787886" y="270075"/>
                  </a:lnTo>
                  <a:lnTo>
                    <a:pt x="5783534" y="221529"/>
                  </a:lnTo>
                  <a:lnTo>
                    <a:pt x="5770987" y="175837"/>
                  </a:lnTo>
                  <a:lnTo>
                    <a:pt x="5751009" y="133763"/>
                  </a:lnTo>
                  <a:lnTo>
                    <a:pt x="5724363" y="96069"/>
                  </a:lnTo>
                  <a:lnTo>
                    <a:pt x="5691813" y="63518"/>
                  </a:lnTo>
                  <a:lnTo>
                    <a:pt x="5654122" y="36873"/>
                  </a:lnTo>
                  <a:lnTo>
                    <a:pt x="5612055" y="16896"/>
                  </a:lnTo>
                  <a:lnTo>
                    <a:pt x="5566373" y="4351"/>
                  </a:lnTo>
                  <a:lnTo>
                    <a:pt x="5517842" y="0"/>
                  </a:lnTo>
                  <a:close/>
                </a:path>
              </a:pathLst>
            </a:custGeom>
            <a:solidFill>
              <a:srgbClr val="FFFFFF"/>
            </a:solidFill>
            <a:ln>
              <a:solidFill>
                <a:srgbClr val="B3B3B3"/>
              </a:solidFill>
            </a:ln>
          </p:spPr>
          <p:txBody>
            <a:bodyPr wrap="square" lIns="0" tIns="0" rIns="0" bIns="0" rtlCol="0"/>
            <a:lstStyle/>
            <a:p>
              <a:endParaRPr/>
            </a:p>
          </p:txBody>
        </p:sp>
        <p:sp>
          <p:nvSpPr>
            <p:cNvPr id="212" name="object 59">
              <a:extLst>
                <a:ext uri="{FF2B5EF4-FFF2-40B4-BE49-F238E27FC236}">
                  <a16:creationId xmlns:a16="http://schemas.microsoft.com/office/drawing/2014/main" id="{AF1C32DC-0A75-D799-31B9-912343F2AACF}"/>
                </a:ext>
              </a:extLst>
            </p:cNvPr>
            <p:cNvSpPr/>
            <p:nvPr/>
          </p:nvSpPr>
          <p:spPr>
            <a:xfrm>
              <a:off x="13172582" y="3320056"/>
              <a:ext cx="5785485" cy="3263900"/>
            </a:xfrm>
            <a:custGeom>
              <a:avLst/>
              <a:gdLst/>
              <a:ahLst/>
              <a:cxnLst/>
              <a:rect l="l" t="t" r="r" b="b"/>
              <a:pathLst>
                <a:path w="5785484" h="3263900">
                  <a:moveTo>
                    <a:pt x="0" y="269936"/>
                  </a:moveTo>
                  <a:lnTo>
                    <a:pt x="4349" y="221415"/>
                  </a:lnTo>
                  <a:lnTo>
                    <a:pt x="16887" y="175747"/>
                  </a:lnTo>
                  <a:lnTo>
                    <a:pt x="36854" y="133694"/>
                  </a:lnTo>
                  <a:lnTo>
                    <a:pt x="63485" y="96019"/>
                  </a:lnTo>
                  <a:lnTo>
                    <a:pt x="96019" y="63485"/>
                  </a:lnTo>
                  <a:lnTo>
                    <a:pt x="133694" y="36854"/>
                  </a:lnTo>
                  <a:lnTo>
                    <a:pt x="175746" y="16887"/>
                  </a:lnTo>
                  <a:lnTo>
                    <a:pt x="221414" y="4349"/>
                  </a:lnTo>
                  <a:lnTo>
                    <a:pt x="269936" y="0"/>
                  </a:lnTo>
                  <a:lnTo>
                    <a:pt x="5514955" y="0"/>
                  </a:lnTo>
                  <a:lnTo>
                    <a:pt x="5563477" y="4349"/>
                  </a:lnTo>
                  <a:lnTo>
                    <a:pt x="5609145" y="16887"/>
                  </a:lnTo>
                  <a:lnTo>
                    <a:pt x="5651197" y="36854"/>
                  </a:lnTo>
                  <a:lnTo>
                    <a:pt x="5688872" y="63485"/>
                  </a:lnTo>
                  <a:lnTo>
                    <a:pt x="5721406" y="96019"/>
                  </a:lnTo>
                  <a:lnTo>
                    <a:pt x="5748037" y="133694"/>
                  </a:lnTo>
                  <a:lnTo>
                    <a:pt x="5768003" y="175747"/>
                  </a:lnTo>
                  <a:lnTo>
                    <a:pt x="5780542" y="221415"/>
                  </a:lnTo>
                  <a:lnTo>
                    <a:pt x="5784891" y="269936"/>
                  </a:lnTo>
                  <a:lnTo>
                    <a:pt x="5784891" y="2993336"/>
                  </a:lnTo>
                  <a:lnTo>
                    <a:pt x="5780542" y="3041857"/>
                  </a:lnTo>
                  <a:lnTo>
                    <a:pt x="5768003" y="3087525"/>
                  </a:lnTo>
                  <a:lnTo>
                    <a:pt x="5748037" y="3129578"/>
                  </a:lnTo>
                  <a:lnTo>
                    <a:pt x="5721406" y="3167252"/>
                  </a:lnTo>
                  <a:lnTo>
                    <a:pt x="5688872" y="3199786"/>
                  </a:lnTo>
                  <a:lnTo>
                    <a:pt x="5651197" y="3226418"/>
                  </a:lnTo>
                  <a:lnTo>
                    <a:pt x="5609145" y="3246384"/>
                  </a:lnTo>
                  <a:lnTo>
                    <a:pt x="5563477" y="3258923"/>
                  </a:lnTo>
                  <a:lnTo>
                    <a:pt x="5514955" y="3263272"/>
                  </a:lnTo>
                  <a:lnTo>
                    <a:pt x="269936" y="3263272"/>
                  </a:lnTo>
                  <a:lnTo>
                    <a:pt x="221414" y="3258923"/>
                  </a:lnTo>
                  <a:lnTo>
                    <a:pt x="175746" y="3246384"/>
                  </a:lnTo>
                  <a:lnTo>
                    <a:pt x="133694" y="3226418"/>
                  </a:lnTo>
                  <a:lnTo>
                    <a:pt x="96019" y="3199786"/>
                  </a:lnTo>
                  <a:lnTo>
                    <a:pt x="63485" y="3167252"/>
                  </a:lnTo>
                  <a:lnTo>
                    <a:pt x="36854" y="3129578"/>
                  </a:lnTo>
                  <a:lnTo>
                    <a:pt x="16887" y="3087525"/>
                  </a:lnTo>
                  <a:lnTo>
                    <a:pt x="4349" y="3041857"/>
                  </a:lnTo>
                  <a:lnTo>
                    <a:pt x="0" y="2993336"/>
                  </a:lnTo>
                  <a:lnTo>
                    <a:pt x="0" y="269936"/>
                  </a:lnTo>
                  <a:close/>
                </a:path>
              </a:pathLst>
            </a:custGeom>
            <a:ln w="10465">
              <a:solidFill>
                <a:srgbClr val="B3B3B3"/>
              </a:solidFill>
            </a:ln>
          </p:spPr>
          <p:txBody>
            <a:bodyPr wrap="square" lIns="0" tIns="0" rIns="0" bIns="0" rtlCol="0"/>
            <a:lstStyle/>
            <a:p>
              <a:endParaRPr/>
            </a:p>
          </p:txBody>
        </p:sp>
      </p:grpSp>
      <p:sp>
        <p:nvSpPr>
          <p:cNvPr id="213" name="object 60">
            <a:extLst>
              <a:ext uri="{FF2B5EF4-FFF2-40B4-BE49-F238E27FC236}">
                <a16:creationId xmlns:a16="http://schemas.microsoft.com/office/drawing/2014/main" id="{959E50DF-72B5-BDDF-7986-AB4650000F81}"/>
              </a:ext>
            </a:extLst>
          </p:cNvPr>
          <p:cNvSpPr txBox="1"/>
          <p:nvPr/>
        </p:nvSpPr>
        <p:spPr>
          <a:xfrm>
            <a:off x="6007114" y="3187944"/>
            <a:ext cx="3335826" cy="367408"/>
          </a:xfrm>
          <a:prstGeom prst="rect">
            <a:avLst/>
          </a:prstGeom>
        </p:spPr>
        <p:txBody>
          <a:bodyPr vert="horz" wrap="square" lIns="0" tIns="13335" rIns="0" bIns="0" rtlCol="0">
            <a:spAutoFit/>
          </a:bodyPr>
          <a:lstStyle/>
          <a:p>
            <a:pPr marL="12700">
              <a:lnSpc>
                <a:spcPct val="100000"/>
              </a:lnSpc>
              <a:spcBef>
                <a:spcPts val="105"/>
              </a:spcBef>
            </a:pPr>
            <a:r>
              <a:rPr lang="en-US" sz="2300" spc="-85">
                <a:solidFill>
                  <a:srgbClr val="262626"/>
                </a:solidFill>
                <a:latin typeface="Microsoft Sans Serif"/>
                <a:cs typeface="Microsoft Sans Serif"/>
              </a:rPr>
              <a:t>Sales Mix Over The Years</a:t>
            </a:r>
            <a:endParaRPr sz="1650">
              <a:latin typeface="Microsoft Sans Serif"/>
              <a:cs typeface="Microsoft Sans Serif"/>
            </a:endParaRPr>
          </a:p>
        </p:txBody>
      </p:sp>
      <p:sp>
        <p:nvSpPr>
          <p:cNvPr id="223" name="object 83">
            <a:extLst>
              <a:ext uri="{FF2B5EF4-FFF2-40B4-BE49-F238E27FC236}">
                <a16:creationId xmlns:a16="http://schemas.microsoft.com/office/drawing/2014/main" id="{E3976955-ACAF-A7C4-B82C-1CF1D32D63C0}"/>
              </a:ext>
            </a:extLst>
          </p:cNvPr>
          <p:cNvSpPr txBox="1"/>
          <p:nvPr/>
        </p:nvSpPr>
        <p:spPr>
          <a:xfrm>
            <a:off x="6855643" y="6682256"/>
            <a:ext cx="543837" cy="428322"/>
          </a:xfrm>
          <a:prstGeom prst="rect">
            <a:avLst/>
          </a:prstGeom>
        </p:spPr>
        <p:txBody>
          <a:bodyPr vert="horz" wrap="square" lIns="0" tIns="15240" rIns="0" bIns="0" rtlCol="0">
            <a:spAutoFit/>
          </a:bodyPr>
          <a:lstStyle/>
          <a:p>
            <a:pPr marL="12700">
              <a:lnSpc>
                <a:spcPct val="100000"/>
              </a:lnSpc>
              <a:spcBef>
                <a:spcPts val="120"/>
              </a:spcBef>
            </a:pPr>
            <a:r>
              <a:rPr lang="en-US" sz="1300" spc="-100">
                <a:solidFill>
                  <a:srgbClr val="7F7F7F"/>
                </a:solidFill>
                <a:latin typeface="Microsoft Sans Serif"/>
                <a:cs typeface="Microsoft Sans Serif"/>
              </a:rPr>
              <a:t>FY17</a:t>
            </a:r>
          </a:p>
          <a:p>
            <a:pPr marL="12700">
              <a:lnSpc>
                <a:spcPct val="100000"/>
              </a:lnSpc>
              <a:spcBef>
                <a:spcPts val="120"/>
              </a:spcBef>
            </a:pPr>
            <a:endParaRPr sz="1300">
              <a:latin typeface="Microsoft Sans Serif"/>
              <a:cs typeface="Microsoft Sans Serif"/>
            </a:endParaRPr>
          </a:p>
        </p:txBody>
      </p:sp>
      <p:sp>
        <p:nvSpPr>
          <p:cNvPr id="224" name="object 84">
            <a:extLst>
              <a:ext uri="{FF2B5EF4-FFF2-40B4-BE49-F238E27FC236}">
                <a16:creationId xmlns:a16="http://schemas.microsoft.com/office/drawing/2014/main" id="{845FA4B9-87B2-B0E1-CE62-0F5CEEE2E726}"/>
              </a:ext>
            </a:extLst>
          </p:cNvPr>
          <p:cNvSpPr txBox="1"/>
          <p:nvPr/>
        </p:nvSpPr>
        <p:spPr>
          <a:xfrm>
            <a:off x="9283758" y="6673758"/>
            <a:ext cx="534461" cy="428322"/>
          </a:xfrm>
          <a:prstGeom prst="rect">
            <a:avLst/>
          </a:prstGeom>
        </p:spPr>
        <p:txBody>
          <a:bodyPr vert="horz" wrap="square" lIns="0" tIns="15240" rIns="0" bIns="0" rtlCol="0">
            <a:spAutoFit/>
          </a:bodyPr>
          <a:lstStyle/>
          <a:p>
            <a:pPr marL="12700">
              <a:lnSpc>
                <a:spcPct val="100000"/>
              </a:lnSpc>
              <a:spcBef>
                <a:spcPts val="120"/>
              </a:spcBef>
            </a:pPr>
            <a:r>
              <a:rPr lang="en-US" sz="1300" spc="-110">
                <a:solidFill>
                  <a:srgbClr val="7F7F7F"/>
                </a:solidFill>
                <a:latin typeface="Microsoft Sans Serif"/>
                <a:cs typeface="Microsoft Sans Serif"/>
              </a:rPr>
              <a:t>FY19</a:t>
            </a:r>
          </a:p>
          <a:p>
            <a:pPr marL="12700">
              <a:lnSpc>
                <a:spcPct val="100000"/>
              </a:lnSpc>
              <a:spcBef>
                <a:spcPts val="120"/>
              </a:spcBef>
            </a:pPr>
            <a:endParaRPr sz="1300">
              <a:latin typeface="Microsoft Sans Serif"/>
              <a:cs typeface="Microsoft Sans Serif"/>
            </a:endParaRPr>
          </a:p>
        </p:txBody>
      </p:sp>
      <p:sp>
        <p:nvSpPr>
          <p:cNvPr id="225" name="object 85">
            <a:extLst>
              <a:ext uri="{FF2B5EF4-FFF2-40B4-BE49-F238E27FC236}">
                <a16:creationId xmlns:a16="http://schemas.microsoft.com/office/drawing/2014/main" id="{003999F4-259F-4D30-0C1A-7C8C8AFC34AD}"/>
              </a:ext>
            </a:extLst>
          </p:cNvPr>
          <p:cNvSpPr txBox="1"/>
          <p:nvPr/>
        </p:nvSpPr>
        <p:spPr>
          <a:xfrm>
            <a:off x="10988727" y="6705590"/>
            <a:ext cx="590720" cy="215444"/>
          </a:xfrm>
          <a:prstGeom prst="rect">
            <a:avLst/>
          </a:prstGeom>
        </p:spPr>
        <p:txBody>
          <a:bodyPr vert="horz" wrap="square" lIns="0" tIns="15240" rIns="0" bIns="0" rtlCol="0">
            <a:spAutoFit/>
          </a:bodyPr>
          <a:lstStyle/>
          <a:p>
            <a:pPr marL="12700">
              <a:lnSpc>
                <a:spcPct val="100000"/>
              </a:lnSpc>
              <a:spcBef>
                <a:spcPts val="120"/>
              </a:spcBef>
            </a:pPr>
            <a:r>
              <a:rPr lang="en-US" sz="1300" spc="-35">
                <a:solidFill>
                  <a:srgbClr val="7F7F7F"/>
                </a:solidFill>
                <a:latin typeface="Microsoft Sans Serif"/>
                <a:cs typeface="Microsoft Sans Serif"/>
              </a:rPr>
              <a:t>FY22</a:t>
            </a:r>
            <a:endParaRPr sz="1300">
              <a:latin typeface="Microsoft Sans Serif"/>
              <a:cs typeface="Microsoft Sans Serif"/>
            </a:endParaRPr>
          </a:p>
        </p:txBody>
      </p:sp>
      <p:sp>
        <p:nvSpPr>
          <p:cNvPr id="226" name="object 86">
            <a:extLst>
              <a:ext uri="{FF2B5EF4-FFF2-40B4-BE49-F238E27FC236}">
                <a16:creationId xmlns:a16="http://schemas.microsoft.com/office/drawing/2014/main" id="{DC8AE02C-0A06-12CD-ECAC-506188FC1EA8}"/>
              </a:ext>
            </a:extLst>
          </p:cNvPr>
          <p:cNvSpPr txBox="1"/>
          <p:nvPr/>
        </p:nvSpPr>
        <p:spPr>
          <a:xfrm>
            <a:off x="13051426" y="6673758"/>
            <a:ext cx="580406" cy="428322"/>
          </a:xfrm>
          <a:prstGeom prst="rect">
            <a:avLst/>
          </a:prstGeom>
        </p:spPr>
        <p:txBody>
          <a:bodyPr vert="horz" wrap="square" lIns="0" tIns="15240" rIns="0" bIns="0" rtlCol="0">
            <a:spAutoFit/>
          </a:bodyPr>
          <a:lstStyle/>
          <a:p>
            <a:pPr marL="12700">
              <a:lnSpc>
                <a:spcPct val="100000"/>
              </a:lnSpc>
              <a:spcBef>
                <a:spcPts val="120"/>
              </a:spcBef>
            </a:pPr>
            <a:r>
              <a:rPr lang="en-US" sz="1300" spc="-50">
                <a:solidFill>
                  <a:srgbClr val="7F7F7F"/>
                </a:solidFill>
                <a:latin typeface="Microsoft Sans Serif"/>
                <a:cs typeface="Microsoft Sans Serif"/>
              </a:rPr>
              <a:t>FY25</a:t>
            </a:r>
          </a:p>
          <a:p>
            <a:pPr marL="12700">
              <a:lnSpc>
                <a:spcPct val="100000"/>
              </a:lnSpc>
              <a:spcBef>
                <a:spcPts val="120"/>
              </a:spcBef>
            </a:pPr>
            <a:endParaRPr sz="1300">
              <a:latin typeface="Microsoft Sans Serif"/>
              <a:cs typeface="Microsoft Sans Serif"/>
            </a:endParaRPr>
          </a:p>
        </p:txBody>
      </p:sp>
      <p:sp>
        <p:nvSpPr>
          <p:cNvPr id="3" name="object 3"/>
          <p:cNvSpPr/>
          <p:nvPr/>
        </p:nvSpPr>
        <p:spPr>
          <a:xfrm>
            <a:off x="18513677" y="10402688"/>
            <a:ext cx="1590675" cy="593725"/>
          </a:xfrm>
          <a:custGeom>
            <a:avLst/>
            <a:gdLst/>
            <a:ahLst/>
            <a:cxnLst/>
            <a:rect l="l" t="t" r="r" b="b"/>
            <a:pathLst>
              <a:path w="1590675" h="593725">
                <a:moveTo>
                  <a:pt x="1590422" y="0"/>
                </a:moveTo>
                <a:lnTo>
                  <a:pt x="116122" y="0"/>
                </a:lnTo>
                <a:lnTo>
                  <a:pt x="70899" y="9131"/>
                </a:lnTo>
                <a:lnTo>
                  <a:pt x="33991" y="34034"/>
                </a:lnTo>
                <a:lnTo>
                  <a:pt x="9117" y="70971"/>
                </a:lnTo>
                <a:lnTo>
                  <a:pt x="0" y="116202"/>
                </a:lnTo>
                <a:lnTo>
                  <a:pt x="0" y="477422"/>
                </a:lnTo>
                <a:lnTo>
                  <a:pt x="9117" y="522653"/>
                </a:lnTo>
                <a:lnTo>
                  <a:pt x="33991" y="559589"/>
                </a:lnTo>
                <a:lnTo>
                  <a:pt x="70899" y="584493"/>
                </a:lnTo>
                <a:lnTo>
                  <a:pt x="116122" y="593624"/>
                </a:lnTo>
                <a:lnTo>
                  <a:pt x="1590422" y="593624"/>
                </a:lnTo>
                <a:lnTo>
                  <a:pt x="1590422" y="0"/>
                </a:lnTo>
                <a:close/>
              </a:path>
            </a:pathLst>
          </a:custGeom>
          <a:solidFill>
            <a:srgbClr val="C2E3FC">
              <a:alpha val="50199"/>
            </a:srgbClr>
          </a:solidFill>
        </p:spPr>
        <p:txBody>
          <a:bodyPr wrap="square" lIns="0" tIns="0" rIns="0" bIns="0" rtlCol="0"/>
          <a:lstStyle/>
          <a:p>
            <a:endParaRPr/>
          </a:p>
        </p:txBody>
      </p:sp>
      <p:sp>
        <p:nvSpPr>
          <p:cNvPr id="4" name="object 4"/>
          <p:cNvSpPr/>
          <p:nvPr/>
        </p:nvSpPr>
        <p:spPr>
          <a:xfrm>
            <a:off x="0" y="10402687"/>
            <a:ext cx="3917950" cy="593725"/>
          </a:xfrm>
          <a:custGeom>
            <a:avLst/>
            <a:gdLst/>
            <a:ahLst/>
            <a:cxnLst/>
            <a:rect l="l" t="t" r="r" b="b"/>
            <a:pathLst>
              <a:path w="3917950" h="593725">
                <a:moveTo>
                  <a:pt x="3801726" y="0"/>
                </a:moveTo>
                <a:lnTo>
                  <a:pt x="0" y="0"/>
                </a:lnTo>
                <a:lnTo>
                  <a:pt x="0" y="593624"/>
                </a:lnTo>
                <a:lnTo>
                  <a:pt x="3801726" y="593624"/>
                </a:lnTo>
                <a:lnTo>
                  <a:pt x="3846956" y="584493"/>
                </a:lnTo>
                <a:lnTo>
                  <a:pt x="3883890" y="559590"/>
                </a:lnTo>
                <a:lnTo>
                  <a:pt x="3908791" y="522654"/>
                </a:lnTo>
                <a:lnTo>
                  <a:pt x="3917922" y="477423"/>
                </a:lnTo>
                <a:lnTo>
                  <a:pt x="3917922" y="116200"/>
                </a:lnTo>
                <a:lnTo>
                  <a:pt x="3908791" y="70970"/>
                </a:lnTo>
                <a:lnTo>
                  <a:pt x="3883890" y="34034"/>
                </a:lnTo>
                <a:lnTo>
                  <a:pt x="3846956" y="9131"/>
                </a:lnTo>
                <a:lnTo>
                  <a:pt x="3801726" y="0"/>
                </a:lnTo>
                <a:close/>
              </a:path>
            </a:pathLst>
          </a:custGeom>
          <a:solidFill>
            <a:srgbClr val="C2E3FC">
              <a:alpha val="50199"/>
            </a:srgbClr>
          </a:solidFill>
        </p:spPr>
        <p:txBody>
          <a:bodyPr wrap="square" lIns="0" tIns="0" rIns="0" bIns="0" rtlCol="0"/>
          <a:lstStyle/>
          <a:p>
            <a:endParaRPr/>
          </a:p>
        </p:txBody>
      </p:sp>
      <p:sp>
        <p:nvSpPr>
          <p:cNvPr id="7" name="object 7"/>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0" y="1095673"/>
            <a:ext cx="1015257" cy="271405"/>
          </a:xfrm>
          <a:prstGeom prst="rect">
            <a:avLst/>
          </a:prstGeom>
        </p:spPr>
      </p:pic>
      <p:sp>
        <p:nvSpPr>
          <p:cNvPr id="11" name="object 11"/>
          <p:cNvSpPr txBox="1"/>
          <p:nvPr/>
        </p:nvSpPr>
        <p:spPr>
          <a:xfrm>
            <a:off x="18788945" y="10558705"/>
            <a:ext cx="267335" cy="532838"/>
          </a:xfrm>
          <a:prstGeom prst="rect">
            <a:avLst/>
          </a:prstGeom>
        </p:spPr>
        <p:txBody>
          <a:bodyPr vert="horz" wrap="square" lIns="0" tIns="12065" rIns="0" bIns="0" rtlCol="0" anchor="t">
            <a:spAutoFit/>
          </a:bodyPr>
          <a:lstStyle/>
          <a:p>
            <a:pPr marL="12700">
              <a:lnSpc>
                <a:spcPct val="100000"/>
              </a:lnSpc>
              <a:spcBef>
                <a:spcPts val="95"/>
              </a:spcBef>
            </a:pPr>
            <a:r>
              <a:rPr lang="en-US" sz="1650" spc="-25">
                <a:solidFill>
                  <a:srgbClr val="262626"/>
                </a:solidFill>
                <a:latin typeface="Microsoft Sans Serif"/>
                <a:ea typeface="Microsoft Sans Serif"/>
                <a:cs typeface="Microsoft Sans Serif"/>
              </a:rPr>
              <a:t>7</a:t>
            </a:r>
          </a:p>
          <a:p>
            <a:pPr marL="12700">
              <a:spcBef>
                <a:spcPts val="95"/>
              </a:spcBef>
            </a:pPr>
            <a:endParaRPr lang="en-US" sz="1650" spc="-25">
              <a:solidFill>
                <a:srgbClr val="262626"/>
              </a:solidFill>
              <a:latin typeface="Microsoft Sans Serif"/>
              <a:ea typeface="Microsoft Sans Serif"/>
              <a:cs typeface="Microsoft Sans Serif"/>
            </a:endParaRPr>
          </a:p>
        </p:txBody>
      </p:sp>
      <p:sp>
        <p:nvSpPr>
          <p:cNvPr id="12" name="object 12"/>
          <p:cNvSpPr txBox="1">
            <a:spLocks noGrp="1"/>
          </p:cNvSpPr>
          <p:nvPr>
            <p:ph type="title"/>
          </p:nvPr>
        </p:nvSpPr>
        <p:spPr>
          <a:xfrm>
            <a:off x="1259232" y="454693"/>
            <a:ext cx="13430231" cy="773930"/>
          </a:xfrm>
          <a:prstGeom prst="rect">
            <a:avLst/>
          </a:prstGeom>
        </p:spPr>
        <p:txBody>
          <a:bodyPr vert="horz" wrap="square" lIns="0" tIns="12065" rIns="0" bIns="0" rtlCol="0" anchor="t">
            <a:spAutoFit/>
          </a:bodyPr>
          <a:lstStyle/>
          <a:p>
            <a:pPr marL="12700">
              <a:lnSpc>
                <a:spcPct val="100000"/>
              </a:lnSpc>
              <a:spcBef>
                <a:spcPts val="95"/>
              </a:spcBef>
            </a:pPr>
            <a:r>
              <a:rPr b="1" spc="-60"/>
              <a:t>Jaguar</a:t>
            </a:r>
            <a:r>
              <a:rPr b="1" spc="-229"/>
              <a:t> </a:t>
            </a:r>
            <a:r>
              <a:rPr b="1" spc="-140"/>
              <a:t>Land</a:t>
            </a:r>
            <a:r>
              <a:rPr b="1" spc="-200"/>
              <a:t> </a:t>
            </a:r>
            <a:r>
              <a:rPr b="1" spc="-65"/>
              <a:t>Rover</a:t>
            </a:r>
            <a:r>
              <a:rPr lang="en-US" b="1" spc="-65"/>
              <a:t> : Financial situation</a:t>
            </a:r>
            <a:endParaRPr b="1" spc="-65"/>
          </a:p>
        </p:txBody>
      </p:sp>
      <p:grpSp>
        <p:nvGrpSpPr>
          <p:cNvPr id="32" name="object 32"/>
          <p:cNvGrpSpPr/>
          <p:nvPr/>
        </p:nvGrpSpPr>
        <p:grpSpPr>
          <a:xfrm>
            <a:off x="1289050" y="4206875"/>
            <a:ext cx="3869690" cy="2830830"/>
            <a:chOff x="7092742" y="4467000"/>
            <a:chExt cx="3869690" cy="2830830"/>
          </a:xfrm>
        </p:grpSpPr>
        <p:sp>
          <p:nvSpPr>
            <p:cNvPr id="33" name="object 33"/>
            <p:cNvSpPr/>
            <p:nvPr/>
          </p:nvSpPr>
          <p:spPr>
            <a:xfrm>
              <a:off x="7098139" y="4472397"/>
              <a:ext cx="3858895" cy="2820035"/>
            </a:xfrm>
            <a:custGeom>
              <a:avLst/>
              <a:gdLst/>
              <a:ahLst/>
              <a:cxnLst/>
              <a:rect l="l" t="t" r="r" b="b"/>
              <a:pathLst>
                <a:path w="3858895" h="2820034">
                  <a:moveTo>
                    <a:pt x="3618287" y="0"/>
                  </a:moveTo>
                  <a:lnTo>
                    <a:pt x="240296" y="0"/>
                  </a:lnTo>
                  <a:lnTo>
                    <a:pt x="191866" y="4882"/>
                  </a:lnTo>
                  <a:lnTo>
                    <a:pt x="146759" y="18884"/>
                  </a:lnTo>
                  <a:lnTo>
                    <a:pt x="105941" y="41039"/>
                  </a:lnTo>
                  <a:lnTo>
                    <a:pt x="70378" y="70382"/>
                  </a:lnTo>
                  <a:lnTo>
                    <a:pt x="41037" y="105946"/>
                  </a:lnTo>
                  <a:lnTo>
                    <a:pt x="18882" y="146763"/>
                  </a:lnTo>
                  <a:lnTo>
                    <a:pt x="4881" y="191869"/>
                  </a:lnTo>
                  <a:lnTo>
                    <a:pt x="0" y="240296"/>
                  </a:lnTo>
                  <a:lnTo>
                    <a:pt x="0" y="2579429"/>
                  </a:lnTo>
                  <a:lnTo>
                    <a:pt x="4881" y="2627856"/>
                  </a:lnTo>
                  <a:lnTo>
                    <a:pt x="18882" y="2672961"/>
                  </a:lnTo>
                  <a:lnTo>
                    <a:pt x="41037" y="2713779"/>
                  </a:lnTo>
                  <a:lnTo>
                    <a:pt x="70378" y="2749342"/>
                  </a:lnTo>
                  <a:lnTo>
                    <a:pt x="105941" y="2778685"/>
                  </a:lnTo>
                  <a:lnTo>
                    <a:pt x="146759" y="2800841"/>
                  </a:lnTo>
                  <a:lnTo>
                    <a:pt x="191866" y="2814843"/>
                  </a:lnTo>
                  <a:lnTo>
                    <a:pt x="240296" y="2819725"/>
                  </a:lnTo>
                  <a:lnTo>
                    <a:pt x="3618287" y="2819725"/>
                  </a:lnTo>
                  <a:lnTo>
                    <a:pt x="3666703" y="2814843"/>
                  </a:lnTo>
                  <a:lnTo>
                    <a:pt x="3711804" y="2800841"/>
                  </a:lnTo>
                  <a:lnTo>
                    <a:pt x="3752622" y="2778685"/>
                  </a:lnTo>
                  <a:lnTo>
                    <a:pt x="3788190" y="2749342"/>
                  </a:lnTo>
                  <a:lnTo>
                    <a:pt x="3817540" y="2713779"/>
                  </a:lnTo>
                  <a:lnTo>
                    <a:pt x="3839702" y="2672961"/>
                  </a:lnTo>
                  <a:lnTo>
                    <a:pt x="3853710" y="2627856"/>
                  </a:lnTo>
                  <a:lnTo>
                    <a:pt x="3858594" y="2579429"/>
                  </a:lnTo>
                  <a:lnTo>
                    <a:pt x="3858594" y="240296"/>
                  </a:lnTo>
                  <a:lnTo>
                    <a:pt x="3853710" y="191869"/>
                  </a:lnTo>
                  <a:lnTo>
                    <a:pt x="3839702" y="146763"/>
                  </a:lnTo>
                  <a:lnTo>
                    <a:pt x="3817540" y="105946"/>
                  </a:lnTo>
                  <a:lnTo>
                    <a:pt x="3788190" y="70382"/>
                  </a:lnTo>
                  <a:lnTo>
                    <a:pt x="3752622" y="41039"/>
                  </a:lnTo>
                  <a:lnTo>
                    <a:pt x="3711804" y="18884"/>
                  </a:lnTo>
                  <a:lnTo>
                    <a:pt x="3666703" y="4882"/>
                  </a:lnTo>
                  <a:lnTo>
                    <a:pt x="3618287" y="0"/>
                  </a:lnTo>
                  <a:close/>
                </a:path>
              </a:pathLst>
            </a:custGeom>
            <a:solidFill>
              <a:srgbClr val="FFFFFF"/>
            </a:solidFill>
          </p:spPr>
          <p:txBody>
            <a:bodyPr wrap="square" lIns="0" tIns="0" rIns="0" bIns="0" rtlCol="0"/>
            <a:lstStyle/>
            <a:p>
              <a:endParaRPr/>
            </a:p>
          </p:txBody>
        </p:sp>
        <p:sp>
          <p:nvSpPr>
            <p:cNvPr id="34" name="object 34"/>
            <p:cNvSpPr/>
            <p:nvPr/>
          </p:nvSpPr>
          <p:spPr>
            <a:xfrm>
              <a:off x="7098139" y="4472397"/>
              <a:ext cx="3858895" cy="2820035"/>
            </a:xfrm>
            <a:custGeom>
              <a:avLst/>
              <a:gdLst/>
              <a:ahLst/>
              <a:cxnLst/>
              <a:rect l="l" t="t" r="r" b="b"/>
              <a:pathLst>
                <a:path w="3858895"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sp>
        <p:nvSpPr>
          <p:cNvPr id="35" name="object 35"/>
          <p:cNvSpPr txBox="1"/>
          <p:nvPr/>
        </p:nvSpPr>
        <p:spPr>
          <a:xfrm>
            <a:off x="1500537" y="4305464"/>
            <a:ext cx="1938655" cy="675640"/>
          </a:xfrm>
          <a:prstGeom prst="rect">
            <a:avLst/>
          </a:prstGeom>
        </p:spPr>
        <p:txBody>
          <a:bodyPr vert="horz" wrap="square" lIns="0" tIns="74930" rIns="0" bIns="0" rtlCol="0">
            <a:spAutoFit/>
          </a:bodyPr>
          <a:lstStyle/>
          <a:p>
            <a:pPr marL="12700">
              <a:lnSpc>
                <a:spcPct val="100000"/>
              </a:lnSpc>
              <a:spcBef>
                <a:spcPts val="590"/>
              </a:spcBef>
            </a:pPr>
            <a:r>
              <a:rPr sz="2300" spc="-30">
                <a:solidFill>
                  <a:srgbClr val="262626"/>
                </a:solidFill>
                <a:latin typeface="Microsoft Sans Serif"/>
                <a:cs typeface="Microsoft Sans Serif"/>
              </a:rPr>
              <a:t>Sales</a:t>
            </a:r>
            <a:r>
              <a:rPr sz="2300" spc="-125">
                <a:solidFill>
                  <a:srgbClr val="262626"/>
                </a:solidFill>
                <a:latin typeface="Microsoft Sans Serif"/>
                <a:cs typeface="Microsoft Sans Serif"/>
              </a:rPr>
              <a:t> </a:t>
            </a:r>
            <a:r>
              <a:rPr sz="2300" spc="-10">
                <a:solidFill>
                  <a:srgbClr val="262626"/>
                </a:solidFill>
                <a:latin typeface="Microsoft Sans Serif"/>
                <a:cs typeface="Microsoft Sans Serif"/>
              </a:rPr>
              <a:t>Volume*</a:t>
            </a:r>
            <a:endParaRPr sz="2300">
              <a:latin typeface="Microsoft Sans Serif"/>
              <a:cs typeface="Microsoft Sans Serif"/>
            </a:endParaRPr>
          </a:p>
          <a:p>
            <a:pPr marL="12700">
              <a:lnSpc>
                <a:spcPct val="100000"/>
              </a:lnSpc>
              <a:spcBef>
                <a:spcPts val="300"/>
              </a:spcBef>
            </a:pPr>
            <a:r>
              <a:rPr sz="1300" spc="-10">
                <a:solidFill>
                  <a:srgbClr val="7F7F7F"/>
                </a:solidFill>
                <a:latin typeface="Microsoft Sans Serif"/>
                <a:cs typeface="Microsoft Sans Serif"/>
              </a:rPr>
              <a:t>Units</a:t>
            </a:r>
            <a:r>
              <a:rPr sz="1300" spc="-75">
                <a:solidFill>
                  <a:srgbClr val="7F7F7F"/>
                </a:solidFill>
                <a:latin typeface="Microsoft Sans Serif"/>
                <a:cs typeface="Microsoft Sans Serif"/>
              </a:rPr>
              <a:t> </a:t>
            </a:r>
            <a:r>
              <a:rPr sz="1300" spc="-10">
                <a:solidFill>
                  <a:srgbClr val="7F7F7F"/>
                </a:solidFill>
                <a:latin typeface="Microsoft Sans Serif"/>
                <a:cs typeface="Microsoft Sans Serif"/>
              </a:rPr>
              <a:t>(Wholesale)</a:t>
            </a:r>
            <a:endParaRPr sz="1300">
              <a:latin typeface="Microsoft Sans Serif"/>
              <a:cs typeface="Microsoft Sans Serif"/>
            </a:endParaRPr>
          </a:p>
        </p:txBody>
      </p:sp>
      <p:sp>
        <p:nvSpPr>
          <p:cNvPr id="37" name="object 37"/>
          <p:cNvSpPr/>
          <p:nvPr/>
        </p:nvSpPr>
        <p:spPr>
          <a:xfrm>
            <a:off x="1502211" y="5057116"/>
            <a:ext cx="3443604" cy="0"/>
          </a:xfrm>
          <a:custGeom>
            <a:avLst/>
            <a:gdLst/>
            <a:ahLst/>
            <a:cxnLst/>
            <a:rect l="l" t="t" r="r" b="b"/>
            <a:pathLst>
              <a:path w="3443604">
                <a:moveTo>
                  <a:pt x="0" y="0"/>
                </a:moveTo>
                <a:lnTo>
                  <a:pt x="3443026" y="0"/>
                </a:lnTo>
              </a:path>
            </a:pathLst>
          </a:custGeom>
          <a:ln w="10470">
            <a:solidFill>
              <a:srgbClr val="D1D1D1"/>
            </a:solidFill>
          </a:ln>
        </p:spPr>
        <p:txBody>
          <a:bodyPr wrap="square" lIns="0" tIns="0" rIns="0" bIns="0" rtlCol="0"/>
          <a:lstStyle/>
          <a:p>
            <a:endParaRPr/>
          </a:p>
        </p:txBody>
      </p:sp>
      <p:grpSp>
        <p:nvGrpSpPr>
          <p:cNvPr id="40" name="object 40"/>
          <p:cNvGrpSpPr/>
          <p:nvPr/>
        </p:nvGrpSpPr>
        <p:grpSpPr>
          <a:xfrm>
            <a:off x="1463940" y="5979685"/>
            <a:ext cx="3467100" cy="480695"/>
            <a:chOff x="7267632" y="6239810"/>
            <a:chExt cx="3467100" cy="480695"/>
          </a:xfrm>
        </p:grpSpPr>
        <p:pic>
          <p:nvPicPr>
            <p:cNvPr id="41" name="object 41"/>
            <p:cNvPicPr/>
            <p:nvPr/>
          </p:nvPicPr>
          <p:blipFill>
            <a:blip r:embed="rId3" cstate="print"/>
            <a:stretch>
              <a:fillRect/>
            </a:stretch>
          </p:blipFill>
          <p:spPr>
            <a:xfrm>
              <a:off x="7267632" y="6239810"/>
              <a:ext cx="3466491" cy="153293"/>
            </a:xfrm>
            <a:prstGeom prst="rect">
              <a:avLst/>
            </a:prstGeom>
          </p:spPr>
        </p:pic>
        <p:pic>
          <p:nvPicPr>
            <p:cNvPr id="42" name="object 42"/>
            <p:cNvPicPr/>
            <p:nvPr/>
          </p:nvPicPr>
          <p:blipFill>
            <a:blip r:embed="rId4" cstate="print"/>
            <a:stretch>
              <a:fillRect/>
            </a:stretch>
          </p:blipFill>
          <p:spPr>
            <a:xfrm>
              <a:off x="7320751" y="6293756"/>
              <a:ext cx="3324265" cy="44836"/>
            </a:xfrm>
            <a:prstGeom prst="rect">
              <a:avLst/>
            </a:prstGeom>
          </p:spPr>
        </p:pic>
        <p:sp>
          <p:nvSpPr>
            <p:cNvPr id="43" name="object 43"/>
            <p:cNvSpPr/>
            <p:nvPr/>
          </p:nvSpPr>
          <p:spPr>
            <a:xfrm>
              <a:off x="7320751" y="6675430"/>
              <a:ext cx="3413760" cy="45085"/>
            </a:xfrm>
            <a:custGeom>
              <a:avLst/>
              <a:gdLst/>
              <a:ahLst/>
              <a:cxnLst/>
              <a:rect l="l" t="t" r="r" b="b"/>
              <a:pathLst>
                <a:path w="3413759" h="45084">
                  <a:moveTo>
                    <a:pt x="3390964" y="0"/>
                  </a:moveTo>
                  <a:lnTo>
                    <a:pt x="22418" y="0"/>
                  </a:lnTo>
                  <a:lnTo>
                    <a:pt x="13693" y="1760"/>
                  </a:lnTo>
                  <a:lnTo>
                    <a:pt x="6567" y="6563"/>
                  </a:lnTo>
                  <a:lnTo>
                    <a:pt x="1762" y="13689"/>
                  </a:lnTo>
                  <a:lnTo>
                    <a:pt x="0" y="22418"/>
                  </a:lnTo>
                  <a:lnTo>
                    <a:pt x="1766" y="31148"/>
                  </a:lnTo>
                  <a:lnTo>
                    <a:pt x="6581" y="38277"/>
                  </a:lnTo>
                  <a:lnTo>
                    <a:pt x="13744" y="43084"/>
                  </a:lnTo>
                  <a:lnTo>
                    <a:pt x="22469" y="44846"/>
                  </a:lnTo>
                  <a:lnTo>
                    <a:pt x="3390964" y="44846"/>
                  </a:lnTo>
                  <a:lnTo>
                    <a:pt x="3399678" y="43084"/>
                  </a:lnTo>
                  <a:lnTo>
                    <a:pt x="3406802" y="38277"/>
                  </a:lnTo>
                  <a:lnTo>
                    <a:pt x="3411608" y="31148"/>
                  </a:lnTo>
                  <a:lnTo>
                    <a:pt x="3413372" y="22418"/>
                  </a:lnTo>
                  <a:lnTo>
                    <a:pt x="3411608" y="13689"/>
                  </a:lnTo>
                  <a:lnTo>
                    <a:pt x="3406802" y="6563"/>
                  </a:lnTo>
                  <a:lnTo>
                    <a:pt x="3399678" y="1760"/>
                  </a:lnTo>
                  <a:lnTo>
                    <a:pt x="3390964" y="0"/>
                  </a:lnTo>
                  <a:close/>
                </a:path>
              </a:pathLst>
            </a:custGeom>
            <a:solidFill>
              <a:srgbClr val="E8E8E8"/>
            </a:solidFill>
          </p:spPr>
          <p:txBody>
            <a:bodyPr wrap="square" lIns="0" tIns="0" rIns="0" bIns="0" rtlCol="0"/>
            <a:lstStyle/>
            <a:p>
              <a:endParaRPr/>
            </a:p>
          </p:txBody>
        </p:sp>
      </p:grpSp>
      <p:sp>
        <p:nvSpPr>
          <p:cNvPr id="44" name="object 44"/>
          <p:cNvSpPr txBox="1"/>
          <p:nvPr/>
        </p:nvSpPr>
        <p:spPr>
          <a:xfrm>
            <a:off x="1489510" y="5101807"/>
            <a:ext cx="1776095" cy="1306195"/>
          </a:xfrm>
          <a:prstGeom prst="rect">
            <a:avLst/>
          </a:prstGeom>
        </p:spPr>
        <p:txBody>
          <a:bodyPr vert="horz" wrap="square" lIns="0" tIns="16510" rIns="0" bIns="0" rtlCol="0">
            <a:spAutoFit/>
          </a:bodyPr>
          <a:lstStyle/>
          <a:p>
            <a:pPr marL="12700">
              <a:lnSpc>
                <a:spcPct val="100000"/>
              </a:lnSpc>
              <a:spcBef>
                <a:spcPts val="130"/>
              </a:spcBef>
            </a:pPr>
            <a:r>
              <a:rPr sz="3200" spc="-145">
                <a:solidFill>
                  <a:srgbClr val="065088"/>
                </a:solidFill>
                <a:latin typeface="Arial Black"/>
                <a:cs typeface="Arial Black"/>
              </a:rPr>
              <a:t>4,00,898</a:t>
            </a:r>
            <a:endParaRPr sz="3200">
              <a:latin typeface="Arial Black"/>
              <a:cs typeface="Arial Black"/>
            </a:endParaRPr>
          </a:p>
          <a:p>
            <a:pPr marL="27305">
              <a:lnSpc>
                <a:spcPct val="100000"/>
              </a:lnSpc>
              <a:spcBef>
                <a:spcPts val="1465"/>
              </a:spcBef>
            </a:pPr>
            <a:r>
              <a:rPr sz="1300" spc="-20">
                <a:solidFill>
                  <a:srgbClr val="424242"/>
                </a:solidFill>
                <a:latin typeface="Microsoft Sans Serif"/>
                <a:cs typeface="Microsoft Sans Serif"/>
              </a:rPr>
              <a:t>FY25</a:t>
            </a:r>
            <a:endParaRPr sz="1300">
              <a:latin typeface="Microsoft Sans Serif"/>
              <a:cs typeface="Microsoft Sans Serif"/>
            </a:endParaRPr>
          </a:p>
          <a:p>
            <a:pPr>
              <a:lnSpc>
                <a:spcPct val="100000"/>
              </a:lnSpc>
              <a:spcBef>
                <a:spcPts val="150"/>
              </a:spcBef>
            </a:pPr>
            <a:endParaRPr sz="1300">
              <a:latin typeface="Microsoft Sans Serif"/>
              <a:cs typeface="Microsoft Sans Serif"/>
            </a:endParaRPr>
          </a:p>
          <a:p>
            <a:pPr marL="27305">
              <a:lnSpc>
                <a:spcPct val="100000"/>
              </a:lnSpc>
            </a:pPr>
            <a:r>
              <a:rPr sz="1300" spc="-20">
                <a:solidFill>
                  <a:srgbClr val="7F7F7F"/>
                </a:solidFill>
                <a:latin typeface="Microsoft Sans Serif"/>
                <a:cs typeface="Microsoft Sans Serif"/>
              </a:rPr>
              <a:t>FY24</a:t>
            </a:r>
            <a:endParaRPr sz="1300">
              <a:latin typeface="Microsoft Sans Serif"/>
              <a:cs typeface="Microsoft Sans Serif"/>
            </a:endParaRPr>
          </a:p>
        </p:txBody>
      </p:sp>
      <p:sp>
        <p:nvSpPr>
          <p:cNvPr id="45" name="object 45"/>
          <p:cNvSpPr txBox="1"/>
          <p:nvPr/>
        </p:nvSpPr>
        <p:spPr>
          <a:xfrm>
            <a:off x="4244537" y="5776833"/>
            <a:ext cx="698500" cy="631190"/>
          </a:xfrm>
          <a:prstGeom prst="rect">
            <a:avLst/>
          </a:prstGeom>
        </p:spPr>
        <p:txBody>
          <a:bodyPr vert="horz" wrap="square" lIns="0" tIns="15240" rIns="0" bIns="0" rtlCol="0">
            <a:spAutoFit/>
          </a:bodyPr>
          <a:lstStyle/>
          <a:p>
            <a:pPr marL="12700">
              <a:lnSpc>
                <a:spcPct val="100000"/>
              </a:lnSpc>
              <a:spcBef>
                <a:spcPts val="120"/>
              </a:spcBef>
            </a:pPr>
            <a:r>
              <a:rPr sz="1300" spc="-10">
                <a:solidFill>
                  <a:srgbClr val="424242"/>
                </a:solidFill>
                <a:latin typeface="Microsoft Sans Serif"/>
                <a:cs typeface="Microsoft Sans Serif"/>
              </a:rPr>
              <a:t>4,00,898</a:t>
            </a:r>
            <a:endParaRPr sz="1300">
              <a:latin typeface="Microsoft Sans Serif"/>
              <a:cs typeface="Microsoft Sans Serif"/>
            </a:endParaRPr>
          </a:p>
          <a:p>
            <a:pPr>
              <a:lnSpc>
                <a:spcPct val="100000"/>
              </a:lnSpc>
              <a:spcBef>
                <a:spcPts val="150"/>
              </a:spcBef>
            </a:pPr>
            <a:endParaRPr sz="1300">
              <a:latin typeface="Microsoft Sans Serif"/>
              <a:cs typeface="Microsoft Sans Serif"/>
            </a:endParaRPr>
          </a:p>
          <a:p>
            <a:pPr marL="81915">
              <a:lnSpc>
                <a:spcPct val="100000"/>
              </a:lnSpc>
            </a:pPr>
            <a:r>
              <a:rPr sz="1300" spc="-40">
                <a:solidFill>
                  <a:srgbClr val="7F7F7F"/>
                </a:solidFill>
                <a:latin typeface="Microsoft Sans Serif"/>
                <a:cs typeface="Microsoft Sans Serif"/>
              </a:rPr>
              <a:t>4,01,303</a:t>
            </a:r>
            <a:endParaRPr sz="1300">
              <a:latin typeface="Microsoft Sans Serif"/>
              <a:cs typeface="Microsoft Sans Serif"/>
            </a:endParaRPr>
          </a:p>
        </p:txBody>
      </p:sp>
      <p:grpSp>
        <p:nvGrpSpPr>
          <p:cNvPr id="46" name="object 46"/>
          <p:cNvGrpSpPr/>
          <p:nvPr/>
        </p:nvGrpSpPr>
        <p:grpSpPr>
          <a:xfrm>
            <a:off x="1517058" y="6415305"/>
            <a:ext cx="3413760" cy="426720"/>
            <a:chOff x="7320750" y="6675430"/>
            <a:chExt cx="3413760" cy="426720"/>
          </a:xfrm>
        </p:grpSpPr>
        <p:sp>
          <p:nvSpPr>
            <p:cNvPr id="47" name="object 47"/>
            <p:cNvSpPr/>
            <p:nvPr/>
          </p:nvSpPr>
          <p:spPr>
            <a:xfrm>
              <a:off x="7320750" y="6675430"/>
              <a:ext cx="3413760" cy="45085"/>
            </a:xfrm>
            <a:custGeom>
              <a:avLst/>
              <a:gdLst/>
              <a:ahLst/>
              <a:cxnLst/>
              <a:rect l="l" t="t" r="r" b="b"/>
              <a:pathLst>
                <a:path w="3413759" h="45084">
                  <a:moveTo>
                    <a:pt x="3390964" y="0"/>
                  </a:moveTo>
                  <a:lnTo>
                    <a:pt x="22418" y="0"/>
                  </a:lnTo>
                  <a:lnTo>
                    <a:pt x="13689" y="1760"/>
                  </a:lnTo>
                  <a:lnTo>
                    <a:pt x="6563" y="6563"/>
                  </a:lnTo>
                  <a:lnTo>
                    <a:pt x="1760" y="13689"/>
                  </a:lnTo>
                  <a:lnTo>
                    <a:pt x="0" y="22418"/>
                  </a:lnTo>
                  <a:lnTo>
                    <a:pt x="1764" y="31148"/>
                  </a:lnTo>
                  <a:lnTo>
                    <a:pt x="6577" y="38277"/>
                  </a:lnTo>
                  <a:lnTo>
                    <a:pt x="13740" y="43084"/>
                  </a:lnTo>
                  <a:lnTo>
                    <a:pt x="22470" y="44846"/>
                  </a:lnTo>
                  <a:lnTo>
                    <a:pt x="3390964" y="44846"/>
                  </a:lnTo>
                  <a:lnTo>
                    <a:pt x="3399678" y="43084"/>
                  </a:lnTo>
                  <a:lnTo>
                    <a:pt x="3406802" y="38277"/>
                  </a:lnTo>
                  <a:lnTo>
                    <a:pt x="3411608" y="31148"/>
                  </a:lnTo>
                  <a:lnTo>
                    <a:pt x="3413372" y="22418"/>
                  </a:lnTo>
                  <a:lnTo>
                    <a:pt x="3411608" y="13689"/>
                  </a:lnTo>
                  <a:lnTo>
                    <a:pt x="3406802" y="6563"/>
                  </a:lnTo>
                  <a:lnTo>
                    <a:pt x="3399678" y="1760"/>
                  </a:lnTo>
                  <a:lnTo>
                    <a:pt x="3390964" y="0"/>
                  </a:lnTo>
                  <a:close/>
                </a:path>
              </a:pathLst>
            </a:custGeom>
            <a:solidFill>
              <a:srgbClr val="84C7FA"/>
            </a:solidFill>
          </p:spPr>
          <p:txBody>
            <a:bodyPr wrap="square" lIns="0" tIns="0" rIns="0" bIns="0" rtlCol="0"/>
            <a:lstStyle/>
            <a:p>
              <a:endParaRPr/>
            </a:p>
          </p:txBody>
        </p:sp>
        <p:sp>
          <p:nvSpPr>
            <p:cNvPr id="48" name="object 48"/>
            <p:cNvSpPr/>
            <p:nvPr/>
          </p:nvSpPr>
          <p:spPr>
            <a:xfrm>
              <a:off x="7320752" y="7057094"/>
              <a:ext cx="3413760" cy="45085"/>
            </a:xfrm>
            <a:custGeom>
              <a:avLst/>
              <a:gdLst/>
              <a:ahLst/>
              <a:cxnLst/>
              <a:rect l="l" t="t" r="r" b="b"/>
              <a:pathLst>
                <a:path w="3413759" h="45084">
                  <a:moveTo>
                    <a:pt x="3390962" y="0"/>
                  </a:moveTo>
                  <a:lnTo>
                    <a:pt x="22416" y="0"/>
                  </a:lnTo>
                  <a:lnTo>
                    <a:pt x="13691" y="1762"/>
                  </a:lnTo>
                  <a:lnTo>
                    <a:pt x="6565" y="6569"/>
                  </a:lnTo>
                  <a:lnTo>
                    <a:pt x="1760" y="13698"/>
                  </a:lnTo>
                  <a:lnTo>
                    <a:pt x="0" y="22428"/>
                  </a:lnTo>
                  <a:lnTo>
                    <a:pt x="1766" y="31157"/>
                  </a:lnTo>
                  <a:lnTo>
                    <a:pt x="6573" y="38282"/>
                  </a:lnTo>
                  <a:lnTo>
                    <a:pt x="13699" y="43085"/>
                  </a:lnTo>
                  <a:lnTo>
                    <a:pt x="22416" y="44846"/>
                  </a:lnTo>
                  <a:lnTo>
                    <a:pt x="3390962" y="44846"/>
                  </a:lnTo>
                  <a:lnTo>
                    <a:pt x="3399676" y="43085"/>
                  </a:lnTo>
                  <a:lnTo>
                    <a:pt x="3406799" y="38282"/>
                  </a:lnTo>
                  <a:lnTo>
                    <a:pt x="3411606" y="31157"/>
                  </a:lnTo>
                  <a:lnTo>
                    <a:pt x="3413370" y="22428"/>
                  </a:lnTo>
                  <a:lnTo>
                    <a:pt x="3411606" y="13698"/>
                  </a:lnTo>
                  <a:lnTo>
                    <a:pt x="3406799" y="6569"/>
                  </a:lnTo>
                  <a:lnTo>
                    <a:pt x="3399676" y="1762"/>
                  </a:lnTo>
                  <a:lnTo>
                    <a:pt x="3390962" y="0"/>
                  </a:lnTo>
                  <a:close/>
                </a:path>
              </a:pathLst>
            </a:custGeom>
            <a:solidFill>
              <a:srgbClr val="E8E8E8"/>
            </a:solidFill>
          </p:spPr>
          <p:txBody>
            <a:bodyPr wrap="square" lIns="0" tIns="0" rIns="0" bIns="0" rtlCol="0"/>
            <a:lstStyle/>
            <a:p>
              <a:endParaRPr/>
            </a:p>
          </p:txBody>
        </p:sp>
      </p:grpSp>
      <p:sp>
        <p:nvSpPr>
          <p:cNvPr id="49" name="object 49"/>
          <p:cNvSpPr txBox="1"/>
          <p:nvPr/>
        </p:nvSpPr>
        <p:spPr>
          <a:xfrm>
            <a:off x="1504358" y="6563406"/>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50" name="object 50"/>
          <p:cNvSpPr txBox="1"/>
          <p:nvPr/>
        </p:nvSpPr>
        <p:spPr>
          <a:xfrm>
            <a:off x="4329613" y="6563406"/>
            <a:ext cx="613410" cy="226695"/>
          </a:xfrm>
          <a:prstGeom prst="rect">
            <a:avLst/>
          </a:prstGeom>
        </p:spPr>
        <p:txBody>
          <a:bodyPr vert="horz" wrap="square" lIns="0" tIns="15240" rIns="0" bIns="0" rtlCol="0">
            <a:spAutoFit/>
          </a:bodyPr>
          <a:lstStyle/>
          <a:p>
            <a:pPr marL="12700">
              <a:lnSpc>
                <a:spcPct val="100000"/>
              </a:lnSpc>
              <a:spcBef>
                <a:spcPts val="120"/>
              </a:spcBef>
            </a:pPr>
            <a:r>
              <a:rPr sz="1300" spc="-55">
                <a:solidFill>
                  <a:srgbClr val="7F7F7F"/>
                </a:solidFill>
                <a:latin typeface="Microsoft Sans Serif"/>
                <a:cs typeface="Microsoft Sans Serif"/>
              </a:rPr>
              <a:t>3,21,362</a:t>
            </a:r>
            <a:endParaRPr sz="1300">
              <a:latin typeface="Microsoft Sans Serif"/>
              <a:cs typeface="Microsoft Sans Serif"/>
            </a:endParaRPr>
          </a:p>
        </p:txBody>
      </p:sp>
      <p:sp>
        <p:nvSpPr>
          <p:cNvPr id="51" name="object 51"/>
          <p:cNvSpPr/>
          <p:nvPr/>
        </p:nvSpPr>
        <p:spPr>
          <a:xfrm>
            <a:off x="1517058" y="6796969"/>
            <a:ext cx="2908935" cy="45085"/>
          </a:xfrm>
          <a:custGeom>
            <a:avLst/>
            <a:gdLst/>
            <a:ahLst/>
            <a:cxnLst/>
            <a:rect l="l" t="t" r="r" b="b"/>
            <a:pathLst>
              <a:path w="2908934" h="45084">
                <a:moveTo>
                  <a:pt x="2886341" y="0"/>
                </a:moveTo>
                <a:lnTo>
                  <a:pt x="22418" y="0"/>
                </a:lnTo>
                <a:lnTo>
                  <a:pt x="13689" y="1762"/>
                </a:lnTo>
                <a:lnTo>
                  <a:pt x="6563" y="6569"/>
                </a:lnTo>
                <a:lnTo>
                  <a:pt x="1760" y="13698"/>
                </a:lnTo>
                <a:lnTo>
                  <a:pt x="0" y="22428"/>
                </a:lnTo>
                <a:lnTo>
                  <a:pt x="1760" y="31152"/>
                </a:lnTo>
                <a:lnTo>
                  <a:pt x="6563" y="38278"/>
                </a:lnTo>
                <a:lnTo>
                  <a:pt x="13689" y="43084"/>
                </a:lnTo>
                <a:lnTo>
                  <a:pt x="22418" y="44846"/>
                </a:lnTo>
                <a:lnTo>
                  <a:pt x="2886341" y="44846"/>
                </a:lnTo>
                <a:lnTo>
                  <a:pt x="2895065" y="43084"/>
                </a:lnTo>
                <a:lnTo>
                  <a:pt x="2902191" y="38278"/>
                </a:lnTo>
                <a:lnTo>
                  <a:pt x="2906997" y="31152"/>
                </a:lnTo>
                <a:lnTo>
                  <a:pt x="2908759" y="22428"/>
                </a:lnTo>
                <a:lnTo>
                  <a:pt x="2906997" y="13698"/>
                </a:lnTo>
                <a:lnTo>
                  <a:pt x="2902191" y="6569"/>
                </a:lnTo>
                <a:lnTo>
                  <a:pt x="2895065" y="1762"/>
                </a:lnTo>
                <a:lnTo>
                  <a:pt x="2886341" y="0"/>
                </a:lnTo>
                <a:close/>
              </a:path>
            </a:pathLst>
          </a:custGeom>
          <a:solidFill>
            <a:srgbClr val="84C7FA"/>
          </a:solidFill>
        </p:spPr>
        <p:txBody>
          <a:bodyPr wrap="square" lIns="0" tIns="0" rIns="0" bIns="0" rtlCol="0"/>
          <a:lstStyle/>
          <a:p>
            <a:endParaRPr/>
          </a:p>
        </p:txBody>
      </p:sp>
      <p:grpSp>
        <p:nvGrpSpPr>
          <p:cNvPr id="52" name="object 52"/>
          <p:cNvGrpSpPr/>
          <p:nvPr/>
        </p:nvGrpSpPr>
        <p:grpSpPr>
          <a:xfrm>
            <a:off x="5751408" y="7126755"/>
            <a:ext cx="3869690" cy="2830830"/>
            <a:chOff x="11102955" y="4467000"/>
            <a:chExt cx="3869690" cy="2830830"/>
          </a:xfrm>
        </p:grpSpPr>
        <p:sp>
          <p:nvSpPr>
            <p:cNvPr id="53" name="object 53"/>
            <p:cNvSpPr/>
            <p:nvPr/>
          </p:nvSpPr>
          <p:spPr>
            <a:xfrm>
              <a:off x="11108353" y="4472397"/>
              <a:ext cx="3858895" cy="2820035"/>
            </a:xfrm>
            <a:custGeom>
              <a:avLst/>
              <a:gdLst/>
              <a:ahLst/>
              <a:cxnLst/>
              <a:rect l="l" t="t" r="r" b="b"/>
              <a:pathLst>
                <a:path w="3858894" h="2820034">
                  <a:moveTo>
                    <a:pt x="3618214" y="0"/>
                  </a:moveTo>
                  <a:lnTo>
                    <a:pt x="240306" y="0"/>
                  </a:lnTo>
                  <a:lnTo>
                    <a:pt x="191861" y="4882"/>
                  </a:lnTo>
                  <a:lnTo>
                    <a:pt x="146746" y="18884"/>
                  </a:lnTo>
                  <a:lnTo>
                    <a:pt x="105925" y="41039"/>
                  </a:lnTo>
                  <a:lnTo>
                    <a:pt x="70364" y="70382"/>
                  </a:lnTo>
                  <a:lnTo>
                    <a:pt x="41026" y="105946"/>
                  </a:lnTo>
                  <a:lnTo>
                    <a:pt x="18877" y="146763"/>
                  </a:lnTo>
                  <a:lnTo>
                    <a:pt x="4880" y="191869"/>
                  </a:lnTo>
                  <a:lnTo>
                    <a:pt x="0" y="240296"/>
                  </a:lnTo>
                  <a:lnTo>
                    <a:pt x="0" y="2579429"/>
                  </a:lnTo>
                  <a:lnTo>
                    <a:pt x="4880" y="2627856"/>
                  </a:lnTo>
                  <a:lnTo>
                    <a:pt x="18877" y="2672961"/>
                  </a:lnTo>
                  <a:lnTo>
                    <a:pt x="41026" y="2713779"/>
                  </a:lnTo>
                  <a:lnTo>
                    <a:pt x="70364" y="2749342"/>
                  </a:lnTo>
                  <a:lnTo>
                    <a:pt x="105925" y="2778685"/>
                  </a:lnTo>
                  <a:lnTo>
                    <a:pt x="146746" y="2800841"/>
                  </a:lnTo>
                  <a:lnTo>
                    <a:pt x="191861" y="2814843"/>
                  </a:lnTo>
                  <a:lnTo>
                    <a:pt x="240306" y="2819725"/>
                  </a:lnTo>
                  <a:lnTo>
                    <a:pt x="3618214" y="2819725"/>
                  </a:lnTo>
                  <a:lnTo>
                    <a:pt x="3666659" y="2814843"/>
                  </a:lnTo>
                  <a:lnTo>
                    <a:pt x="3711775" y="2800841"/>
                  </a:lnTo>
                  <a:lnTo>
                    <a:pt x="3752595" y="2778685"/>
                  </a:lnTo>
                  <a:lnTo>
                    <a:pt x="3788156" y="2749342"/>
                  </a:lnTo>
                  <a:lnTo>
                    <a:pt x="3817494" y="2713779"/>
                  </a:lnTo>
                  <a:lnTo>
                    <a:pt x="3839644" y="2672961"/>
                  </a:lnTo>
                  <a:lnTo>
                    <a:pt x="3853641" y="2627856"/>
                  </a:lnTo>
                  <a:lnTo>
                    <a:pt x="3858521" y="2579429"/>
                  </a:lnTo>
                  <a:lnTo>
                    <a:pt x="3858521" y="240296"/>
                  </a:lnTo>
                  <a:lnTo>
                    <a:pt x="3853641" y="191869"/>
                  </a:lnTo>
                  <a:lnTo>
                    <a:pt x="3839644" y="146763"/>
                  </a:lnTo>
                  <a:lnTo>
                    <a:pt x="3817494" y="105946"/>
                  </a:lnTo>
                  <a:lnTo>
                    <a:pt x="3788156" y="70382"/>
                  </a:lnTo>
                  <a:lnTo>
                    <a:pt x="3752595" y="41039"/>
                  </a:lnTo>
                  <a:lnTo>
                    <a:pt x="3711775" y="18884"/>
                  </a:lnTo>
                  <a:lnTo>
                    <a:pt x="3666659" y="4882"/>
                  </a:lnTo>
                  <a:lnTo>
                    <a:pt x="3618214" y="0"/>
                  </a:lnTo>
                  <a:close/>
                </a:path>
              </a:pathLst>
            </a:custGeom>
            <a:solidFill>
              <a:srgbClr val="FFFFFF"/>
            </a:solidFill>
          </p:spPr>
          <p:txBody>
            <a:bodyPr wrap="square" lIns="0" tIns="0" rIns="0" bIns="0" rtlCol="0"/>
            <a:lstStyle/>
            <a:p>
              <a:endParaRPr/>
            </a:p>
          </p:txBody>
        </p:sp>
        <p:sp>
          <p:nvSpPr>
            <p:cNvPr id="54" name="object 54"/>
            <p:cNvSpPr/>
            <p:nvPr/>
          </p:nvSpPr>
          <p:spPr>
            <a:xfrm>
              <a:off x="11108353" y="4472397"/>
              <a:ext cx="3858895" cy="2820035"/>
            </a:xfrm>
            <a:custGeom>
              <a:avLst/>
              <a:gdLst/>
              <a:ahLst/>
              <a:cxnLst/>
              <a:rect l="l" t="t" r="r" b="b"/>
              <a:pathLst>
                <a:path w="3858894"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sp>
        <p:nvSpPr>
          <p:cNvPr id="55" name="object 55"/>
          <p:cNvSpPr txBox="1"/>
          <p:nvPr/>
        </p:nvSpPr>
        <p:spPr>
          <a:xfrm>
            <a:off x="5962843" y="7225344"/>
            <a:ext cx="1153160" cy="675640"/>
          </a:xfrm>
          <a:prstGeom prst="rect">
            <a:avLst/>
          </a:prstGeom>
        </p:spPr>
        <p:txBody>
          <a:bodyPr vert="horz" wrap="square" lIns="0" tIns="74930" rIns="0" bIns="0" rtlCol="0">
            <a:spAutoFit/>
          </a:bodyPr>
          <a:lstStyle/>
          <a:p>
            <a:pPr marL="12700">
              <a:lnSpc>
                <a:spcPct val="100000"/>
              </a:lnSpc>
              <a:spcBef>
                <a:spcPts val="590"/>
              </a:spcBef>
            </a:pPr>
            <a:r>
              <a:rPr sz="2300" spc="-45">
                <a:solidFill>
                  <a:srgbClr val="262626"/>
                </a:solidFill>
                <a:latin typeface="Microsoft Sans Serif"/>
                <a:cs typeface="Microsoft Sans Serif"/>
              </a:rPr>
              <a:t>Revenue</a:t>
            </a:r>
            <a:endParaRPr sz="2300">
              <a:latin typeface="Microsoft Sans Serif"/>
              <a:cs typeface="Microsoft Sans Serif"/>
            </a:endParaRPr>
          </a:p>
          <a:p>
            <a:pPr marL="12700">
              <a:lnSpc>
                <a:spcPct val="100000"/>
              </a:lnSpc>
              <a:spcBef>
                <a:spcPts val="300"/>
              </a:spcBef>
            </a:pPr>
            <a:r>
              <a:rPr sz="1300">
                <a:solidFill>
                  <a:srgbClr val="7F7F7F"/>
                </a:solidFill>
                <a:latin typeface="Microsoft Sans Serif"/>
                <a:cs typeface="Microsoft Sans Serif"/>
              </a:rPr>
              <a:t>£</a:t>
            </a:r>
            <a:r>
              <a:rPr sz="1300" spc="-50">
                <a:solidFill>
                  <a:srgbClr val="7F7F7F"/>
                </a:solidFill>
                <a:latin typeface="Microsoft Sans Serif"/>
                <a:cs typeface="Microsoft Sans Serif"/>
              </a:rPr>
              <a:t> </a:t>
            </a:r>
            <a:r>
              <a:rPr sz="1300" spc="-10">
                <a:solidFill>
                  <a:srgbClr val="7F7F7F"/>
                </a:solidFill>
                <a:latin typeface="Microsoft Sans Serif"/>
                <a:cs typeface="Microsoft Sans Serif"/>
              </a:rPr>
              <a:t>million</a:t>
            </a:r>
            <a:endParaRPr sz="1300">
              <a:latin typeface="Microsoft Sans Serif"/>
              <a:cs typeface="Microsoft Sans Serif"/>
            </a:endParaRPr>
          </a:p>
        </p:txBody>
      </p:sp>
      <p:sp>
        <p:nvSpPr>
          <p:cNvPr id="57" name="object 57"/>
          <p:cNvSpPr/>
          <p:nvPr/>
        </p:nvSpPr>
        <p:spPr>
          <a:xfrm>
            <a:off x="5964548" y="7976996"/>
            <a:ext cx="3443604" cy="0"/>
          </a:xfrm>
          <a:custGeom>
            <a:avLst/>
            <a:gdLst/>
            <a:ahLst/>
            <a:cxnLst/>
            <a:rect l="l" t="t" r="r" b="b"/>
            <a:pathLst>
              <a:path w="3443605">
                <a:moveTo>
                  <a:pt x="0" y="0"/>
                </a:moveTo>
                <a:lnTo>
                  <a:pt x="3443026" y="0"/>
                </a:lnTo>
              </a:path>
            </a:pathLst>
          </a:custGeom>
          <a:ln w="10470">
            <a:solidFill>
              <a:srgbClr val="D1D1D1"/>
            </a:solidFill>
          </a:ln>
        </p:spPr>
        <p:txBody>
          <a:bodyPr wrap="square" lIns="0" tIns="0" rIns="0" bIns="0" rtlCol="0"/>
          <a:lstStyle/>
          <a:p>
            <a:endParaRPr/>
          </a:p>
        </p:txBody>
      </p:sp>
      <p:grpSp>
        <p:nvGrpSpPr>
          <p:cNvPr id="60" name="object 60"/>
          <p:cNvGrpSpPr/>
          <p:nvPr/>
        </p:nvGrpSpPr>
        <p:grpSpPr>
          <a:xfrm>
            <a:off x="5926852" y="8899565"/>
            <a:ext cx="3466465" cy="480695"/>
            <a:chOff x="11278399" y="6239810"/>
            <a:chExt cx="3466465" cy="480695"/>
          </a:xfrm>
        </p:grpSpPr>
        <p:pic>
          <p:nvPicPr>
            <p:cNvPr id="61" name="object 61"/>
            <p:cNvPicPr/>
            <p:nvPr/>
          </p:nvPicPr>
          <p:blipFill>
            <a:blip r:embed="rId5" cstate="print"/>
            <a:stretch>
              <a:fillRect/>
            </a:stretch>
          </p:blipFill>
          <p:spPr>
            <a:xfrm>
              <a:off x="11278399" y="6239810"/>
              <a:ext cx="3465863" cy="153293"/>
            </a:xfrm>
            <a:prstGeom prst="rect">
              <a:avLst/>
            </a:prstGeom>
          </p:spPr>
        </p:pic>
        <p:pic>
          <p:nvPicPr>
            <p:cNvPr id="62" name="object 62"/>
            <p:cNvPicPr/>
            <p:nvPr/>
          </p:nvPicPr>
          <p:blipFill>
            <a:blip r:embed="rId6" cstate="print"/>
            <a:stretch>
              <a:fillRect/>
            </a:stretch>
          </p:blipFill>
          <p:spPr>
            <a:xfrm>
              <a:off x="11330963" y="6293756"/>
              <a:ext cx="3324296" cy="44836"/>
            </a:xfrm>
            <a:prstGeom prst="rect">
              <a:avLst/>
            </a:prstGeom>
          </p:spPr>
        </p:pic>
        <p:sp>
          <p:nvSpPr>
            <p:cNvPr id="63" name="object 63"/>
            <p:cNvSpPr/>
            <p:nvPr/>
          </p:nvSpPr>
          <p:spPr>
            <a:xfrm>
              <a:off x="11330963" y="6675430"/>
              <a:ext cx="3413760" cy="45085"/>
            </a:xfrm>
            <a:custGeom>
              <a:avLst/>
              <a:gdLst/>
              <a:ahLst/>
              <a:cxnLst/>
              <a:rect l="l" t="t" r="r" b="b"/>
              <a:pathLst>
                <a:path w="3413759" h="45084">
                  <a:moveTo>
                    <a:pt x="3390891" y="0"/>
                  </a:moveTo>
                  <a:lnTo>
                    <a:pt x="22407" y="0"/>
                  </a:lnTo>
                  <a:lnTo>
                    <a:pt x="13693" y="1760"/>
                  </a:lnTo>
                  <a:lnTo>
                    <a:pt x="6570" y="6563"/>
                  </a:lnTo>
                  <a:lnTo>
                    <a:pt x="1763" y="13689"/>
                  </a:lnTo>
                  <a:lnTo>
                    <a:pt x="0" y="22418"/>
                  </a:lnTo>
                  <a:lnTo>
                    <a:pt x="1767" y="31148"/>
                  </a:lnTo>
                  <a:lnTo>
                    <a:pt x="6584" y="38277"/>
                  </a:lnTo>
                  <a:lnTo>
                    <a:pt x="13744" y="43084"/>
                  </a:lnTo>
                  <a:lnTo>
                    <a:pt x="22459" y="44846"/>
                  </a:lnTo>
                  <a:lnTo>
                    <a:pt x="3390891" y="44846"/>
                  </a:lnTo>
                  <a:lnTo>
                    <a:pt x="3399605" y="43084"/>
                  </a:lnTo>
                  <a:lnTo>
                    <a:pt x="3406728" y="38277"/>
                  </a:lnTo>
                  <a:lnTo>
                    <a:pt x="3411535" y="31148"/>
                  </a:lnTo>
                  <a:lnTo>
                    <a:pt x="3413299" y="22418"/>
                  </a:lnTo>
                  <a:lnTo>
                    <a:pt x="3411535" y="13689"/>
                  </a:lnTo>
                  <a:lnTo>
                    <a:pt x="3406728" y="6563"/>
                  </a:lnTo>
                  <a:lnTo>
                    <a:pt x="3399605" y="1760"/>
                  </a:lnTo>
                  <a:lnTo>
                    <a:pt x="3390891" y="0"/>
                  </a:lnTo>
                  <a:close/>
                </a:path>
              </a:pathLst>
            </a:custGeom>
            <a:solidFill>
              <a:srgbClr val="E8E8E8"/>
            </a:solidFill>
          </p:spPr>
          <p:txBody>
            <a:bodyPr wrap="square" lIns="0" tIns="0" rIns="0" bIns="0" rtlCol="0"/>
            <a:lstStyle/>
            <a:p>
              <a:endParaRPr/>
            </a:p>
          </p:txBody>
        </p:sp>
      </p:grpSp>
      <p:sp>
        <p:nvSpPr>
          <p:cNvPr id="64" name="object 64"/>
          <p:cNvSpPr txBox="1"/>
          <p:nvPr/>
        </p:nvSpPr>
        <p:spPr>
          <a:xfrm>
            <a:off x="5951848" y="8021687"/>
            <a:ext cx="1289050" cy="1306195"/>
          </a:xfrm>
          <a:prstGeom prst="rect">
            <a:avLst/>
          </a:prstGeom>
        </p:spPr>
        <p:txBody>
          <a:bodyPr vert="horz" wrap="square" lIns="0" tIns="16510" rIns="0" bIns="0" rtlCol="0">
            <a:spAutoFit/>
          </a:bodyPr>
          <a:lstStyle/>
          <a:p>
            <a:pPr marL="12700">
              <a:lnSpc>
                <a:spcPct val="100000"/>
              </a:lnSpc>
              <a:spcBef>
                <a:spcPts val="130"/>
              </a:spcBef>
            </a:pPr>
            <a:r>
              <a:rPr sz="3200" spc="-330">
                <a:solidFill>
                  <a:srgbClr val="065088"/>
                </a:solidFill>
                <a:latin typeface="Arial Black"/>
                <a:cs typeface="Arial Black"/>
              </a:rPr>
              <a:t>28,961</a:t>
            </a:r>
            <a:endParaRPr sz="3200">
              <a:latin typeface="Arial Black"/>
              <a:cs typeface="Arial Black"/>
            </a:endParaRPr>
          </a:p>
          <a:p>
            <a:pPr marL="27305">
              <a:lnSpc>
                <a:spcPct val="100000"/>
              </a:lnSpc>
              <a:spcBef>
                <a:spcPts val="1465"/>
              </a:spcBef>
            </a:pPr>
            <a:r>
              <a:rPr sz="1300" spc="-20">
                <a:solidFill>
                  <a:srgbClr val="424242"/>
                </a:solidFill>
                <a:latin typeface="Microsoft Sans Serif"/>
                <a:cs typeface="Microsoft Sans Serif"/>
              </a:rPr>
              <a:t>FY25</a:t>
            </a:r>
            <a:endParaRPr sz="1300">
              <a:latin typeface="Microsoft Sans Serif"/>
              <a:cs typeface="Microsoft Sans Serif"/>
            </a:endParaRPr>
          </a:p>
          <a:p>
            <a:pPr>
              <a:lnSpc>
                <a:spcPct val="100000"/>
              </a:lnSpc>
              <a:spcBef>
                <a:spcPts val="150"/>
              </a:spcBef>
            </a:pPr>
            <a:endParaRPr sz="1300">
              <a:latin typeface="Microsoft Sans Serif"/>
              <a:cs typeface="Microsoft Sans Serif"/>
            </a:endParaRPr>
          </a:p>
          <a:p>
            <a:pPr marL="27305">
              <a:lnSpc>
                <a:spcPct val="100000"/>
              </a:lnSpc>
            </a:pPr>
            <a:r>
              <a:rPr sz="1300" spc="-20">
                <a:solidFill>
                  <a:srgbClr val="7F7F7F"/>
                </a:solidFill>
                <a:latin typeface="Microsoft Sans Serif"/>
                <a:cs typeface="Microsoft Sans Serif"/>
              </a:rPr>
              <a:t>FY24</a:t>
            </a:r>
            <a:endParaRPr sz="1300">
              <a:latin typeface="Microsoft Sans Serif"/>
              <a:cs typeface="Microsoft Sans Serif"/>
            </a:endParaRPr>
          </a:p>
        </p:txBody>
      </p:sp>
      <p:sp>
        <p:nvSpPr>
          <p:cNvPr id="65" name="object 65"/>
          <p:cNvSpPr txBox="1"/>
          <p:nvPr/>
        </p:nvSpPr>
        <p:spPr>
          <a:xfrm>
            <a:off x="8866524" y="8696713"/>
            <a:ext cx="538480" cy="631190"/>
          </a:xfrm>
          <a:prstGeom prst="rect">
            <a:avLst/>
          </a:prstGeom>
        </p:spPr>
        <p:txBody>
          <a:bodyPr vert="horz" wrap="square" lIns="0" tIns="15240" rIns="0" bIns="0" rtlCol="0">
            <a:spAutoFit/>
          </a:bodyPr>
          <a:lstStyle/>
          <a:p>
            <a:pPr marL="37465">
              <a:lnSpc>
                <a:spcPct val="100000"/>
              </a:lnSpc>
              <a:spcBef>
                <a:spcPts val="120"/>
              </a:spcBef>
            </a:pPr>
            <a:r>
              <a:rPr sz="1300" spc="-25">
                <a:solidFill>
                  <a:srgbClr val="424242"/>
                </a:solidFill>
                <a:latin typeface="Microsoft Sans Serif"/>
                <a:cs typeface="Microsoft Sans Serif"/>
              </a:rPr>
              <a:t>28,961</a:t>
            </a:r>
            <a:endParaRPr sz="1300">
              <a:latin typeface="Microsoft Sans Serif"/>
              <a:cs typeface="Microsoft Sans Serif"/>
            </a:endParaRPr>
          </a:p>
          <a:p>
            <a:pPr>
              <a:lnSpc>
                <a:spcPct val="100000"/>
              </a:lnSpc>
              <a:spcBef>
                <a:spcPts val="150"/>
              </a:spcBef>
            </a:pPr>
            <a:endParaRPr sz="1300">
              <a:latin typeface="Microsoft Sans Serif"/>
              <a:cs typeface="Microsoft Sans Serif"/>
            </a:endParaRPr>
          </a:p>
          <a:p>
            <a:pPr marL="12700">
              <a:lnSpc>
                <a:spcPct val="100000"/>
              </a:lnSpc>
            </a:pPr>
            <a:r>
              <a:rPr sz="1300" spc="-10">
                <a:solidFill>
                  <a:srgbClr val="7F7F7F"/>
                </a:solidFill>
                <a:latin typeface="Microsoft Sans Serif"/>
                <a:cs typeface="Microsoft Sans Serif"/>
              </a:rPr>
              <a:t>28,995</a:t>
            </a:r>
            <a:endParaRPr sz="1300">
              <a:latin typeface="Microsoft Sans Serif"/>
              <a:cs typeface="Microsoft Sans Serif"/>
            </a:endParaRPr>
          </a:p>
        </p:txBody>
      </p:sp>
      <p:grpSp>
        <p:nvGrpSpPr>
          <p:cNvPr id="66" name="object 66"/>
          <p:cNvGrpSpPr/>
          <p:nvPr/>
        </p:nvGrpSpPr>
        <p:grpSpPr>
          <a:xfrm>
            <a:off x="5979417" y="9335185"/>
            <a:ext cx="3413760" cy="426720"/>
            <a:chOff x="11330964" y="6675430"/>
            <a:chExt cx="3413760" cy="426720"/>
          </a:xfrm>
        </p:grpSpPr>
        <p:sp>
          <p:nvSpPr>
            <p:cNvPr id="67" name="object 67"/>
            <p:cNvSpPr/>
            <p:nvPr/>
          </p:nvSpPr>
          <p:spPr>
            <a:xfrm>
              <a:off x="11330964" y="6675430"/>
              <a:ext cx="3413760" cy="45085"/>
            </a:xfrm>
            <a:custGeom>
              <a:avLst/>
              <a:gdLst/>
              <a:ahLst/>
              <a:cxnLst/>
              <a:rect l="l" t="t" r="r" b="b"/>
              <a:pathLst>
                <a:path w="3413759" h="45084">
                  <a:moveTo>
                    <a:pt x="3390891" y="0"/>
                  </a:moveTo>
                  <a:lnTo>
                    <a:pt x="22407" y="0"/>
                  </a:lnTo>
                  <a:lnTo>
                    <a:pt x="13693" y="1760"/>
                  </a:lnTo>
                  <a:lnTo>
                    <a:pt x="6570" y="6563"/>
                  </a:lnTo>
                  <a:lnTo>
                    <a:pt x="1763" y="13689"/>
                  </a:lnTo>
                  <a:lnTo>
                    <a:pt x="0" y="22418"/>
                  </a:lnTo>
                  <a:lnTo>
                    <a:pt x="1767" y="31148"/>
                  </a:lnTo>
                  <a:lnTo>
                    <a:pt x="6584" y="38277"/>
                  </a:lnTo>
                  <a:lnTo>
                    <a:pt x="13744" y="43084"/>
                  </a:lnTo>
                  <a:lnTo>
                    <a:pt x="22459" y="44846"/>
                  </a:lnTo>
                  <a:lnTo>
                    <a:pt x="3390891" y="44846"/>
                  </a:lnTo>
                  <a:lnTo>
                    <a:pt x="3399605" y="43084"/>
                  </a:lnTo>
                  <a:lnTo>
                    <a:pt x="3406728" y="38277"/>
                  </a:lnTo>
                  <a:lnTo>
                    <a:pt x="3411535" y="31148"/>
                  </a:lnTo>
                  <a:lnTo>
                    <a:pt x="3413299" y="22418"/>
                  </a:lnTo>
                  <a:lnTo>
                    <a:pt x="3411535" y="13689"/>
                  </a:lnTo>
                  <a:lnTo>
                    <a:pt x="3406728" y="6563"/>
                  </a:lnTo>
                  <a:lnTo>
                    <a:pt x="3399605" y="1760"/>
                  </a:lnTo>
                  <a:lnTo>
                    <a:pt x="3390891" y="0"/>
                  </a:lnTo>
                  <a:close/>
                </a:path>
              </a:pathLst>
            </a:custGeom>
            <a:solidFill>
              <a:srgbClr val="84C7FA"/>
            </a:solidFill>
          </p:spPr>
          <p:txBody>
            <a:bodyPr wrap="square" lIns="0" tIns="0" rIns="0" bIns="0" rtlCol="0"/>
            <a:lstStyle/>
            <a:p>
              <a:endParaRPr/>
            </a:p>
          </p:txBody>
        </p:sp>
        <p:sp>
          <p:nvSpPr>
            <p:cNvPr id="68" name="object 68"/>
            <p:cNvSpPr/>
            <p:nvPr/>
          </p:nvSpPr>
          <p:spPr>
            <a:xfrm>
              <a:off x="11330966" y="7057094"/>
              <a:ext cx="3413760" cy="45085"/>
            </a:xfrm>
            <a:custGeom>
              <a:avLst/>
              <a:gdLst/>
              <a:ahLst/>
              <a:cxnLst/>
              <a:rect l="l" t="t" r="r" b="b"/>
              <a:pathLst>
                <a:path w="3413759" h="45084">
                  <a:moveTo>
                    <a:pt x="3390889" y="0"/>
                  </a:moveTo>
                  <a:lnTo>
                    <a:pt x="22405" y="0"/>
                  </a:lnTo>
                  <a:lnTo>
                    <a:pt x="13691" y="1762"/>
                  </a:lnTo>
                  <a:lnTo>
                    <a:pt x="6568" y="6569"/>
                  </a:lnTo>
                  <a:lnTo>
                    <a:pt x="1761" y="13698"/>
                  </a:lnTo>
                  <a:lnTo>
                    <a:pt x="0" y="22428"/>
                  </a:lnTo>
                  <a:lnTo>
                    <a:pt x="1767" y="31157"/>
                  </a:lnTo>
                  <a:lnTo>
                    <a:pt x="6576" y="38282"/>
                  </a:lnTo>
                  <a:lnTo>
                    <a:pt x="13699" y="43085"/>
                  </a:lnTo>
                  <a:lnTo>
                    <a:pt x="22405" y="44846"/>
                  </a:lnTo>
                  <a:lnTo>
                    <a:pt x="3390889" y="44846"/>
                  </a:lnTo>
                  <a:lnTo>
                    <a:pt x="3399603" y="43085"/>
                  </a:lnTo>
                  <a:lnTo>
                    <a:pt x="3406726" y="38282"/>
                  </a:lnTo>
                  <a:lnTo>
                    <a:pt x="3411533" y="31157"/>
                  </a:lnTo>
                  <a:lnTo>
                    <a:pt x="3413297" y="22428"/>
                  </a:lnTo>
                  <a:lnTo>
                    <a:pt x="3411533" y="13698"/>
                  </a:lnTo>
                  <a:lnTo>
                    <a:pt x="3406726" y="6569"/>
                  </a:lnTo>
                  <a:lnTo>
                    <a:pt x="3399603" y="1762"/>
                  </a:lnTo>
                  <a:lnTo>
                    <a:pt x="3390889" y="0"/>
                  </a:lnTo>
                  <a:close/>
                </a:path>
              </a:pathLst>
            </a:custGeom>
            <a:solidFill>
              <a:srgbClr val="E8E8E8"/>
            </a:solidFill>
          </p:spPr>
          <p:txBody>
            <a:bodyPr wrap="square" lIns="0" tIns="0" rIns="0" bIns="0" rtlCol="0"/>
            <a:lstStyle/>
            <a:p>
              <a:endParaRPr/>
            </a:p>
          </p:txBody>
        </p:sp>
      </p:grpSp>
      <p:sp>
        <p:nvSpPr>
          <p:cNvPr id="69" name="object 69"/>
          <p:cNvSpPr txBox="1"/>
          <p:nvPr/>
        </p:nvSpPr>
        <p:spPr>
          <a:xfrm>
            <a:off x="5966717" y="9483286"/>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70" name="object 70"/>
          <p:cNvSpPr txBox="1"/>
          <p:nvPr/>
        </p:nvSpPr>
        <p:spPr>
          <a:xfrm>
            <a:off x="8865267" y="9483286"/>
            <a:ext cx="541020" cy="226695"/>
          </a:xfrm>
          <a:prstGeom prst="rect">
            <a:avLst/>
          </a:prstGeom>
        </p:spPr>
        <p:txBody>
          <a:bodyPr vert="horz" wrap="square" lIns="0" tIns="15240" rIns="0" bIns="0" rtlCol="0">
            <a:spAutoFit/>
          </a:bodyPr>
          <a:lstStyle/>
          <a:p>
            <a:pPr marL="12700">
              <a:lnSpc>
                <a:spcPct val="100000"/>
              </a:lnSpc>
              <a:spcBef>
                <a:spcPts val="120"/>
              </a:spcBef>
            </a:pPr>
            <a:r>
              <a:rPr sz="1300" spc="-10">
                <a:solidFill>
                  <a:srgbClr val="7F7F7F"/>
                </a:solidFill>
                <a:latin typeface="Microsoft Sans Serif"/>
                <a:cs typeface="Microsoft Sans Serif"/>
              </a:rPr>
              <a:t>22,809</a:t>
            </a:r>
            <a:endParaRPr sz="1300">
              <a:latin typeface="Microsoft Sans Serif"/>
              <a:cs typeface="Microsoft Sans Serif"/>
            </a:endParaRPr>
          </a:p>
        </p:txBody>
      </p:sp>
      <p:sp>
        <p:nvSpPr>
          <p:cNvPr id="71" name="object 71"/>
          <p:cNvSpPr/>
          <p:nvPr/>
        </p:nvSpPr>
        <p:spPr>
          <a:xfrm>
            <a:off x="5979417" y="9716849"/>
            <a:ext cx="2760345" cy="45085"/>
          </a:xfrm>
          <a:custGeom>
            <a:avLst/>
            <a:gdLst/>
            <a:ahLst/>
            <a:cxnLst/>
            <a:rect l="l" t="t" r="r" b="b"/>
            <a:pathLst>
              <a:path w="2760344" h="45084">
                <a:moveTo>
                  <a:pt x="2737927" y="0"/>
                </a:moveTo>
                <a:lnTo>
                  <a:pt x="22407" y="0"/>
                </a:lnTo>
                <a:lnTo>
                  <a:pt x="13693" y="1762"/>
                </a:lnTo>
                <a:lnTo>
                  <a:pt x="6570" y="6569"/>
                </a:lnTo>
                <a:lnTo>
                  <a:pt x="1763" y="13698"/>
                </a:lnTo>
                <a:lnTo>
                  <a:pt x="0" y="22428"/>
                </a:lnTo>
                <a:lnTo>
                  <a:pt x="1763" y="31152"/>
                </a:lnTo>
                <a:lnTo>
                  <a:pt x="6570" y="38278"/>
                </a:lnTo>
                <a:lnTo>
                  <a:pt x="13693" y="43084"/>
                </a:lnTo>
                <a:lnTo>
                  <a:pt x="22407" y="44846"/>
                </a:lnTo>
                <a:lnTo>
                  <a:pt x="2737927" y="44846"/>
                </a:lnTo>
                <a:lnTo>
                  <a:pt x="2746640" y="43084"/>
                </a:lnTo>
                <a:lnTo>
                  <a:pt x="2753764" y="38278"/>
                </a:lnTo>
                <a:lnTo>
                  <a:pt x="2758571" y="31152"/>
                </a:lnTo>
                <a:lnTo>
                  <a:pt x="2760334" y="22428"/>
                </a:lnTo>
                <a:lnTo>
                  <a:pt x="2758571" y="13698"/>
                </a:lnTo>
                <a:lnTo>
                  <a:pt x="2753764" y="6569"/>
                </a:lnTo>
                <a:lnTo>
                  <a:pt x="2746640" y="1762"/>
                </a:lnTo>
                <a:lnTo>
                  <a:pt x="2737927" y="0"/>
                </a:lnTo>
                <a:close/>
              </a:path>
            </a:pathLst>
          </a:custGeom>
          <a:solidFill>
            <a:srgbClr val="84C7FA"/>
          </a:solidFill>
        </p:spPr>
        <p:txBody>
          <a:bodyPr wrap="square" lIns="0" tIns="0" rIns="0" bIns="0" rtlCol="0"/>
          <a:lstStyle/>
          <a:p>
            <a:endParaRPr/>
          </a:p>
        </p:txBody>
      </p:sp>
      <p:grpSp>
        <p:nvGrpSpPr>
          <p:cNvPr id="72" name="object 72"/>
          <p:cNvGrpSpPr/>
          <p:nvPr/>
        </p:nvGrpSpPr>
        <p:grpSpPr>
          <a:xfrm>
            <a:off x="14920474" y="4150050"/>
            <a:ext cx="3869690" cy="2830830"/>
            <a:chOff x="15113094" y="4467000"/>
            <a:chExt cx="3869690" cy="2830830"/>
          </a:xfrm>
        </p:grpSpPr>
        <p:sp>
          <p:nvSpPr>
            <p:cNvPr id="73" name="object 73"/>
            <p:cNvSpPr/>
            <p:nvPr/>
          </p:nvSpPr>
          <p:spPr>
            <a:xfrm>
              <a:off x="15118491" y="4472397"/>
              <a:ext cx="3858895" cy="2820035"/>
            </a:xfrm>
            <a:custGeom>
              <a:avLst/>
              <a:gdLst/>
              <a:ahLst/>
              <a:cxnLst/>
              <a:rect l="l" t="t" r="r" b="b"/>
              <a:pathLst>
                <a:path w="3858894" h="2820034">
                  <a:moveTo>
                    <a:pt x="3618319" y="0"/>
                  </a:moveTo>
                  <a:lnTo>
                    <a:pt x="240306" y="0"/>
                  </a:lnTo>
                  <a:lnTo>
                    <a:pt x="191891" y="4882"/>
                  </a:lnTo>
                  <a:lnTo>
                    <a:pt x="146790" y="18884"/>
                  </a:lnTo>
                  <a:lnTo>
                    <a:pt x="105971" y="41039"/>
                  </a:lnTo>
                  <a:lnTo>
                    <a:pt x="70403" y="70382"/>
                  </a:lnTo>
                  <a:lnTo>
                    <a:pt x="41054" y="105946"/>
                  </a:lnTo>
                  <a:lnTo>
                    <a:pt x="18891" y="146763"/>
                  </a:lnTo>
                  <a:lnTo>
                    <a:pt x="4884" y="191869"/>
                  </a:lnTo>
                  <a:lnTo>
                    <a:pt x="0" y="240296"/>
                  </a:lnTo>
                  <a:lnTo>
                    <a:pt x="0" y="2579429"/>
                  </a:lnTo>
                  <a:lnTo>
                    <a:pt x="4884" y="2627856"/>
                  </a:lnTo>
                  <a:lnTo>
                    <a:pt x="18891" y="2672961"/>
                  </a:lnTo>
                  <a:lnTo>
                    <a:pt x="41054" y="2713779"/>
                  </a:lnTo>
                  <a:lnTo>
                    <a:pt x="70403" y="2749342"/>
                  </a:lnTo>
                  <a:lnTo>
                    <a:pt x="105971" y="2778685"/>
                  </a:lnTo>
                  <a:lnTo>
                    <a:pt x="146790" y="2800841"/>
                  </a:lnTo>
                  <a:lnTo>
                    <a:pt x="191891" y="2814843"/>
                  </a:lnTo>
                  <a:lnTo>
                    <a:pt x="240306" y="2819725"/>
                  </a:lnTo>
                  <a:lnTo>
                    <a:pt x="3618319" y="2819725"/>
                  </a:lnTo>
                  <a:lnTo>
                    <a:pt x="3666734" y="2814843"/>
                  </a:lnTo>
                  <a:lnTo>
                    <a:pt x="3711835" y="2800841"/>
                  </a:lnTo>
                  <a:lnTo>
                    <a:pt x="3752654" y="2778685"/>
                  </a:lnTo>
                  <a:lnTo>
                    <a:pt x="3788222" y="2749342"/>
                  </a:lnTo>
                  <a:lnTo>
                    <a:pt x="3817571" y="2713779"/>
                  </a:lnTo>
                  <a:lnTo>
                    <a:pt x="3839734" y="2672961"/>
                  </a:lnTo>
                  <a:lnTo>
                    <a:pt x="3853741" y="2627856"/>
                  </a:lnTo>
                  <a:lnTo>
                    <a:pt x="3858625" y="2579429"/>
                  </a:lnTo>
                  <a:lnTo>
                    <a:pt x="3858625" y="240296"/>
                  </a:lnTo>
                  <a:lnTo>
                    <a:pt x="3853741" y="191869"/>
                  </a:lnTo>
                  <a:lnTo>
                    <a:pt x="3839734" y="146763"/>
                  </a:lnTo>
                  <a:lnTo>
                    <a:pt x="3817571" y="105946"/>
                  </a:lnTo>
                  <a:lnTo>
                    <a:pt x="3788222" y="70382"/>
                  </a:lnTo>
                  <a:lnTo>
                    <a:pt x="3752654" y="41039"/>
                  </a:lnTo>
                  <a:lnTo>
                    <a:pt x="3711835" y="18884"/>
                  </a:lnTo>
                  <a:lnTo>
                    <a:pt x="3666734" y="4882"/>
                  </a:lnTo>
                  <a:lnTo>
                    <a:pt x="3618319" y="0"/>
                  </a:lnTo>
                  <a:close/>
                </a:path>
              </a:pathLst>
            </a:custGeom>
            <a:solidFill>
              <a:srgbClr val="FFFFFF"/>
            </a:solidFill>
          </p:spPr>
          <p:txBody>
            <a:bodyPr wrap="square" lIns="0" tIns="0" rIns="0" bIns="0" rtlCol="0"/>
            <a:lstStyle/>
            <a:p>
              <a:endParaRPr/>
            </a:p>
          </p:txBody>
        </p:sp>
        <p:sp>
          <p:nvSpPr>
            <p:cNvPr id="74" name="object 74"/>
            <p:cNvSpPr/>
            <p:nvPr/>
          </p:nvSpPr>
          <p:spPr>
            <a:xfrm>
              <a:off x="15118492" y="4472397"/>
              <a:ext cx="3858895" cy="2820035"/>
            </a:xfrm>
            <a:custGeom>
              <a:avLst/>
              <a:gdLst/>
              <a:ahLst/>
              <a:cxnLst/>
              <a:rect l="l" t="t" r="r" b="b"/>
              <a:pathLst>
                <a:path w="3858894"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sp>
        <p:nvSpPr>
          <p:cNvPr id="75" name="object 75"/>
          <p:cNvSpPr txBox="1"/>
          <p:nvPr/>
        </p:nvSpPr>
        <p:spPr>
          <a:xfrm>
            <a:off x="15132013" y="4248639"/>
            <a:ext cx="1997710" cy="675640"/>
          </a:xfrm>
          <a:prstGeom prst="rect">
            <a:avLst/>
          </a:prstGeom>
        </p:spPr>
        <p:txBody>
          <a:bodyPr vert="horz" wrap="square" lIns="0" tIns="74930" rIns="0" bIns="0" rtlCol="0">
            <a:spAutoFit/>
          </a:bodyPr>
          <a:lstStyle/>
          <a:p>
            <a:pPr marL="12700">
              <a:lnSpc>
                <a:spcPct val="100000"/>
              </a:lnSpc>
              <a:spcBef>
                <a:spcPts val="590"/>
              </a:spcBef>
            </a:pPr>
            <a:r>
              <a:rPr sz="2300" spc="-85">
                <a:solidFill>
                  <a:srgbClr val="262626"/>
                </a:solidFill>
                <a:latin typeface="Microsoft Sans Serif"/>
                <a:cs typeface="Microsoft Sans Serif"/>
              </a:rPr>
              <a:t>EBITDA</a:t>
            </a:r>
            <a:r>
              <a:rPr sz="2300" spc="-114">
                <a:solidFill>
                  <a:srgbClr val="262626"/>
                </a:solidFill>
                <a:latin typeface="Microsoft Sans Serif"/>
                <a:cs typeface="Microsoft Sans Serif"/>
              </a:rPr>
              <a:t> </a:t>
            </a:r>
            <a:r>
              <a:rPr sz="2300" spc="-10">
                <a:solidFill>
                  <a:srgbClr val="262626"/>
                </a:solidFill>
                <a:latin typeface="Microsoft Sans Serif"/>
                <a:cs typeface="Microsoft Sans Serif"/>
              </a:rPr>
              <a:t>Margin</a:t>
            </a:r>
            <a:endParaRPr sz="2300">
              <a:latin typeface="Microsoft Sans Serif"/>
              <a:cs typeface="Microsoft Sans Serif"/>
            </a:endParaRPr>
          </a:p>
          <a:p>
            <a:pPr marL="12700">
              <a:lnSpc>
                <a:spcPct val="100000"/>
              </a:lnSpc>
              <a:spcBef>
                <a:spcPts val="300"/>
              </a:spcBef>
            </a:pPr>
            <a:r>
              <a:rPr sz="1300" spc="-50">
                <a:solidFill>
                  <a:srgbClr val="7F7F7F"/>
                </a:solidFill>
                <a:latin typeface="Microsoft Sans Serif"/>
                <a:cs typeface="Microsoft Sans Serif"/>
              </a:rPr>
              <a:t>%</a:t>
            </a:r>
            <a:endParaRPr sz="1300">
              <a:latin typeface="Microsoft Sans Serif"/>
              <a:cs typeface="Microsoft Sans Serif"/>
            </a:endParaRPr>
          </a:p>
        </p:txBody>
      </p:sp>
      <p:sp>
        <p:nvSpPr>
          <p:cNvPr id="77" name="object 77"/>
          <p:cNvSpPr/>
          <p:nvPr/>
        </p:nvSpPr>
        <p:spPr>
          <a:xfrm>
            <a:off x="15133614" y="5000291"/>
            <a:ext cx="3443604" cy="0"/>
          </a:xfrm>
          <a:custGeom>
            <a:avLst/>
            <a:gdLst/>
            <a:ahLst/>
            <a:cxnLst/>
            <a:rect l="l" t="t" r="r" b="b"/>
            <a:pathLst>
              <a:path w="3443605">
                <a:moveTo>
                  <a:pt x="0" y="0"/>
                </a:moveTo>
                <a:lnTo>
                  <a:pt x="3443026" y="0"/>
                </a:lnTo>
              </a:path>
            </a:pathLst>
          </a:custGeom>
          <a:ln w="10470">
            <a:solidFill>
              <a:srgbClr val="D1D1D1"/>
            </a:solidFill>
          </a:ln>
        </p:spPr>
        <p:txBody>
          <a:bodyPr wrap="square" lIns="0" tIns="0" rIns="0" bIns="0" rtlCol="0"/>
          <a:lstStyle/>
          <a:p>
            <a:endParaRPr/>
          </a:p>
        </p:txBody>
      </p:sp>
      <p:sp>
        <p:nvSpPr>
          <p:cNvPr id="80" name="object 80"/>
          <p:cNvSpPr/>
          <p:nvPr/>
        </p:nvSpPr>
        <p:spPr>
          <a:xfrm>
            <a:off x="15148483" y="5976806"/>
            <a:ext cx="3413760" cy="45085"/>
          </a:xfrm>
          <a:custGeom>
            <a:avLst/>
            <a:gdLst/>
            <a:ahLst/>
            <a:cxnLst/>
            <a:rect l="l" t="t" r="r" b="b"/>
            <a:pathLst>
              <a:path w="3413759" h="45085">
                <a:moveTo>
                  <a:pt x="3390891" y="0"/>
                </a:moveTo>
                <a:lnTo>
                  <a:pt x="22407" y="0"/>
                </a:lnTo>
                <a:lnTo>
                  <a:pt x="13693" y="1760"/>
                </a:lnTo>
                <a:lnTo>
                  <a:pt x="6570" y="6563"/>
                </a:lnTo>
                <a:lnTo>
                  <a:pt x="1763" y="13689"/>
                </a:lnTo>
                <a:lnTo>
                  <a:pt x="0" y="22418"/>
                </a:lnTo>
                <a:lnTo>
                  <a:pt x="1764" y="31148"/>
                </a:lnTo>
                <a:lnTo>
                  <a:pt x="6578" y="38277"/>
                </a:lnTo>
                <a:lnTo>
                  <a:pt x="13737" y="43084"/>
                </a:lnTo>
                <a:lnTo>
                  <a:pt x="22459" y="44846"/>
                </a:lnTo>
                <a:lnTo>
                  <a:pt x="3390891" y="44846"/>
                </a:lnTo>
                <a:lnTo>
                  <a:pt x="3399665" y="43084"/>
                </a:lnTo>
                <a:lnTo>
                  <a:pt x="3406820" y="38277"/>
                </a:lnTo>
                <a:lnTo>
                  <a:pt x="3411638" y="31148"/>
                </a:lnTo>
                <a:lnTo>
                  <a:pt x="3413403" y="22418"/>
                </a:lnTo>
                <a:lnTo>
                  <a:pt x="3411638" y="13689"/>
                </a:lnTo>
                <a:lnTo>
                  <a:pt x="3406820" y="6563"/>
                </a:lnTo>
                <a:lnTo>
                  <a:pt x="3399665" y="1760"/>
                </a:lnTo>
                <a:lnTo>
                  <a:pt x="3390891" y="0"/>
                </a:lnTo>
                <a:close/>
              </a:path>
            </a:pathLst>
          </a:custGeom>
          <a:solidFill>
            <a:srgbClr val="E8E8E8"/>
          </a:solidFill>
        </p:spPr>
        <p:txBody>
          <a:bodyPr wrap="square" lIns="0" tIns="0" rIns="0" bIns="0" rtlCol="0"/>
          <a:lstStyle/>
          <a:p>
            <a:endParaRPr/>
          </a:p>
        </p:txBody>
      </p:sp>
      <p:sp>
        <p:nvSpPr>
          <p:cNvPr id="81" name="object 81"/>
          <p:cNvSpPr txBox="1"/>
          <p:nvPr/>
        </p:nvSpPr>
        <p:spPr>
          <a:xfrm>
            <a:off x="15120915" y="5044982"/>
            <a:ext cx="767715" cy="901700"/>
          </a:xfrm>
          <a:prstGeom prst="rect">
            <a:avLst/>
          </a:prstGeom>
        </p:spPr>
        <p:txBody>
          <a:bodyPr vert="horz" wrap="square" lIns="0" tIns="16510" rIns="0" bIns="0" rtlCol="0">
            <a:spAutoFit/>
          </a:bodyPr>
          <a:lstStyle/>
          <a:p>
            <a:pPr marL="12700">
              <a:lnSpc>
                <a:spcPct val="100000"/>
              </a:lnSpc>
              <a:spcBef>
                <a:spcPts val="130"/>
              </a:spcBef>
            </a:pPr>
            <a:r>
              <a:rPr sz="3200" spc="-445">
                <a:solidFill>
                  <a:srgbClr val="065088"/>
                </a:solidFill>
                <a:latin typeface="Arial Black"/>
                <a:cs typeface="Arial Black"/>
              </a:rPr>
              <a:t>14.3</a:t>
            </a:r>
            <a:endParaRPr sz="3200">
              <a:latin typeface="Arial Black"/>
              <a:cs typeface="Arial Black"/>
            </a:endParaRPr>
          </a:p>
          <a:p>
            <a:pPr marL="27305">
              <a:lnSpc>
                <a:spcPct val="100000"/>
              </a:lnSpc>
              <a:spcBef>
                <a:spcPts val="1465"/>
              </a:spcBef>
            </a:pPr>
            <a:r>
              <a:rPr sz="1300" spc="-20">
                <a:solidFill>
                  <a:srgbClr val="424242"/>
                </a:solidFill>
                <a:latin typeface="Microsoft Sans Serif"/>
                <a:cs typeface="Microsoft Sans Serif"/>
              </a:rPr>
              <a:t>FY25</a:t>
            </a:r>
            <a:endParaRPr sz="1300">
              <a:latin typeface="Microsoft Sans Serif"/>
              <a:cs typeface="Microsoft Sans Serif"/>
            </a:endParaRPr>
          </a:p>
        </p:txBody>
      </p:sp>
      <p:sp>
        <p:nvSpPr>
          <p:cNvPr id="82" name="object 82"/>
          <p:cNvSpPr txBox="1"/>
          <p:nvPr/>
        </p:nvSpPr>
        <p:spPr>
          <a:xfrm>
            <a:off x="18266054" y="5720008"/>
            <a:ext cx="308610" cy="226695"/>
          </a:xfrm>
          <a:prstGeom prst="rect">
            <a:avLst/>
          </a:prstGeom>
        </p:spPr>
        <p:txBody>
          <a:bodyPr vert="horz" wrap="square" lIns="0" tIns="15240" rIns="0" bIns="0" rtlCol="0">
            <a:spAutoFit/>
          </a:bodyPr>
          <a:lstStyle/>
          <a:p>
            <a:pPr marL="12700">
              <a:lnSpc>
                <a:spcPct val="100000"/>
              </a:lnSpc>
              <a:spcBef>
                <a:spcPts val="120"/>
              </a:spcBef>
            </a:pPr>
            <a:r>
              <a:rPr sz="1300" spc="-70">
                <a:solidFill>
                  <a:srgbClr val="424242"/>
                </a:solidFill>
                <a:latin typeface="Microsoft Sans Serif"/>
                <a:cs typeface="Microsoft Sans Serif"/>
              </a:rPr>
              <a:t>14.3</a:t>
            </a:r>
            <a:endParaRPr sz="1300">
              <a:latin typeface="Microsoft Sans Serif"/>
              <a:cs typeface="Microsoft Sans Serif"/>
            </a:endParaRPr>
          </a:p>
        </p:txBody>
      </p:sp>
      <p:grpSp>
        <p:nvGrpSpPr>
          <p:cNvPr id="83" name="object 83"/>
          <p:cNvGrpSpPr/>
          <p:nvPr/>
        </p:nvGrpSpPr>
        <p:grpSpPr>
          <a:xfrm>
            <a:off x="15094034" y="5922860"/>
            <a:ext cx="3468370" cy="480695"/>
            <a:chOff x="15286654" y="6239810"/>
            <a:chExt cx="3468370" cy="480695"/>
          </a:xfrm>
        </p:grpSpPr>
        <p:pic>
          <p:nvPicPr>
            <p:cNvPr id="84" name="object 84"/>
            <p:cNvPicPr/>
            <p:nvPr/>
          </p:nvPicPr>
          <p:blipFill>
            <a:blip r:embed="rId7" cstate="print"/>
            <a:stretch>
              <a:fillRect/>
            </a:stretch>
          </p:blipFill>
          <p:spPr>
            <a:xfrm>
              <a:off x="15286654" y="6239810"/>
              <a:ext cx="3284507" cy="153293"/>
            </a:xfrm>
            <a:prstGeom prst="rect">
              <a:avLst/>
            </a:prstGeom>
          </p:spPr>
        </p:pic>
        <p:pic>
          <p:nvPicPr>
            <p:cNvPr id="85" name="object 85"/>
            <p:cNvPicPr/>
            <p:nvPr/>
          </p:nvPicPr>
          <p:blipFill>
            <a:blip r:embed="rId8" cstate="print"/>
            <a:stretch>
              <a:fillRect/>
            </a:stretch>
          </p:blipFill>
          <p:spPr>
            <a:xfrm>
              <a:off x="15341103" y="6293756"/>
              <a:ext cx="3175924" cy="44846"/>
            </a:xfrm>
            <a:prstGeom prst="rect">
              <a:avLst/>
            </a:prstGeom>
          </p:spPr>
        </p:pic>
        <p:sp>
          <p:nvSpPr>
            <p:cNvPr id="86" name="object 86"/>
            <p:cNvSpPr/>
            <p:nvPr/>
          </p:nvSpPr>
          <p:spPr>
            <a:xfrm>
              <a:off x="15341103" y="6675430"/>
              <a:ext cx="3413760" cy="45085"/>
            </a:xfrm>
            <a:custGeom>
              <a:avLst/>
              <a:gdLst/>
              <a:ahLst/>
              <a:cxnLst/>
              <a:rect l="l" t="t" r="r" b="b"/>
              <a:pathLst>
                <a:path w="3413759" h="45084">
                  <a:moveTo>
                    <a:pt x="3390891" y="0"/>
                  </a:moveTo>
                  <a:lnTo>
                    <a:pt x="22407" y="0"/>
                  </a:lnTo>
                  <a:lnTo>
                    <a:pt x="13693" y="1760"/>
                  </a:lnTo>
                  <a:lnTo>
                    <a:pt x="6570" y="6563"/>
                  </a:lnTo>
                  <a:lnTo>
                    <a:pt x="1763" y="13689"/>
                  </a:lnTo>
                  <a:lnTo>
                    <a:pt x="0" y="22418"/>
                  </a:lnTo>
                  <a:lnTo>
                    <a:pt x="1767" y="31148"/>
                  </a:lnTo>
                  <a:lnTo>
                    <a:pt x="6584" y="38277"/>
                  </a:lnTo>
                  <a:lnTo>
                    <a:pt x="13744" y="43084"/>
                  </a:lnTo>
                  <a:lnTo>
                    <a:pt x="22459" y="44846"/>
                  </a:lnTo>
                  <a:lnTo>
                    <a:pt x="3390891" y="44846"/>
                  </a:lnTo>
                  <a:lnTo>
                    <a:pt x="3399665" y="43084"/>
                  </a:lnTo>
                  <a:lnTo>
                    <a:pt x="3406820" y="38277"/>
                  </a:lnTo>
                  <a:lnTo>
                    <a:pt x="3411638" y="31148"/>
                  </a:lnTo>
                  <a:lnTo>
                    <a:pt x="3413403" y="22418"/>
                  </a:lnTo>
                  <a:lnTo>
                    <a:pt x="3411638" y="13689"/>
                  </a:lnTo>
                  <a:lnTo>
                    <a:pt x="3406820" y="6563"/>
                  </a:lnTo>
                  <a:lnTo>
                    <a:pt x="3399665" y="1760"/>
                  </a:lnTo>
                  <a:lnTo>
                    <a:pt x="3390891" y="0"/>
                  </a:lnTo>
                  <a:close/>
                </a:path>
              </a:pathLst>
            </a:custGeom>
            <a:solidFill>
              <a:srgbClr val="E8E8E8"/>
            </a:solidFill>
          </p:spPr>
          <p:txBody>
            <a:bodyPr wrap="square" lIns="0" tIns="0" rIns="0" bIns="0" rtlCol="0"/>
            <a:lstStyle/>
            <a:p>
              <a:endParaRPr/>
            </a:p>
          </p:txBody>
        </p:sp>
      </p:grpSp>
      <p:sp>
        <p:nvSpPr>
          <p:cNvPr id="87" name="object 87"/>
          <p:cNvSpPr txBox="1"/>
          <p:nvPr/>
        </p:nvSpPr>
        <p:spPr>
          <a:xfrm>
            <a:off x="15135783" y="6124603"/>
            <a:ext cx="39306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7F7F7F"/>
                </a:solidFill>
                <a:latin typeface="Microsoft Sans Serif"/>
                <a:cs typeface="Microsoft Sans Serif"/>
              </a:rPr>
              <a:t>FY24</a:t>
            </a:r>
            <a:endParaRPr sz="1300">
              <a:latin typeface="Microsoft Sans Serif"/>
              <a:cs typeface="Microsoft Sans Serif"/>
            </a:endParaRPr>
          </a:p>
        </p:txBody>
      </p:sp>
      <p:sp>
        <p:nvSpPr>
          <p:cNvPr id="88" name="object 88"/>
          <p:cNvSpPr txBox="1"/>
          <p:nvPr/>
        </p:nvSpPr>
        <p:spPr>
          <a:xfrm>
            <a:off x="18268673" y="6124603"/>
            <a:ext cx="306070" cy="226695"/>
          </a:xfrm>
          <a:prstGeom prst="rect">
            <a:avLst/>
          </a:prstGeom>
        </p:spPr>
        <p:txBody>
          <a:bodyPr vert="horz" wrap="square" lIns="0" tIns="15240" rIns="0" bIns="0" rtlCol="0">
            <a:spAutoFit/>
          </a:bodyPr>
          <a:lstStyle/>
          <a:p>
            <a:pPr marL="12700">
              <a:lnSpc>
                <a:spcPct val="100000"/>
              </a:lnSpc>
              <a:spcBef>
                <a:spcPts val="120"/>
              </a:spcBef>
            </a:pPr>
            <a:r>
              <a:rPr sz="1300" spc="-75">
                <a:solidFill>
                  <a:srgbClr val="7F7F7F"/>
                </a:solidFill>
                <a:latin typeface="Microsoft Sans Serif"/>
                <a:cs typeface="Microsoft Sans Serif"/>
              </a:rPr>
              <a:t>15.9</a:t>
            </a:r>
            <a:endParaRPr sz="1300">
              <a:latin typeface="Microsoft Sans Serif"/>
              <a:cs typeface="Microsoft Sans Serif"/>
            </a:endParaRPr>
          </a:p>
        </p:txBody>
      </p:sp>
      <p:grpSp>
        <p:nvGrpSpPr>
          <p:cNvPr id="89" name="object 89"/>
          <p:cNvGrpSpPr/>
          <p:nvPr/>
        </p:nvGrpSpPr>
        <p:grpSpPr>
          <a:xfrm>
            <a:off x="15148483" y="6358480"/>
            <a:ext cx="3413760" cy="426720"/>
            <a:chOff x="15341103" y="6675430"/>
            <a:chExt cx="3413760" cy="426720"/>
          </a:xfrm>
        </p:grpSpPr>
        <p:sp>
          <p:nvSpPr>
            <p:cNvPr id="90" name="object 90"/>
            <p:cNvSpPr/>
            <p:nvPr/>
          </p:nvSpPr>
          <p:spPr>
            <a:xfrm>
              <a:off x="15341103" y="6675430"/>
              <a:ext cx="3413760" cy="45085"/>
            </a:xfrm>
            <a:custGeom>
              <a:avLst/>
              <a:gdLst/>
              <a:ahLst/>
              <a:cxnLst/>
              <a:rect l="l" t="t" r="r" b="b"/>
              <a:pathLst>
                <a:path w="3413759" h="45084">
                  <a:moveTo>
                    <a:pt x="3390891" y="0"/>
                  </a:moveTo>
                  <a:lnTo>
                    <a:pt x="22407" y="0"/>
                  </a:lnTo>
                  <a:lnTo>
                    <a:pt x="13693" y="1760"/>
                  </a:lnTo>
                  <a:lnTo>
                    <a:pt x="6570" y="6563"/>
                  </a:lnTo>
                  <a:lnTo>
                    <a:pt x="1763" y="13689"/>
                  </a:lnTo>
                  <a:lnTo>
                    <a:pt x="0" y="22418"/>
                  </a:lnTo>
                  <a:lnTo>
                    <a:pt x="1767" y="31148"/>
                  </a:lnTo>
                  <a:lnTo>
                    <a:pt x="6584" y="38277"/>
                  </a:lnTo>
                  <a:lnTo>
                    <a:pt x="13744" y="43084"/>
                  </a:lnTo>
                  <a:lnTo>
                    <a:pt x="22459" y="44846"/>
                  </a:lnTo>
                  <a:lnTo>
                    <a:pt x="3390891" y="44846"/>
                  </a:lnTo>
                  <a:lnTo>
                    <a:pt x="3399665" y="43084"/>
                  </a:lnTo>
                  <a:lnTo>
                    <a:pt x="3406820" y="38277"/>
                  </a:lnTo>
                  <a:lnTo>
                    <a:pt x="3411638" y="31148"/>
                  </a:lnTo>
                  <a:lnTo>
                    <a:pt x="3413403" y="22418"/>
                  </a:lnTo>
                  <a:lnTo>
                    <a:pt x="3411638" y="13689"/>
                  </a:lnTo>
                  <a:lnTo>
                    <a:pt x="3406820" y="6563"/>
                  </a:lnTo>
                  <a:lnTo>
                    <a:pt x="3399665" y="1760"/>
                  </a:lnTo>
                  <a:lnTo>
                    <a:pt x="3390891" y="0"/>
                  </a:lnTo>
                  <a:close/>
                </a:path>
              </a:pathLst>
            </a:custGeom>
            <a:solidFill>
              <a:srgbClr val="84C7FA"/>
            </a:solidFill>
          </p:spPr>
          <p:txBody>
            <a:bodyPr wrap="square" lIns="0" tIns="0" rIns="0" bIns="0" rtlCol="0"/>
            <a:lstStyle/>
            <a:p>
              <a:endParaRPr/>
            </a:p>
          </p:txBody>
        </p:sp>
        <p:sp>
          <p:nvSpPr>
            <p:cNvPr id="91" name="object 91"/>
            <p:cNvSpPr/>
            <p:nvPr/>
          </p:nvSpPr>
          <p:spPr>
            <a:xfrm>
              <a:off x="15341106" y="7057094"/>
              <a:ext cx="3413760" cy="45085"/>
            </a:xfrm>
            <a:custGeom>
              <a:avLst/>
              <a:gdLst/>
              <a:ahLst/>
              <a:cxnLst/>
              <a:rect l="l" t="t" r="r" b="b"/>
              <a:pathLst>
                <a:path w="3413759" h="45084">
                  <a:moveTo>
                    <a:pt x="3390889" y="0"/>
                  </a:moveTo>
                  <a:lnTo>
                    <a:pt x="22405" y="0"/>
                  </a:lnTo>
                  <a:lnTo>
                    <a:pt x="13691" y="1762"/>
                  </a:lnTo>
                  <a:lnTo>
                    <a:pt x="6568" y="6569"/>
                  </a:lnTo>
                  <a:lnTo>
                    <a:pt x="1761" y="13698"/>
                  </a:lnTo>
                  <a:lnTo>
                    <a:pt x="0" y="22428"/>
                  </a:lnTo>
                  <a:lnTo>
                    <a:pt x="1767" y="31157"/>
                  </a:lnTo>
                  <a:lnTo>
                    <a:pt x="6576" y="38282"/>
                  </a:lnTo>
                  <a:lnTo>
                    <a:pt x="13699" y="43085"/>
                  </a:lnTo>
                  <a:lnTo>
                    <a:pt x="22405" y="44846"/>
                  </a:lnTo>
                  <a:lnTo>
                    <a:pt x="3390889" y="44846"/>
                  </a:lnTo>
                  <a:lnTo>
                    <a:pt x="3399663" y="43085"/>
                  </a:lnTo>
                  <a:lnTo>
                    <a:pt x="3406818" y="38282"/>
                  </a:lnTo>
                  <a:lnTo>
                    <a:pt x="3411636" y="31157"/>
                  </a:lnTo>
                  <a:lnTo>
                    <a:pt x="3413401" y="22428"/>
                  </a:lnTo>
                  <a:lnTo>
                    <a:pt x="3411636" y="13698"/>
                  </a:lnTo>
                  <a:lnTo>
                    <a:pt x="3406818" y="6569"/>
                  </a:lnTo>
                  <a:lnTo>
                    <a:pt x="3399663" y="1762"/>
                  </a:lnTo>
                  <a:lnTo>
                    <a:pt x="3390889" y="0"/>
                  </a:lnTo>
                  <a:close/>
                </a:path>
              </a:pathLst>
            </a:custGeom>
            <a:solidFill>
              <a:srgbClr val="E8E8E8"/>
            </a:solidFill>
          </p:spPr>
          <p:txBody>
            <a:bodyPr wrap="square" lIns="0" tIns="0" rIns="0" bIns="0" rtlCol="0"/>
            <a:lstStyle/>
            <a:p>
              <a:endParaRPr/>
            </a:p>
          </p:txBody>
        </p:sp>
      </p:grpSp>
      <p:sp>
        <p:nvSpPr>
          <p:cNvPr id="92" name="object 92"/>
          <p:cNvSpPr txBox="1"/>
          <p:nvPr/>
        </p:nvSpPr>
        <p:spPr>
          <a:xfrm>
            <a:off x="15135783" y="6506581"/>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93" name="object 93"/>
          <p:cNvSpPr txBox="1"/>
          <p:nvPr/>
        </p:nvSpPr>
        <p:spPr>
          <a:xfrm>
            <a:off x="18307939" y="6506581"/>
            <a:ext cx="266700" cy="226695"/>
          </a:xfrm>
          <a:prstGeom prst="rect">
            <a:avLst/>
          </a:prstGeom>
        </p:spPr>
        <p:txBody>
          <a:bodyPr vert="horz" wrap="square" lIns="0" tIns="15240" rIns="0" bIns="0" rtlCol="0">
            <a:spAutoFit/>
          </a:bodyPr>
          <a:lstStyle/>
          <a:p>
            <a:pPr marL="12700">
              <a:lnSpc>
                <a:spcPct val="100000"/>
              </a:lnSpc>
              <a:spcBef>
                <a:spcPts val="120"/>
              </a:spcBef>
            </a:pPr>
            <a:r>
              <a:rPr sz="1300" spc="-155">
                <a:solidFill>
                  <a:srgbClr val="7F7F7F"/>
                </a:solidFill>
                <a:latin typeface="Microsoft Sans Serif"/>
                <a:cs typeface="Microsoft Sans Serif"/>
              </a:rPr>
              <a:t>11.6</a:t>
            </a:r>
            <a:endParaRPr sz="1300">
              <a:latin typeface="Microsoft Sans Serif"/>
              <a:cs typeface="Microsoft Sans Serif"/>
            </a:endParaRPr>
          </a:p>
        </p:txBody>
      </p:sp>
      <p:sp>
        <p:nvSpPr>
          <p:cNvPr id="94" name="object 94"/>
          <p:cNvSpPr/>
          <p:nvPr/>
        </p:nvSpPr>
        <p:spPr>
          <a:xfrm>
            <a:off x="15148483" y="6740144"/>
            <a:ext cx="2671445" cy="45085"/>
          </a:xfrm>
          <a:custGeom>
            <a:avLst/>
            <a:gdLst/>
            <a:ahLst/>
            <a:cxnLst/>
            <a:rect l="l" t="t" r="r" b="b"/>
            <a:pathLst>
              <a:path w="2671444" h="45084">
                <a:moveTo>
                  <a:pt x="2648924" y="0"/>
                </a:moveTo>
                <a:lnTo>
                  <a:pt x="22407" y="0"/>
                </a:lnTo>
                <a:lnTo>
                  <a:pt x="13693" y="1762"/>
                </a:lnTo>
                <a:lnTo>
                  <a:pt x="6570" y="6569"/>
                </a:lnTo>
                <a:lnTo>
                  <a:pt x="1763" y="13698"/>
                </a:lnTo>
                <a:lnTo>
                  <a:pt x="0" y="22428"/>
                </a:lnTo>
                <a:lnTo>
                  <a:pt x="1763" y="31152"/>
                </a:lnTo>
                <a:lnTo>
                  <a:pt x="6570" y="38278"/>
                </a:lnTo>
                <a:lnTo>
                  <a:pt x="13693" y="43084"/>
                </a:lnTo>
                <a:lnTo>
                  <a:pt x="22407" y="44846"/>
                </a:lnTo>
                <a:lnTo>
                  <a:pt x="2648924" y="44846"/>
                </a:lnTo>
                <a:lnTo>
                  <a:pt x="2657638" y="43084"/>
                </a:lnTo>
                <a:lnTo>
                  <a:pt x="2664761" y="38278"/>
                </a:lnTo>
                <a:lnTo>
                  <a:pt x="2669568" y="31152"/>
                </a:lnTo>
                <a:lnTo>
                  <a:pt x="2671332" y="22428"/>
                </a:lnTo>
                <a:lnTo>
                  <a:pt x="2669568" y="13698"/>
                </a:lnTo>
                <a:lnTo>
                  <a:pt x="2664761" y="6569"/>
                </a:lnTo>
                <a:lnTo>
                  <a:pt x="2657638" y="1762"/>
                </a:lnTo>
                <a:lnTo>
                  <a:pt x="2648924" y="0"/>
                </a:lnTo>
                <a:close/>
              </a:path>
            </a:pathLst>
          </a:custGeom>
          <a:solidFill>
            <a:srgbClr val="84C7FA"/>
          </a:solidFill>
        </p:spPr>
        <p:txBody>
          <a:bodyPr wrap="square" lIns="0" tIns="0" rIns="0" bIns="0" rtlCol="0"/>
          <a:lstStyle/>
          <a:p>
            <a:endParaRPr/>
          </a:p>
        </p:txBody>
      </p:sp>
      <p:grpSp>
        <p:nvGrpSpPr>
          <p:cNvPr id="95" name="object 95"/>
          <p:cNvGrpSpPr/>
          <p:nvPr/>
        </p:nvGrpSpPr>
        <p:grpSpPr>
          <a:xfrm>
            <a:off x="1289050" y="7167403"/>
            <a:ext cx="3869690" cy="2830830"/>
            <a:chOff x="7092742" y="7427528"/>
            <a:chExt cx="3869690" cy="2830830"/>
          </a:xfrm>
        </p:grpSpPr>
        <p:sp>
          <p:nvSpPr>
            <p:cNvPr id="96" name="object 96"/>
            <p:cNvSpPr/>
            <p:nvPr/>
          </p:nvSpPr>
          <p:spPr>
            <a:xfrm>
              <a:off x="7098139" y="7432925"/>
              <a:ext cx="3858895" cy="2820035"/>
            </a:xfrm>
            <a:custGeom>
              <a:avLst/>
              <a:gdLst/>
              <a:ahLst/>
              <a:cxnLst/>
              <a:rect l="l" t="t" r="r" b="b"/>
              <a:pathLst>
                <a:path w="3858895" h="2820034">
                  <a:moveTo>
                    <a:pt x="3618287" y="0"/>
                  </a:moveTo>
                  <a:lnTo>
                    <a:pt x="240296" y="0"/>
                  </a:lnTo>
                  <a:lnTo>
                    <a:pt x="191866" y="4882"/>
                  </a:lnTo>
                  <a:lnTo>
                    <a:pt x="146759" y="18884"/>
                  </a:lnTo>
                  <a:lnTo>
                    <a:pt x="105941" y="41039"/>
                  </a:lnTo>
                  <a:lnTo>
                    <a:pt x="70378" y="70382"/>
                  </a:lnTo>
                  <a:lnTo>
                    <a:pt x="41037" y="105946"/>
                  </a:lnTo>
                  <a:lnTo>
                    <a:pt x="18882" y="146763"/>
                  </a:lnTo>
                  <a:lnTo>
                    <a:pt x="4881" y="191869"/>
                  </a:lnTo>
                  <a:lnTo>
                    <a:pt x="0" y="240296"/>
                  </a:lnTo>
                  <a:lnTo>
                    <a:pt x="0" y="2579429"/>
                  </a:lnTo>
                  <a:lnTo>
                    <a:pt x="4881" y="2627856"/>
                  </a:lnTo>
                  <a:lnTo>
                    <a:pt x="18882" y="2672961"/>
                  </a:lnTo>
                  <a:lnTo>
                    <a:pt x="41037" y="2713779"/>
                  </a:lnTo>
                  <a:lnTo>
                    <a:pt x="70378" y="2749342"/>
                  </a:lnTo>
                  <a:lnTo>
                    <a:pt x="105941" y="2778685"/>
                  </a:lnTo>
                  <a:lnTo>
                    <a:pt x="146759" y="2800841"/>
                  </a:lnTo>
                  <a:lnTo>
                    <a:pt x="191866" y="2814843"/>
                  </a:lnTo>
                  <a:lnTo>
                    <a:pt x="240296" y="2819725"/>
                  </a:lnTo>
                  <a:lnTo>
                    <a:pt x="3618287" y="2819725"/>
                  </a:lnTo>
                  <a:lnTo>
                    <a:pt x="3666703" y="2814843"/>
                  </a:lnTo>
                  <a:lnTo>
                    <a:pt x="3711804" y="2800841"/>
                  </a:lnTo>
                  <a:lnTo>
                    <a:pt x="3752622" y="2778685"/>
                  </a:lnTo>
                  <a:lnTo>
                    <a:pt x="3788190" y="2749342"/>
                  </a:lnTo>
                  <a:lnTo>
                    <a:pt x="3817540" y="2713779"/>
                  </a:lnTo>
                  <a:lnTo>
                    <a:pt x="3839702" y="2672961"/>
                  </a:lnTo>
                  <a:lnTo>
                    <a:pt x="3853710" y="2627856"/>
                  </a:lnTo>
                  <a:lnTo>
                    <a:pt x="3858594" y="2579429"/>
                  </a:lnTo>
                  <a:lnTo>
                    <a:pt x="3858594" y="240296"/>
                  </a:lnTo>
                  <a:lnTo>
                    <a:pt x="3853710" y="191869"/>
                  </a:lnTo>
                  <a:lnTo>
                    <a:pt x="3839702" y="146763"/>
                  </a:lnTo>
                  <a:lnTo>
                    <a:pt x="3817540" y="105946"/>
                  </a:lnTo>
                  <a:lnTo>
                    <a:pt x="3788190" y="70382"/>
                  </a:lnTo>
                  <a:lnTo>
                    <a:pt x="3752622" y="41039"/>
                  </a:lnTo>
                  <a:lnTo>
                    <a:pt x="3711804" y="18884"/>
                  </a:lnTo>
                  <a:lnTo>
                    <a:pt x="3666703" y="4882"/>
                  </a:lnTo>
                  <a:lnTo>
                    <a:pt x="3618287" y="0"/>
                  </a:lnTo>
                  <a:close/>
                </a:path>
              </a:pathLst>
            </a:custGeom>
            <a:solidFill>
              <a:srgbClr val="FFFFFF"/>
            </a:solidFill>
          </p:spPr>
          <p:txBody>
            <a:bodyPr wrap="square" lIns="0" tIns="0" rIns="0" bIns="0" rtlCol="0"/>
            <a:lstStyle/>
            <a:p>
              <a:endParaRPr/>
            </a:p>
          </p:txBody>
        </p:sp>
        <p:sp>
          <p:nvSpPr>
            <p:cNvPr id="97" name="object 97"/>
            <p:cNvSpPr/>
            <p:nvPr/>
          </p:nvSpPr>
          <p:spPr>
            <a:xfrm>
              <a:off x="7098139" y="7432925"/>
              <a:ext cx="3858895" cy="2820035"/>
            </a:xfrm>
            <a:custGeom>
              <a:avLst/>
              <a:gdLst/>
              <a:ahLst/>
              <a:cxnLst/>
              <a:rect l="l" t="t" r="r" b="b"/>
              <a:pathLst>
                <a:path w="3858895"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sp>
        <p:nvSpPr>
          <p:cNvPr id="98" name="object 98"/>
          <p:cNvSpPr txBox="1"/>
          <p:nvPr/>
        </p:nvSpPr>
        <p:spPr>
          <a:xfrm>
            <a:off x="1500537" y="7261394"/>
            <a:ext cx="638810" cy="681990"/>
          </a:xfrm>
          <a:prstGeom prst="rect">
            <a:avLst/>
          </a:prstGeom>
        </p:spPr>
        <p:txBody>
          <a:bodyPr vert="horz" wrap="square" lIns="0" tIns="79375" rIns="0" bIns="0" rtlCol="0">
            <a:spAutoFit/>
          </a:bodyPr>
          <a:lstStyle/>
          <a:p>
            <a:pPr marL="12700">
              <a:lnSpc>
                <a:spcPct val="100000"/>
              </a:lnSpc>
              <a:spcBef>
                <a:spcPts val="625"/>
              </a:spcBef>
            </a:pPr>
            <a:r>
              <a:rPr sz="2300" spc="-65">
                <a:solidFill>
                  <a:srgbClr val="262626"/>
                </a:solidFill>
                <a:latin typeface="Microsoft Sans Serif"/>
                <a:cs typeface="Microsoft Sans Serif"/>
              </a:rPr>
              <a:t>EBIT</a:t>
            </a:r>
            <a:endParaRPr sz="2300">
              <a:latin typeface="Microsoft Sans Serif"/>
              <a:cs typeface="Microsoft Sans Serif"/>
            </a:endParaRPr>
          </a:p>
          <a:p>
            <a:pPr marL="12700">
              <a:lnSpc>
                <a:spcPct val="100000"/>
              </a:lnSpc>
              <a:spcBef>
                <a:spcPts val="320"/>
              </a:spcBef>
            </a:pPr>
            <a:r>
              <a:rPr sz="1300" spc="-50">
                <a:solidFill>
                  <a:srgbClr val="7F7F7F"/>
                </a:solidFill>
                <a:latin typeface="Microsoft Sans Serif"/>
                <a:cs typeface="Microsoft Sans Serif"/>
              </a:rPr>
              <a:t>%</a:t>
            </a:r>
            <a:endParaRPr sz="1300">
              <a:latin typeface="Microsoft Sans Serif"/>
              <a:cs typeface="Microsoft Sans Serif"/>
            </a:endParaRPr>
          </a:p>
        </p:txBody>
      </p:sp>
      <p:sp>
        <p:nvSpPr>
          <p:cNvPr id="100" name="object 100"/>
          <p:cNvSpPr/>
          <p:nvPr/>
        </p:nvSpPr>
        <p:spPr>
          <a:xfrm>
            <a:off x="1502211" y="8017644"/>
            <a:ext cx="3443604" cy="0"/>
          </a:xfrm>
          <a:custGeom>
            <a:avLst/>
            <a:gdLst/>
            <a:ahLst/>
            <a:cxnLst/>
            <a:rect l="l" t="t" r="r" b="b"/>
            <a:pathLst>
              <a:path w="3443604">
                <a:moveTo>
                  <a:pt x="0" y="0"/>
                </a:moveTo>
                <a:lnTo>
                  <a:pt x="3443026" y="0"/>
                </a:lnTo>
              </a:path>
            </a:pathLst>
          </a:custGeom>
          <a:ln w="10470">
            <a:solidFill>
              <a:srgbClr val="D1D1D1"/>
            </a:solidFill>
          </a:ln>
        </p:spPr>
        <p:txBody>
          <a:bodyPr wrap="square" lIns="0" tIns="0" rIns="0" bIns="0" rtlCol="0"/>
          <a:lstStyle/>
          <a:p>
            <a:endParaRPr/>
          </a:p>
        </p:txBody>
      </p:sp>
      <p:sp>
        <p:nvSpPr>
          <p:cNvPr id="104" name="object 104"/>
          <p:cNvSpPr/>
          <p:nvPr/>
        </p:nvSpPr>
        <p:spPr>
          <a:xfrm>
            <a:off x="1517058" y="8994148"/>
            <a:ext cx="3413760" cy="45085"/>
          </a:xfrm>
          <a:custGeom>
            <a:avLst/>
            <a:gdLst/>
            <a:ahLst/>
            <a:cxnLst/>
            <a:rect l="l" t="t" r="r" b="b"/>
            <a:pathLst>
              <a:path w="3413759" h="45084">
                <a:moveTo>
                  <a:pt x="3390964" y="0"/>
                </a:moveTo>
                <a:lnTo>
                  <a:pt x="22418" y="0"/>
                </a:lnTo>
                <a:lnTo>
                  <a:pt x="13693" y="1762"/>
                </a:lnTo>
                <a:lnTo>
                  <a:pt x="6567" y="6569"/>
                </a:lnTo>
                <a:lnTo>
                  <a:pt x="1762" y="13698"/>
                </a:lnTo>
                <a:lnTo>
                  <a:pt x="0" y="22428"/>
                </a:lnTo>
                <a:lnTo>
                  <a:pt x="1766" y="31158"/>
                </a:lnTo>
                <a:lnTo>
                  <a:pt x="6581" y="38288"/>
                </a:lnTo>
                <a:lnTo>
                  <a:pt x="13744" y="43094"/>
                </a:lnTo>
                <a:lnTo>
                  <a:pt x="22469" y="44857"/>
                </a:lnTo>
                <a:lnTo>
                  <a:pt x="3390964" y="44857"/>
                </a:lnTo>
                <a:lnTo>
                  <a:pt x="3399678" y="43094"/>
                </a:lnTo>
                <a:lnTo>
                  <a:pt x="3406802" y="38288"/>
                </a:lnTo>
                <a:lnTo>
                  <a:pt x="3411608" y="31158"/>
                </a:lnTo>
                <a:lnTo>
                  <a:pt x="3413372" y="22428"/>
                </a:lnTo>
                <a:lnTo>
                  <a:pt x="3411608" y="13698"/>
                </a:lnTo>
                <a:lnTo>
                  <a:pt x="3406802" y="6569"/>
                </a:lnTo>
                <a:lnTo>
                  <a:pt x="3399678" y="1762"/>
                </a:lnTo>
                <a:lnTo>
                  <a:pt x="3390964" y="0"/>
                </a:lnTo>
                <a:close/>
              </a:path>
            </a:pathLst>
          </a:custGeom>
          <a:solidFill>
            <a:srgbClr val="E8E8E8"/>
          </a:solidFill>
        </p:spPr>
        <p:txBody>
          <a:bodyPr wrap="square" lIns="0" tIns="0" rIns="0" bIns="0" rtlCol="0"/>
          <a:lstStyle/>
          <a:p>
            <a:endParaRPr/>
          </a:p>
        </p:txBody>
      </p:sp>
      <p:sp>
        <p:nvSpPr>
          <p:cNvPr id="105" name="object 105"/>
          <p:cNvSpPr txBox="1"/>
          <p:nvPr/>
        </p:nvSpPr>
        <p:spPr>
          <a:xfrm>
            <a:off x="1489510" y="8064649"/>
            <a:ext cx="636905" cy="901700"/>
          </a:xfrm>
          <a:prstGeom prst="rect">
            <a:avLst/>
          </a:prstGeom>
        </p:spPr>
        <p:txBody>
          <a:bodyPr vert="horz" wrap="square" lIns="0" tIns="16510" rIns="0" bIns="0" rtlCol="0">
            <a:spAutoFit/>
          </a:bodyPr>
          <a:lstStyle/>
          <a:p>
            <a:pPr marL="12700">
              <a:lnSpc>
                <a:spcPct val="100000"/>
              </a:lnSpc>
              <a:spcBef>
                <a:spcPts val="130"/>
              </a:spcBef>
            </a:pPr>
            <a:r>
              <a:rPr sz="3200" spc="-165">
                <a:solidFill>
                  <a:srgbClr val="065088"/>
                </a:solidFill>
                <a:latin typeface="Arial Black"/>
                <a:cs typeface="Arial Black"/>
              </a:rPr>
              <a:t>8.5</a:t>
            </a:r>
            <a:endParaRPr sz="3200">
              <a:latin typeface="Arial Black"/>
              <a:cs typeface="Arial Black"/>
            </a:endParaRPr>
          </a:p>
          <a:p>
            <a:pPr marL="27305">
              <a:lnSpc>
                <a:spcPct val="100000"/>
              </a:lnSpc>
              <a:spcBef>
                <a:spcPts val="1465"/>
              </a:spcBef>
            </a:pPr>
            <a:r>
              <a:rPr sz="1300" spc="-20">
                <a:solidFill>
                  <a:srgbClr val="424242"/>
                </a:solidFill>
                <a:latin typeface="Microsoft Sans Serif"/>
                <a:cs typeface="Microsoft Sans Serif"/>
              </a:rPr>
              <a:t>FY25</a:t>
            </a:r>
            <a:endParaRPr sz="1300">
              <a:latin typeface="Microsoft Sans Serif"/>
              <a:cs typeface="Microsoft Sans Serif"/>
            </a:endParaRPr>
          </a:p>
        </p:txBody>
      </p:sp>
      <p:sp>
        <p:nvSpPr>
          <p:cNvPr id="106" name="object 106"/>
          <p:cNvSpPr txBox="1"/>
          <p:nvPr/>
        </p:nvSpPr>
        <p:spPr>
          <a:xfrm>
            <a:off x="4682974" y="8739675"/>
            <a:ext cx="259715" cy="226695"/>
          </a:xfrm>
          <a:prstGeom prst="rect">
            <a:avLst/>
          </a:prstGeom>
        </p:spPr>
        <p:txBody>
          <a:bodyPr vert="horz" wrap="square" lIns="0" tIns="15240" rIns="0" bIns="0" rtlCol="0">
            <a:spAutoFit/>
          </a:bodyPr>
          <a:lstStyle/>
          <a:p>
            <a:pPr marL="12700">
              <a:lnSpc>
                <a:spcPct val="100000"/>
              </a:lnSpc>
              <a:spcBef>
                <a:spcPts val="120"/>
              </a:spcBef>
            </a:pPr>
            <a:r>
              <a:rPr sz="1300" spc="-25">
                <a:solidFill>
                  <a:srgbClr val="424242"/>
                </a:solidFill>
                <a:latin typeface="Microsoft Sans Serif"/>
                <a:cs typeface="Microsoft Sans Serif"/>
              </a:rPr>
              <a:t>8.5</a:t>
            </a:r>
            <a:endParaRPr sz="1300">
              <a:latin typeface="Microsoft Sans Serif"/>
              <a:cs typeface="Microsoft Sans Serif"/>
            </a:endParaRPr>
          </a:p>
        </p:txBody>
      </p:sp>
      <p:grpSp>
        <p:nvGrpSpPr>
          <p:cNvPr id="107" name="object 107"/>
          <p:cNvGrpSpPr/>
          <p:nvPr/>
        </p:nvGrpSpPr>
        <p:grpSpPr>
          <a:xfrm>
            <a:off x="1463940" y="8940013"/>
            <a:ext cx="3521075" cy="480695"/>
            <a:chOff x="7267632" y="9200138"/>
            <a:chExt cx="3521075" cy="480695"/>
          </a:xfrm>
        </p:grpSpPr>
        <p:pic>
          <p:nvPicPr>
            <p:cNvPr id="108" name="object 108"/>
            <p:cNvPicPr/>
            <p:nvPr/>
          </p:nvPicPr>
          <p:blipFill>
            <a:blip r:embed="rId9" cstate="print"/>
            <a:stretch>
              <a:fillRect/>
            </a:stretch>
          </p:blipFill>
          <p:spPr>
            <a:xfrm>
              <a:off x="7267632" y="9200138"/>
              <a:ext cx="3520730" cy="153293"/>
            </a:xfrm>
            <a:prstGeom prst="rect">
              <a:avLst/>
            </a:prstGeom>
          </p:spPr>
        </p:pic>
        <p:pic>
          <p:nvPicPr>
            <p:cNvPr id="109" name="object 109"/>
            <p:cNvPicPr/>
            <p:nvPr/>
          </p:nvPicPr>
          <p:blipFill>
            <a:blip r:embed="rId10" cstate="print"/>
            <a:stretch>
              <a:fillRect/>
            </a:stretch>
          </p:blipFill>
          <p:spPr>
            <a:xfrm>
              <a:off x="7320751" y="9254272"/>
              <a:ext cx="3413372" cy="44857"/>
            </a:xfrm>
            <a:prstGeom prst="rect">
              <a:avLst/>
            </a:prstGeom>
          </p:spPr>
        </p:pic>
        <p:sp>
          <p:nvSpPr>
            <p:cNvPr id="110" name="object 110"/>
            <p:cNvSpPr/>
            <p:nvPr/>
          </p:nvSpPr>
          <p:spPr>
            <a:xfrm>
              <a:off x="7320751" y="9635947"/>
              <a:ext cx="3413760" cy="45085"/>
            </a:xfrm>
            <a:custGeom>
              <a:avLst/>
              <a:gdLst/>
              <a:ahLst/>
              <a:cxnLst/>
              <a:rect l="l" t="t" r="r" b="b"/>
              <a:pathLst>
                <a:path w="3413759" h="45084">
                  <a:moveTo>
                    <a:pt x="3390964" y="0"/>
                  </a:moveTo>
                  <a:lnTo>
                    <a:pt x="22418" y="0"/>
                  </a:lnTo>
                  <a:lnTo>
                    <a:pt x="13693" y="1762"/>
                  </a:lnTo>
                  <a:lnTo>
                    <a:pt x="6567" y="6569"/>
                  </a:lnTo>
                  <a:lnTo>
                    <a:pt x="1762" y="13698"/>
                  </a:lnTo>
                  <a:lnTo>
                    <a:pt x="0" y="22428"/>
                  </a:lnTo>
                  <a:lnTo>
                    <a:pt x="1765" y="31157"/>
                  </a:lnTo>
                  <a:lnTo>
                    <a:pt x="6573" y="38282"/>
                  </a:lnTo>
                  <a:lnTo>
                    <a:pt x="13701" y="43085"/>
                  </a:lnTo>
                  <a:lnTo>
                    <a:pt x="22418" y="44846"/>
                  </a:lnTo>
                  <a:lnTo>
                    <a:pt x="3390964" y="44846"/>
                  </a:lnTo>
                  <a:lnTo>
                    <a:pt x="3399678" y="43085"/>
                  </a:lnTo>
                  <a:lnTo>
                    <a:pt x="3406802" y="38282"/>
                  </a:lnTo>
                  <a:lnTo>
                    <a:pt x="3411608" y="31157"/>
                  </a:lnTo>
                  <a:lnTo>
                    <a:pt x="3413372" y="22428"/>
                  </a:lnTo>
                  <a:lnTo>
                    <a:pt x="3411608" y="13698"/>
                  </a:lnTo>
                  <a:lnTo>
                    <a:pt x="3406802" y="6569"/>
                  </a:lnTo>
                  <a:lnTo>
                    <a:pt x="3399678" y="1762"/>
                  </a:lnTo>
                  <a:lnTo>
                    <a:pt x="3390964" y="0"/>
                  </a:lnTo>
                  <a:close/>
                </a:path>
              </a:pathLst>
            </a:custGeom>
            <a:solidFill>
              <a:srgbClr val="E8E8E8"/>
            </a:solidFill>
          </p:spPr>
          <p:txBody>
            <a:bodyPr wrap="square" lIns="0" tIns="0" rIns="0" bIns="0" rtlCol="0"/>
            <a:lstStyle/>
            <a:p>
              <a:endParaRPr/>
            </a:p>
          </p:txBody>
        </p:sp>
      </p:grpSp>
      <p:sp>
        <p:nvSpPr>
          <p:cNvPr id="111" name="object 111"/>
          <p:cNvSpPr txBox="1"/>
          <p:nvPr/>
        </p:nvSpPr>
        <p:spPr>
          <a:xfrm>
            <a:off x="1504358" y="9141757"/>
            <a:ext cx="39306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7F7F7F"/>
                </a:solidFill>
                <a:latin typeface="Microsoft Sans Serif"/>
                <a:cs typeface="Microsoft Sans Serif"/>
              </a:rPr>
              <a:t>FY24</a:t>
            </a:r>
            <a:endParaRPr sz="1300">
              <a:latin typeface="Microsoft Sans Serif"/>
              <a:cs typeface="Microsoft Sans Serif"/>
            </a:endParaRPr>
          </a:p>
        </p:txBody>
      </p:sp>
      <p:sp>
        <p:nvSpPr>
          <p:cNvPr id="112" name="object 112"/>
          <p:cNvSpPr txBox="1"/>
          <p:nvPr/>
        </p:nvSpPr>
        <p:spPr>
          <a:xfrm>
            <a:off x="4689570" y="9141757"/>
            <a:ext cx="253365" cy="226695"/>
          </a:xfrm>
          <a:prstGeom prst="rect">
            <a:avLst/>
          </a:prstGeom>
        </p:spPr>
        <p:txBody>
          <a:bodyPr vert="horz" wrap="square" lIns="0" tIns="15240" rIns="0" bIns="0" rtlCol="0">
            <a:spAutoFit/>
          </a:bodyPr>
          <a:lstStyle/>
          <a:p>
            <a:pPr marL="12700">
              <a:lnSpc>
                <a:spcPct val="100000"/>
              </a:lnSpc>
              <a:spcBef>
                <a:spcPts val="120"/>
              </a:spcBef>
            </a:pPr>
            <a:r>
              <a:rPr sz="1300" spc="-25">
                <a:solidFill>
                  <a:srgbClr val="7F7F7F"/>
                </a:solidFill>
                <a:latin typeface="Microsoft Sans Serif"/>
                <a:cs typeface="Microsoft Sans Serif"/>
              </a:rPr>
              <a:t>8.5</a:t>
            </a:r>
            <a:endParaRPr sz="1300">
              <a:latin typeface="Microsoft Sans Serif"/>
              <a:cs typeface="Microsoft Sans Serif"/>
            </a:endParaRPr>
          </a:p>
        </p:txBody>
      </p:sp>
      <p:grpSp>
        <p:nvGrpSpPr>
          <p:cNvPr id="113" name="object 113"/>
          <p:cNvGrpSpPr/>
          <p:nvPr/>
        </p:nvGrpSpPr>
        <p:grpSpPr>
          <a:xfrm>
            <a:off x="1517058" y="9375822"/>
            <a:ext cx="3413760" cy="426720"/>
            <a:chOff x="7320750" y="9635947"/>
            <a:chExt cx="3413760" cy="426720"/>
          </a:xfrm>
        </p:grpSpPr>
        <p:sp>
          <p:nvSpPr>
            <p:cNvPr id="114" name="object 114"/>
            <p:cNvSpPr/>
            <p:nvPr/>
          </p:nvSpPr>
          <p:spPr>
            <a:xfrm>
              <a:off x="7320750" y="9635947"/>
              <a:ext cx="3413760" cy="45085"/>
            </a:xfrm>
            <a:custGeom>
              <a:avLst/>
              <a:gdLst/>
              <a:ahLst/>
              <a:cxnLst/>
              <a:rect l="l" t="t" r="r" b="b"/>
              <a:pathLst>
                <a:path w="3413759" h="45084">
                  <a:moveTo>
                    <a:pt x="3390964" y="0"/>
                  </a:moveTo>
                  <a:lnTo>
                    <a:pt x="22418" y="0"/>
                  </a:lnTo>
                  <a:lnTo>
                    <a:pt x="13689" y="1762"/>
                  </a:lnTo>
                  <a:lnTo>
                    <a:pt x="6563" y="6569"/>
                  </a:lnTo>
                  <a:lnTo>
                    <a:pt x="1760" y="13698"/>
                  </a:lnTo>
                  <a:lnTo>
                    <a:pt x="0" y="22428"/>
                  </a:lnTo>
                  <a:lnTo>
                    <a:pt x="1763" y="31157"/>
                  </a:lnTo>
                  <a:lnTo>
                    <a:pt x="6569" y="38282"/>
                  </a:lnTo>
                  <a:lnTo>
                    <a:pt x="13696" y="43085"/>
                  </a:lnTo>
                  <a:lnTo>
                    <a:pt x="22418" y="44846"/>
                  </a:lnTo>
                  <a:lnTo>
                    <a:pt x="3390964" y="44846"/>
                  </a:lnTo>
                  <a:lnTo>
                    <a:pt x="3399678" y="43085"/>
                  </a:lnTo>
                  <a:lnTo>
                    <a:pt x="3406802" y="38282"/>
                  </a:lnTo>
                  <a:lnTo>
                    <a:pt x="3411608" y="31157"/>
                  </a:lnTo>
                  <a:lnTo>
                    <a:pt x="3413372" y="22428"/>
                  </a:lnTo>
                  <a:lnTo>
                    <a:pt x="3411608" y="13698"/>
                  </a:lnTo>
                  <a:lnTo>
                    <a:pt x="3406802" y="6569"/>
                  </a:lnTo>
                  <a:lnTo>
                    <a:pt x="3399678" y="1762"/>
                  </a:lnTo>
                  <a:lnTo>
                    <a:pt x="3390964" y="0"/>
                  </a:lnTo>
                  <a:close/>
                </a:path>
              </a:pathLst>
            </a:custGeom>
            <a:solidFill>
              <a:srgbClr val="84C7FA"/>
            </a:solidFill>
          </p:spPr>
          <p:txBody>
            <a:bodyPr wrap="square" lIns="0" tIns="0" rIns="0" bIns="0" rtlCol="0"/>
            <a:lstStyle/>
            <a:p>
              <a:endParaRPr/>
            </a:p>
          </p:txBody>
        </p:sp>
        <p:sp>
          <p:nvSpPr>
            <p:cNvPr id="115" name="object 115"/>
            <p:cNvSpPr/>
            <p:nvPr/>
          </p:nvSpPr>
          <p:spPr>
            <a:xfrm>
              <a:off x="7320752" y="10017621"/>
              <a:ext cx="3413760" cy="45085"/>
            </a:xfrm>
            <a:custGeom>
              <a:avLst/>
              <a:gdLst/>
              <a:ahLst/>
              <a:cxnLst/>
              <a:rect l="l" t="t" r="r" b="b"/>
              <a:pathLst>
                <a:path w="3413759" h="45084">
                  <a:moveTo>
                    <a:pt x="3390962" y="0"/>
                  </a:moveTo>
                  <a:lnTo>
                    <a:pt x="22416" y="0"/>
                  </a:lnTo>
                  <a:lnTo>
                    <a:pt x="13691" y="1762"/>
                  </a:lnTo>
                  <a:lnTo>
                    <a:pt x="6565" y="6569"/>
                  </a:lnTo>
                  <a:lnTo>
                    <a:pt x="1760" y="13698"/>
                  </a:lnTo>
                  <a:lnTo>
                    <a:pt x="0" y="22428"/>
                  </a:lnTo>
                  <a:lnTo>
                    <a:pt x="1763" y="31152"/>
                  </a:lnTo>
                  <a:lnTo>
                    <a:pt x="6567" y="38278"/>
                  </a:lnTo>
                  <a:lnTo>
                    <a:pt x="13692" y="43084"/>
                  </a:lnTo>
                  <a:lnTo>
                    <a:pt x="22416" y="44846"/>
                  </a:lnTo>
                  <a:lnTo>
                    <a:pt x="3390962" y="44846"/>
                  </a:lnTo>
                  <a:lnTo>
                    <a:pt x="3399676" y="43084"/>
                  </a:lnTo>
                  <a:lnTo>
                    <a:pt x="3406799" y="38278"/>
                  </a:lnTo>
                  <a:lnTo>
                    <a:pt x="3411606" y="31152"/>
                  </a:lnTo>
                  <a:lnTo>
                    <a:pt x="3413370" y="22428"/>
                  </a:lnTo>
                  <a:lnTo>
                    <a:pt x="3411606" y="13698"/>
                  </a:lnTo>
                  <a:lnTo>
                    <a:pt x="3406799" y="6569"/>
                  </a:lnTo>
                  <a:lnTo>
                    <a:pt x="3399676" y="1762"/>
                  </a:lnTo>
                  <a:lnTo>
                    <a:pt x="3390962" y="0"/>
                  </a:lnTo>
                  <a:close/>
                </a:path>
              </a:pathLst>
            </a:custGeom>
            <a:solidFill>
              <a:srgbClr val="E8E8E8"/>
            </a:solidFill>
          </p:spPr>
          <p:txBody>
            <a:bodyPr wrap="square" lIns="0" tIns="0" rIns="0" bIns="0" rtlCol="0"/>
            <a:lstStyle/>
            <a:p>
              <a:endParaRPr/>
            </a:p>
          </p:txBody>
        </p:sp>
      </p:grpSp>
      <p:sp>
        <p:nvSpPr>
          <p:cNvPr id="116" name="object 116"/>
          <p:cNvSpPr txBox="1"/>
          <p:nvPr/>
        </p:nvSpPr>
        <p:spPr>
          <a:xfrm>
            <a:off x="1504358" y="9523735"/>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117" name="object 117"/>
          <p:cNvSpPr txBox="1"/>
          <p:nvPr/>
        </p:nvSpPr>
        <p:spPr>
          <a:xfrm>
            <a:off x="4702659" y="9523735"/>
            <a:ext cx="240029" cy="226695"/>
          </a:xfrm>
          <a:prstGeom prst="rect">
            <a:avLst/>
          </a:prstGeom>
        </p:spPr>
        <p:txBody>
          <a:bodyPr vert="horz" wrap="square" lIns="0" tIns="15240" rIns="0" bIns="0" rtlCol="0">
            <a:spAutoFit/>
          </a:bodyPr>
          <a:lstStyle/>
          <a:p>
            <a:pPr marL="12700">
              <a:lnSpc>
                <a:spcPct val="100000"/>
              </a:lnSpc>
              <a:spcBef>
                <a:spcPts val="120"/>
              </a:spcBef>
            </a:pPr>
            <a:r>
              <a:rPr sz="1300" spc="-30">
                <a:solidFill>
                  <a:srgbClr val="7F7F7F"/>
                </a:solidFill>
                <a:latin typeface="Microsoft Sans Serif"/>
                <a:cs typeface="Microsoft Sans Serif"/>
              </a:rPr>
              <a:t>2.4</a:t>
            </a:r>
            <a:endParaRPr sz="1300">
              <a:latin typeface="Microsoft Sans Serif"/>
              <a:cs typeface="Microsoft Sans Serif"/>
            </a:endParaRPr>
          </a:p>
        </p:txBody>
      </p:sp>
      <p:sp>
        <p:nvSpPr>
          <p:cNvPr id="118" name="object 118"/>
          <p:cNvSpPr/>
          <p:nvPr/>
        </p:nvSpPr>
        <p:spPr>
          <a:xfrm>
            <a:off x="1517058" y="9757496"/>
            <a:ext cx="890905" cy="45085"/>
          </a:xfrm>
          <a:custGeom>
            <a:avLst/>
            <a:gdLst/>
            <a:ahLst/>
            <a:cxnLst/>
            <a:rect l="l" t="t" r="r" b="b"/>
            <a:pathLst>
              <a:path w="890904" h="45084">
                <a:moveTo>
                  <a:pt x="868015" y="0"/>
                </a:moveTo>
                <a:lnTo>
                  <a:pt x="22418" y="0"/>
                </a:lnTo>
                <a:lnTo>
                  <a:pt x="13689" y="1762"/>
                </a:lnTo>
                <a:lnTo>
                  <a:pt x="6563" y="6567"/>
                </a:lnTo>
                <a:lnTo>
                  <a:pt x="1760" y="13693"/>
                </a:lnTo>
                <a:lnTo>
                  <a:pt x="0" y="22418"/>
                </a:lnTo>
                <a:lnTo>
                  <a:pt x="1760" y="31148"/>
                </a:lnTo>
                <a:lnTo>
                  <a:pt x="6563" y="38277"/>
                </a:lnTo>
                <a:lnTo>
                  <a:pt x="13689" y="43084"/>
                </a:lnTo>
                <a:lnTo>
                  <a:pt x="22418" y="44846"/>
                </a:lnTo>
                <a:lnTo>
                  <a:pt x="868015" y="44846"/>
                </a:lnTo>
                <a:lnTo>
                  <a:pt x="876739" y="43084"/>
                </a:lnTo>
                <a:lnTo>
                  <a:pt x="883865" y="38277"/>
                </a:lnTo>
                <a:lnTo>
                  <a:pt x="888671" y="31148"/>
                </a:lnTo>
                <a:lnTo>
                  <a:pt x="890433" y="22418"/>
                </a:lnTo>
                <a:lnTo>
                  <a:pt x="888671" y="13693"/>
                </a:lnTo>
                <a:lnTo>
                  <a:pt x="883865" y="6567"/>
                </a:lnTo>
                <a:lnTo>
                  <a:pt x="876739" y="1762"/>
                </a:lnTo>
                <a:lnTo>
                  <a:pt x="868015" y="0"/>
                </a:lnTo>
                <a:close/>
              </a:path>
            </a:pathLst>
          </a:custGeom>
          <a:solidFill>
            <a:srgbClr val="84C7FA"/>
          </a:solidFill>
        </p:spPr>
        <p:txBody>
          <a:bodyPr wrap="square" lIns="0" tIns="0" rIns="0" bIns="0" rtlCol="0"/>
          <a:lstStyle/>
          <a:p>
            <a:endParaRPr/>
          </a:p>
        </p:txBody>
      </p:sp>
      <p:grpSp>
        <p:nvGrpSpPr>
          <p:cNvPr id="119" name="object 119"/>
          <p:cNvGrpSpPr/>
          <p:nvPr/>
        </p:nvGrpSpPr>
        <p:grpSpPr>
          <a:xfrm>
            <a:off x="10524847" y="7102475"/>
            <a:ext cx="3869690" cy="2830830"/>
            <a:chOff x="11102955" y="7427528"/>
            <a:chExt cx="3869690" cy="2830830"/>
          </a:xfrm>
        </p:grpSpPr>
        <p:sp>
          <p:nvSpPr>
            <p:cNvPr id="120" name="object 120"/>
            <p:cNvSpPr/>
            <p:nvPr/>
          </p:nvSpPr>
          <p:spPr>
            <a:xfrm>
              <a:off x="11108353" y="7432925"/>
              <a:ext cx="3858895" cy="2820035"/>
            </a:xfrm>
            <a:custGeom>
              <a:avLst/>
              <a:gdLst/>
              <a:ahLst/>
              <a:cxnLst/>
              <a:rect l="l" t="t" r="r" b="b"/>
              <a:pathLst>
                <a:path w="3858894" h="2820034">
                  <a:moveTo>
                    <a:pt x="3618214" y="0"/>
                  </a:moveTo>
                  <a:lnTo>
                    <a:pt x="240306" y="0"/>
                  </a:lnTo>
                  <a:lnTo>
                    <a:pt x="191861" y="4882"/>
                  </a:lnTo>
                  <a:lnTo>
                    <a:pt x="146746" y="18884"/>
                  </a:lnTo>
                  <a:lnTo>
                    <a:pt x="105925" y="41039"/>
                  </a:lnTo>
                  <a:lnTo>
                    <a:pt x="70364" y="70382"/>
                  </a:lnTo>
                  <a:lnTo>
                    <a:pt x="41026" y="105946"/>
                  </a:lnTo>
                  <a:lnTo>
                    <a:pt x="18877" y="146763"/>
                  </a:lnTo>
                  <a:lnTo>
                    <a:pt x="4880" y="191869"/>
                  </a:lnTo>
                  <a:lnTo>
                    <a:pt x="0" y="240296"/>
                  </a:lnTo>
                  <a:lnTo>
                    <a:pt x="0" y="2579429"/>
                  </a:lnTo>
                  <a:lnTo>
                    <a:pt x="4880" y="2627856"/>
                  </a:lnTo>
                  <a:lnTo>
                    <a:pt x="18877" y="2672961"/>
                  </a:lnTo>
                  <a:lnTo>
                    <a:pt x="41026" y="2713779"/>
                  </a:lnTo>
                  <a:lnTo>
                    <a:pt x="70364" y="2749342"/>
                  </a:lnTo>
                  <a:lnTo>
                    <a:pt x="105925" y="2778685"/>
                  </a:lnTo>
                  <a:lnTo>
                    <a:pt x="146746" y="2800841"/>
                  </a:lnTo>
                  <a:lnTo>
                    <a:pt x="191861" y="2814843"/>
                  </a:lnTo>
                  <a:lnTo>
                    <a:pt x="240306" y="2819725"/>
                  </a:lnTo>
                  <a:lnTo>
                    <a:pt x="3618214" y="2819725"/>
                  </a:lnTo>
                  <a:lnTo>
                    <a:pt x="3666659" y="2814843"/>
                  </a:lnTo>
                  <a:lnTo>
                    <a:pt x="3711775" y="2800841"/>
                  </a:lnTo>
                  <a:lnTo>
                    <a:pt x="3752595" y="2778685"/>
                  </a:lnTo>
                  <a:lnTo>
                    <a:pt x="3788156" y="2749342"/>
                  </a:lnTo>
                  <a:lnTo>
                    <a:pt x="3817494" y="2713779"/>
                  </a:lnTo>
                  <a:lnTo>
                    <a:pt x="3839644" y="2672961"/>
                  </a:lnTo>
                  <a:lnTo>
                    <a:pt x="3853641" y="2627856"/>
                  </a:lnTo>
                  <a:lnTo>
                    <a:pt x="3858521" y="2579429"/>
                  </a:lnTo>
                  <a:lnTo>
                    <a:pt x="3858521" y="240296"/>
                  </a:lnTo>
                  <a:lnTo>
                    <a:pt x="3853641" y="191869"/>
                  </a:lnTo>
                  <a:lnTo>
                    <a:pt x="3839644" y="146763"/>
                  </a:lnTo>
                  <a:lnTo>
                    <a:pt x="3817494" y="105946"/>
                  </a:lnTo>
                  <a:lnTo>
                    <a:pt x="3788156" y="70382"/>
                  </a:lnTo>
                  <a:lnTo>
                    <a:pt x="3752595" y="41039"/>
                  </a:lnTo>
                  <a:lnTo>
                    <a:pt x="3711775" y="18884"/>
                  </a:lnTo>
                  <a:lnTo>
                    <a:pt x="3666659" y="4882"/>
                  </a:lnTo>
                  <a:lnTo>
                    <a:pt x="3618214" y="0"/>
                  </a:lnTo>
                  <a:close/>
                </a:path>
              </a:pathLst>
            </a:custGeom>
            <a:solidFill>
              <a:srgbClr val="FFFFFF"/>
            </a:solidFill>
          </p:spPr>
          <p:txBody>
            <a:bodyPr wrap="square" lIns="0" tIns="0" rIns="0" bIns="0" rtlCol="0"/>
            <a:lstStyle/>
            <a:p>
              <a:endParaRPr/>
            </a:p>
          </p:txBody>
        </p:sp>
        <p:sp>
          <p:nvSpPr>
            <p:cNvPr id="121" name="object 121"/>
            <p:cNvSpPr/>
            <p:nvPr/>
          </p:nvSpPr>
          <p:spPr>
            <a:xfrm>
              <a:off x="11108353" y="7432925"/>
              <a:ext cx="3858895" cy="2820035"/>
            </a:xfrm>
            <a:custGeom>
              <a:avLst/>
              <a:gdLst/>
              <a:ahLst/>
              <a:cxnLst/>
              <a:rect l="l" t="t" r="r" b="b"/>
              <a:pathLst>
                <a:path w="3858894"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sp>
        <p:nvSpPr>
          <p:cNvPr id="122" name="object 122"/>
          <p:cNvSpPr txBox="1"/>
          <p:nvPr/>
        </p:nvSpPr>
        <p:spPr>
          <a:xfrm>
            <a:off x="10736282" y="7196466"/>
            <a:ext cx="1256030" cy="681990"/>
          </a:xfrm>
          <a:prstGeom prst="rect">
            <a:avLst/>
          </a:prstGeom>
        </p:spPr>
        <p:txBody>
          <a:bodyPr vert="horz" wrap="square" lIns="0" tIns="79375" rIns="0" bIns="0" rtlCol="0">
            <a:spAutoFit/>
          </a:bodyPr>
          <a:lstStyle/>
          <a:p>
            <a:pPr marL="12700">
              <a:lnSpc>
                <a:spcPct val="100000"/>
              </a:lnSpc>
              <a:spcBef>
                <a:spcPts val="625"/>
              </a:spcBef>
            </a:pPr>
            <a:r>
              <a:rPr sz="2300" spc="-85">
                <a:solidFill>
                  <a:srgbClr val="262626"/>
                </a:solidFill>
                <a:latin typeface="Microsoft Sans Serif"/>
                <a:cs typeface="Microsoft Sans Serif"/>
              </a:rPr>
              <a:t>PBT</a:t>
            </a:r>
            <a:r>
              <a:rPr sz="2300" spc="-95">
                <a:solidFill>
                  <a:srgbClr val="262626"/>
                </a:solidFill>
                <a:latin typeface="Microsoft Sans Serif"/>
                <a:cs typeface="Microsoft Sans Serif"/>
              </a:rPr>
              <a:t> </a:t>
            </a:r>
            <a:r>
              <a:rPr sz="2300" spc="-55">
                <a:solidFill>
                  <a:srgbClr val="262626"/>
                </a:solidFill>
                <a:latin typeface="Microsoft Sans Serif"/>
                <a:cs typeface="Microsoft Sans Serif"/>
              </a:rPr>
              <a:t>(BEI)</a:t>
            </a:r>
            <a:endParaRPr sz="2300">
              <a:latin typeface="Microsoft Sans Serif"/>
              <a:cs typeface="Microsoft Sans Serif"/>
            </a:endParaRPr>
          </a:p>
          <a:p>
            <a:pPr marL="12700">
              <a:lnSpc>
                <a:spcPct val="100000"/>
              </a:lnSpc>
              <a:spcBef>
                <a:spcPts val="320"/>
              </a:spcBef>
            </a:pPr>
            <a:r>
              <a:rPr sz="1300">
                <a:solidFill>
                  <a:srgbClr val="7F7F7F"/>
                </a:solidFill>
                <a:latin typeface="Microsoft Sans Serif"/>
                <a:cs typeface="Microsoft Sans Serif"/>
              </a:rPr>
              <a:t>£</a:t>
            </a:r>
            <a:r>
              <a:rPr sz="1300" spc="-50">
                <a:solidFill>
                  <a:srgbClr val="7F7F7F"/>
                </a:solidFill>
                <a:latin typeface="Microsoft Sans Serif"/>
                <a:cs typeface="Microsoft Sans Serif"/>
              </a:rPr>
              <a:t> </a:t>
            </a:r>
            <a:r>
              <a:rPr sz="1300" spc="-10">
                <a:solidFill>
                  <a:srgbClr val="7F7F7F"/>
                </a:solidFill>
                <a:latin typeface="Microsoft Sans Serif"/>
                <a:cs typeface="Microsoft Sans Serif"/>
              </a:rPr>
              <a:t>million</a:t>
            </a:r>
            <a:endParaRPr sz="1300">
              <a:latin typeface="Microsoft Sans Serif"/>
              <a:cs typeface="Microsoft Sans Serif"/>
            </a:endParaRPr>
          </a:p>
        </p:txBody>
      </p:sp>
      <p:sp>
        <p:nvSpPr>
          <p:cNvPr id="124" name="object 124"/>
          <p:cNvSpPr/>
          <p:nvPr/>
        </p:nvSpPr>
        <p:spPr>
          <a:xfrm>
            <a:off x="10737987" y="7952716"/>
            <a:ext cx="3443604" cy="0"/>
          </a:xfrm>
          <a:custGeom>
            <a:avLst/>
            <a:gdLst/>
            <a:ahLst/>
            <a:cxnLst/>
            <a:rect l="l" t="t" r="r" b="b"/>
            <a:pathLst>
              <a:path w="3443605">
                <a:moveTo>
                  <a:pt x="0" y="0"/>
                </a:moveTo>
                <a:lnTo>
                  <a:pt x="3443026" y="0"/>
                </a:lnTo>
              </a:path>
            </a:pathLst>
          </a:custGeom>
          <a:ln w="10470">
            <a:solidFill>
              <a:srgbClr val="D1D1D1"/>
            </a:solidFill>
          </a:ln>
        </p:spPr>
        <p:txBody>
          <a:bodyPr wrap="square" lIns="0" tIns="0" rIns="0" bIns="0" rtlCol="0"/>
          <a:lstStyle/>
          <a:p>
            <a:endParaRPr/>
          </a:p>
        </p:txBody>
      </p:sp>
      <p:sp>
        <p:nvSpPr>
          <p:cNvPr id="127" name="object 127"/>
          <p:cNvSpPr txBox="1"/>
          <p:nvPr/>
        </p:nvSpPr>
        <p:spPr>
          <a:xfrm>
            <a:off x="13658495" y="7355416"/>
            <a:ext cx="306070" cy="226695"/>
          </a:xfrm>
          <a:prstGeom prst="rect">
            <a:avLst/>
          </a:prstGeom>
        </p:spPr>
        <p:txBody>
          <a:bodyPr vert="horz" wrap="square" lIns="0" tIns="15240" rIns="0" bIns="0" rtlCol="0">
            <a:spAutoFit/>
          </a:bodyPr>
          <a:lstStyle/>
          <a:p>
            <a:pPr marL="12700">
              <a:lnSpc>
                <a:spcPct val="100000"/>
              </a:lnSpc>
              <a:spcBef>
                <a:spcPts val="120"/>
              </a:spcBef>
            </a:pPr>
            <a:r>
              <a:rPr sz="1300" spc="-25">
                <a:solidFill>
                  <a:srgbClr val="FFFFFF"/>
                </a:solidFill>
                <a:latin typeface="Microsoft Sans Serif"/>
                <a:cs typeface="Microsoft Sans Serif"/>
              </a:rPr>
              <a:t>324</a:t>
            </a:r>
            <a:endParaRPr sz="1300">
              <a:latin typeface="Microsoft Sans Serif"/>
              <a:cs typeface="Microsoft Sans Serif"/>
            </a:endParaRPr>
          </a:p>
        </p:txBody>
      </p:sp>
      <p:sp>
        <p:nvSpPr>
          <p:cNvPr id="128" name="object 128"/>
          <p:cNvSpPr txBox="1"/>
          <p:nvPr/>
        </p:nvSpPr>
        <p:spPr>
          <a:xfrm>
            <a:off x="10725287" y="7999721"/>
            <a:ext cx="1117600" cy="518159"/>
          </a:xfrm>
          <a:prstGeom prst="rect">
            <a:avLst/>
          </a:prstGeom>
        </p:spPr>
        <p:txBody>
          <a:bodyPr vert="horz" wrap="square" lIns="0" tIns="16510" rIns="0" bIns="0" rtlCol="0">
            <a:spAutoFit/>
          </a:bodyPr>
          <a:lstStyle/>
          <a:p>
            <a:pPr marL="12700">
              <a:lnSpc>
                <a:spcPct val="100000"/>
              </a:lnSpc>
              <a:spcBef>
                <a:spcPts val="130"/>
              </a:spcBef>
            </a:pPr>
            <a:r>
              <a:rPr sz="3200" spc="-200">
                <a:solidFill>
                  <a:srgbClr val="065088"/>
                </a:solidFill>
                <a:latin typeface="Arial Black"/>
                <a:cs typeface="Arial Black"/>
              </a:rPr>
              <a:t>2,489</a:t>
            </a:r>
            <a:endParaRPr sz="3200">
              <a:latin typeface="Arial Black"/>
              <a:cs typeface="Arial Black"/>
            </a:endParaRPr>
          </a:p>
        </p:txBody>
      </p:sp>
      <p:sp>
        <p:nvSpPr>
          <p:cNvPr id="129" name="object 129"/>
          <p:cNvSpPr/>
          <p:nvPr/>
        </p:nvSpPr>
        <p:spPr>
          <a:xfrm>
            <a:off x="12452803" y="8929220"/>
            <a:ext cx="1713230" cy="45085"/>
          </a:xfrm>
          <a:custGeom>
            <a:avLst/>
            <a:gdLst/>
            <a:ahLst/>
            <a:cxnLst/>
            <a:rect l="l" t="t" r="r" b="b"/>
            <a:pathLst>
              <a:path w="1713230" h="45084">
                <a:moveTo>
                  <a:pt x="1690210" y="0"/>
                </a:moveTo>
                <a:lnTo>
                  <a:pt x="22407" y="0"/>
                </a:lnTo>
                <a:lnTo>
                  <a:pt x="13693" y="1762"/>
                </a:lnTo>
                <a:lnTo>
                  <a:pt x="6570" y="6569"/>
                </a:lnTo>
                <a:lnTo>
                  <a:pt x="1763" y="13698"/>
                </a:lnTo>
                <a:lnTo>
                  <a:pt x="0" y="22428"/>
                </a:lnTo>
                <a:lnTo>
                  <a:pt x="1763" y="31152"/>
                </a:lnTo>
                <a:lnTo>
                  <a:pt x="6570" y="38278"/>
                </a:lnTo>
                <a:lnTo>
                  <a:pt x="13693" y="43084"/>
                </a:lnTo>
                <a:lnTo>
                  <a:pt x="22407" y="44846"/>
                </a:lnTo>
                <a:lnTo>
                  <a:pt x="1690210" y="44846"/>
                </a:lnTo>
                <a:lnTo>
                  <a:pt x="1698924" y="43084"/>
                </a:lnTo>
                <a:lnTo>
                  <a:pt x="1706047" y="38278"/>
                </a:lnTo>
                <a:lnTo>
                  <a:pt x="1710854" y="31152"/>
                </a:lnTo>
                <a:lnTo>
                  <a:pt x="1712618" y="22428"/>
                </a:lnTo>
                <a:lnTo>
                  <a:pt x="1710854" y="13698"/>
                </a:lnTo>
                <a:lnTo>
                  <a:pt x="1706047" y="6569"/>
                </a:lnTo>
                <a:lnTo>
                  <a:pt x="1698924" y="1762"/>
                </a:lnTo>
                <a:lnTo>
                  <a:pt x="1690210" y="0"/>
                </a:lnTo>
                <a:close/>
              </a:path>
            </a:pathLst>
          </a:custGeom>
          <a:solidFill>
            <a:srgbClr val="E8E8E8"/>
          </a:solidFill>
        </p:spPr>
        <p:txBody>
          <a:bodyPr wrap="square" lIns="0" tIns="0" rIns="0" bIns="0" rtlCol="0"/>
          <a:lstStyle/>
          <a:p>
            <a:endParaRPr/>
          </a:p>
        </p:txBody>
      </p:sp>
      <p:sp>
        <p:nvSpPr>
          <p:cNvPr id="130" name="object 130"/>
          <p:cNvSpPr txBox="1"/>
          <p:nvPr/>
        </p:nvSpPr>
        <p:spPr>
          <a:xfrm>
            <a:off x="12440103" y="8674747"/>
            <a:ext cx="405130" cy="226695"/>
          </a:xfrm>
          <a:prstGeom prst="rect">
            <a:avLst/>
          </a:prstGeom>
        </p:spPr>
        <p:txBody>
          <a:bodyPr vert="horz" wrap="square" lIns="0" tIns="15240" rIns="0" bIns="0" rtlCol="0">
            <a:spAutoFit/>
          </a:bodyPr>
          <a:lstStyle/>
          <a:p>
            <a:pPr marL="12700">
              <a:lnSpc>
                <a:spcPct val="100000"/>
              </a:lnSpc>
              <a:spcBef>
                <a:spcPts val="120"/>
              </a:spcBef>
            </a:pPr>
            <a:r>
              <a:rPr sz="1300" spc="-25">
                <a:solidFill>
                  <a:srgbClr val="424242"/>
                </a:solidFill>
                <a:latin typeface="Microsoft Sans Serif"/>
                <a:cs typeface="Microsoft Sans Serif"/>
              </a:rPr>
              <a:t>FY25</a:t>
            </a:r>
            <a:endParaRPr sz="1300">
              <a:latin typeface="Microsoft Sans Serif"/>
              <a:cs typeface="Microsoft Sans Serif"/>
            </a:endParaRPr>
          </a:p>
        </p:txBody>
      </p:sp>
      <p:sp>
        <p:nvSpPr>
          <p:cNvPr id="131" name="object 131"/>
          <p:cNvSpPr txBox="1"/>
          <p:nvPr/>
        </p:nvSpPr>
        <p:spPr>
          <a:xfrm>
            <a:off x="13730327" y="8674747"/>
            <a:ext cx="448945" cy="226695"/>
          </a:xfrm>
          <a:prstGeom prst="rect">
            <a:avLst/>
          </a:prstGeom>
        </p:spPr>
        <p:txBody>
          <a:bodyPr vert="horz" wrap="square" lIns="0" tIns="15240" rIns="0" bIns="0" rtlCol="0">
            <a:spAutoFit/>
          </a:bodyPr>
          <a:lstStyle/>
          <a:p>
            <a:pPr marL="12700">
              <a:lnSpc>
                <a:spcPct val="100000"/>
              </a:lnSpc>
              <a:spcBef>
                <a:spcPts val="120"/>
              </a:spcBef>
            </a:pPr>
            <a:r>
              <a:rPr sz="1300" spc="-10">
                <a:solidFill>
                  <a:srgbClr val="424242"/>
                </a:solidFill>
                <a:latin typeface="Microsoft Sans Serif"/>
                <a:cs typeface="Microsoft Sans Serif"/>
              </a:rPr>
              <a:t>2,489</a:t>
            </a:r>
            <a:endParaRPr sz="1300">
              <a:latin typeface="Microsoft Sans Serif"/>
              <a:cs typeface="Microsoft Sans Serif"/>
            </a:endParaRPr>
          </a:p>
        </p:txBody>
      </p:sp>
      <p:sp>
        <p:nvSpPr>
          <p:cNvPr id="132" name="object 132"/>
          <p:cNvSpPr txBox="1"/>
          <p:nvPr/>
        </p:nvSpPr>
        <p:spPr>
          <a:xfrm>
            <a:off x="12440103" y="9076829"/>
            <a:ext cx="39306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7F7F7F"/>
                </a:solidFill>
                <a:latin typeface="Microsoft Sans Serif"/>
                <a:cs typeface="Microsoft Sans Serif"/>
              </a:rPr>
              <a:t>FY24</a:t>
            </a:r>
            <a:endParaRPr sz="1300">
              <a:latin typeface="Microsoft Sans Serif"/>
              <a:cs typeface="Microsoft Sans Serif"/>
            </a:endParaRPr>
          </a:p>
        </p:txBody>
      </p:sp>
      <p:sp>
        <p:nvSpPr>
          <p:cNvPr id="133" name="object 133"/>
          <p:cNvSpPr txBox="1"/>
          <p:nvPr/>
        </p:nvSpPr>
        <p:spPr>
          <a:xfrm>
            <a:off x="13781319" y="9076829"/>
            <a:ext cx="397510" cy="226695"/>
          </a:xfrm>
          <a:prstGeom prst="rect">
            <a:avLst/>
          </a:prstGeom>
        </p:spPr>
        <p:txBody>
          <a:bodyPr vert="horz" wrap="square" lIns="0" tIns="15240" rIns="0" bIns="0" rtlCol="0">
            <a:spAutoFit/>
          </a:bodyPr>
          <a:lstStyle/>
          <a:p>
            <a:pPr marL="12700">
              <a:lnSpc>
                <a:spcPct val="100000"/>
              </a:lnSpc>
              <a:spcBef>
                <a:spcPts val="120"/>
              </a:spcBef>
            </a:pPr>
            <a:r>
              <a:rPr sz="1300" spc="-65">
                <a:solidFill>
                  <a:srgbClr val="7F7F7F"/>
                </a:solidFill>
                <a:latin typeface="Microsoft Sans Serif"/>
                <a:cs typeface="Microsoft Sans Serif"/>
              </a:rPr>
              <a:t>2,165</a:t>
            </a:r>
            <a:endParaRPr sz="1300">
              <a:latin typeface="Microsoft Sans Serif"/>
              <a:cs typeface="Microsoft Sans Serif"/>
            </a:endParaRPr>
          </a:p>
        </p:txBody>
      </p:sp>
      <p:grpSp>
        <p:nvGrpSpPr>
          <p:cNvPr id="134" name="object 134"/>
          <p:cNvGrpSpPr/>
          <p:nvPr/>
        </p:nvGrpSpPr>
        <p:grpSpPr>
          <a:xfrm>
            <a:off x="10752856" y="9310894"/>
            <a:ext cx="3413125" cy="426720"/>
            <a:chOff x="11330964" y="9635947"/>
            <a:chExt cx="3413125" cy="426720"/>
          </a:xfrm>
        </p:grpSpPr>
        <p:sp>
          <p:nvSpPr>
            <p:cNvPr id="135" name="object 135"/>
            <p:cNvSpPr/>
            <p:nvPr/>
          </p:nvSpPr>
          <p:spPr>
            <a:xfrm>
              <a:off x="13030912" y="9635947"/>
              <a:ext cx="1713230" cy="45085"/>
            </a:xfrm>
            <a:custGeom>
              <a:avLst/>
              <a:gdLst/>
              <a:ahLst/>
              <a:cxnLst/>
              <a:rect l="l" t="t" r="r" b="b"/>
              <a:pathLst>
                <a:path w="1713230" h="45084">
                  <a:moveTo>
                    <a:pt x="1690210" y="0"/>
                  </a:moveTo>
                  <a:lnTo>
                    <a:pt x="22407" y="0"/>
                  </a:lnTo>
                  <a:lnTo>
                    <a:pt x="13693" y="1762"/>
                  </a:lnTo>
                  <a:lnTo>
                    <a:pt x="6570" y="6569"/>
                  </a:lnTo>
                  <a:lnTo>
                    <a:pt x="1763" y="13698"/>
                  </a:lnTo>
                  <a:lnTo>
                    <a:pt x="0" y="22428"/>
                  </a:lnTo>
                  <a:lnTo>
                    <a:pt x="1763" y="31152"/>
                  </a:lnTo>
                  <a:lnTo>
                    <a:pt x="6570" y="38278"/>
                  </a:lnTo>
                  <a:lnTo>
                    <a:pt x="13693" y="43084"/>
                  </a:lnTo>
                  <a:lnTo>
                    <a:pt x="22407" y="44846"/>
                  </a:lnTo>
                  <a:lnTo>
                    <a:pt x="1690210" y="44846"/>
                  </a:lnTo>
                  <a:lnTo>
                    <a:pt x="1698924" y="43084"/>
                  </a:lnTo>
                  <a:lnTo>
                    <a:pt x="1706047" y="38278"/>
                  </a:lnTo>
                  <a:lnTo>
                    <a:pt x="1710854" y="31152"/>
                  </a:lnTo>
                  <a:lnTo>
                    <a:pt x="1712618" y="22428"/>
                  </a:lnTo>
                  <a:lnTo>
                    <a:pt x="1710854" y="13698"/>
                  </a:lnTo>
                  <a:lnTo>
                    <a:pt x="1706047" y="6569"/>
                  </a:lnTo>
                  <a:lnTo>
                    <a:pt x="1698924" y="1762"/>
                  </a:lnTo>
                  <a:lnTo>
                    <a:pt x="1690210" y="0"/>
                  </a:lnTo>
                  <a:close/>
                </a:path>
              </a:pathLst>
            </a:custGeom>
            <a:solidFill>
              <a:srgbClr val="E8E8E8"/>
            </a:solidFill>
          </p:spPr>
          <p:txBody>
            <a:bodyPr wrap="square" lIns="0" tIns="0" rIns="0" bIns="0" rtlCol="0"/>
            <a:lstStyle/>
            <a:p>
              <a:endParaRPr/>
            </a:p>
          </p:txBody>
        </p:sp>
        <p:sp>
          <p:nvSpPr>
            <p:cNvPr id="136" name="object 136"/>
            <p:cNvSpPr/>
            <p:nvPr/>
          </p:nvSpPr>
          <p:spPr>
            <a:xfrm>
              <a:off x="13030912" y="9635947"/>
              <a:ext cx="1365885" cy="45085"/>
            </a:xfrm>
            <a:custGeom>
              <a:avLst/>
              <a:gdLst/>
              <a:ahLst/>
              <a:cxnLst/>
              <a:rect l="l" t="t" r="r" b="b"/>
              <a:pathLst>
                <a:path w="1365884" h="45084">
                  <a:moveTo>
                    <a:pt x="1342891" y="0"/>
                  </a:moveTo>
                  <a:lnTo>
                    <a:pt x="22407" y="0"/>
                  </a:lnTo>
                  <a:lnTo>
                    <a:pt x="13693" y="1762"/>
                  </a:lnTo>
                  <a:lnTo>
                    <a:pt x="6570" y="6569"/>
                  </a:lnTo>
                  <a:lnTo>
                    <a:pt x="1763" y="13698"/>
                  </a:lnTo>
                  <a:lnTo>
                    <a:pt x="0" y="22428"/>
                  </a:lnTo>
                  <a:lnTo>
                    <a:pt x="1763" y="31152"/>
                  </a:lnTo>
                  <a:lnTo>
                    <a:pt x="6570" y="38278"/>
                  </a:lnTo>
                  <a:lnTo>
                    <a:pt x="13693" y="43084"/>
                  </a:lnTo>
                  <a:lnTo>
                    <a:pt x="22407" y="44846"/>
                  </a:lnTo>
                  <a:lnTo>
                    <a:pt x="1342891" y="44846"/>
                  </a:lnTo>
                  <a:lnTo>
                    <a:pt x="1351648" y="43084"/>
                  </a:lnTo>
                  <a:lnTo>
                    <a:pt x="1358767" y="38278"/>
                  </a:lnTo>
                  <a:lnTo>
                    <a:pt x="1363549" y="31152"/>
                  </a:lnTo>
                  <a:lnTo>
                    <a:pt x="1365298" y="22428"/>
                  </a:lnTo>
                  <a:lnTo>
                    <a:pt x="1363549" y="13698"/>
                  </a:lnTo>
                  <a:lnTo>
                    <a:pt x="1358767" y="6569"/>
                  </a:lnTo>
                  <a:lnTo>
                    <a:pt x="1351648" y="1762"/>
                  </a:lnTo>
                  <a:lnTo>
                    <a:pt x="1342891" y="0"/>
                  </a:lnTo>
                  <a:close/>
                </a:path>
              </a:pathLst>
            </a:custGeom>
            <a:solidFill>
              <a:srgbClr val="84C7FA"/>
            </a:solidFill>
          </p:spPr>
          <p:txBody>
            <a:bodyPr wrap="square" lIns="0" tIns="0" rIns="0" bIns="0" rtlCol="0"/>
            <a:lstStyle/>
            <a:p>
              <a:endParaRPr/>
            </a:p>
          </p:txBody>
        </p:sp>
        <p:sp>
          <p:nvSpPr>
            <p:cNvPr id="137" name="object 137"/>
            <p:cNvSpPr/>
            <p:nvPr/>
          </p:nvSpPr>
          <p:spPr>
            <a:xfrm>
              <a:off x="11330964" y="10017621"/>
              <a:ext cx="1700530" cy="45085"/>
            </a:xfrm>
            <a:custGeom>
              <a:avLst/>
              <a:gdLst/>
              <a:ahLst/>
              <a:cxnLst/>
              <a:rect l="l" t="t" r="r" b="b"/>
              <a:pathLst>
                <a:path w="1700530" h="45084">
                  <a:moveTo>
                    <a:pt x="1677540" y="0"/>
                  </a:moveTo>
                  <a:lnTo>
                    <a:pt x="22407" y="0"/>
                  </a:lnTo>
                  <a:lnTo>
                    <a:pt x="13693" y="1762"/>
                  </a:lnTo>
                  <a:lnTo>
                    <a:pt x="6570" y="6567"/>
                  </a:lnTo>
                  <a:lnTo>
                    <a:pt x="1763" y="13693"/>
                  </a:lnTo>
                  <a:lnTo>
                    <a:pt x="0" y="22418"/>
                  </a:lnTo>
                  <a:lnTo>
                    <a:pt x="1763" y="31148"/>
                  </a:lnTo>
                  <a:lnTo>
                    <a:pt x="6570" y="38277"/>
                  </a:lnTo>
                  <a:lnTo>
                    <a:pt x="13693" y="43084"/>
                  </a:lnTo>
                  <a:lnTo>
                    <a:pt x="22407" y="44846"/>
                  </a:lnTo>
                  <a:lnTo>
                    <a:pt x="1677540" y="44846"/>
                  </a:lnTo>
                  <a:lnTo>
                    <a:pt x="1686254" y="43084"/>
                  </a:lnTo>
                  <a:lnTo>
                    <a:pt x="1693377" y="38277"/>
                  </a:lnTo>
                  <a:lnTo>
                    <a:pt x="1698184" y="31148"/>
                  </a:lnTo>
                  <a:lnTo>
                    <a:pt x="1699948" y="22418"/>
                  </a:lnTo>
                  <a:lnTo>
                    <a:pt x="1698184" y="13693"/>
                  </a:lnTo>
                  <a:lnTo>
                    <a:pt x="1693377" y="6567"/>
                  </a:lnTo>
                  <a:lnTo>
                    <a:pt x="1686254" y="1762"/>
                  </a:lnTo>
                  <a:lnTo>
                    <a:pt x="1677540" y="0"/>
                  </a:lnTo>
                  <a:close/>
                </a:path>
              </a:pathLst>
            </a:custGeom>
            <a:solidFill>
              <a:srgbClr val="E8E8E8"/>
            </a:solidFill>
          </p:spPr>
          <p:txBody>
            <a:bodyPr wrap="square" lIns="0" tIns="0" rIns="0" bIns="0" rtlCol="0"/>
            <a:lstStyle/>
            <a:p>
              <a:endParaRPr/>
            </a:p>
          </p:txBody>
        </p:sp>
      </p:grpSp>
      <p:sp>
        <p:nvSpPr>
          <p:cNvPr id="138" name="object 138"/>
          <p:cNvSpPr txBox="1"/>
          <p:nvPr/>
        </p:nvSpPr>
        <p:spPr>
          <a:xfrm>
            <a:off x="12440103" y="9458807"/>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139" name="object 139"/>
          <p:cNvSpPr txBox="1"/>
          <p:nvPr/>
        </p:nvSpPr>
        <p:spPr>
          <a:xfrm>
            <a:off x="13875558" y="9458807"/>
            <a:ext cx="302895" cy="226695"/>
          </a:xfrm>
          <a:prstGeom prst="rect">
            <a:avLst/>
          </a:prstGeom>
        </p:spPr>
        <p:txBody>
          <a:bodyPr vert="horz" wrap="square" lIns="0" tIns="15240" rIns="0" bIns="0" rtlCol="0">
            <a:spAutoFit/>
          </a:bodyPr>
          <a:lstStyle/>
          <a:p>
            <a:pPr marL="12700">
              <a:lnSpc>
                <a:spcPct val="100000"/>
              </a:lnSpc>
              <a:spcBef>
                <a:spcPts val="120"/>
              </a:spcBef>
            </a:pPr>
            <a:r>
              <a:rPr sz="1300" spc="-30">
                <a:solidFill>
                  <a:srgbClr val="7F7F7F"/>
                </a:solidFill>
                <a:latin typeface="Microsoft Sans Serif"/>
                <a:cs typeface="Microsoft Sans Serif"/>
              </a:rPr>
              <a:t>(64)</a:t>
            </a:r>
            <a:endParaRPr sz="1300">
              <a:latin typeface="Microsoft Sans Serif"/>
              <a:cs typeface="Microsoft Sans Serif"/>
            </a:endParaRPr>
          </a:p>
        </p:txBody>
      </p:sp>
      <p:grpSp>
        <p:nvGrpSpPr>
          <p:cNvPr id="140" name="object 140"/>
          <p:cNvGrpSpPr/>
          <p:nvPr/>
        </p:nvGrpSpPr>
        <p:grpSpPr>
          <a:xfrm>
            <a:off x="14920474" y="7110578"/>
            <a:ext cx="3869690" cy="2830830"/>
            <a:chOff x="15113094" y="7427528"/>
            <a:chExt cx="3869690" cy="2830830"/>
          </a:xfrm>
        </p:grpSpPr>
        <p:sp>
          <p:nvSpPr>
            <p:cNvPr id="141" name="object 141"/>
            <p:cNvSpPr/>
            <p:nvPr/>
          </p:nvSpPr>
          <p:spPr>
            <a:xfrm>
              <a:off x="15118491" y="7432925"/>
              <a:ext cx="3858895" cy="2820035"/>
            </a:xfrm>
            <a:custGeom>
              <a:avLst/>
              <a:gdLst/>
              <a:ahLst/>
              <a:cxnLst/>
              <a:rect l="l" t="t" r="r" b="b"/>
              <a:pathLst>
                <a:path w="3858894" h="2820034">
                  <a:moveTo>
                    <a:pt x="3618319" y="0"/>
                  </a:moveTo>
                  <a:lnTo>
                    <a:pt x="240306" y="0"/>
                  </a:lnTo>
                  <a:lnTo>
                    <a:pt x="191891" y="4882"/>
                  </a:lnTo>
                  <a:lnTo>
                    <a:pt x="146790" y="18884"/>
                  </a:lnTo>
                  <a:lnTo>
                    <a:pt x="105971" y="41039"/>
                  </a:lnTo>
                  <a:lnTo>
                    <a:pt x="70403" y="70382"/>
                  </a:lnTo>
                  <a:lnTo>
                    <a:pt x="41054" y="105946"/>
                  </a:lnTo>
                  <a:lnTo>
                    <a:pt x="18891" y="146763"/>
                  </a:lnTo>
                  <a:lnTo>
                    <a:pt x="4884" y="191869"/>
                  </a:lnTo>
                  <a:lnTo>
                    <a:pt x="0" y="240296"/>
                  </a:lnTo>
                  <a:lnTo>
                    <a:pt x="0" y="2579429"/>
                  </a:lnTo>
                  <a:lnTo>
                    <a:pt x="4884" y="2627856"/>
                  </a:lnTo>
                  <a:lnTo>
                    <a:pt x="18891" y="2672961"/>
                  </a:lnTo>
                  <a:lnTo>
                    <a:pt x="41054" y="2713779"/>
                  </a:lnTo>
                  <a:lnTo>
                    <a:pt x="70403" y="2749342"/>
                  </a:lnTo>
                  <a:lnTo>
                    <a:pt x="105971" y="2778685"/>
                  </a:lnTo>
                  <a:lnTo>
                    <a:pt x="146790" y="2800841"/>
                  </a:lnTo>
                  <a:lnTo>
                    <a:pt x="191891" y="2814843"/>
                  </a:lnTo>
                  <a:lnTo>
                    <a:pt x="240306" y="2819725"/>
                  </a:lnTo>
                  <a:lnTo>
                    <a:pt x="3618319" y="2819725"/>
                  </a:lnTo>
                  <a:lnTo>
                    <a:pt x="3666734" y="2814843"/>
                  </a:lnTo>
                  <a:lnTo>
                    <a:pt x="3711835" y="2800841"/>
                  </a:lnTo>
                  <a:lnTo>
                    <a:pt x="3752654" y="2778685"/>
                  </a:lnTo>
                  <a:lnTo>
                    <a:pt x="3788222" y="2749342"/>
                  </a:lnTo>
                  <a:lnTo>
                    <a:pt x="3817571" y="2713779"/>
                  </a:lnTo>
                  <a:lnTo>
                    <a:pt x="3839734" y="2672961"/>
                  </a:lnTo>
                  <a:lnTo>
                    <a:pt x="3853741" y="2627856"/>
                  </a:lnTo>
                  <a:lnTo>
                    <a:pt x="3858625" y="2579429"/>
                  </a:lnTo>
                  <a:lnTo>
                    <a:pt x="3858625" y="240296"/>
                  </a:lnTo>
                  <a:lnTo>
                    <a:pt x="3853741" y="191869"/>
                  </a:lnTo>
                  <a:lnTo>
                    <a:pt x="3839734" y="146763"/>
                  </a:lnTo>
                  <a:lnTo>
                    <a:pt x="3817571" y="105946"/>
                  </a:lnTo>
                  <a:lnTo>
                    <a:pt x="3788222" y="70382"/>
                  </a:lnTo>
                  <a:lnTo>
                    <a:pt x="3752654" y="41039"/>
                  </a:lnTo>
                  <a:lnTo>
                    <a:pt x="3711835" y="18884"/>
                  </a:lnTo>
                  <a:lnTo>
                    <a:pt x="3666734" y="4882"/>
                  </a:lnTo>
                  <a:lnTo>
                    <a:pt x="3618319" y="0"/>
                  </a:lnTo>
                  <a:close/>
                </a:path>
              </a:pathLst>
            </a:custGeom>
            <a:solidFill>
              <a:srgbClr val="FFFFFF"/>
            </a:solidFill>
          </p:spPr>
          <p:txBody>
            <a:bodyPr wrap="square" lIns="0" tIns="0" rIns="0" bIns="0" rtlCol="0"/>
            <a:lstStyle/>
            <a:p>
              <a:endParaRPr/>
            </a:p>
          </p:txBody>
        </p:sp>
        <p:sp>
          <p:nvSpPr>
            <p:cNvPr id="142" name="object 142"/>
            <p:cNvSpPr/>
            <p:nvPr/>
          </p:nvSpPr>
          <p:spPr>
            <a:xfrm>
              <a:off x="15118492" y="7432925"/>
              <a:ext cx="3858895" cy="2820035"/>
            </a:xfrm>
            <a:custGeom>
              <a:avLst/>
              <a:gdLst/>
              <a:ahLst/>
              <a:cxnLst/>
              <a:rect l="l" t="t" r="r" b="b"/>
              <a:pathLst>
                <a:path w="3858894" h="2820034">
                  <a:moveTo>
                    <a:pt x="0" y="240295"/>
                  </a:moveTo>
                  <a:lnTo>
                    <a:pt x="4881" y="191867"/>
                  </a:lnTo>
                  <a:lnTo>
                    <a:pt x="18883" y="146761"/>
                  </a:lnTo>
                  <a:lnTo>
                    <a:pt x="41038" y="105943"/>
                  </a:lnTo>
                  <a:lnTo>
                    <a:pt x="70380" y="70380"/>
                  </a:lnTo>
                  <a:lnTo>
                    <a:pt x="105943" y="41038"/>
                  </a:lnTo>
                  <a:lnTo>
                    <a:pt x="146761" y="18883"/>
                  </a:lnTo>
                  <a:lnTo>
                    <a:pt x="191867" y="4881"/>
                  </a:lnTo>
                  <a:lnTo>
                    <a:pt x="240295" y="0"/>
                  </a:lnTo>
                  <a:lnTo>
                    <a:pt x="3618269" y="0"/>
                  </a:lnTo>
                  <a:lnTo>
                    <a:pt x="3666696" y="4881"/>
                  </a:lnTo>
                  <a:lnTo>
                    <a:pt x="3711802" y="18883"/>
                  </a:lnTo>
                  <a:lnTo>
                    <a:pt x="3752620" y="41038"/>
                  </a:lnTo>
                  <a:lnTo>
                    <a:pt x="3788183" y="70380"/>
                  </a:lnTo>
                  <a:lnTo>
                    <a:pt x="3817525" y="105943"/>
                  </a:lnTo>
                  <a:lnTo>
                    <a:pt x="3839680" y="146761"/>
                  </a:lnTo>
                  <a:lnTo>
                    <a:pt x="3853682" y="191867"/>
                  </a:lnTo>
                  <a:lnTo>
                    <a:pt x="3858564" y="240295"/>
                  </a:lnTo>
                  <a:lnTo>
                    <a:pt x="3858564" y="2579424"/>
                  </a:lnTo>
                  <a:lnTo>
                    <a:pt x="3853682" y="2627852"/>
                  </a:lnTo>
                  <a:lnTo>
                    <a:pt x="3839680" y="2672958"/>
                  </a:lnTo>
                  <a:lnTo>
                    <a:pt x="3817525" y="2713776"/>
                  </a:lnTo>
                  <a:lnTo>
                    <a:pt x="3788183" y="2749339"/>
                  </a:lnTo>
                  <a:lnTo>
                    <a:pt x="3752620" y="2778681"/>
                  </a:lnTo>
                  <a:lnTo>
                    <a:pt x="3711802" y="2800836"/>
                  </a:lnTo>
                  <a:lnTo>
                    <a:pt x="3666696" y="2814838"/>
                  </a:lnTo>
                  <a:lnTo>
                    <a:pt x="3618269" y="2819720"/>
                  </a:lnTo>
                  <a:lnTo>
                    <a:pt x="240295" y="2819720"/>
                  </a:lnTo>
                  <a:lnTo>
                    <a:pt x="191867" y="2814838"/>
                  </a:lnTo>
                  <a:lnTo>
                    <a:pt x="146761" y="2800836"/>
                  </a:lnTo>
                  <a:lnTo>
                    <a:pt x="105943" y="2778681"/>
                  </a:lnTo>
                  <a:lnTo>
                    <a:pt x="70380" y="2749339"/>
                  </a:lnTo>
                  <a:lnTo>
                    <a:pt x="41038" y="2713776"/>
                  </a:lnTo>
                  <a:lnTo>
                    <a:pt x="18883" y="2672958"/>
                  </a:lnTo>
                  <a:lnTo>
                    <a:pt x="4881" y="2627852"/>
                  </a:lnTo>
                  <a:lnTo>
                    <a:pt x="0" y="2579424"/>
                  </a:lnTo>
                  <a:lnTo>
                    <a:pt x="0" y="240295"/>
                  </a:lnTo>
                  <a:close/>
                </a:path>
              </a:pathLst>
            </a:custGeom>
            <a:ln w="10470">
              <a:solidFill>
                <a:srgbClr val="B3B3B3"/>
              </a:solidFill>
            </a:ln>
          </p:spPr>
          <p:txBody>
            <a:bodyPr wrap="square" lIns="0" tIns="0" rIns="0" bIns="0" rtlCol="0"/>
            <a:lstStyle/>
            <a:p>
              <a:endParaRPr/>
            </a:p>
          </p:txBody>
        </p:sp>
      </p:grpSp>
      <p:grpSp>
        <p:nvGrpSpPr>
          <p:cNvPr id="143" name="object 143"/>
          <p:cNvGrpSpPr/>
          <p:nvPr/>
        </p:nvGrpSpPr>
        <p:grpSpPr>
          <a:xfrm>
            <a:off x="12304432" y="8875085"/>
            <a:ext cx="1927225" cy="862330"/>
            <a:chOff x="12882540" y="9200138"/>
            <a:chExt cx="1927225" cy="862330"/>
          </a:xfrm>
        </p:grpSpPr>
        <p:sp>
          <p:nvSpPr>
            <p:cNvPr id="144" name="object 144"/>
            <p:cNvSpPr/>
            <p:nvPr/>
          </p:nvSpPr>
          <p:spPr>
            <a:xfrm>
              <a:off x="12882540" y="10017621"/>
              <a:ext cx="148590" cy="45085"/>
            </a:xfrm>
            <a:custGeom>
              <a:avLst/>
              <a:gdLst/>
              <a:ahLst/>
              <a:cxnLst/>
              <a:rect l="l" t="t" r="r" b="b"/>
              <a:pathLst>
                <a:path w="148590" h="45084">
                  <a:moveTo>
                    <a:pt x="125964" y="0"/>
                  </a:moveTo>
                  <a:lnTo>
                    <a:pt x="22407" y="0"/>
                  </a:lnTo>
                  <a:lnTo>
                    <a:pt x="13693" y="1762"/>
                  </a:lnTo>
                  <a:lnTo>
                    <a:pt x="6570" y="6567"/>
                  </a:lnTo>
                  <a:lnTo>
                    <a:pt x="1763" y="13693"/>
                  </a:lnTo>
                  <a:lnTo>
                    <a:pt x="0" y="22418"/>
                  </a:lnTo>
                  <a:lnTo>
                    <a:pt x="1763" y="31148"/>
                  </a:lnTo>
                  <a:lnTo>
                    <a:pt x="6570" y="38277"/>
                  </a:lnTo>
                  <a:lnTo>
                    <a:pt x="13693" y="43084"/>
                  </a:lnTo>
                  <a:lnTo>
                    <a:pt x="22407" y="44846"/>
                  </a:lnTo>
                  <a:lnTo>
                    <a:pt x="125964" y="44846"/>
                  </a:lnTo>
                  <a:lnTo>
                    <a:pt x="134678" y="43084"/>
                  </a:lnTo>
                  <a:lnTo>
                    <a:pt x="141801" y="38277"/>
                  </a:lnTo>
                  <a:lnTo>
                    <a:pt x="146608" y="31148"/>
                  </a:lnTo>
                  <a:lnTo>
                    <a:pt x="148372" y="22418"/>
                  </a:lnTo>
                  <a:lnTo>
                    <a:pt x="146608" y="13693"/>
                  </a:lnTo>
                  <a:lnTo>
                    <a:pt x="141801" y="6567"/>
                  </a:lnTo>
                  <a:lnTo>
                    <a:pt x="134678" y="1762"/>
                  </a:lnTo>
                  <a:lnTo>
                    <a:pt x="125964" y="0"/>
                  </a:lnTo>
                  <a:close/>
                </a:path>
              </a:pathLst>
            </a:custGeom>
            <a:solidFill>
              <a:srgbClr val="84C7FA"/>
            </a:solidFill>
          </p:spPr>
          <p:txBody>
            <a:bodyPr wrap="square" lIns="0" tIns="0" rIns="0" bIns="0" rtlCol="0"/>
            <a:lstStyle/>
            <a:p>
              <a:endParaRPr/>
            </a:p>
          </p:txBody>
        </p:sp>
        <p:pic>
          <p:nvPicPr>
            <p:cNvPr id="145" name="object 145"/>
            <p:cNvPicPr/>
            <p:nvPr/>
          </p:nvPicPr>
          <p:blipFill>
            <a:blip r:embed="rId11" cstate="print"/>
            <a:stretch>
              <a:fillRect/>
            </a:stretch>
          </p:blipFill>
          <p:spPr>
            <a:xfrm>
              <a:off x="12989761" y="9200138"/>
              <a:ext cx="1819421" cy="153293"/>
            </a:xfrm>
            <a:prstGeom prst="rect">
              <a:avLst/>
            </a:prstGeom>
          </p:spPr>
        </p:pic>
        <p:pic>
          <p:nvPicPr>
            <p:cNvPr id="146" name="object 146"/>
            <p:cNvPicPr/>
            <p:nvPr/>
          </p:nvPicPr>
          <p:blipFill>
            <a:blip r:embed="rId12" cstate="print"/>
            <a:stretch>
              <a:fillRect/>
            </a:stretch>
          </p:blipFill>
          <p:spPr>
            <a:xfrm>
              <a:off x="13042535" y="9254272"/>
              <a:ext cx="1712618" cy="44846"/>
            </a:xfrm>
            <a:prstGeom prst="rect">
              <a:avLst/>
            </a:prstGeom>
          </p:spPr>
        </p:pic>
      </p:grpSp>
      <p:sp>
        <p:nvSpPr>
          <p:cNvPr id="147" name="object 147"/>
          <p:cNvSpPr txBox="1"/>
          <p:nvPr/>
        </p:nvSpPr>
        <p:spPr>
          <a:xfrm>
            <a:off x="15132013" y="7204569"/>
            <a:ext cx="2007870" cy="681990"/>
          </a:xfrm>
          <a:prstGeom prst="rect">
            <a:avLst/>
          </a:prstGeom>
        </p:spPr>
        <p:txBody>
          <a:bodyPr vert="horz" wrap="square" lIns="0" tIns="79375" rIns="0" bIns="0" rtlCol="0">
            <a:spAutoFit/>
          </a:bodyPr>
          <a:lstStyle/>
          <a:p>
            <a:pPr marL="12700">
              <a:lnSpc>
                <a:spcPct val="100000"/>
              </a:lnSpc>
              <a:spcBef>
                <a:spcPts val="625"/>
              </a:spcBef>
            </a:pPr>
            <a:r>
              <a:rPr sz="2300" spc="-40">
                <a:solidFill>
                  <a:srgbClr val="262626"/>
                </a:solidFill>
                <a:latin typeface="Microsoft Sans Serif"/>
                <a:cs typeface="Microsoft Sans Serif"/>
              </a:rPr>
              <a:t>Free</a:t>
            </a:r>
            <a:r>
              <a:rPr sz="2300" spc="-125">
                <a:solidFill>
                  <a:srgbClr val="262626"/>
                </a:solidFill>
                <a:latin typeface="Microsoft Sans Serif"/>
                <a:cs typeface="Microsoft Sans Serif"/>
              </a:rPr>
              <a:t> </a:t>
            </a:r>
            <a:r>
              <a:rPr sz="2300" spc="-100">
                <a:solidFill>
                  <a:srgbClr val="262626"/>
                </a:solidFill>
                <a:latin typeface="Microsoft Sans Serif"/>
                <a:cs typeface="Microsoft Sans Serif"/>
              </a:rPr>
              <a:t>Cash</a:t>
            </a:r>
            <a:r>
              <a:rPr sz="2300" spc="-120">
                <a:solidFill>
                  <a:srgbClr val="262626"/>
                </a:solidFill>
                <a:latin typeface="Microsoft Sans Serif"/>
                <a:cs typeface="Microsoft Sans Serif"/>
              </a:rPr>
              <a:t> </a:t>
            </a:r>
            <a:r>
              <a:rPr sz="2300" spc="-20">
                <a:solidFill>
                  <a:srgbClr val="262626"/>
                </a:solidFill>
                <a:latin typeface="Microsoft Sans Serif"/>
                <a:cs typeface="Microsoft Sans Serif"/>
              </a:rPr>
              <a:t>Flow</a:t>
            </a:r>
            <a:endParaRPr sz="2300">
              <a:latin typeface="Microsoft Sans Serif"/>
              <a:cs typeface="Microsoft Sans Serif"/>
            </a:endParaRPr>
          </a:p>
          <a:p>
            <a:pPr marL="12700">
              <a:lnSpc>
                <a:spcPct val="100000"/>
              </a:lnSpc>
              <a:spcBef>
                <a:spcPts val="320"/>
              </a:spcBef>
            </a:pPr>
            <a:r>
              <a:rPr sz="1300">
                <a:solidFill>
                  <a:srgbClr val="7F7F7F"/>
                </a:solidFill>
                <a:latin typeface="Microsoft Sans Serif"/>
                <a:cs typeface="Microsoft Sans Serif"/>
              </a:rPr>
              <a:t>£</a:t>
            </a:r>
            <a:r>
              <a:rPr sz="1300" spc="-50">
                <a:solidFill>
                  <a:srgbClr val="7F7F7F"/>
                </a:solidFill>
                <a:latin typeface="Microsoft Sans Serif"/>
                <a:cs typeface="Microsoft Sans Serif"/>
              </a:rPr>
              <a:t> </a:t>
            </a:r>
            <a:r>
              <a:rPr sz="1300" spc="-10">
                <a:solidFill>
                  <a:srgbClr val="7F7F7F"/>
                </a:solidFill>
                <a:latin typeface="Microsoft Sans Serif"/>
                <a:cs typeface="Microsoft Sans Serif"/>
              </a:rPr>
              <a:t>million</a:t>
            </a:r>
            <a:endParaRPr sz="1300">
              <a:latin typeface="Microsoft Sans Serif"/>
              <a:cs typeface="Microsoft Sans Serif"/>
            </a:endParaRPr>
          </a:p>
        </p:txBody>
      </p:sp>
      <p:sp>
        <p:nvSpPr>
          <p:cNvPr id="149" name="object 149"/>
          <p:cNvSpPr/>
          <p:nvPr/>
        </p:nvSpPr>
        <p:spPr>
          <a:xfrm>
            <a:off x="15133614" y="7960818"/>
            <a:ext cx="3443604" cy="0"/>
          </a:xfrm>
          <a:custGeom>
            <a:avLst/>
            <a:gdLst/>
            <a:ahLst/>
            <a:cxnLst/>
            <a:rect l="l" t="t" r="r" b="b"/>
            <a:pathLst>
              <a:path w="3443605">
                <a:moveTo>
                  <a:pt x="0" y="0"/>
                </a:moveTo>
                <a:lnTo>
                  <a:pt x="3443026" y="0"/>
                </a:lnTo>
              </a:path>
            </a:pathLst>
          </a:custGeom>
          <a:ln w="10470">
            <a:solidFill>
              <a:srgbClr val="D1D1D1"/>
            </a:solidFill>
          </a:ln>
        </p:spPr>
        <p:txBody>
          <a:bodyPr wrap="square" lIns="0" tIns="0" rIns="0" bIns="0" rtlCol="0"/>
          <a:lstStyle/>
          <a:p>
            <a:endParaRPr/>
          </a:p>
        </p:txBody>
      </p:sp>
      <p:sp>
        <p:nvSpPr>
          <p:cNvPr id="152" name="object 152"/>
          <p:cNvSpPr/>
          <p:nvPr/>
        </p:nvSpPr>
        <p:spPr>
          <a:xfrm>
            <a:off x="15148483" y="8937323"/>
            <a:ext cx="3413760" cy="45085"/>
          </a:xfrm>
          <a:custGeom>
            <a:avLst/>
            <a:gdLst/>
            <a:ahLst/>
            <a:cxnLst/>
            <a:rect l="l" t="t" r="r" b="b"/>
            <a:pathLst>
              <a:path w="3413759" h="45084">
                <a:moveTo>
                  <a:pt x="3390891" y="0"/>
                </a:moveTo>
                <a:lnTo>
                  <a:pt x="22407" y="0"/>
                </a:lnTo>
                <a:lnTo>
                  <a:pt x="13693" y="1762"/>
                </a:lnTo>
                <a:lnTo>
                  <a:pt x="6570" y="6569"/>
                </a:lnTo>
                <a:lnTo>
                  <a:pt x="1763" y="13698"/>
                </a:lnTo>
                <a:lnTo>
                  <a:pt x="0" y="22428"/>
                </a:lnTo>
                <a:lnTo>
                  <a:pt x="1767" y="31158"/>
                </a:lnTo>
                <a:lnTo>
                  <a:pt x="6584" y="38288"/>
                </a:lnTo>
                <a:lnTo>
                  <a:pt x="13744" y="43094"/>
                </a:lnTo>
                <a:lnTo>
                  <a:pt x="22459" y="44857"/>
                </a:lnTo>
                <a:lnTo>
                  <a:pt x="3390891" y="44857"/>
                </a:lnTo>
                <a:lnTo>
                  <a:pt x="3399665" y="43094"/>
                </a:lnTo>
                <a:lnTo>
                  <a:pt x="3406820" y="38288"/>
                </a:lnTo>
                <a:lnTo>
                  <a:pt x="3411638" y="31158"/>
                </a:lnTo>
                <a:lnTo>
                  <a:pt x="3413403" y="22428"/>
                </a:lnTo>
                <a:lnTo>
                  <a:pt x="3411638" y="13698"/>
                </a:lnTo>
                <a:lnTo>
                  <a:pt x="3406820" y="6569"/>
                </a:lnTo>
                <a:lnTo>
                  <a:pt x="3399665" y="1762"/>
                </a:lnTo>
                <a:lnTo>
                  <a:pt x="3390891" y="0"/>
                </a:lnTo>
                <a:close/>
              </a:path>
            </a:pathLst>
          </a:custGeom>
          <a:solidFill>
            <a:srgbClr val="E8E8E8"/>
          </a:solidFill>
        </p:spPr>
        <p:txBody>
          <a:bodyPr wrap="square" lIns="0" tIns="0" rIns="0" bIns="0" rtlCol="0"/>
          <a:lstStyle/>
          <a:p>
            <a:endParaRPr/>
          </a:p>
        </p:txBody>
      </p:sp>
      <p:sp>
        <p:nvSpPr>
          <p:cNvPr id="153" name="object 153"/>
          <p:cNvSpPr txBox="1"/>
          <p:nvPr/>
        </p:nvSpPr>
        <p:spPr>
          <a:xfrm>
            <a:off x="15120915" y="8007824"/>
            <a:ext cx="1006475" cy="901700"/>
          </a:xfrm>
          <a:prstGeom prst="rect">
            <a:avLst/>
          </a:prstGeom>
        </p:spPr>
        <p:txBody>
          <a:bodyPr vert="horz" wrap="square" lIns="0" tIns="16510" rIns="0" bIns="0" rtlCol="0">
            <a:spAutoFit/>
          </a:bodyPr>
          <a:lstStyle/>
          <a:p>
            <a:pPr marL="12700">
              <a:lnSpc>
                <a:spcPct val="100000"/>
              </a:lnSpc>
              <a:spcBef>
                <a:spcPts val="130"/>
              </a:spcBef>
            </a:pPr>
            <a:r>
              <a:rPr sz="3200" spc="-395">
                <a:solidFill>
                  <a:srgbClr val="065088"/>
                </a:solidFill>
                <a:latin typeface="Arial Black"/>
                <a:cs typeface="Arial Black"/>
              </a:rPr>
              <a:t>1,478</a:t>
            </a:r>
            <a:endParaRPr sz="3200">
              <a:latin typeface="Arial Black"/>
              <a:cs typeface="Arial Black"/>
            </a:endParaRPr>
          </a:p>
          <a:p>
            <a:pPr marL="27305">
              <a:lnSpc>
                <a:spcPct val="100000"/>
              </a:lnSpc>
              <a:spcBef>
                <a:spcPts val="1465"/>
              </a:spcBef>
            </a:pPr>
            <a:r>
              <a:rPr sz="1300" spc="-20">
                <a:solidFill>
                  <a:srgbClr val="424242"/>
                </a:solidFill>
                <a:latin typeface="Microsoft Sans Serif"/>
                <a:cs typeface="Microsoft Sans Serif"/>
              </a:rPr>
              <a:t>FY25</a:t>
            </a:r>
            <a:endParaRPr sz="1300">
              <a:latin typeface="Microsoft Sans Serif"/>
              <a:cs typeface="Microsoft Sans Serif"/>
            </a:endParaRPr>
          </a:p>
        </p:txBody>
      </p:sp>
      <p:sp>
        <p:nvSpPr>
          <p:cNvPr id="154" name="object 154"/>
          <p:cNvSpPr txBox="1"/>
          <p:nvPr/>
        </p:nvSpPr>
        <p:spPr>
          <a:xfrm>
            <a:off x="18169198" y="8682850"/>
            <a:ext cx="40576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424242"/>
                </a:solidFill>
                <a:latin typeface="Microsoft Sans Serif"/>
                <a:cs typeface="Microsoft Sans Serif"/>
              </a:rPr>
              <a:t>1,478</a:t>
            </a:r>
            <a:endParaRPr sz="1300">
              <a:latin typeface="Microsoft Sans Serif"/>
              <a:cs typeface="Microsoft Sans Serif"/>
            </a:endParaRPr>
          </a:p>
        </p:txBody>
      </p:sp>
      <p:grpSp>
        <p:nvGrpSpPr>
          <p:cNvPr id="155" name="object 155"/>
          <p:cNvGrpSpPr/>
          <p:nvPr/>
        </p:nvGrpSpPr>
        <p:grpSpPr>
          <a:xfrm>
            <a:off x="15094034" y="8883188"/>
            <a:ext cx="3468370" cy="480695"/>
            <a:chOff x="15286654" y="9200138"/>
            <a:chExt cx="3468370" cy="480695"/>
          </a:xfrm>
        </p:grpSpPr>
        <p:pic>
          <p:nvPicPr>
            <p:cNvPr id="156" name="object 156"/>
            <p:cNvPicPr/>
            <p:nvPr/>
          </p:nvPicPr>
          <p:blipFill>
            <a:blip r:embed="rId13" cstate="print"/>
            <a:stretch>
              <a:fillRect/>
            </a:stretch>
          </p:blipFill>
          <p:spPr>
            <a:xfrm>
              <a:off x="15286654" y="9200138"/>
              <a:ext cx="2482856" cy="153293"/>
            </a:xfrm>
            <a:prstGeom prst="rect">
              <a:avLst/>
            </a:prstGeom>
          </p:spPr>
        </p:pic>
        <p:pic>
          <p:nvPicPr>
            <p:cNvPr id="157" name="object 157"/>
            <p:cNvPicPr/>
            <p:nvPr/>
          </p:nvPicPr>
          <p:blipFill>
            <a:blip r:embed="rId14" cstate="print"/>
            <a:stretch>
              <a:fillRect/>
            </a:stretch>
          </p:blipFill>
          <p:spPr>
            <a:xfrm>
              <a:off x="15341103" y="9254272"/>
              <a:ext cx="2374482" cy="44846"/>
            </a:xfrm>
            <a:prstGeom prst="rect">
              <a:avLst/>
            </a:prstGeom>
          </p:spPr>
        </p:pic>
        <p:sp>
          <p:nvSpPr>
            <p:cNvPr id="158" name="object 158"/>
            <p:cNvSpPr/>
            <p:nvPr/>
          </p:nvSpPr>
          <p:spPr>
            <a:xfrm>
              <a:off x="15341103" y="9635947"/>
              <a:ext cx="3413760" cy="45085"/>
            </a:xfrm>
            <a:custGeom>
              <a:avLst/>
              <a:gdLst/>
              <a:ahLst/>
              <a:cxnLst/>
              <a:rect l="l" t="t" r="r" b="b"/>
              <a:pathLst>
                <a:path w="3413759" h="45084">
                  <a:moveTo>
                    <a:pt x="3390891" y="0"/>
                  </a:moveTo>
                  <a:lnTo>
                    <a:pt x="22407" y="0"/>
                  </a:lnTo>
                  <a:lnTo>
                    <a:pt x="13693" y="1762"/>
                  </a:lnTo>
                  <a:lnTo>
                    <a:pt x="6570" y="6569"/>
                  </a:lnTo>
                  <a:lnTo>
                    <a:pt x="1763" y="13698"/>
                  </a:lnTo>
                  <a:lnTo>
                    <a:pt x="0" y="22428"/>
                  </a:lnTo>
                  <a:lnTo>
                    <a:pt x="1766" y="31157"/>
                  </a:lnTo>
                  <a:lnTo>
                    <a:pt x="6576" y="38282"/>
                  </a:lnTo>
                  <a:lnTo>
                    <a:pt x="13701" y="43085"/>
                  </a:lnTo>
                  <a:lnTo>
                    <a:pt x="22407" y="44846"/>
                  </a:lnTo>
                  <a:lnTo>
                    <a:pt x="3390891" y="44846"/>
                  </a:lnTo>
                  <a:lnTo>
                    <a:pt x="3399665" y="43085"/>
                  </a:lnTo>
                  <a:lnTo>
                    <a:pt x="3406820" y="38282"/>
                  </a:lnTo>
                  <a:lnTo>
                    <a:pt x="3411638" y="31157"/>
                  </a:lnTo>
                  <a:lnTo>
                    <a:pt x="3413403" y="22428"/>
                  </a:lnTo>
                  <a:lnTo>
                    <a:pt x="3411638" y="13698"/>
                  </a:lnTo>
                  <a:lnTo>
                    <a:pt x="3406820" y="6569"/>
                  </a:lnTo>
                  <a:lnTo>
                    <a:pt x="3399665" y="1762"/>
                  </a:lnTo>
                  <a:lnTo>
                    <a:pt x="3390891" y="0"/>
                  </a:lnTo>
                  <a:close/>
                </a:path>
              </a:pathLst>
            </a:custGeom>
            <a:solidFill>
              <a:srgbClr val="E8E8E8"/>
            </a:solidFill>
          </p:spPr>
          <p:txBody>
            <a:bodyPr wrap="square" lIns="0" tIns="0" rIns="0" bIns="0" rtlCol="0"/>
            <a:lstStyle/>
            <a:p>
              <a:endParaRPr/>
            </a:p>
          </p:txBody>
        </p:sp>
      </p:grpSp>
      <p:sp>
        <p:nvSpPr>
          <p:cNvPr id="159" name="object 159"/>
          <p:cNvSpPr txBox="1"/>
          <p:nvPr/>
        </p:nvSpPr>
        <p:spPr>
          <a:xfrm>
            <a:off x="15135783" y="9084932"/>
            <a:ext cx="393065" cy="226695"/>
          </a:xfrm>
          <a:prstGeom prst="rect">
            <a:avLst/>
          </a:prstGeom>
        </p:spPr>
        <p:txBody>
          <a:bodyPr vert="horz" wrap="square" lIns="0" tIns="15240" rIns="0" bIns="0" rtlCol="0">
            <a:spAutoFit/>
          </a:bodyPr>
          <a:lstStyle/>
          <a:p>
            <a:pPr marL="12700">
              <a:lnSpc>
                <a:spcPct val="100000"/>
              </a:lnSpc>
              <a:spcBef>
                <a:spcPts val="120"/>
              </a:spcBef>
            </a:pPr>
            <a:r>
              <a:rPr sz="1300" spc="-50">
                <a:solidFill>
                  <a:srgbClr val="7F7F7F"/>
                </a:solidFill>
                <a:latin typeface="Microsoft Sans Serif"/>
                <a:cs typeface="Microsoft Sans Serif"/>
              </a:rPr>
              <a:t>FY24</a:t>
            </a:r>
            <a:endParaRPr sz="1300">
              <a:latin typeface="Microsoft Sans Serif"/>
              <a:cs typeface="Microsoft Sans Serif"/>
            </a:endParaRPr>
          </a:p>
        </p:txBody>
      </p:sp>
      <p:sp>
        <p:nvSpPr>
          <p:cNvPr id="160" name="object 160"/>
          <p:cNvSpPr txBox="1"/>
          <p:nvPr/>
        </p:nvSpPr>
        <p:spPr>
          <a:xfrm>
            <a:off x="18140403" y="9084932"/>
            <a:ext cx="434975" cy="226695"/>
          </a:xfrm>
          <a:prstGeom prst="rect">
            <a:avLst/>
          </a:prstGeom>
        </p:spPr>
        <p:txBody>
          <a:bodyPr vert="horz" wrap="square" lIns="0" tIns="15240" rIns="0" bIns="0" rtlCol="0">
            <a:spAutoFit/>
          </a:bodyPr>
          <a:lstStyle/>
          <a:p>
            <a:pPr marL="12700">
              <a:lnSpc>
                <a:spcPct val="100000"/>
              </a:lnSpc>
              <a:spcBef>
                <a:spcPts val="120"/>
              </a:spcBef>
            </a:pPr>
            <a:r>
              <a:rPr sz="1300" spc="-10">
                <a:solidFill>
                  <a:srgbClr val="7F7F7F"/>
                </a:solidFill>
                <a:latin typeface="Microsoft Sans Serif"/>
                <a:cs typeface="Microsoft Sans Serif"/>
              </a:rPr>
              <a:t>2,269</a:t>
            </a:r>
            <a:endParaRPr sz="1300">
              <a:latin typeface="Microsoft Sans Serif"/>
              <a:cs typeface="Microsoft Sans Serif"/>
            </a:endParaRPr>
          </a:p>
        </p:txBody>
      </p:sp>
      <p:grpSp>
        <p:nvGrpSpPr>
          <p:cNvPr id="161" name="object 161"/>
          <p:cNvGrpSpPr/>
          <p:nvPr/>
        </p:nvGrpSpPr>
        <p:grpSpPr>
          <a:xfrm>
            <a:off x="15148483" y="9318997"/>
            <a:ext cx="3413760" cy="426720"/>
            <a:chOff x="15341103" y="9635947"/>
            <a:chExt cx="3413760" cy="426720"/>
          </a:xfrm>
        </p:grpSpPr>
        <p:sp>
          <p:nvSpPr>
            <p:cNvPr id="162" name="object 162"/>
            <p:cNvSpPr/>
            <p:nvPr/>
          </p:nvSpPr>
          <p:spPr>
            <a:xfrm>
              <a:off x="15341103" y="9635947"/>
              <a:ext cx="3413760" cy="45085"/>
            </a:xfrm>
            <a:custGeom>
              <a:avLst/>
              <a:gdLst/>
              <a:ahLst/>
              <a:cxnLst/>
              <a:rect l="l" t="t" r="r" b="b"/>
              <a:pathLst>
                <a:path w="3413759" h="45084">
                  <a:moveTo>
                    <a:pt x="3390891" y="0"/>
                  </a:moveTo>
                  <a:lnTo>
                    <a:pt x="22407" y="0"/>
                  </a:lnTo>
                  <a:lnTo>
                    <a:pt x="13693" y="1762"/>
                  </a:lnTo>
                  <a:lnTo>
                    <a:pt x="6570" y="6569"/>
                  </a:lnTo>
                  <a:lnTo>
                    <a:pt x="1763" y="13698"/>
                  </a:lnTo>
                  <a:lnTo>
                    <a:pt x="0" y="22428"/>
                  </a:lnTo>
                  <a:lnTo>
                    <a:pt x="1766" y="31157"/>
                  </a:lnTo>
                  <a:lnTo>
                    <a:pt x="6576" y="38282"/>
                  </a:lnTo>
                  <a:lnTo>
                    <a:pt x="13701" y="43085"/>
                  </a:lnTo>
                  <a:lnTo>
                    <a:pt x="22407" y="44846"/>
                  </a:lnTo>
                  <a:lnTo>
                    <a:pt x="3390891" y="44846"/>
                  </a:lnTo>
                  <a:lnTo>
                    <a:pt x="3399665" y="43085"/>
                  </a:lnTo>
                  <a:lnTo>
                    <a:pt x="3406820" y="38282"/>
                  </a:lnTo>
                  <a:lnTo>
                    <a:pt x="3411638" y="31157"/>
                  </a:lnTo>
                  <a:lnTo>
                    <a:pt x="3413403" y="22428"/>
                  </a:lnTo>
                  <a:lnTo>
                    <a:pt x="3411638" y="13698"/>
                  </a:lnTo>
                  <a:lnTo>
                    <a:pt x="3406820" y="6569"/>
                  </a:lnTo>
                  <a:lnTo>
                    <a:pt x="3399665" y="1762"/>
                  </a:lnTo>
                  <a:lnTo>
                    <a:pt x="3390891" y="0"/>
                  </a:lnTo>
                  <a:close/>
                </a:path>
              </a:pathLst>
            </a:custGeom>
            <a:solidFill>
              <a:srgbClr val="84C7FA"/>
            </a:solidFill>
          </p:spPr>
          <p:txBody>
            <a:bodyPr wrap="square" lIns="0" tIns="0" rIns="0" bIns="0" rtlCol="0"/>
            <a:lstStyle/>
            <a:p>
              <a:endParaRPr/>
            </a:p>
          </p:txBody>
        </p:sp>
        <p:sp>
          <p:nvSpPr>
            <p:cNvPr id="163" name="object 163"/>
            <p:cNvSpPr/>
            <p:nvPr/>
          </p:nvSpPr>
          <p:spPr>
            <a:xfrm>
              <a:off x="15341106" y="10017621"/>
              <a:ext cx="3413760" cy="45085"/>
            </a:xfrm>
            <a:custGeom>
              <a:avLst/>
              <a:gdLst/>
              <a:ahLst/>
              <a:cxnLst/>
              <a:rect l="l" t="t" r="r" b="b"/>
              <a:pathLst>
                <a:path w="3413759" h="45084">
                  <a:moveTo>
                    <a:pt x="3390889" y="0"/>
                  </a:moveTo>
                  <a:lnTo>
                    <a:pt x="22405" y="0"/>
                  </a:lnTo>
                  <a:lnTo>
                    <a:pt x="13691" y="1762"/>
                  </a:lnTo>
                  <a:lnTo>
                    <a:pt x="6568" y="6569"/>
                  </a:lnTo>
                  <a:lnTo>
                    <a:pt x="1761" y="13698"/>
                  </a:lnTo>
                  <a:lnTo>
                    <a:pt x="0" y="22428"/>
                  </a:lnTo>
                  <a:lnTo>
                    <a:pt x="1764" y="31152"/>
                  </a:lnTo>
                  <a:lnTo>
                    <a:pt x="6570" y="38278"/>
                  </a:lnTo>
                  <a:lnTo>
                    <a:pt x="13692" y="43084"/>
                  </a:lnTo>
                  <a:lnTo>
                    <a:pt x="22405" y="44846"/>
                  </a:lnTo>
                  <a:lnTo>
                    <a:pt x="3390889" y="44846"/>
                  </a:lnTo>
                  <a:lnTo>
                    <a:pt x="3399663" y="43084"/>
                  </a:lnTo>
                  <a:lnTo>
                    <a:pt x="3406818" y="38278"/>
                  </a:lnTo>
                  <a:lnTo>
                    <a:pt x="3411636" y="31152"/>
                  </a:lnTo>
                  <a:lnTo>
                    <a:pt x="3413401" y="22428"/>
                  </a:lnTo>
                  <a:lnTo>
                    <a:pt x="3411636" y="13698"/>
                  </a:lnTo>
                  <a:lnTo>
                    <a:pt x="3406818" y="6569"/>
                  </a:lnTo>
                  <a:lnTo>
                    <a:pt x="3399663" y="1762"/>
                  </a:lnTo>
                  <a:lnTo>
                    <a:pt x="3390889" y="0"/>
                  </a:lnTo>
                  <a:close/>
                </a:path>
              </a:pathLst>
            </a:custGeom>
            <a:solidFill>
              <a:srgbClr val="E8E8E8"/>
            </a:solidFill>
          </p:spPr>
          <p:txBody>
            <a:bodyPr wrap="square" lIns="0" tIns="0" rIns="0" bIns="0" rtlCol="0"/>
            <a:lstStyle/>
            <a:p>
              <a:endParaRPr/>
            </a:p>
          </p:txBody>
        </p:sp>
      </p:grpSp>
      <p:sp>
        <p:nvSpPr>
          <p:cNvPr id="164" name="object 164"/>
          <p:cNvSpPr txBox="1"/>
          <p:nvPr/>
        </p:nvSpPr>
        <p:spPr>
          <a:xfrm>
            <a:off x="15135783" y="9466910"/>
            <a:ext cx="395605" cy="226695"/>
          </a:xfrm>
          <a:prstGeom prst="rect">
            <a:avLst/>
          </a:prstGeom>
        </p:spPr>
        <p:txBody>
          <a:bodyPr vert="horz" wrap="square" lIns="0" tIns="15240" rIns="0" bIns="0" rtlCol="0">
            <a:spAutoFit/>
          </a:bodyPr>
          <a:lstStyle/>
          <a:p>
            <a:pPr marL="12700">
              <a:lnSpc>
                <a:spcPct val="100000"/>
              </a:lnSpc>
              <a:spcBef>
                <a:spcPts val="120"/>
              </a:spcBef>
            </a:pPr>
            <a:r>
              <a:rPr sz="1300" spc="-45">
                <a:solidFill>
                  <a:srgbClr val="7F7F7F"/>
                </a:solidFill>
                <a:latin typeface="Microsoft Sans Serif"/>
                <a:cs typeface="Microsoft Sans Serif"/>
              </a:rPr>
              <a:t>FY23</a:t>
            </a:r>
            <a:endParaRPr sz="1300">
              <a:latin typeface="Microsoft Sans Serif"/>
              <a:cs typeface="Microsoft Sans Serif"/>
            </a:endParaRPr>
          </a:p>
        </p:txBody>
      </p:sp>
      <p:sp>
        <p:nvSpPr>
          <p:cNvPr id="165" name="object 165"/>
          <p:cNvSpPr txBox="1"/>
          <p:nvPr/>
        </p:nvSpPr>
        <p:spPr>
          <a:xfrm>
            <a:off x="18305320" y="9466910"/>
            <a:ext cx="269240" cy="226695"/>
          </a:xfrm>
          <a:prstGeom prst="rect">
            <a:avLst/>
          </a:prstGeom>
        </p:spPr>
        <p:txBody>
          <a:bodyPr vert="horz" wrap="square" lIns="0" tIns="15240" rIns="0" bIns="0" rtlCol="0">
            <a:spAutoFit/>
          </a:bodyPr>
          <a:lstStyle/>
          <a:p>
            <a:pPr marL="12700">
              <a:lnSpc>
                <a:spcPct val="100000"/>
              </a:lnSpc>
              <a:spcBef>
                <a:spcPts val="120"/>
              </a:spcBef>
            </a:pPr>
            <a:r>
              <a:rPr sz="1300" spc="-75">
                <a:solidFill>
                  <a:srgbClr val="7F7F7F"/>
                </a:solidFill>
                <a:latin typeface="Microsoft Sans Serif"/>
                <a:cs typeface="Microsoft Sans Serif"/>
              </a:rPr>
              <a:t>521</a:t>
            </a:r>
            <a:endParaRPr sz="1300">
              <a:latin typeface="Microsoft Sans Serif"/>
              <a:cs typeface="Microsoft Sans Serif"/>
            </a:endParaRPr>
          </a:p>
        </p:txBody>
      </p:sp>
      <p:sp>
        <p:nvSpPr>
          <p:cNvPr id="166" name="object 166"/>
          <p:cNvSpPr/>
          <p:nvPr/>
        </p:nvSpPr>
        <p:spPr>
          <a:xfrm>
            <a:off x="15148483" y="9700671"/>
            <a:ext cx="683260" cy="45085"/>
          </a:xfrm>
          <a:custGeom>
            <a:avLst/>
            <a:gdLst/>
            <a:ahLst/>
            <a:cxnLst/>
            <a:rect l="l" t="t" r="r" b="b"/>
            <a:pathLst>
              <a:path w="683259" h="45084">
                <a:moveTo>
                  <a:pt x="660294" y="0"/>
                </a:moveTo>
                <a:lnTo>
                  <a:pt x="22407" y="0"/>
                </a:lnTo>
                <a:lnTo>
                  <a:pt x="13693" y="1762"/>
                </a:lnTo>
                <a:lnTo>
                  <a:pt x="6570" y="6567"/>
                </a:lnTo>
                <a:lnTo>
                  <a:pt x="1763" y="13693"/>
                </a:lnTo>
                <a:lnTo>
                  <a:pt x="0" y="22418"/>
                </a:lnTo>
                <a:lnTo>
                  <a:pt x="1763" y="31148"/>
                </a:lnTo>
                <a:lnTo>
                  <a:pt x="6570" y="38277"/>
                </a:lnTo>
                <a:lnTo>
                  <a:pt x="13693" y="43084"/>
                </a:lnTo>
                <a:lnTo>
                  <a:pt x="22407" y="44846"/>
                </a:lnTo>
                <a:lnTo>
                  <a:pt x="660294" y="44846"/>
                </a:lnTo>
                <a:lnTo>
                  <a:pt x="669007" y="43084"/>
                </a:lnTo>
                <a:lnTo>
                  <a:pt x="676131" y="38277"/>
                </a:lnTo>
                <a:lnTo>
                  <a:pt x="680938" y="31148"/>
                </a:lnTo>
                <a:lnTo>
                  <a:pt x="682701" y="22418"/>
                </a:lnTo>
                <a:lnTo>
                  <a:pt x="680938" y="13693"/>
                </a:lnTo>
                <a:lnTo>
                  <a:pt x="676131" y="6567"/>
                </a:lnTo>
                <a:lnTo>
                  <a:pt x="669007" y="1762"/>
                </a:lnTo>
                <a:lnTo>
                  <a:pt x="660294" y="0"/>
                </a:lnTo>
                <a:close/>
              </a:path>
            </a:pathLst>
          </a:custGeom>
          <a:solidFill>
            <a:srgbClr val="84C7FA"/>
          </a:solidFill>
        </p:spPr>
        <p:txBody>
          <a:bodyPr wrap="square" lIns="0" tIns="0" rIns="0" bIns="0" rtlCol="0"/>
          <a:lstStyle/>
          <a:p>
            <a:endParaRPr/>
          </a:p>
        </p:txBody>
      </p:sp>
      <p:sp>
        <p:nvSpPr>
          <p:cNvPr id="193" name="object 2">
            <a:extLst>
              <a:ext uri="{FF2B5EF4-FFF2-40B4-BE49-F238E27FC236}">
                <a16:creationId xmlns:a16="http://schemas.microsoft.com/office/drawing/2014/main" id="{DA683A84-EE3F-00CE-0794-C07B4EA2C996}"/>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209" name="Picture 208">
            <a:extLst>
              <a:ext uri="{FF2B5EF4-FFF2-40B4-BE49-F238E27FC236}">
                <a16:creationId xmlns:a16="http://schemas.microsoft.com/office/drawing/2014/main" id="{AA313E08-CF1B-B380-5286-AABE571B4A66}"/>
              </a:ext>
            </a:extLst>
          </p:cNvPr>
          <p:cNvPicPr>
            <a:picLocks noChangeAspect="1"/>
          </p:cNvPicPr>
          <p:nvPr/>
        </p:nvPicPr>
        <p:blipFill>
          <a:blip r:embed="rId15"/>
          <a:stretch>
            <a:fillRect/>
          </a:stretch>
        </p:blipFill>
        <p:spPr>
          <a:xfrm>
            <a:off x="6797966" y="3822092"/>
            <a:ext cx="6804245" cy="2671340"/>
          </a:xfrm>
          <a:prstGeom prst="rect">
            <a:avLst/>
          </a:prstGeom>
        </p:spPr>
      </p:pic>
      <p:sp>
        <p:nvSpPr>
          <p:cNvPr id="231" name="object 83">
            <a:extLst>
              <a:ext uri="{FF2B5EF4-FFF2-40B4-BE49-F238E27FC236}">
                <a16:creationId xmlns:a16="http://schemas.microsoft.com/office/drawing/2014/main" id="{8394A2E4-90B1-C853-3D5C-D225B47F2D1C}"/>
              </a:ext>
            </a:extLst>
          </p:cNvPr>
          <p:cNvSpPr txBox="1"/>
          <p:nvPr/>
        </p:nvSpPr>
        <p:spPr>
          <a:xfrm>
            <a:off x="6064097" y="4917972"/>
            <a:ext cx="543837" cy="428322"/>
          </a:xfrm>
          <a:prstGeom prst="rect">
            <a:avLst/>
          </a:prstGeom>
        </p:spPr>
        <p:txBody>
          <a:bodyPr vert="horz" wrap="square" lIns="0" tIns="15240" rIns="0" bIns="0" rtlCol="0">
            <a:spAutoFit/>
          </a:bodyPr>
          <a:lstStyle/>
          <a:p>
            <a:pPr marL="12700">
              <a:lnSpc>
                <a:spcPct val="100000"/>
              </a:lnSpc>
              <a:spcBef>
                <a:spcPts val="120"/>
              </a:spcBef>
            </a:pPr>
            <a:r>
              <a:rPr lang="en-US" sz="1300" spc="-100">
                <a:solidFill>
                  <a:srgbClr val="7F7F7F"/>
                </a:solidFill>
                <a:latin typeface="Microsoft Sans Serif"/>
                <a:cs typeface="Microsoft Sans Serif"/>
              </a:rPr>
              <a:t>150K</a:t>
            </a:r>
          </a:p>
          <a:p>
            <a:pPr marL="12700">
              <a:lnSpc>
                <a:spcPct val="100000"/>
              </a:lnSpc>
              <a:spcBef>
                <a:spcPts val="120"/>
              </a:spcBef>
            </a:pPr>
            <a:endParaRPr sz="1300">
              <a:latin typeface="Microsoft Sans Serif"/>
              <a:cs typeface="Microsoft Sans Serif"/>
            </a:endParaRPr>
          </a:p>
        </p:txBody>
      </p:sp>
      <p:sp>
        <p:nvSpPr>
          <p:cNvPr id="232" name="object 83">
            <a:extLst>
              <a:ext uri="{FF2B5EF4-FFF2-40B4-BE49-F238E27FC236}">
                <a16:creationId xmlns:a16="http://schemas.microsoft.com/office/drawing/2014/main" id="{5DDEEBDA-BD75-57B6-49EA-BC3027E088E3}"/>
              </a:ext>
            </a:extLst>
          </p:cNvPr>
          <p:cNvSpPr txBox="1"/>
          <p:nvPr/>
        </p:nvSpPr>
        <p:spPr>
          <a:xfrm>
            <a:off x="6064390" y="3822092"/>
            <a:ext cx="543837" cy="428322"/>
          </a:xfrm>
          <a:prstGeom prst="rect">
            <a:avLst/>
          </a:prstGeom>
        </p:spPr>
        <p:txBody>
          <a:bodyPr vert="horz" wrap="square" lIns="0" tIns="15240" rIns="0" bIns="0" rtlCol="0">
            <a:spAutoFit/>
          </a:bodyPr>
          <a:lstStyle/>
          <a:p>
            <a:pPr marL="12700">
              <a:lnSpc>
                <a:spcPct val="100000"/>
              </a:lnSpc>
              <a:spcBef>
                <a:spcPts val="120"/>
              </a:spcBef>
            </a:pPr>
            <a:r>
              <a:rPr lang="en-US" sz="1300" spc="-100">
                <a:solidFill>
                  <a:srgbClr val="7F7F7F"/>
                </a:solidFill>
                <a:latin typeface="Microsoft Sans Serif"/>
                <a:cs typeface="Microsoft Sans Serif"/>
              </a:rPr>
              <a:t>300K</a:t>
            </a:r>
          </a:p>
          <a:p>
            <a:pPr marL="12700">
              <a:lnSpc>
                <a:spcPct val="100000"/>
              </a:lnSpc>
              <a:spcBef>
                <a:spcPts val="120"/>
              </a:spcBef>
            </a:pPr>
            <a:endParaRPr sz="1300">
              <a:latin typeface="Microsoft Sans Serif"/>
              <a:cs typeface="Microsoft Sans Serif"/>
            </a:endParaRPr>
          </a:p>
        </p:txBody>
      </p:sp>
      <p:sp>
        <p:nvSpPr>
          <p:cNvPr id="233" name="object 75">
            <a:extLst>
              <a:ext uri="{FF2B5EF4-FFF2-40B4-BE49-F238E27FC236}">
                <a16:creationId xmlns:a16="http://schemas.microsoft.com/office/drawing/2014/main" id="{FED95598-AFF4-6058-F9B5-8AEEB5D52E98}"/>
              </a:ext>
            </a:extLst>
          </p:cNvPr>
          <p:cNvSpPr/>
          <p:nvPr/>
        </p:nvSpPr>
        <p:spPr>
          <a:xfrm>
            <a:off x="6855642" y="6423211"/>
            <a:ext cx="6625407" cy="45719"/>
          </a:xfrm>
          <a:custGeom>
            <a:avLst/>
            <a:gdLst/>
            <a:ahLst/>
            <a:cxnLst/>
            <a:rect l="l" t="t" r="r" b="b"/>
            <a:pathLst>
              <a:path w="5264150">
                <a:moveTo>
                  <a:pt x="0" y="0"/>
                </a:moveTo>
                <a:lnTo>
                  <a:pt x="5264019" y="0"/>
                </a:lnTo>
              </a:path>
            </a:pathLst>
          </a:custGeom>
          <a:ln w="10465">
            <a:solidFill>
              <a:srgbClr val="7F7F7F"/>
            </a:solidFill>
          </a:ln>
        </p:spPr>
        <p:txBody>
          <a:bodyPr wrap="square" lIns="0" tIns="0" rIns="0" bIns="0" rtlCol="0"/>
          <a:lstStyle/>
          <a:p>
            <a:endParaRPr/>
          </a:p>
        </p:txBody>
      </p:sp>
      <p:sp>
        <p:nvSpPr>
          <p:cNvPr id="234" name="object 51">
            <a:extLst>
              <a:ext uri="{FF2B5EF4-FFF2-40B4-BE49-F238E27FC236}">
                <a16:creationId xmlns:a16="http://schemas.microsoft.com/office/drawing/2014/main" id="{51D8719E-9B8A-1B99-5C1D-B6E62DD1D4F6}"/>
              </a:ext>
            </a:extLst>
          </p:cNvPr>
          <p:cNvSpPr txBox="1"/>
          <p:nvPr/>
        </p:nvSpPr>
        <p:spPr>
          <a:xfrm>
            <a:off x="6970602" y="4710783"/>
            <a:ext cx="600117" cy="227626"/>
          </a:xfrm>
          <a:prstGeom prst="rect">
            <a:avLst/>
          </a:prstGeom>
        </p:spPr>
        <p:txBody>
          <a:bodyPr vert="horz" wrap="square" lIns="0" tIns="12065" rIns="0" bIns="0" rtlCol="0">
            <a:spAutoFit/>
          </a:bodyPr>
          <a:lstStyle/>
          <a:p>
            <a:pPr marL="12700">
              <a:lnSpc>
                <a:spcPct val="100000"/>
              </a:lnSpc>
              <a:spcBef>
                <a:spcPts val="95"/>
              </a:spcBef>
            </a:pPr>
            <a:r>
              <a:rPr lang="en-US" sz="1400" b="1" spc="-95">
                <a:solidFill>
                  <a:srgbClr val="262626"/>
                </a:solidFill>
                <a:latin typeface="Microsoft Sans Serif"/>
                <a:cs typeface="Microsoft Sans Serif"/>
              </a:rPr>
              <a:t>173K</a:t>
            </a:r>
            <a:endParaRPr sz="1400" b="1">
              <a:latin typeface="Microsoft Sans Serif"/>
              <a:cs typeface="Microsoft Sans Serif"/>
            </a:endParaRPr>
          </a:p>
        </p:txBody>
      </p:sp>
      <p:sp>
        <p:nvSpPr>
          <p:cNvPr id="235" name="object 52">
            <a:extLst>
              <a:ext uri="{FF2B5EF4-FFF2-40B4-BE49-F238E27FC236}">
                <a16:creationId xmlns:a16="http://schemas.microsoft.com/office/drawing/2014/main" id="{A81B234B-199A-60E4-CFE4-D4CBC3A3A3CC}"/>
              </a:ext>
            </a:extLst>
          </p:cNvPr>
          <p:cNvSpPr txBox="1"/>
          <p:nvPr/>
        </p:nvSpPr>
        <p:spPr>
          <a:xfrm>
            <a:off x="13085444" y="5720177"/>
            <a:ext cx="395605" cy="227626"/>
          </a:xfrm>
          <a:prstGeom prst="rect">
            <a:avLst/>
          </a:prstGeom>
        </p:spPr>
        <p:txBody>
          <a:bodyPr vert="horz" wrap="square" lIns="0" tIns="12065" rIns="0" bIns="0" rtlCol="0">
            <a:spAutoFit/>
          </a:bodyPr>
          <a:lstStyle/>
          <a:p>
            <a:pPr marL="12700">
              <a:lnSpc>
                <a:spcPct val="100000"/>
              </a:lnSpc>
              <a:spcBef>
                <a:spcPts val="95"/>
              </a:spcBef>
            </a:pPr>
            <a:r>
              <a:rPr lang="en-US" sz="1400" b="1" spc="25">
                <a:solidFill>
                  <a:srgbClr val="FF0000"/>
                </a:solidFill>
                <a:latin typeface="Microsoft Sans Serif"/>
                <a:cs typeface="Microsoft Sans Serif"/>
              </a:rPr>
              <a:t>48K</a:t>
            </a:r>
            <a:endParaRPr sz="1400" b="1">
              <a:solidFill>
                <a:srgbClr val="FF0000"/>
              </a:solidFill>
              <a:latin typeface="Microsoft Sans Serif"/>
              <a:cs typeface="Microsoft Sans Serif"/>
            </a:endParaRPr>
          </a:p>
        </p:txBody>
      </p:sp>
      <p:pic>
        <p:nvPicPr>
          <p:cNvPr id="239" name="Picture 238">
            <a:extLst>
              <a:ext uri="{FF2B5EF4-FFF2-40B4-BE49-F238E27FC236}">
                <a16:creationId xmlns:a16="http://schemas.microsoft.com/office/drawing/2014/main" id="{7C587454-A131-843F-3E34-84EAED85F0BB}"/>
              </a:ext>
            </a:extLst>
          </p:cNvPr>
          <p:cNvPicPr>
            <a:picLocks noChangeAspect="1"/>
          </p:cNvPicPr>
          <p:nvPr/>
        </p:nvPicPr>
        <p:blipFill>
          <a:blip r:embed="rId16"/>
          <a:stretch>
            <a:fillRect/>
          </a:stretch>
        </p:blipFill>
        <p:spPr>
          <a:xfrm>
            <a:off x="9442450" y="3152421"/>
            <a:ext cx="4723583" cy="260971"/>
          </a:xfrm>
          <a:prstGeom prst="rect">
            <a:avLst/>
          </a:prstGeom>
        </p:spPr>
      </p:pic>
      <p:sp>
        <p:nvSpPr>
          <p:cNvPr id="241" name="object 83">
            <a:extLst>
              <a:ext uri="{FF2B5EF4-FFF2-40B4-BE49-F238E27FC236}">
                <a16:creationId xmlns:a16="http://schemas.microsoft.com/office/drawing/2014/main" id="{1F747B08-9403-B952-947D-669A3EA13C9B}"/>
              </a:ext>
            </a:extLst>
          </p:cNvPr>
          <p:cNvSpPr txBox="1"/>
          <p:nvPr/>
        </p:nvSpPr>
        <p:spPr>
          <a:xfrm>
            <a:off x="6096798" y="5741780"/>
            <a:ext cx="543837" cy="428322"/>
          </a:xfrm>
          <a:prstGeom prst="rect">
            <a:avLst/>
          </a:prstGeom>
        </p:spPr>
        <p:txBody>
          <a:bodyPr vert="horz" wrap="square" lIns="0" tIns="15240" rIns="0" bIns="0" rtlCol="0">
            <a:spAutoFit/>
          </a:bodyPr>
          <a:lstStyle/>
          <a:p>
            <a:pPr marL="12700">
              <a:lnSpc>
                <a:spcPct val="100000"/>
              </a:lnSpc>
              <a:spcBef>
                <a:spcPts val="120"/>
              </a:spcBef>
            </a:pPr>
            <a:r>
              <a:rPr lang="en-US" sz="1300" spc="-100">
                <a:solidFill>
                  <a:srgbClr val="7F7F7F"/>
                </a:solidFill>
                <a:latin typeface="Microsoft Sans Serif"/>
                <a:cs typeface="Microsoft Sans Serif"/>
              </a:rPr>
              <a:t>50K</a:t>
            </a:r>
          </a:p>
          <a:p>
            <a:pPr marL="12700">
              <a:lnSpc>
                <a:spcPct val="100000"/>
              </a:lnSpc>
              <a:spcBef>
                <a:spcPts val="120"/>
              </a:spcBef>
            </a:pPr>
            <a:endParaRPr sz="1300">
              <a:latin typeface="Microsoft Sans Serif"/>
              <a:cs typeface="Microsoft Sans Serif"/>
            </a:endParaRPr>
          </a:p>
        </p:txBody>
      </p:sp>
      <p:pic>
        <p:nvPicPr>
          <p:cNvPr id="8" name="object 4">
            <a:extLst>
              <a:ext uri="{FF2B5EF4-FFF2-40B4-BE49-F238E27FC236}">
                <a16:creationId xmlns:a16="http://schemas.microsoft.com/office/drawing/2014/main" id="{AC0DFD69-0D2E-9E79-3DD5-3B3716E251D5}"/>
              </a:ext>
            </a:extLst>
          </p:cNvPr>
          <p:cNvPicPr/>
          <p:nvPr/>
        </p:nvPicPr>
        <p:blipFill>
          <a:blip r:embed="rId17" cstate="print"/>
          <a:stretch>
            <a:fillRect/>
          </a:stretch>
        </p:blipFill>
        <p:spPr>
          <a:xfrm>
            <a:off x="17726790" y="399568"/>
            <a:ext cx="1233889" cy="263866"/>
          </a:xfrm>
          <a:prstGeom prst="rect">
            <a:avLst/>
          </a:prstGeom>
        </p:spPr>
      </p:pic>
      <p:sp>
        <p:nvSpPr>
          <p:cNvPr id="9" name="object 3">
            <a:extLst>
              <a:ext uri="{FF2B5EF4-FFF2-40B4-BE49-F238E27FC236}">
                <a16:creationId xmlns:a16="http://schemas.microsoft.com/office/drawing/2014/main" id="{7AABB945-5796-DA3D-ED6B-69006A1A7A62}"/>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13" name="object 6">
            <a:extLst>
              <a:ext uri="{FF2B5EF4-FFF2-40B4-BE49-F238E27FC236}">
                <a16:creationId xmlns:a16="http://schemas.microsoft.com/office/drawing/2014/main" id="{51C09BFB-D39D-131C-FF18-A9BE348C66F8}"/>
              </a:ext>
            </a:extLst>
          </p:cNvPr>
          <p:cNvSpPr txBox="1">
            <a:spLocks/>
          </p:cNvSpPr>
          <p:nvPr/>
        </p:nvSpPr>
        <p:spPr>
          <a:xfrm>
            <a:off x="1381244" y="2488863"/>
            <a:ext cx="3685388" cy="1647969"/>
          </a:xfrm>
          <a:prstGeom prst="roundRect">
            <a:avLst/>
          </a:prstGeom>
          <a:ln>
            <a:solidFill>
              <a:schemeClr val="tx1"/>
            </a:solidFill>
            <a:prstDash val="lgDash"/>
          </a:ln>
        </p:spPr>
        <p:txBody>
          <a:bodyPr vert="horz" wrap="square" lIns="0" tIns="12065" rIns="0" bIns="0" rtlCol="0" anchor="t">
            <a:spAutoFit/>
          </a:bodyPr>
          <a:lstStyle>
            <a:lvl1pPr>
              <a:defRPr sz="4950" b="0" i="0">
                <a:solidFill>
                  <a:srgbClr val="262626"/>
                </a:solidFill>
                <a:latin typeface="Microsoft Sans Serif"/>
                <a:ea typeface="+mj-ea"/>
                <a:cs typeface="Microsoft Sans Serif"/>
              </a:defRPr>
            </a:lvl1pPr>
          </a:lstStyle>
          <a:p>
            <a:pPr algn="l"/>
            <a:endParaRPr lang="en-US" sz="1600">
              <a:solidFill>
                <a:schemeClr val="tx1"/>
              </a:solidFill>
            </a:endParaRPr>
          </a:p>
          <a:p>
            <a:pPr algn="l"/>
            <a:r>
              <a:rPr lang="en-US" sz="1600">
                <a:solidFill>
                  <a:schemeClr val="tx1"/>
                </a:solidFill>
              </a:rPr>
              <a:t>JLR is operationally solid, not underperforming, but Still has room to improve efficiency &amp; pricing power compared to top-tier luxury peers</a:t>
            </a:r>
            <a:endParaRPr lang="en-US">
              <a:solidFill>
                <a:schemeClr val="tx1"/>
              </a:solidFill>
            </a:endParaRPr>
          </a:p>
          <a:p>
            <a:pPr algn="l"/>
            <a:endParaRPr lang="en-US" sz="1600">
              <a:solidFill>
                <a:schemeClr val="tx1"/>
              </a:solidFill>
            </a:endParaRPr>
          </a:p>
        </p:txBody>
      </p:sp>
      <p:sp>
        <p:nvSpPr>
          <p:cNvPr id="15" name="object 6">
            <a:extLst>
              <a:ext uri="{FF2B5EF4-FFF2-40B4-BE49-F238E27FC236}">
                <a16:creationId xmlns:a16="http://schemas.microsoft.com/office/drawing/2014/main" id="{221AC945-75F8-AC0E-BE99-4704DD0C7E61}"/>
              </a:ext>
            </a:extLst>
          </p:cNvPr>
          <p:cNvSpPr txBox="1">
            <a:spLocks/>
          </p:cNvSpPr>
          <p:nvPr/>
        </p:nvSpPr>
        <p:spPr>
          <a:xfrm>
            <a:off x="1258087" y="1370820"/>
            <a:ext cx="17407806" cy="627736"/>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2000">
                <a:solidFill>
                  <a:schemeClr val="tx1"/>
                </a:solidFill>
              </a:rPr>
              <a:t>While JLR’s financials appear stable at first glance, a closer look reveals that Jaguar’s sales have been in a steep decline, offering little to no meaningful contribution to the group’s overall performance. This underscores a structural imbalance within JLR’s brand portfolio.</a:t>
            </a:r>
          </a:p>
        </p:txBody>
      </p:sp>
      <p:sp>
        <p:nvSpPr>
          <p:cNvPr id="16" name="object 6">
            <a:extLst>
              <a:ext uri="{FF2B5EF4-FFF2-40B4-BE49-F238E27FC236}">
                <a16:creationId xmlns:a16="http://schemas.microsoft.com/office/drawing/2014/main" id="{1B462F3D-A2D7-D977-645E-85E8B3347316}"/>
              </a:ext>
            </a:extLst>
          </p:cNvPr>
          <p:cNvSpPr txBox="1">
            <a:spLocks/>
          </p:cNvSpPr>
          <p:nvPr/>
        </p:nvSpPr>
        <p:spPr>
          <a:xfrm>
            <a:off x="14975404" y="2395288"/>
            <a:ext cx="3685388" cy="1647969"/>
          </a:xfrm>
          <a:prstGeom prst="roundRect">
            <a:avLst/>
          </a:prstGeom>
          <a:ln>
            <a:solidFill>
              <a:schemeClr val="tx1"/>
            </a:solid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1600">
                <a:solidFill>
                  <a:schemeClr val="tx1"/>
                </a:solidFill>
              </a:rPr>
              <a:t>It’s not at the level of BMW or Mercedes yet, but it’s clearly closing the gap in profitability and improving its cash flow conversion efficiency — a sign of operational maturity and financial discipline.</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3" name="object 3"/>
          <p:cNvSpPr/>
          <p:nvPr/>
        </p:nvSpPr>
        <p:spPr>
          <a:xfrm>
            <a:off x="19066329" y="10699500"/>
            <a:ext cx="1038225" cy="0"/>
          </a:xfrm>
          <a:custGeom>
            <a:avLst/>
            <a:gdLst/>
            <a:ahLst/>
            <a:cxnLst/>
            <a:rect l="l" t="t" r="r" b="b"/>
            <a:pathLst>
              <a:path w="1038225">
                <a:moveTo>
                  <a:pt x="0" y="0"/>
                </a:moveTo>
                <a:lnTo>
                  <a:pt x="1037769" y="0"/>
                </a:lnTo>
              </a:path>
            </a:pathLst>
          </a:custGeom>
          <a:ln w="10470">
            <a:solidFill>
              <a:srgbClr val="086BB5"/>
            </a:solidFill>
          </a:ln>
        </p:spPr>
        <p:txBody>
          <a:bodyPr wrap="square" lIns="0" tIns="0" rIns="0" bIns="0" rtlCol="0"/>
          <a:lstStyle/>
          <a:p>
            <a:endParaRPr/>
          </a:p>
        </p:txBody>
      </p:sp>
      <p:pic>
        <p:nvPicPr>
          <p:cNvPr id="5" name="object 5"/>
          <p:cNvPicPr/>
          <p:nvPr/>
        </p:nvPicPr>
        <p:blipFill>
          <a:blip r:embed="rId2" cstate="print"/>
          <a:stretch>
            <a:fillRect/>
          </a:stretch>
        </p:blipFill>
        <p:spPr>
          <a:xfrm>
            <a:off x="0" y="1095673"/>
            <a:ext cx="1015257" cy="271405"/>
          </a:xfrm>
          <a:prstGeom prst="rect">
            <a:avLst/>
          </a:prstGeom>
        </p:spPr>
      </p:pic>
      <p:sp>
        <p:nvSpPr>
          <p:cNvPr id="6" name="object 6"/>
          <p:cNvSpPr txBox="1">
            <a:spLocks noGrp="1"/>
          </p:cNvSpPr>
          <p:nvPr>
            <p:ph type="title"/>
          </p:nvPr>
        </p:nvSpPr>
        <p:spPr>
          <a:xfrm>
            <a:off x="1289502" y="137172"/>
            <a:ext cx="14804390" cy="779780"/>
          </a:xfrm>
          <a:prstGeom prst="rect">
            <a:avLst/>
          </a:prstGeom>
        </p:spPr>
        <p:txBody>
          <a:bodyPr vert="horz" wrap="square" lIns="0" tIns="12065" rIns="0" bIns="0" rtlCol="0">
            <a:spAutoFit/>
          </a:bodyPr>
          <a:lstStyle/>
          <a:p>
            <a:pPr marL="12700">
              <a:lnSpc>
                <a:spcPct val="100000"/>
              </a:lnSpc>
              <a:spcBef>
                <a:spcPts val="95"/>
              </a:spcBef>
            </a:pPr>
            <a:r>
              <a:rPr lang="en-US" spc="-50"/>
              <a:t>BCG Matrix in play</a:t>
            </a:r>
            <a:endParaRPr spc="-25"/>
          </a:p>
        </p:txBody>
      </p:sp>
      <p:pic>
        <p:nvPicPr>
          <p:cNvPr id="7" name="object 7"/>
          <p:cNvPicPr/>
          <p:nvPr/>
        </p:nvPicPr>
        <p:blipFill>
          <a:blip r:embed="rId3" cstate="print"/>
          <a:stretch>
            <a:fillRect/>
          </a:stretch>
        </p:blipFill>
        <p:spPr>
          <a:xfrm>
            <a:off x="1145933" y="2387361"/>
            <a:ext cx="8757848" cy="3563451"/>
          </a:xfrm>
          <a:prstGeom prst="rect">
            <a:avLst/>
          </a:prstGeom>
        </p:spPr>
      </p:pic>
      <p:sp>
        <p:nvSpPr>
          <p:cNvPr id="8" name="object 8"/>
          <p:cNvSpPr txBox="1"/>
          <p:nvPr/>
        </p:nvSpPr>
        <p:spPr>
          <a:xfrm>
            <a:off x="1446103" y="3467822"/>
            <a:ext cx="4612640" cy="2139881"/>
          </a:xfrm>
          <a:prstGeom prst="rect">
            <a:avLst/>
          </a:prstGeom>
        </p:spPr>
        <p:txBody>
          <a:bodyPr vert="horz" wrap="square" lIns="0" tIns="9525" rIns="0" bIns="0" rtlCol="0" anchor="t">
            <a:spAutoFit/>
          </a:bodyPr>
          <a:lstStyle/>
          <a:p>
            <a:pPr marL="12700" marR="5080">
              <a:lnSpc>
                <a:spcPct val="102299"/>
              </a:lnSpc>
              <a:spcBef>
                <a:spcPts val="75"/>
              </a:spcBef>
            </a:pPr>
            <a:r>
              <a:rPr lang="en-US" sz="1950">
                <a:solidFill>
                  <a:srgbClr val="262626"/>
                </a:solidFill>
                <a:latin typeface="Microsoft Sans Serif"/>
                <a:cs typeface="Microsoft Sans Serif"/>
              </a:rPr>
              <a:t>Competes in the rapidly growing EV market.- Jaguar was one of the first luxury automakers to introduce a fully electric SUV.- Faces tough competition from Tesla, Mercedes EQ series, BMW </a:t>
            </a:r>
            <a:r>
              <a:rPr lang="en-US" sz="1950" err="1">
                <a:solidFill>
                  <a:srgbClr val="262626"/>
                </a:solidFill>
                <a:latin typeface="Microsoft Sans Serif"/>
                <a:cs typeface="Microsoft Sans Serif"/>
              </a:rPr>
              <a:t>iX</a:t>
            </a:r>
            <a:r>
              <a:rPr lang="en-US" sz="1950">
                <a:solidFill>
                  <a:srgbClr val="262626"/>
                </a:solidFill>
                <a:latin typeface="Microsoft Sans Serif"/>
                <a:cs typeface="Microsoft Sans Serif"/>
              </a:rPr>
              <a:t>, etc.</a:t>
            </a:r>
            <a:br>
              <a:rPr lang="en-US" sz="1950" spc="-10">
                <a:latin typeface="Microsoft Sans Serif"/>
                <a:ea typeface="Microsoft Sans Serif"/>
                <a:cs typeface="Microsoft Sans Serif"/>
              </a:rPr>
            </a:br>
            <a:br>
              <a:rPr lang="en-US" sz="1950" spc="-10">
                <a:latin typeface="Microsoft Sans Serif"/>
                <a:ea typeface="Microsoft Sans Serif"/>
                <a:cs typeface="Microsoft Sans Serif"/>
              </a:rPr>
            </a:br>
            <a:r>
              <a:rPr lang="en-US" sz="2000" b="1"/>
              <a:t>Jaguar I-PACE (Electric SUV</a:t>
            </a:r>
            <a:endParaRPr sz="1950" b="1">
              <a:latin typeface="Microsoft Sans Serif"/>
              <a:cs typeface="Microsoft Sans Serif"/>
            </a:endParaRPr>
          </a:p>
        </p:txBody>
      </p:sp>
      <p:pic>
        <p:nvPicPr>
          <p:cNvPr id="12" name="object 12"/>
          <p:cNvPicPr/>
          <p:nvPr/>
        </p:nvPicPr>
        <p:blipFill>
          <a:blip r:embed="rId4" cstate="print"/>
          <a:stretch>
            <a:fillRect/>
          </a:stretch>
        </p:blipFill>
        <p:spPr>
          <a:xfrm>
            <a:off x="10220421" y="2387361"/>
            <a:ext cx="8757848" cy="3563451"/>
          </a:xfrm>
          <a:prstGeom prst="rect">
            <a:avLst/>
          </a:prstGeom>
        </p:spPr>
      </p:pic>
      <p:sp>
        <p:nvSpPr>
          <p:cNvPr id="13" name="object 13"/>
          <p:cNvSpPr txBox="1"/>
          <p:nvPr/>
        </p:nvSpPr>
        <p:spPr>
          <a:xfrm>
            <a:off x="10520905" y="3467822"/>
            <a:ext cx="4563110" cy="2147704"/>
          </a:xfrm>
          <a:prstGeom prst="rect">
            <a:avLst/>
          </a:prstGeom>
        </p:spPr>
        <p:txBody>
          <a:bodyPr vert="horz" wrap="square" lIns="0" tIns="9525" rIns="0" bIns="0" rtlCol="0" anchor="t">
            <a:spAutoFit/>
          </a:bodyPr>
          <a:lstStyle/>
          <a:p>
            <a:pPr marL="12700" marR="5080">
              <a:lnSpc>
                <a:spcPct val="102299"/>
              </a:lnSpc>
              <a:spcBef>
                <a:spcPts val="75"/>
              </a:spcBef>
            </a:pPr>
            <a:r>
              <a:rPr lang="en-US" sz="1950" spc="-25">
                <a:solidFill>
                  <a:srgbClr val="262626"/>
                </a:solidFill>
                <a:latin typeface="Microsoft Sans Serif"/>
                <a:cs typeface="Microsoft Sans Serif"/>
              </a:rPr>
              <a:t>Jaguar plans to become an all-electric luxury brand by 2025.- High potential market growth but uncertain market share and profitability</a:t>
            </a:r>
            <a:br>
              <a:rPr lang="en-US" sz="1950" spc="-25">
                <a:latin typeface="Microsoft Sans Serif"/>
                <a:ea typeface="Microsoft Sans Serif"/>
                <a:cs typeface="Microsoft Sans Serif"/>
              </a:rPr>
            </a:br>
            <a:br>
              <a:rPr lang="en-US" sz="1950" spc="-25">
                <a:latin typeface="Microsoft Sans Serif"/>
                <a:ea typeface="Microsoft Sans Serif"/>
                <a:cs typeface="Microsoft Sans Serif"/>
              </a:rPr>
            </a:br>
            <a:r>
              <a:rPr lang="en-US" sz="1950" b="1"/>
              <a:t>Future All-Electric Lineup (Post-2025 Vision)</a:t>
            </a:r>
            <a:endParaRPr sz="1950" b="1">
              <a:latin typeface="Microsoft Sans Serif"/>
              <a:cs typeface="Microsoft Sans Serif"/>
            </a:endParaRPr>
          </a:p>
        </p:txBody>
      </p:sp>
      <p:pic>
        <p:nvPicPr>
          <p:cNvPr id="17" name="object 17"/>
          <p:cNvPicPr/>
          <p:nvPr/>
        </p:nvPicPr>
        <p:blipFill>
          <a:blip r:embed="rId5" cstate="print"/>
          <a:stretch>
            <a:fillRect/>
          </a:stretch>
        </p:blipFill>
        <p:spPr>
          <a:xfrm>
            <a:off x="1145933" y="6254887"/>
            <a:ext cx="8757848" cy="3565964"/>
          </a:xfrm>
          <a:prstGeom prst="rect">
            <a:avLst/>
          </a:prstGeom>
        </p:spPr>
      </p:pic>
      <p:sp>
        <p:nvSpPr>
          <p:cNvPr id="18" name="object 18"/>
          <p:cNvSpPr txBox="1"/>
          <p:nvPr/>
        </p:nvSpPr>
        <p:spPr>
          <a:xfrm>
            <a:off x="1446103" y="7337861"/>
            <a:ext cx="4086860" cy="2453813"/>
          </a:xfrm>
          <a:prstGeom prst="rect">
            <a:avLst/>
          </a:prstGeom>
        </p:spPr>
        <p:txBody>
          <a:bodyPr vert="horz" wrap="square" lIns="0" tIns="9525" rIns="0" bIns="0" rtlCol="0" anchor="t">
            <a:spAutoFit/>
          </a:bodyPr>
          <a:lstStyle/>
          <a:p>
            <a:pPr marL="12700" marR="5080">
              <a:lnSpc>
                <a:spcPct val="102299"/>
              </a:lnSpc>
              <a:spcBef>
                <a:spcPts val="75"/>
              </a:spcBef>
            </a:pPr>
            <a:r>
              <a:rPr lang="en-US" sz="1950" spc="-70">
                <a:solidFill>
                  <a:srgbClr val="262626"/>
                </a:solidFill>
                <a:latin typeface="Microsoft Sans Serif"/>
                <a:cs typeface="Microsoft Sans Serif"/>
              </a:rPr>
              <a:t>Established models with decent brand recognition.- Market for internal combustion luxury vehicles is mature or declining.- Still contributes steady cash flow due to loyal customers</a:t>
            </a:r>
            <a:br>
              <a:rPr lang="en-US" sz="1950" spc="-70">
                <a:latin typeface="Microsoft Sans Serif"/>
                <a:ea typeface="Microsoft Sans Serif"/>
                <a:cs typeface="Microsoft Sans Serif"/>
              </a:rPr>
            </a:br>
            <a:br>
              <a:rPr lang="en-US" sz="1950" spc="-70">
                <a:latin typeface="Microsoft Sans Serif"/>
                <a:ea typeface="Microsoft Sans Serif"/>
                <a:cs typeface="Microsoft Sans Serif"/>
              </a:rPr>
            </a:br>
            <a:r>
              <a:rPr lang="en-US" sz="1950" b="1"/>
              <a:t>Jaguar XF and Jaguar F-PACE (Luxury Sedan &amp; SUV)</a:t>
            </a:r>
            <a:endParaRPr sz="1950" b="1">
              <a:latin typeface="Microsoft Sans Serif"/>
              <a:cs typeface="Microsoft Sans Serif"/>
            </a:endParaRPr>
          </a:p>
        </p:txBody>
      </p:sp>
      <p:pic>
        <p:nvPicPr>
          <p:cNvPr id="22" name="object 22"/>
          <p:cNvPicPr/>
          <p:nvPr/>
        </p:nvPicPr>
        <p:blipFill>
          <a:blip r:embed="rId6" cstate="print"/>
          <a:stretch>
            <a:fillRect/>
          </a:stretch>
        </p:blipFill>
        <p:spPr>
          <a:xfrm>
            <a:off x="10220421" y="6254887"/>
            <a:ext cx="8757848" cy="3565964"/>
          </a:xfrm>
          <a:prstGeom prst="rect">
            <a:avLst/>
          </a:prstGeom>
        </p:spPr>
      </p:pic>
      <p:sp>
        <p:nvSpPr>
          <p:cNvPr id="23" name="object 23"/>
          <p:cNvSpPr txBox="1"/>
          <p:nvPr/>
        </p:nvSpPr>
        <p:spPr>
          <a:xfrm>
            <a:off x="10520905" y="7337861"/>
            <a:ext cx="4110990" cy="2132187"/>
          </a:xfrm>
          <a:prstGeom prst="rect">
            <a:avLst/>
          </a:prstGeom>
        </p:spPr>
        <p:txBody>
          <a:bodyPr vert="horz" wrap="square" lIns="0" tIns="10160" rIns="0" bIns="0" rtlCol="0" anchor="t">
            <a:spAutoFit/>
          </a:bodyPr>
          <a:lstStyle/>
          <a:p>
            <a:pPr marL="12700" marR="5080">
              <a:lnSpc>
                <a:spcPct val="102000"/>
              </a:lnSpc>
              <a:spcBef>
                <a:spcPts val="80"/>
              </a:spcBef>
            </a:pPr>
            <a:r>
              <a:rPr lang="en-US" sz="1950" spc="-105">
                <a:solidFill>
                  <a:srgbClr val="262626"/>
                </a:solidFill>
                <a:latin typeface="Microsoft Sans Serif"/>
                <a:cs typeface="Microsoft Sans Serif"/>
              </a:rPr>
              <a:t>Competes with BMW 3-Series, Audi A4, Mercedes C-Class.- Sales performance has been weak globally.- Market share declining as consumers shift to SUVs and </a:t>
            </a:r>
            <a:r>
              <a:rPr lang="en-US" sz="1950" spc="-105" err="1">
                <a:solidFill>
                  <a:srgbClr val="262626"/>
                </a:solidFill>
                <a:latin typeface="Microsoft Sans Serif"/>
                <a:cs typeface="Microsoft Sans Serif"/>
              </a:rPr>
              <a:t>Evs</a:t>
            </a:r>
            <a:br>
              <a:rPr lang="en-US" sz="1950" spc="-105">
                <a:latin typeface="Microsoft Sans Serif"/>
                <a:ea typeface="Microsoft Sans Serif"/>
                <a:cs typeface="Microsoft Sans Serif"/>
              </a:rPr>
            </a:br>
            <a:br>
              <a:rPr lang="en-US" sz="1950" spc="-105">
                <a:latin typeface="Microsoft Sans Serif"/>
                <a:ea typeface="Microsoft Sans Serif"/>
                <a:cs typeface="Microsoft Sans Serif"/>
              </a:rPr>
            </a:br>
            <a:r>
              <a:rPr lang="en-US" sz="1950" b="1"/>
              <a:t>Jaguar XE (Entry-level sedan)</a:t>
            </a:r>
            <a:endParaRPr sz="1950" b="1">
              <a:latin typeface="Microsoft Sans Serif"/>
              <a:cs typeface="Microsoft Sans Serif"/>
            </a:endParaRPr>
          </a:p>
        </p:txBody>
      </p:sp>
      <p:sp>
        <p:nvSpPr>
          <p:cNvPr id="33" name="object 33"/>
          <p:cNvSpPr txBox="1">
            <a:spLocks noGrp="1"/>
          </p:cNvSpPr>
          <p:nvPr>
            <p:ph type="sldNum" sz="quarter" idx="7"/>
          </p:nvPr>
        </p:nvSpPr>
        <p:spPr>
          <a:xfrm>
            <a:off x="18667927" y="10548235"/>
            <a:ext cx="274319" cy="276999"/>
          </a:xfrm>
          <a:prstGeom prst="rect">
            <a:avLst/>
          </a:prstGeom>
        </p:spPr>
        <p:txBody>
          <a:bodyPr vert="horz" wrap="square" lIns="0" tIns="22860" rIns="0" bIns="0" rtlCol="0">
            <a:spAutoFit/>
          </a:bodyPr>
          <a:lstStyle/>
          <a:p>
            <a:pPr marL="7620">
              <a:lnSpc>
                <a:spcPct val="100000"/>
              </a:lnSpc>
              <a:spcBef>
                <a:spcPts val="180"/>
              </a:spcBef>
            </a:pPr>
            <a:r>
              <a:rPr lang="en-US" spc="-25"/>
              <a:t>8</a:t>
            </a:r>
            <a:endParaRPr spc="-25"/>
          </a:p>
        </p:txBody>
      </p:sp>
      <p:sp>
        <p:nvSpPr>
          <p:cNvPr id="34" name="object 7">
            <a:extLst>
              <a:ext uri="{FF2B5EF4-FFF2-40B4-BE49-F238E27FC236}">
                <a16:creationId xmlns:a16="http://schemas.microsoft.com/office/drawing/2014/main" id="{81B5F54E-3F47-A552-CF4E-5420056763AD}"/>
              </a:ext>
            </a:extLst>
          </p:cNvPr>
          <p:cNvSpPr txBox="1"/>
          <p:nvPr/>
        </p:nvSpPr>
        <p:spPr>
          <a:xfrm>
            <a:off x="1446103" y="2545127"/>
            <a:ext cx="3271947" cy="421334"/>
          </a:xfrm>
          <a:prstGeom prst="rect">
            <a:avLst/>
          </a:prstGeom>
        </p:spPr>
        <p:txBody>
          <a:bodyPr vert="horz" wrap="square" lIns="0" tIns="10160" rIns="0" bIns="0" rtlCol="0">
            <a:spAutoFit/>
          </a:bodyPr>
          <a:lstStyle/>
          <a:p>
            <a:pPr marL="12700" marR="5080">
              <a:lnSpc>
                <a:spcPct val="101800"/>
              </a:lnSpc>
              <a:spcBef>
                <a:spcPts val="80"/>
              </a:spcBef>
            </a:pPr>
            <a:r>
              <a:rPr lang="en-US" sz="2800"/>
              <a:t>🌟 </a:t>
            </a:r>
            <a:r>
              <a:rPr lang="en-US" sz="2800" b="1">
                <a:latin typeface="Microsoft Sans Serif" panose="020B0604020202020204" pitchFamily="34" charset="0"/>
                <a:ea typeface="Microsoft Sans Serif" panose="020B0604020202020204" pitchFamily="34" charset="0"/>
                <a:cs typeface="Microsoft Sans Serif" panose="020B0604020202020204" pitchFamily="34" charset="0"/>
              </a:rPr>
              <a:t>Stars</a:t>
            </a:r>
            <a:endParaRPr sz="260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5" name="object 7">
            <a:extLst>
              <a:ext uri="{FF2B5EF4-FFF2-40B4-BE49-F238E27FC236}">
                <a16:creationId xmlns:a16="http://schemas.microsoft.com/office/drawing/2014/main" id="{98BA793A-9686-C78D-06A8-6D98194DD5AD}"/>
              </a:ext>
            </a:extLst>
          </p:cNvPr>
          <p:cNvSpPr txBox="1"/>
          <p:nvPr/>
        </p:nvSpPr>
        <p:spPr>
          <a:xfrm>
            <a:off x="10535170" y="2545127"/>
            <a:ext cx="3936480" cy="421334"/>
          </a:xfrm>
          <a:prstGeom prst="rect">
            <a:avLst/>
          </a:prstGeom>
        </p:spPr>
        <p:txBody>
          <a:bodyPr vert="horz" wrap="square" lIns="0" tIns="10160" rIns="0" bIns="0" rtlCol="0">
            <a:spAutoFit/>
          </a:bodyPr>
          <a:lstStyle/>
          <a:p>
            <a:pPr marL="12700" marR="5080">
              <a:lnSpc>
                <a:spcPct val="101800"/>
              </a:lnSpc>
              <a:spcBef>
                <a:spcPts val="80"/>
              </a:spcBef>
            </a:pPr>
            <a:r>
              <a:rPr lang="en-US" sz="280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a:latin typeface="Microsoft Sans Serif" panose="020B0604020202020204" pitchFamily="34" charset="0"/>
                <a:ea typeface="Microsoft Sans Serif" panose="020B0604020202020204" pitchFamily="34" charset="0"/>
                <a:cs typeface="Microsoft Sans Serif" panose="020B0604020202020204" pitchFamily="34" charset="0"/>
              </a:rPr>
              <a:t>Question Marks</a:t>
            </a:r>
            <a:endParaRPr sz="260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7" name="object 7">
            <a:extLst>
              <a:ext uri="{FF2B5EF4-FFF2-40B4-BE49-F238E27FC236}">
                <a16:creationId xmlns:a16="http://schemas.microsoft.com/office/drawing/2014/main" id="{E328CFA3-DF98-C3E1-C926-9091D94D44EB}"/>
              </a:ext>
            </a:extLst>
          </p:cNvPr>
          <p:cNvSpPr txBox="1"/>
          <p:nvPr/>
        </p:nvSpPr>
        <p:spPr>
          <a:xfrm>
            <a:off x="10520905" y="6520210"/>
            <a:ext cx="3271947" cy="421334"/>
          </a:xfrm>
          <a:prstGeom prst="rect">
            <a:avLst/>
          </a:prstGeom>
        </p:spPr>
        <p:txBody>
          <a:bodyPr vert="horz" wrap="square" lIns="0" tIns="10160" rIns="0" bIns="0" rtlCol="0">
            <a:spAutoFit/>
          </a:bodyPr>
          <a:lstStyle/>
          <a:p>
            <a:pPr marL="12700" marR="5080">
              <a:lnSpc>
                <a:spcPct val="101800"/>
              </a:lnSpc>
              <a:spcBef>
                <a:spcPts val="80"/>
              </a:spcBef>
            </a:pPr>
            <a:r>
              <a:rPr lang="en-US" sz="280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a:latin typeface="Microsoft Sans Serif" panose="020B0604020202020204" pitchFamily="34" charset="0"/>
                <a:ea typeface="Microsoft Sans Serif" panose="020B0604020202020204" pitchFamily="34" charset="0"/>
                <a:cs typeface="Microsoft Sans Serif" panose="020B0604020202020204" pitchFamily="34" charset="0"/>
              </a:rPr>
              <a:t>Dogs</a:t>
            </a:r>
            <a:endParaRPr sz="260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8" name="object 7">
            <a:extLst>
              <a:ext uri="{FF2B5EF4-FFF2-40B4-BE49-F238E27FC236}">
                <a16:creationId xmlns:a16="http://schemas.microsoft.com/office/drawing/2014/main" id="{DAE9237F-EEB8-BC1C-E04C-3EEEC21E83D6}"/>
              </a:ext>
            </a:extLst>
          </p:cNvPr>
          <p:cNvSpPr txBox="1"/>
          <p:nvPr/>
        </p:nvSpPr>
        <p:spPr>
          <a:xfrm>
            <a:off x="1439953" y="6520210"/>
            <a:ext cx="3271947" cy="421334"/>
          </a:xfrm>
          <a:prstGeom prst="rect">
            <a:avLst/>
          </a:prstGeom>
        </p:spPr>
        <p:txBody>
          <a:bodyPr vert="horz" wrap="square" lIns="0" tIns="10160" rIns="0" bIns="0" rtlCol="0">
            <a:spAutoFit/>
          </a:bodyPr>
          <a:lstStyle/>
          <a:p>
            <a:pPr marL="12700" marR="5080">
              <a:lnSpc>
                <a:spcPct val="101800"/>
              </a:lnSpc>
              <a:spcBef>
                <a:spcPts val="80"/>
              </a:spcBef>
            </a:pPr>
            <a:r>
              <a:rPr lang="en-US" sz="280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800" b="1">
                <a:latin typeface="Microsoft Sans Serif" panose="020B0604020202020204" pitchFamily="34" charset="0"/>
                <a:ea typeface="Microsoft Sans Serif" panose="020B0604020202020204" pitchFamily="34" charset="0"/>
                <a:cs typeface="Microsoft Sans Serif" panose="020B0604020202020204" pitchFamily="34" charset="0"/>
              </a:rPr>
              <a:t>Cash Cows</a:t>
            </a:r>
            <a:endParaRPr sz="260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3" name="Arrow: Up 42">
            <a:extLst>
              <a:ext uri="{FF2B5EF4-FFF2-40B4-BE49-F238E27FC236}">
                <a16:creationId xmlns:a16="http://schemas.microsoft.com/office/drawing/2014/main" id="{04C7D6B2-033A-5BB9-1ED6-C110327456FC}"/>
              </a:ext>
            </a:extLst>
          </p:cNvPr>
          <p:cNvSpPr/>
          <p:nvPr/>
        </p:nvSpPr>
        <p:spPr>
          <a:xfrm rot="16200000">
            <a:off x="9879831" y="-6704232"/>
            <a:ext cx="622537" cy="17502293"/>
          </a:xfrm>
          <a:prstGeom prst="upArrow">
            <a:avLst/>
          </a:prstGeom>
          <a:gradFill>
            <a:gsLst>
              <a:gs pos="55500">
                <a:srgbClr val="E5AAC4"/>
              </a:gs>
              <a:gs pos="37000">
                <a:srgbClr val="E5AAC4"/>
              </a:gs>
              <a:gs pos="0">
                <a:schemeClr val="accent1">
                  <a:lumMod val="5000"/>
                  <a:lumOff val="95000"/>
                </a:schemeClr>
              </a:gs>
              <a:gs pos="74000">
                <a:srgbClr val="E5AAC4"/>
              </a:gs>
              <a:gs pos="83000">
                <a:srgbClr val="E5AAC4"/>
              </a:gs>
              <a:gs pos="100000">
                <a:srgbClr val="662E4E"/>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Up 43">
            <a:extLst>
              <a:ext uri="{FF2B5EF4-FFF2-40B4-BE49-F238E27FC236}">
                <a16:creationId xmlns:a16="http://schemas.microsoft.com/office/drawing/2014/main" id="{E18C80E7-2054-CE7B-8E45-F571520B92EA}"/>
              </a:ext>
            </a:extLst>
          </p:cNvPr>
          <p:cNvSpPr/>
          <p:nvPr/>
        </p:nvSpPr>
        <p:spPr>
          <a:xfrm>
            <a:off x="392763" y="2545126"/>
            <a:ext cx="579347" cy="7246545"/>
          </a:xfrm>
          <a:prstGeom prst="upArrow">
            <a:avLst/>
          </a:prstGeom>
          <a:gradFill>
            <a:gsLst>
              <a:gs pos="55500">
                <a:srgbClr val="E5AAC4"/>
              </a:gs>
              <a:gs pos="37000">
                <a:srgbClr val="E5AAC4"/>
              </a:gs>
              <a:gs pos="0">
                <a:schemeClr val="accent1">
                  <a:lumMod val="5000"/>
                  <a:lumOff val="95000"/>
                </a:schemeClr>
              </a:gs>
              <a:gs pos="74000">
                <a:srgbClr val="E5AAC4"/>
              </a:gs>
              <a:gs pos="83000">
                <a:srgbClr val="E5AAC4"/>
              </a:gs>
              <a:gs pos="100000">
                <a:srgbClr val="662E4E"/>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2">
            <a:extLst>
              <a:ext uri="{FF2B5EF4-FFF2-40B4-BE49-F238E27FC236}">
                <a16:creationId xmlns:a16="http://schemas.microsoft.com/office/drawing/2014/main" id="{96D73687-07E2-5B3E-175A-9ADC78FE2F99}"/>
              </a:ext>
            </a:extLst>
          </p:cNvPr>
          <p:cNvSpPr txBox="1"/>
          <p:nvPr/>
        </p:nvSpPr>
        <p:spPr>
          <a:xfrm>
            <a:off x="8680450" y="1770425"/>
            <a:ext cx="7368801" cy="423899"/>
          </a:xfrm>
          <a:prstGeom prst="rect">
            <a:avLst/>
          </a:prstGeom>
        </p:spPr>
        <p:txBody>
          <a:bodyPr wrap="square" lIns="0" tIns="0" rIns="0" bIns="0" rtlCol="0" anchor="t">
            <a:spAutoFit/>
          </a:bodyPr>
          <a:lstStyle/>
          <a:p>
            <a:pPr>
              <a:lnSpc>
                <a:spcPts val="3814"/>
              </a:lnSpc>
            </a:pPr>
            <a:r>
              <a:rPr lang="en-US" sz="2000" b="1">
                <a:solidFill>
                  <a:schemeClr val="tx1"/>
                </a:solidFill>
                <a:ea typeface="Arial MT Pro Bold"/>
                <a:cs typeface="Arial MT Pro Bold"/>
                <a:sym typeface="Arial MT Pro Bold"/>
              </a:rPr>
              <a:t>Relative Market Share</a:t>
            </a:r>
            <a:endParaRPr lang="en-US" sz="2000" b="1">
              <a:solidFill>
                <a:schemeClr val="tx1"/>
              </a:solidFill>
              <a:ea typeface="Arial MT Pro Bold"/>
              <a:cs typeface="Arial MT Pro Bold"/>
            </a:endParaRPr>
          </a:p>
        </p:txBody>
      </p:sp>
      <p:sp>
        <p:nvSpPr>
          <p:cNvPr id="46" name="TextBox 2">
            <a:extLst>
              <a:ext uri="{FF2B5EF4-FFF2-40B4-BE49-F238E27FC236}">
                <a16:creationId xmlns:a16="http://schemas.microsoft.com/office/drawing/2014/main" id="{015A54E8-C0AD-06C5-371C-D87BE637C6E3}"/>
              </a:ext>
            </a:extLst>
          </p:cNvPr>
          <p:cNvSpPr txBox="1"/>
          <p:nvPr/>
        </p:nvSpPr>
        <p:spPr>
          <a:xfrm rot="16200000">
            <a:off x="-825612" y="5773647"/>
            <a:ext cx="2908300" cy="436530"/>
          </a:xfrm>
          <a:prstGeom prst="rect">
            <a:avLst/>
          </a:prstGeom>
        </p:spPr>
        <p:txBody>
          <a:bodyPr wrap="square" lIns="0" tIns="0" rIns="0" bIns="0" rtlCol="0" anchor="t">
            <a:spAutoFit/>
          </a:bodyPr>
          <a:lstStyle/>
          <a:p>
            <a:pPr>
              <a:lnSpc>
                <a:spcPts val="3814"/>
              </a:lnSpc>
            </a:pPr>
            <a:r>
              <a:rPr lang="en-US" sz="2000" b="1">
                <a:solidFill>
                  <a:schemeClr val="tx1"/>
                </a:solidFill>
                <a:ea typeface="Arial MT Pro Bold"/>
                <a:cs typeface="Arial MT Pro Bold"/>
                <a:sym typeface="Arial MT Pro Bold"/>
              </a:rPr>
              <a:t>Market Growth</a:t>
            </a:r>
            <a:endParaRPr lang="en-US" sz="2000" b="1">
              <a:solidFill>
                <a:schemeClr val="tx1"/>
              </a:solidFill>
              <a:ea typeface="Arial MT Pro Bold"/>
              <a:cs typeface="Arial MT Pro Bold"/>
            </a:endParaRPr>
          </a:p>
        </p:txBody>
      </p:sp>
      <p:sp>
        <p:nvSpPr>
          <p:cNvPr id="48" name="Rectangle: Rounded Corners 47">
            <a:extLst>
              <a:ext uri="{FF2B5EF4-FFF2-40B4-BE49-F238E27FC236}">
                <a16:creationId xmlns:a16="http://schemas.microsoft.com/office/drawing/2014/main" id="{632CE859-1473-51C5-02C9-2C22A004A846}"/>
              </a:ext>
            </a:extLst>
          </p:cNvPr>
          <p:cNvSpPr/>
          <p:nvPr/>
        </p:nvSpPr>
        <p:spPr>
          <a:xfrm>
            <a:off x="6000708" y="3088514"/>
            <a:ext cx="4468382" cy="2438989"/>
          </a:xfrm>
          <a:prstGeom prst="roundRect">
            <a:avLst/>
          </a:prstGeom>
          <a:blipFill dpi="0" rotWithShape="1">
            <a:blip r:embed="rId7">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5D6CFAF0-0659-6324-0FF9-9EE69D884987}"/>
              </a:ext>
            </a:extLst>
          </p:cNvPr>
          <p:cNvSpPr/>
          <p:nvPr/>
        </p:nvSpPr>
        <p:spPr>
          <a:xfrm>
            <a:off x="14932379" y="1920150"/>
            <a:ext cx="4505469" cy="3560234"/>
          </a:xfrm>
          <a:prstGeom prst="roundRect">
            <a:avLst/>
          </a:prstGeom>
          <a:blipFill dpi="0" rotWithShape="1">
            <a:blip r:embed="rId8">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EC2728EF-E179-CA95-5CE3-369D9B48AA10}"/>
              </a:ext>
            </a:extLst>
          </p:cNvPr>
          <p:cNvSpPr/>
          <p:nvPr/>
        </p:nvSpPr>
        <p:spPr>
          <a:xfrm>
            <a:off x="14932379" y="7297001"/>
            <a:ext cx="4015905" cy="1947707"/>
          </a:xfrm>
          <a:prstGeom prst="roundRect">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A5D4E1CC-E40D-393C-83DD-4C27A14C0313}"/>
              </a:ext>
            </a:extLst>
          </p:cNvPr>
          <p:cNvSpPr/>
          <p:nvPr/>
        </p:nvSpPr>
        <p:spPr>
          <a:xfrm>
            <a:off x="3987959" y="6181732"/>
            <a:ext cx="6481131" cy="3712273"/>
          </a:xfrm>
          <a:prstGeom prst="roundRect">
            <a:avLst/>
          </a:prstGeom>
          <a:blipFill dpi="0" rotWithShape="1">
            <a:blip r:embed="rId1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bject 2">
            <a:extLst>
              <a:ext uri="{FF2B5EF4-FFF2-40B4-BE49-F238E27FC236}">
                <a16:creationId xmlns:a16="http://schemas.microsoft.com/office/drawing/2014/main" id="{A0D24096-B1BD-81D5-4E1D-FBBCB2969F68}"/>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0" name="object 4">
            <a:extLst>
              <a:ext uri="{FF2B5EF4-FFF2-40B4-BE49-F238E27FC236}">
                <a16:creationId xmlns:a16="http://schemas.microsoft.com/office/drawing/2014/main" id="{67A60EAF-A201-3F84-A654-984A3C61695F}"/>
              </a:ext>
            </a:extLst>
          </p:cNvPr>
          <p:cNvPicPr/>
          <p:nvPr/>
        </p:nvPicPr>
        <p:blipFill>
          <a:blip r:embed="rId11" cstate="print"/>
          <a:stretch>
            <a:fillRect/>
          </a:stretch>
        </p:blipFill>
        <p:spPr>
          <a:xfrm>
            <a:off x="17726790" y="399568"/>
            <a:ext cx="1233889" cy="263866"/>
          </a:xfrm>
          <a:prstGeom prst="rect">
            <a:avLst/>
          </a:prstGeom>
        </p:spPr>
      </p:pic>
      <p:sp>
        <p:nvSpPr>
          <p:cNvPr id="11" name="object 6">
            <a:extLst>
              <a:ext uri="{FF2B5EF4-FFF2-40B4-BE49-F238E27FC236}">
                <a16:creationId xmlns:a16="http://schemas.microsoft.com/office/drawing/2014/main" id="{976F8865-DBC0-A0C2-F080-62967AEDC685}"/>
              </a:ext>
            </a:extLst>
          </p:cNvPr>
          <p:cNvSpPr txBox="1">
            <a:spLocks/>
          </p:cNvSpPr>
          <p:nvPr/>
        </p:nvSpPr>
        <p:spPr>
          <a:xfrm>
            <a:off x="1258087" y="988339"/>
            <a:ext cx="17407806" cy="627736"/>
          </a:xfrm>
          <a:prstGeom prst="rect">
            <a:avLst/>
          </a:prstGeom>
          <a:ln>
            <a:noFill/>
            <a:prstDash val="lgDash"/>
          </a:ln>
        </p:spPr>
        <p:txBody>
          <a:bodyPr vert="horz" wrap="square" lIns="0" tIns="12065" rIns="0" bIns="0" rtlCol="0">
            <a:spAutoFit/>
          </a:bodyPr>
          <a:lstStyle>
            <a:lvl1pPr>
              <a:defRPr sz="4950" b="0" i="0">
                <a:solidFill>
                  <a:srgbClr val="262626"/>
                </a:solidFill>
                <a:latin typeface="Microsoft Sans Serif"/>
                <a:ea typeface="+mj-ea"/>
                <a:cs typeface="Microsoft Sans Serif"/>
              </a:defRPr>
            </a:lvl1pPr>
          </a:lstStyle>
          <a:p>
            <a:pPr algn="l"/>
            <a:r>
              <a:rPr lang="en-US" sz="2000">
                <a:solidFill>
                  <a:schemeClr val="tx1"/>
                </a:solidFill>
              </a:rPr>
              <a:t>By prioritizing the Question Mark segment and neglecting existing Stars and Cash Cows, Jaguar risks creating an unbalanced JLR portfolio. This overreliance on uncertain EV ventures could jeopardize brand stability and long-term profitability.</a:t>
            </a:r>
          </a:p>
        </p:txBody>
      </p:sp>
      <p:sp>
        <p:nvSpPr>
          <p:cNvPr id="4" name="object 2">
            <a:extLst>
              <a:ext uri="{FF2B5EF4-FFF2-40B4-BE49-F238E27FC236}">
                <a16:creationId xmlns:a16="http://schemas.microsoft.com/office/drawing/2014/main" id="{8ACD9386-A950-B05D-64A9-E5CB627E5858}"/>
              </a:ext>
            </a:extLst>
          </p:cNvPr>
          <p:cNvSpPr/>
          <p:nvPr/>
        </p:nvSpPr>
        <p:spPr>
          <a:xfrm>
            <a:off x="10823" y="-7924"/>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322F-EB24-23FE-3D5E-0DAB99A1F7C6}"/>
            </a:ext>
          </a:extLst>
        </p:cNvPr>
        <p:cNvGrpSpPr/>
        <p:nvPr/>
      </p:nvGrpSpPr>
      <p:grpSpPr>
        <a:xfrm>
          <a:off x="0" y="0"/>
          <a:ext cx="0" cy="0"/>
          <a:chOff x="0" y="0"/>
          <a:chExt cx="0" cy="0"/>
        </a:xfrm>
      </p:grpSpPr>
      <p:sp>
        <p:nvSpPr>
          <p:cNvPr id="45" name="Wolkenförmige Legende 44">
            <a:extLst>
              <a:ext uri="{FF2B5EF4-FFF2-40B4-BE49-F238E27FC236}">
                <a16:creationId xmlns:a16="http://schemas.microsoft.com/office/drawing/2014/main" id="{3EB629B4-893C-A519-0968-BE6980C30182}"/>
              </a:ext>
            </a:extLst>
          </p:cNvPr>
          <p:cNvSpPr/>
          <p:nvPr/>
        </p:nvSpPr>
        <p:spPr>
          <a:xfrm>
            <a:off x="5714634" y="3142282"/>
            <a:ext cx="3848095" cy="1174133"/>
          </a:xfrm>
          <a:prstGeom prst="cloudCallout">
            <a:avLst>
              <a:gd name="adj1" fmla="val -53174"/>
              <a:gd name="adj2" fmla="val 12112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14">
              <a:latin typeface="Neue Haas Grotesk Text Pro" panose="020B0504020202020204" pitchFamily="34" charset="77"/>
            </a:endParaRPr>
          </a:p>
        </p:txBody>
      </p:sp>
      <p:sp>
        <p:nvSpPr>
          <p:cNvPr id="4" name="Titel 1">
            <a:extLst>
              <a:ext uri="{FF2B5EF4-FFF2-40B4-BE49-F238E27FC236}">
                <a16:creationId xmlns:a16="http://schemas.microsoft.com/office/drawing/2014/main" id="{5EB20F76-970B-5A3F-43F4-17DAD5F3C08B}"/>
              </a:ext>
            </a:extLst>
          </p:cNvPr>
          <p:cNvSpPr>
            <a:spLocks noGrp="1"/>
          </p:cNvSpPr>
          <p:nvPr>
            <p:ph type="title"/>
          </p:nvPr>
        </p:nvSpPr>
        <p:spPr>
          <a:xfrm>
            <a:off x="1397377" y="515853"/>
            <a:ext cx="15833570" cy="848473"/>
          </a:xfrm>
        </p:spPr>
        <p:txBody>
          <a:bodyPr>
            <a:normAutofit/>
          </a:bodyPr>
          <a:lstStyle/>
          <a:p>
            <a:r>
              <a:rPr lang="en-US" sz="4617">
                <a:latin typeface="Neue Haas Grotesk Text Pro" panose="020B0504020202020204" pitchFamily="34" charset="77"/>
              </a:rPr>
              <a:t>Jaguar’s unique value proposition</a:t>
            </a:r>
          </a:p>
        </p:txBody>
      </p:sp>
      <p:pic>
        <p:nvPicPr>
          <p:cNvPr id="5" name="Grafik 4" descr="Benutzer Silhouette">
            <a:extLst>
              <a:ext uri="{FF2B5EF4-FFF2-40B4-BE49-F238E27FC236}">
                <a16:creationId xmlns:a16="http://schemas.microsoft.com/office/drawing/2014/main" id="{2F6EFFC7-851D-4063-0520-D0CE6B30A0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3679" y="5093656"/>
            <a:ext cx="1658351" cy="1658351"/>
          </a:xfrm>
          <a:prstGeom prst="rect">
            <a:avLst/>
          </a:prstGeom>
        </p:spPr>
      </p:pic>
      <p:sp>
        <p:nvSpPr>
          <p:cNvPr id="6" name="Textfeld 5">
            <a:extLst>
              <a:ext uri="{FF2B5EF4-FFF2-40B4-BE49-F238E27FC236}">
                <a16:creationId xmlns:a16="http://schemas.microsoft.com/office/drawing/2014/main" id="{9CFF27BE-5F4B-67EF-ACF3-495001918ADD}"/>
              </a:ext>
            </a:extLst>
          </p:cNvPr>
          <p:cNvSpPr txBox="1"/>
          <p:nvPr/>
        </p:nvSpPr>
        <p:spPr>
          <a:xfrm>
            <a:off x="3410527" y="1551881"/>
            <a:ext cx="3862748" cy="447687"/>
          </a:xfrm>
          <a:prstGeom prst="rect">
            <a:avLst/>
          </a:prstGeom>
          <a:noFill/>
        </p:spPr>
        <p:txBody>
          <a:bodyPr wrap="square" rtlCol="0">
            <a:spAutoFit/>
          </a:bodyPr>
          <a:lstStyle/>
          <a:p>
            <a:pPr algn="ctr"/>
            <a:r>
              <a:rPr lang="en-US" sz="2309" b="1">
                <a:latin typeface="Neue Haas Grotesk Text Pro" panose="020B0504020202020204" pitchFamily="34" charset="77"/>
              </a:rPr>
              <a:t>Target customer profile</a:t>
            </a:r>
          </a:p>
        </p:txBody>
      </p:sp>
      <p:sp>
        <p:nvSpPr>
          <p:cNvPr id="7" name="Textfeld 6">
            <a:extLst>
              <a:ext uri="{FF2B5EF4-FFF2-40B4-BE49-F238E27FC236}">
                <a16:creationId xmlns:a16="http://schemas.microsoft.com/office/drawing/2014/main" id="{50A71C92-455B-1FBB-D83B-B15949C55D65}"/>
              </a:ext>
            </a:extLst>
          </p:cNvPr>
          <p:cNvSpPr txBox="1"/>
          <p:nvPr/>
        </p:nvSpPr>
        <p:spPr>
          <a:xfrm>
            <a:off x="1064792" y="7281347"/>
            <a:ext cx="8356123" cy="701474"/>
          </a:xfrm>
          <a:prstGeom prst="rect">
            <a:avLst/>
          </a:prstGeom>
          <a:noFill/>
        </p:spPr>
        <p:txBody>
          <a:bodyPr wrap="square" rtlCol="0">
            <a:spAutoFit/>
          </a:bodyPr>
          <a:lstStyle/>
          <a:p>
            <a:pPr algn="ctr"/>
            <a:r>
              <a:rPr lang="en-US" sz="1979" b="1">
                <a:latin typeface="Neue Haas Grotesk Text Pro" panose="020B0504020202020204" pitchFamily="34" charset="77"/>
              </a:rPr>
              <a:t>Demographics</a:t>
            </a:r>
            <a:endParaRPr lang="en-US" sz="1979">
              <a:latin typeface="Neue Haas Grotesk Text Pro" panose="020B0504020202020204" pitchFamily="34" charset="77"/>
            </a:endParaRPr>
          </a:p>
          <a:p>
            <a:pPr algn="ctr"/>
            <a:r>
              <a:rPr lang="en-US" sz="1979">
                <a:latin typeface="Neue Haas Grotesk Text Pro" panose="020B0504020202020204" pitchFamily="34" charset="77"/>
              </a:rPr>
              <a:t>30-50 years old, upper-income, urban professionals or entrepreneurs</a:t>
            </a:r>
          </a:p>
        </p:txBody>
      </p:sp>
      <p:sp>
        <p:nvSpPr>
          <p:cNvPr id="15" name="Textfeld 14">
            <a:extLst>
              <a:ext uri="{FF2B5EF4-FFF2-40B4-BE49-F238E27FC236}">
                <a16:creationId xmlns:a16="http://schemas.microsoft.com/office/drawing/2014/main" id="{56DB6A23-0005-E916-D2BB-D0E848CBAAC2}"/>
              </a:ext>
            </a:extLst>
          </p:cNvPr>
          <p:cNvSpPr txBox="1"/>
          <p:nvPr/>
        </p:nvSpPr>
        <p:spPr>
          <a:xfrm>
            <a:off x="398136" y="8483199"/>
            <a:ext cx="4749000" cy="1767407"/>
          </a:xfrm>
          <a:prstGeom prst="rect">
            <a:avLst/>
          </a:prstGeom>
          <a:noFill/>
        </p:spPr>
        <p:txBody>
          <a:bodyPr wrap="square" rtlCol="0">
            <a:spAutoFit/>
          </a:bodyPr>
          <a:lstStyle/>
          <a:p>
            <a:pPr algn="ctr"/>
            <a:r>
              <a:rPr lang="en-US" sz="1814" b="1">
                <a:latin typeface="Neue Haas Grotesk Text Pro" panose="020B0504020202020204" pitchFamily="34" charset="77"/>
              </a:rPr>
              <a:t>Pain points</a:t>
            </a:r>
          </a:p>
          <a:p>
            <a:pPr algn="ctr"/>
            <a:endParaRPr lang="en-US" sz="1814" b="1">
              <a:latin typeface="Neue Haas Grotesk Text Pro" panose="020B0504020202020204" pitchFamily="34" charset="77"/>
            </a:endParaRPr>
          </a:p>
          <a:p>
            <a:pPr marL="282721" indent="-282721" algn="ctr">
              <a:buFont typeface="Arial" panose="020B0604020202020204" pitchFamily="34" charset="0"/>
              <a:buChar char="•"/>
            </a:pPr>
            <a:r>
              <a:rPr lang="en-US" sz="1814">
                <a:latin typeface="Neue Haas Grotesk Text Pro" panose="020B0504020202020204" pitchFamily="34" charset="77"/>
              </a:rPr>
              <a:t>Most EV’s (e.g. Tesla) feel </a:t>
            </a:r>
            <a:r>
              <a:rPr lang="en-US" sz="1814" b="1">
                <a:latin typeface="Neue Haas Grotesk Text Pro" panose="020B0504020202020204" pitchFamily="34" charset="77"/>
              </a:rPr>
              <a:t>uniform</a:t>
            </a:r>
            <a:r>
              <a:rPr lang="en-US" sz="1814">
                <a:latin typeface="Neue Haas Grotesk Text Pro" panose="020B0504020202020204" pitchFamily="34" charset="77"/>
              </a:rPr>
              <a:t> and </a:t>
            </a:r>
            <a:r>
              <a:rPr lang="en-US" sz="1814" b="1">
                <a:latin typeface="Neue Haas Grotesk Text Pro" panose="020B0504020202020204" pitchFamily="34" charset="77"/>
              </a:rPr>
              <a:t>emotionless</a:t>
            </a:r>
          </a:p>
          <a:p>
            <a:pPr marL="282721" indent="-282721" algn="ctr">
              <a:buFont typeface="Arial" panose="020B0604020202020204" pitchFamily="34" charset="0"/>
              <a:buChar char="•"/>
            </a:pPr>
            <a:r>
              <a:rPr lang="en-US" sz="1814">
                <a:latin typeface="Neue Haas Grotesk Text Pro" panose="020B0504020202020204" pitchFamily="34" charset="77"/>
              </a:rPr>
              <a:t>Traditional luxury brands  (e.g. Bentley) seem </a:t>
            </a:r>
            <a:r>
              <a:rPr lang="en-US" sz="1814" b="1">
                <a:latin typeface="Neue Haas Grotesk Text Pro" panose="020B0504020202020204" pitchFamily="34" charset="77"/>
              </a:rPr>
              <a:t>old-fashioned</a:t>
            </a:r>
          </a:p>
        </p:txBody>
      </p:sp>
      <p:sp>
        <p:nvSpPr>
          <p:cNvPr id="16" name="Textfeld 15">
            <a:extLst>
              <a:ext uri="{FF2B5EF4-FFF2-40B4-BE49-F238E27FC236}">
                <a16:creationId xmlns:a16="http://schemas.microsoft.com/office/drawing/2014/main" id="{5077938C-55BC-E685-87F4-CBD76673961C}"/>
              </a:ext>
            </a:extLst>
          </p:cNvPr>
          <p:cNvSpPr txBox="1"/>
          <p:nvPr/>
        </p:nvSpPr>
        <p:spPr>
          <a:xfrm>
            <a:off x="5497537" y="8431290"/>
            <a:ext cx="4690323" cy="1767407"/>
          </a:xfrm>
          <a:prstGeom prst="rect">
            <a:avLst/>
          </a:prstGeom>
          <a:noFill/>
        </p:spPr>
        <p:txBody>
          <a:bodyPr wrap="square" rtlCol="0">
            <a:spAutoFit/>
          </a:bodyPr>
          <a:lstStyle/>
          <a:p>
            <a:pPr algn="ctr"/>
            <a:r>
              <a:rPr lang="en-US" sz="1814" b="1">
                <a:latin typeface="Neue Haas Grotesk Text Pro" panose="020B0504020202020204" pitchFamily="34" charset="77"/>
              </a:rPr>
              <a:t>Desired Gain</a:t>
            </a:r>
          </a:p>
          <a:p>
            <a:pPr algn="ctr"/>
            <a:endParaRPr lang="en-US" sz="1814" b="1">
              <a:latin typeface="Neue Haas Grotesk Text Pro" panose="020B0504020202020204" pitchFamily="34" charset="77"/>
            </a:endParaRPr>
          </a:p>
          <a:p>
            <a:pPr marL="282721" indent="-282721" algn="ctr">
              <a:buFont typeface="Arial" panose="020B0604020202020204" pitchFamily="34" charset="0"/>
              <a:buChar char="•"/>
            </a:pPr>
            <a:r>
              <a:rPr lang="en-US" sz="1814">
                <a:latin typeface="Neue Haas Grotesk Text Pro" panose="020B0504020202020204" pitchFamily="34" charset="77"/>
              </a:rPr>
              <a:t>Distinct </a:t>
            </a:r>
            <a:r>
              <a:rPr lang="en-US" sz="1814" b="1">
                <a:latin typeface="Neue Haas Grotesk Text Pro" panose="020B0504020202020204" pitchFamily="34" charset="77"/>
              </a:rPr>
              <a:t>identity</a:t>
            </a:r>
            <a:r>
              <a:rPr lang="en-US" sz="1814">
                <a:latin typeface="Neue Haas Grotesk Text Pro" panose="020B0504020202020204" pitchFamily="34" charset="77"/>
              </a:rPr>
              <a:t> &amp; </a:t>
            </a:r>
            <a:r>
              <a:rPr lang="en-US" sz="1814" b="1">
                <a:latin typeface="Neue Haas Grotesk Text Pro" panose="020B0504020202020204" pitchFamily="34" charset="77"/>
              </a:rPr>
              <a:t>exclusivity</a:t>
            </a:r>
          </a:p>
          <a:p>
            <a:pPr marL="282721" indent="-282721" algn="ctr">
              <a:buFont typeface="Arial" panose="020B0604020202020204" pitchFamily="34" charset="0"/>
              <a:buChar char="•"/>
            </a:pPr>
            <a:r>
              <a:rPr lang="en-US" sz="1814">
                <a:latin typeface="Neue Haas Grotesk Text Pro" panose="020B0504020202020204" pitchFamily="34" charset="77"/>
              </a:rPr>
              <a:t>Premium </a:t>
            </a:r>
            <a:r>
              <a:rPr lang="en-US" sz="1814" b="1">
                <a:latin typeface="Neue Haas Grotesk Text Pro" panose="020B0504020202020204" pitchFamily="34" charset="77"/>
              </a:rPr>
              <a:t>service</a:t>
            </a:r>
            <a:r>
              <a:rPr lang="en-US" sz="1814">
                <a:latin typeface="Neue Haas Grotesk Text Pro" panose="020B0504020202020204" pitchFamily="34" charset="77"/>
              </a:rPr>
              <a:t>, </a:t>
            </a:r>
            <a:r>
              <a:rPr lang="en-US" sz="1814" b="1">
                <a:latin typeface="Neue Haas Grotesk Text Pro" panose="020B0504020202020204" pitchFamily="34" charset="77"/>
              </a:rPr>
              <a:t>high</a:t>
            </a:r>
            <a:r>
              <a:rPr lang="en-US" sz="1814">
                <a:latin typeface="Neue Haas Grotesk Text Pro" panose="020B0504020202020204" pitchFamily="34" charset="77"/>
              </a:rPr>
              <a:t> </a:t>
            </a:r>
            <a:r>
              <a:rPr lang="en-US" sz="1814" b="1">
                <a:latin typeface="Neue Haas Grotesk Text Pro" panose="020B0504020202020204" pitchFamily="34" charset="77"/>
              </a:rPr>
              <a:t>resale</a:t>
            </a:r>
            <a:r>
              <a:rPr lang="en-US" sz="1814">
                <a:latin typeface="Neue Haas Grotesk Text Pro" panose="020B0504020202020204" pitchFamily="34" charset="77"/>
              </a:rPr>
              <a:t> value</a:t>
            </a:r>
          </a:p>
          <a:p>
            <a:pPr marL="282721" indent="-282721" algn="ctr">
              <a:buFont typeface="Arial" panose="020B0604020202020204" pitchFamily="34" charset="0"/>
              <a:buChar char="•"/>
            </a:pPr>
            <a:r>
              <a:rPr lang="en-US" sz="1814">
                <a:latin typeface="Neue Haas Grotesk Text Pro" panose="020B0504020202020204" pitchFamily="34" charset="77"/>
              </a:rPr>
              <a:t>Recognition through </a:t>
            </a:r>
            <a:r>
              <a:rPr lang="en-US" sz="1814" b="1">
                <a:latin typeface="Neue Haas Grotesk Text Pro" panose="020B0504020202020204" pitchFamily="34" charset="77"/>
              </a:rPr>
              <a:t>subtle distinction</a:t>
            </a:r>
          </a:p>
          <a:p>
            <a:pPr marL="282721" indent="-282721" algn="ctr">
              <a:buFont typeface="Arial" panose="020B0604020202020204" pitchFamily="34" charset="0"/>
              <a:buChar char="•"/>
            </a:pPr>
            <a:r>
              <a:rPr lang="en-US" sz="1814" b="1">
                <a:latin typeface="Neue Haas Grotesk Text Pro" panose="020B0504020202020204" pitchFamily="34" charset="77"/>
              </a:rPr>
              <a:t>Effortless</a:t>
            </a:r>
            <a:r>
              <a:rPr lang="en-US" sz="1814">
                <a:latin typeface="Neue Haas Grotesk Text Pro" panose="020B0504020202020204" pitchFamily="34" charset="77"/>
              </a:rPr>
              <a:t> ownership experience</a:t>
            </a:r>
          </a:p>
        </p:txBody>
      </p:sp>
      <p:sp>
        <p:nvSpPr>
          <p:cNvPr id="17" name="Abgerundetes Rechteck 16">
            <a:extLst>
              <a:ext uri="{FF2B5EF4-FFF2-40B4-BE49-F238E27FC236}">
                <a16:creationId xmlns:a16="http://schemas.microsoft.com/office/drawing/2014/main" id="{E573E9C6-FBFE-DA4A-EE79-D75C94C82784}"/>
              </a:ext>
            </a:extLst>
          </p:cNvPr>
          <p:cNvSpPr/>
          <p:nvPr/>
        </p:nvSpPr>
        <p:spPr>
          <a:xfrm>
            <a:off x="424802" y="8483199"/>
            <a:ext cx="4749000" cy="1797632"/>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 name="Abgerundetes Rechteck 17">
            <a:extLst>
              <a:ext uri="{FF2B5EF4-FFF2-40B4-BE49-F238E27FC236}">
                <a16:creationId xmlns:a16="http://schemas.microsoft.com/office/drawing/2014/main" id="{F45F14C3-DE3E-F557-A477-EC2DCE5FAE14}"/>
              </a:ext>
            </a:extLst>
          </p:cNvPr>
          <p:cNvSpPr/>
          <p:nvPr/>
        </p:nvSpPr>
        <p:spPr>
          <a:xfrm>
            <a:off x="5413198" y="8445076"/>
            <a:ext cx="4772603" cy="178618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 name="Textfeld 18">
            <a:extLst>
              <a:ext uri="{FF2B5EF4-FFF2-40B4-BE49-F238E27FC236}">
                <a16:creationId xmlns:a16="http://schemas.microsoft.com/office/drawing/2014/main" id="{EA19BB4F-E776-CA58-EAA5-78871AE972CD}"/>
              </a:ext>
            </a:extLst>
          </p:cNvPr>
          <p:cNvSpPr txBox="1"/>
          <p:nvPr/>
        </p:nvSpPr>
        <p:spPr>
          <a:xfrm>
            <a:off x="13469424" y="1551828"/>
            <a:ext cx="3862748" cy="447687"/>
          </a:xfrm>
          <a:prstGeom prst="rect">
            <a:avLst/>
          </a:prstGeom>
          <a:noFill/>
        </p:spPr>
        <p:txBody>
          <a:bodyPr wrap="square" rtlCol="0">
            <a:spAutoFit/>
          </a:bodyPr>
          <a:lstStyle/>
          <a:p>
            <a:pPr algn="ctr"/>
            <a:r>
              <a:rPr lang="en-US" sz="2309" b="1">
                <a:latin typeface="Neue Haas Grotesk Text Pro" panose="020B0504020202020204" pitchFamily="34" charset="77"/>
              </a:rPr>
              <a:t>Value Proposition</a:t>
            </a:r>
          </a:p>
        </p:txBody>
      </p:sp>
      <p:sp>
        <p:nvSpPr>
          <p:cNvPr id="21" name="Geschweifte Klammer rechts 20">
            <a:extLst>
              <a:ext uri="{FF2B5EF4-FFF2-40B4-BE49-F238E27FC236}">
                <a16:creationId xmlns:a16="http://schemas.microsoft.com/office/drawing/2014/main" id="{F9425605-BD3B-3D60-3E0C-1E39A2A6EFD6}"/>
              </a:ext>
            </a:extLst>
          </p:cNvPr>
          <p:cNvSpPr/>
          <p:nvPr/>
        </p:nvSpPr>
        <p:spPr>
          <a:xfrm>
            <a:off x="10419437" y="2427018"/>
            <a:ext cx="575552" cy="8398216"/>
          </a:xfrm>
          <a:prstGeom prst="rightBrace">
            <a:avLst>
              <a:gd name="adj1" fmla="val 50862"/>
              <a:gd name="adj2" fmla="val 4954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Textfeld 21">
            <a:extLst>
              <a:ext uri="{FF2B5EF4-FFF2-40B4-BE49-F238E27FC236}">
                <a16:creationId xmlns:a16="http://schemas.microsoft.com/office/drawing/2014/main" id="{CEE2F67B-8A66-6724-FE60-8E8400AD21DE}"/>
              </a:ext>
            </a:extLst>
          </p:cNvPr>
          <p:cNvSpPr txBox="1"/>
          <p:nvPr/>
        </p:nvSpPr>
        <p:spPr>
          <a:xfrm>
            <a:off x="15408922" y="4860721"/>
            <a:ext cx="4749000" cy="2097369"/>
          </a:xfrm>
          <a:prstGeom prst="rect">
            <a:avLst/>
          </a:prstGeom>
          <a:noFill/>
        </p:spPr>
        <p:txBody>
          <a:bodyPr wrap="square" rtlCol="0">
            <a:spAutoFit/>
          </a:bodyPr>
          <a:lstStyle/>
          <a:p>
            <a:pPr algn="ctr"/>
            <a:r>
              <a:rPr lang="en-US" sz="1979" b="1">
                <a:latin typeface="Neue Haas Grotesk Text Pro" panose="020B0504020202020204" pitchFamily="34" charset="77"/>
              </a:rPr>
              <a:t>Gain Creators</a:t>
            </a:r>
          </a:p>
          <a:p>
            <a:pPr algn="ctr"/>
            <a:endParaRPr lang="en-US" sz="1979" b="1">
              <a:latin typeface="Neue Haas Grotesk Text Pro" panose="020B0504020202020204" pitchFamily="34" charset="77"/>
            </a:endParaRPr>
          </a:p>
          <a:p>
            <a:pPr marL="282721" indent="-282721" algn="ctr">
              <a:buFont typeface="Arial" panose="020B0604020202020204" pitchFamily="34" charset="0"/>
              <a:buChar char="•"/>
            </a:pPr>
            <a:r>
              <a:rPr lang="en-US" sz="1814" b="1">
                <a:latin typeface="Neue Haas Grotesk Text Pro" panose="020B0504020202020204" pitchFamily="34" charset="77"/>
              </a:rPr>
              <a:t>Heritage</a:t>
            </a:r>
            <a:r>
              <a:rPr lang="en-US" sz="1814">
                <a:latin typeface="Neue Haas Grotesk Text Pro" panose="020B0504020202020204" pitchFamily="34" charset="77"/>
              </a:rPr>
              <a:t> meets </a:t>
            </a:r>
            <a:r>
              <a:rPr lang="en-US" sz="1814" b="1">
                <a:latin typeface="Neue Haas Grotesk Text Pro" panose="020B0504020202020204" pitchFamily="34" charset="77"/>
              </a:rPr>
              <a:t>innovation</a:t>
            </a:r>
          </a:p>
          <a:p>
            <a:pPr marL="282721" indent="-282721" algn="ctr">
              <a:buFont typeface="Arial" panose="020B0604020202020204" pitchFamily="34" charset="0"/>
              <a:buChar char="•"/>
            </a:pPr>
            <a:r>
              <a:rPr lang="en-US" sz="1814">
                <a:latin typeface="Neue Haas Grotesk Text Pro" panose="020B0504020202020204" pitchFamily="34" charset="77"/>
              </a:rPr>
              <a:t>Advanced </a:t>
            </a:r>
            <a:r>
              <a:rPr lang="en-US" sz="1814" b="1">
                <a:latin typeface="Neue Haas Grotesk Text Pro" panose="020B0504020202020204" pitchFamily="34" charset="77"/>
              </a:rPr>
              <a:t>tech</a:t>
            </a:r>
            <a:r>
              <a:rPr lang="en-US" sz="1814">
                <a:latin typeface="Neue Haas Grotesk Text Pro" panose="020B0504020202020204" pitchFamily="34" charset="77"/>
              </a:rPr>
              <a:t> and credibility</a:t>
            </a:r>
          </a:p>
          <a:p>
            <a:pPr marL="282721" indent="-282721" algn="ctr">
              <a:buFont typeface="Arial" panose="020B0604020202020204" pitchFamily="34" charset="0"/>
              <a:buChar char="•"/>
            </a:pPr>
            <a:r>
              <a:rPr lang="en-US" sz="1814" b="1">
                <a:latin typeface="Neue Haas Grotesk Text Pro" panose="020B0504020202020204" pitchFamily="34" charset="77"/>
              </a:rPr>
              <a:t>Premium</a:t>
            </a:r>
            <a:r>
              <a:rPr lang="en-US" sz="1814">
                <a:latin typeface="Neue Haas Grotesk Text Pro" panose="020B0504020202020204" pitchFamily="34" charset="77"/>
              </a:rPr>
              <a:t> customer experience</a:t>
            </a:r>
          </a:p>
          <a:p>
            <a:pPr marL="282721" indent="-282721" algn="ctr">
              <a:buFont typeface="Arial" panose="020B0604020202020204" pitchFamily="34" charset="0"/>
              <a:buChar char="•"/>
            </a:pPr>
            <a:r>
              <a:rPr lang="en-US" sz="1814" b="1">
                <a:latin typeface="Neue Haas Grotesk Text Pro" panose="020B0504020202020204" pitchFamily="34" charset="77"/>
              </a:rPr>
              <a:t>Consistent</a:t>
            </a:r>
            <a:r>
              <a:rPr lang="en-US" sz="1814">
                <a:latin typeface="Neue Haas Grotesk Text Pro" panose="020B0504020202020204" pitchFamily="34" charset="77"/>
              </a:rPr>
              <a:t> </a:t>
            </a:r>
            <a:r>
              <a:rPr lang="en-US" sz="1814" b="1">
                <a:latin typeface="Neue Haas Grotesk Text Pro" panose="020B0504020202020204" pitchFamily="34" charset="77"/>
              </a:rPr>
              <a:t>brand integrity </a:t>
            </a:r>
            <a:r>
              <a:rPr lang="en-US" sz="1814">
                <a:latin typeface="Neue Haas Grotesk Text Pro" panose="020B0504020202020204" pitchFamily="34" charset="77"/>
              </a:rPr>
              <a:t>across all touchpoints</a:t>
            </a:r>
          </a:p>
        </p:txBody>
      </p:sp>
      <p:sp>
        <p:nvSpPr>
          <p:cNvPr id="23" name="Textfeld 22">
            <a:extLst>
              <a:ext uri="{FF2B5EF4-FFF2-40B4-BE49-F238E27FC236}">
                <a16:creationId xmlns:a16="http://schemas.microsoft.com/office/drawing/2014/main" id="{DA46E1F6-F1E9-4D77-75EB-88D668C3620A}"/>
              </a:ext>
            </a:extLst>
          </p:cNvPr>
          <p:cNvSpPr txBox="1"/>
          <p:nvPr/>
        </p:nvSpPr>
        <p:spPr>
          <a:xfrm>
            <a:off x="10673894" y="4860721"/>
            <a:ext cx="4735028" cy="2097369"/>
          </a:xfrm>
          <a:prstGeom prst="rect">
            <a:avLst/>
          </a:prstGeom>
          <a:noFill/>
        </p:spPr>
        <p:txBody>
          <a:bodyPr wrap="square" rtlCol="0">
            <a:spAutoFit/>
          </a:bodyPr>
          <a:lstStyle/>
          <a:p>
            <a:pPr algn="ctr"/>
            <a:r>
              <a:rPr lang="en-US" sz="1979" b="1">
                <a:latin typeface="Neue Haas Grotesk Text Pro" panose="020B0504020202020204" pitchFamily="34" charset="77"/>
              </a:rPr>
              <a:t>Pain relievers</a:t>
            </a:r>
          </a:p>
          <a:p>
            <a:pPr algn="ctr"/>
            <a:endParaRPr lang="en-US" sz="1979" b="1">
              <a:latin typeface="Neue Haas Grotesk Text Pro" panose="020B0504020202020204" pitchFamily="34" charset="77"/>
            </a:endParaRPr>
          </a:p>
          <a:p>
            <a:pPr marL="282721" indent="-282721" algn="ctr">
              <a:buFont typeface="Arial" panose="020B0604020202020204" pitchFamily="34" charset="0"/>
              <a:buChar char="•"/>
            </a:pPr>
            <a:r>
              <a:rPr lang="en-US" sz="1814">
                <a:latin typeface="Neue Haas Grotesk Text Pro" panose="020B0504020202020204" pitchFamily="34" charset="77"/>
              </a:rPr>
              <a:t>Bring back </a:t>
            </a:r>
            <a:r>
              <a:rPr lang="en-US" sz="1814" b="1">
                <a:latin typeface="Neue Haas Grotesk Text Pro" panose="020B0504020202020204" pitchFamily="34" charset="77"/>
              </a:rPr>
              <a:t>emotion</a:t>
            </a:r>
            <a:r>
              <a:rPr lang="en-US" sz="1814">
                <a:latin typeface="Neue Haas Grotesk Text Pro" panose="020B0504020202020204" pitchFamily="34" charset="77"/>
              </a:rPr>
              <a:t> to </a:t>
            </a:r>
            <a:r>
              <a:rPr lang="en-US" sz="1814" b="1">
                <a:latin typeface="Neue Haas Grotesk Text Pro" panose="020B0504020202020204" pitchFamily="34" charset="77"/>
              </a:rPr>
              <a:t>EVs</a:t>
            </a:r>
          </a:p>
          <a:p>
            <a:pPr marL="282721" indent="-282721" algn="ctr">
              <a:buFont typeface="Arial" panose="020B0604020202020204" pitchFamily="34" charset="0"/>
              <a:buChar char="•"/>
            </a:pPr>
            <a:r>
              <a:rPr lang="en-US" sz="1814" b="1">
                <a:latin typeface="Neue Haas Grotesk Text Pro" panose="020B0504020202020204" pitchFamily="34" charset="77"/>
              </a:rPr>
              <a:t>Preserve</a:t>
            </a:r>
            <a:r>
              <a:rPr lang="en-US" sz="1814">
                <a:latin typeface="Neue Haas Grotesk Text Pro" panose="020B0504020202020204" pitchFamily="34" charset="77"/>
              </a:rPr>
              <a:t> </a:t>
            </a:r>
            <a:r>
              <a:rPr lang="en-US" sz="1814" b="1">
                <a:latin typeface="Neue Haas Grotesk Text Pro" panose="020B0504020202020204" pitchFamily="34" charset="77"/>
              </a:rPr>
              <a:t>brand DNA </a:t>
            </a:r>
            <a:r>
              <a:rPr lang="en-US" sz="1814">
                <a:latin typeface="Neue Haas Grotesk Text Pro" panose="020B0504020202020204" pitchFamily="34" charset="77"/>
              </a:rPr>
              <a:t>in electrification</a:t>
            </a:r>
          </a:p>
          <a:p>
            <a:pPr marL="282721" indent="-282721" algn="ctr">
              <a:buFont typeface="Arial" panose="020B0604020202020204" pitchFamily="34" charset="0"/>
              <a:buChar char="•"/>
            </a:pPr>
            <a:r>
              <a:rPr lang="en-US" sz="1814">
                <a:latin typeface="Neue Haas Grotesk Text Pro" panose="020B0504020202020204" pitchFamily="34" charset="77"/>
              </a:rPr>
              <a:t>Differentiate through luxury &amp; performance</a:t>
            </a:r>
          </a:p>
          <a:p>
            <a:pPr marL="282721" indent="-282721" algn="ctr">
              <a:buFont typeface="Arial" panose="020B0604020202020204" pitchFamily="34" charset="0"/>
              <a:buChar char="•"/>
            </a:pPr>
            <a:r>
              <a:rPr lang="en-US" sz="1814">
                <a:latin typeface="Neue Haas Grotesk Text Pro" panose="020B0504020202020204" pitchFamily="34" charset="77"/>
              </a:rPr>
              <a:t>Reinforce </a:t>
            </a:r>
            <a:r>
              <a:rPr lang="en-US" sz="1814" b="1">
                <a:latin typeface="Neue Haas Grotesk Text Pro" panose="020B0504020202020204" pitchFamily="34" charset="77"/>
              </a:rPr>
              <a:t>brand distinctiveness</a:t>
            </a:r>
          </a:p>
        </p:txBody>
      </p:sp>
      <p:sp>
        <p:nvSpPr>
          <p:cNvPr id="27" name="Abgerundetes Rechteck 26">
            <a:extLst>
              <a:ext uri="{FF2B5EF4-FFF2-40B4-BE49-F238E27FC236}">
                <a16:creationId xmlns:a16="http://schemas.microsoft.com/office/drawing/2014/main" id="{9B02547C-607F-5FD0-0296-1A7C865B9467}"/>
              </a:ext>
            </a:extLst>
          </p:cNvPr>
          <p:cNvSpPr/>
          <p:nvPr/>
        </p:nvSpPr>
        <p:spPr>
          <a:xfrm>
            <a:off x="11154930" y="2833268"/>
            <a:ext cx="8491736" cy="127877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068525" rtlCol="0" anchor="ctr"/>
          <a:lstStyle/>
          <a:p>
            <a:pPr algn="ctr"/>
            <a:r>
              <a:rPr lang="en-US" sz="1979" b="1">
                <a:latin typeface="Neue Haas Grotesk Text Pro" panose="020B0504020202020204" pitchFamily="34" charset="77"/>
              </a:rPr>
              <a:t>For modern drivers seeking performance with purpose, Jaguar combines British luxury and electric innovation for a timeless &amp; emotional driving experience</a:t>
            </a:r>
          </a:p>
        </p:txBody>
      </p:sp>
      <p:pic>
        <p:nvPicPr>
          <p:cNvPr id="35" name="Grafik 34" descr="Raute Silhouette">
            <a:extLst>
              <a:ext uri="{FF2B5EF4-FFF2-40B4-BE49-F238E27FC236}">
                <a16:creationId xmlns:a16="http://schemas.microsoft.com/office/drawing/2014/main" id="{F9482748-01E2-F987-1B67-E83011EEB2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03116" y="3049336"/>
            <a:ext cx="846638" cy="846638"/>
          </a:xfrm>
          <a:prstGeom prst="rect">
            <a:avLst/>
          </a:prstGeom>
        </p:spPr>
      </p:pic>
      <p:sp>
        <p:nvSpPr>
          <p:cNvPr id="36" name="Textfeld 35">
            <a:extLst>
              <a:ext uri="{FF2B5EF4-FFF2-40B4-BE49-F238E27FC236}">
                <a16:creationId xmlns:a16="http://schemas.microsoft.com/office/drawing/2014/main" id="{511EBDAF-495F-3F27-7760-F163AF412488}"/>
              </a:ext>
            </a:extLst>
          </p:cNvPr>
          <p:cNvSpPr txBox="1"/>
          <p:nvPr/>
        </p:nvSpPr>
        <p:spPr>
          <a:xfrm>
            <a:off x="11313173" y="8355116"/>
            <a:ext cx="8175250" cy="1919756"/>
          </a:xfrm>
          <a:prstGeom prst="rect">
            <a:avLst/>
          </a:prstGeom>
          <a:noFill/>
        </p:spPr>
        <p:txBody>
          <a:bodyPr wrap="square" rtlCol="0">
            <a:spAutoFit/>
          </a:bodyPr>
          <a:lstStyle/>
          <a:p>
            <a:pPr algn="ctr"/>
            <a:r>
              <a:rPr lang="en-US" sz="1979" b="1">
                <a:latin typeface="Neue Haas Grotesk Text Pro" panose="020B0504020202020204" pitchFamily="34" charset="77"/>
              </a:rPr>
              <a:t>Offering</a:t>
            </a:r>
          </a:p>
          <a:p>
            <a:pPr algn="ctr"/>
            <a:endParaRPr lang="en-US" sz="1979" b="1">
              <a:latin typeface="Neue Haas Grotesk Text Pro" panose="020B0504020202020204" pitchFamily="34" charset="77"/>
            </a:endParaRPr>
          </a:p>
          <a:p>
            <a:pPr marL="282721" indent="-282721" algn="ctr" eaLnBrk="0" fontAlgn="base" hangingPunct="0">
              <a:spcBef>
                <a:spcPct val="0"/>
              </a:spcBef>
              <a:spcAft>
                <a:spcPct val="0"/>
              </a:spcAft>
              <a:buFont typeface="Arial" panose="020B0604020202020204" pitchFamily="34" charset="0"/>
              <a:buChar char="•"/>
            </a:pPr>
            <a:r>
              <a:rPr lang="en-US" sz="1979" b="1">
                <a:latin typeface="Neue Haas Grotesk Text Pro" panose="020B0504020202020204" pitchFamily="34" charset="77"/>
              </a:rPr>
              <a:t>Luxury</a:t>
            </a:r>
            <a:r>
              <a:rPr lang="en-US" sz="1979">
                <a:latin typeface="Neue Haas Grotesk Text Pro" panose="020B0504020202020204" pitchFamily="34" charset="77"/>
              </a:rPr>
              <a:t> cars with </a:t>
            </a:r>
            <a:r>
              <a:rPr lang="en-US" sz="1979" b="1">
                <a:latin typeface="Neue Haas Grotesk Text Pro" panose="020B0504020202020204" pitchFamily="34" charset="77"/>
              </a:rPr>
              <a:t>design focus and electrification</a:t>
            </a:r>
          </a:p>
          <a:p>
            <a:pPr marL="282721" indent="-282721" algn="ctr" eaLnBrk="0" fontAlgn="base" hangingPunct="0">
              <a:spcBef>
                <a:spcPct val="0"/>
              </a:spcBef>
              <a:spcAft>
                <a:spcPct val="0"/>
              </a:spcAft>
              <a:buFont typeface="Arial" panose="020B0604020202020204" pitchFamily="34" charset="0"/>
              <a:buChar char="•"/>
            </a:pPr>
            <a:r>
              <a:rPr lang="en-US" sz="1979" b="1">
                <a:latin typeface="Neue Haas Grotesk Text Pro" panose="020B0504020202020204" pitchFamily="34" charset="77"/>
              </a:rPr>
              <a:t>Hand crafted </a:t>
            </a:r>
            <a:r>
              <a:rPr lang="en-US" sz="1979">
                <a:latin typeface="Neue Haas Grotesk Text Pro" panose="020B0504020202020204" pitchFamily="34" charset="77"/>
              </a:rPr>
              <a:t>interiors</a:t>
            </a:r>
            <a:r>
              <a:rPr lang="en-US" sz="1979" b="1">
                <a:latin typeface="Neue Haas Grotesk Text Pro" panose="020B0504020202020204" pitchFamily="34" charset="77"/>
              </a:rPr>
              <a:t> </a:t>
            </a:r>
            <a:r>
              <a:rPr lang="en-US" sz="1979">
                <a:latin typeface="Neue Haas Grotesk Text Pro" panose="020B0504020202020204" pitchFamily="34" charset="77"/>
              </a:rPr>
              <a:t>and </a:t>
            </a:r>
            <a:r>
              <a:rPr lang="en-US" sz="1979" b="1">
                <a:latin typeface="Neue Haas Grotesk Text Pro" panose="020B0504020202020204" pitchFamily="34" charset="77"/>
              </a:rPr>
              <a:t>premium materials</a:t>
            </a:r>
          </a:p>
          <a:p>
            <a:pPr marL="282721" indent="-282721" algn="ctr" eaLnBrk="0" fontAlgn="base" hangingPunct="0">
              <a:spcBef>
                <a:spcPct val="0"/>
              </a:spcBef>
              <a:spcAft>
                <a:spcPct val="0"/>
              </a:spcAft>
              <a:buFont typeface="Arial" panose="020B0604020202020204" pitchFamily="34" charset="0"/>
              <a:buChar char="•"/>
            </a:pPr>
            <a:r>
              <a:rPr lang="en-US" sz="1979">
                <a:latin typeface="Neue Haas Grotesk Text Pro" panose="020B0504020202020204" pitchFamily="34" charset="77"/>
              </a:rPr>
              <a:t>Storytelling rooted in </a:t>
            </a:r>
            <a:r>
              <a:rPr lang="en-US" sz="1979" b="1">
                <a:latin typeface="Neue Haas Grotesk Text Pro" panose="020B0504020202020204" pitchFamily="34" charset="77"/>
              </a:rPr>
              <a:t>British heritage </a:t>
            </a:r>
            <a:r>
              <a:rPr lang="en-US" sz="1979">
                <a:latin typeface="Neue Haas Grotesk Text Pro" panose="020B0504020202020204" pitchFamily="34" charset="77"/>
              </a:rPr>
              <a:t>and </a:t>
            </a:r>
            <a:r>
              <a:rPr lang="en-US" sz="1979" b="1">
                <a:latin typeface="Neue Haas Grotesk Text Pro" panose="020B0504020202020204" pitchFamily="34" charset="77"/>
              </a:rPr>
              <a:t>elegance</a:t>
            </a:r>
          </a:p>
          <a:p>
            <a:pPr marL="282721" indent="-282721" algn="ctr" eaLnBrk="0" fontAlgn="base" hangingPunct="0">
              <a:spcBef>
                <a:spcPct val="0"/>
              </a:spcBef>
              <a:spcAft>
                <a:spcPct val="0"/>
              </a:spcAft>
              <a:buFont typeface="Arial" panose="020B0604020202020204" pitchFamily="34" charset="0"/>
              <a:buChar char="•"/>
            </a:pPr>
            <a:r>
              <a:rPr lang="en-US" sz="1979">
                <a:latin typeface="Neue Haas Grotesk Text Pro" panose="020B0504020202020204" pitchFamily="34" charset="77"/>
              </a:rPr>
              <a:t>Fusion of </a:t>
            </a:r>
            <a:r>
              <a:rPr lang="en-US" sz="1979" b="1">
                <a:latin typeface="Neue Haas Grotesk Text Pro" panose="020B0504020202020204" pitchFamily="34" charset="77"/>
              </a:rPr>
              <a:t>craftmanship</a:t>
            </a:r>
            <a:r>
              <a:rPr lang="en-US" sz="1979">
                <a:latin typeface="Neue Haas Grotesk Text Pro" panose="020B0504020202020204" pitchFamily="34" charset="77"/>
              </a:rPr>
              <a:t> and </a:t>
            </a:r>
            <a:r>
              <a:rPr lang="en-US" sz="1979" b="1">
                <a:latin typeface="Neue Haas Grotesk Text Pro" panose="020B0504020202020204" pitchFamily="34" charset="77"/>
              </a:rPr>
              <a:t>technology</a:t>
            </a:r>
          </a:p>
        </p:txBody>
      </p:sp>
      <p:sp>
        <p:nvSpPr>
          <p:cNvPr id="38" name="Wolkenförmige Legende 37">
            <a:extLst>
              <a:ext uri="{FF2B5EF4-FFF2-40B4-BE49-F238E27FC236}">
                <a16:creationId xmlns:a16="http://schemas.microsoft.com/office/drawing/2014/main" id="{0A6D4F47-942A-D716-BE4C-E019ECE966BE}"/>
              </a:ext>
            </a:extLst>
          </p:cNvPr>
          <p:cNvSpPr/>
          <p:nvPr/>
        </p:nvSpPr>
        <p:spPr>
          <a:xfrm>
            <a:off x="6977565" y="5105257"/>
            <a:ext cx="3448114" cy="1666323"/>
          </a:xfrm>
          <a:prstGeom prst="cloudCallout">
            <a:avLst>
              <a:gd name="adj1" fmla="val -80568"/>
              <a:gd name="adj2" fmla="val -25180"/>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14" b="1">
              <a:latin typeface="Neue Haas Grotesk Text Pro" panose="020B0504020202020204" pitchFamily="34" charset="77"/>
            </a:endParaRPr>
          </a:p>
        </p:txBody>
      </p:sp>
      <p:sp>
        <p:nvSpPr>
          <p:cNvPr id="39" name="Wolkenförmige Legende 38">
            <a:extLst>
              <a:ext uri="{FF2B5EF4-FFF2-40B4-BE49-F238E27FC236}">
                <a16:creationId xmlns:a16="http://schemas.microsoft.com/office/drawing/2014/main" id="{190D0556-F7E1-1177-CB4E-AA8170A729BC}"/>
              </a:ext>
            </a:extLst>
          </p:cNvPr>
          <p:cNvSpPr/>
          <p:nvPr/>
        </p:nvSpPr>
        <p:spPr>
          <a:xfrm>
            <a:off x="601586" y="5437420"/>
            <a:ext cx="2667381" cy="1202932"/>
          </a:xfrm>
          <a:prstGeom prst="cloudCallout">
            <a:avLst>
              <a:gd name="adj1" fmla="val 102910"/>
              <a:gd name="adj2" fmla="val -22264"/>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14" b="1">
              <a:latin typeface="Neue Haas Grotesk Text Pro" panose="020B0504020202020204" pitchFamily="34" charset="77"/>
            </a:endParaRPr>
          </a:p>
        </p:txBody>
      </p:sp>
      <p:sp>
        <p:nvSpPr>
          <p:cNvPr id="41" name="Wolkenförmige Legende 40">
            <a:extLst>
              <a:ext uri="{FF2B5EF4-FFF2-40B4-BE49-F238E27FC236}">
                <a16:creationId xmlns:a16="http://schemas.microsoft.com/office/drawing/2014/main" id="{C04C8162-460A-74ED-0B48-EDE8F7187F9B}"/>
              </a:ext>
            </a:extLst>
          </p:cNvPr>
          <p:cNvSpPr/>
          <p:nvPr/>
        </p:nvSpPr>
        <p:spPr>
          <a:xfrm>
            <a:off x="570898" y="2635409"/>
            <a:ext cx="3121736" cy="1921934"/>
          </a:xfrm>
          <a:prstGeom prst="cloudCallout">
            <a:avLst>
              <a:gd name="adj1" fmla="val 77681"/>
              <a:gd name="adj2" fmla="val 77576"/>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814">
              <a:latin typeface="Neue Haas Grotesk Text Pro" panose="020B0504020202020204" pitchFamily="34" charset="77"/>
            </a:endParaRPr>
          </a:p>
        </p:txBody>
      </p:sp>
      <p:sp>
        <p:nvSpPr>
          <p:cNvPr id="43" name="Textfeld 42">
            <a:extLst>
              <a:ext uri="{FF2B5EF4-FFF2-40B4-BE49-F238E27FC236}">
                <a16:creationId xmlns:a16="http://schemas.microsoft.com/office/drawing/2014/main" id="{7B7031F6-5B60-80FA-4A56-B4F40C5990D3}"/>
              </a:ext>
            </a:extLst>
          </p:cNvPr>
          <p:cNvSpPr txBox="1"/>
          <p:nvPr/>
        </p:nvSpPr>
        <p:spPr>
          <a:xfrm>
            <a:off x="5980405" y="3406309"/>
            <a:ext cx="3327598" cy="650691"/>
          </a:xfrm>
          <a:prstGeom prst="rect">
            <a:avLst/>
          </a:prstGeom>
          <a:noFill/>
        </p:spPr>
        <p:txBody>
          <a:bodyPr wrap="square" rtlCol="0">
            <a:spAutoFit/>
          </a:bodyPr>
          <a:lstStyle/>
          <a:p>
            <a:pPr algn="ctr"/>
            <a:r>
              <a:rPr lang="en-US" sz="1814">
                <a:latin typeface="Neue Haas Grotesk Text Pro" panose="020B0504020202020204" pitchFamily="34" charset="77"/>
              </a:rPr>
              <a:t>I need confidence in a </a:t>
            </a:r>
            <a:r>
              <a:rPr lang="en-US" sz="1814" b="1">
                <a:latin typeface="Neue Haas Grotesk Text Pro" panose="020B0504020202020204" pitchFamily="34" charset="77"/>
              </a:rPr>
              <a:t>future-proof brand</a:t>
            </a:r>
          </a:p>
        </p:txBody>
      </p:sp>
      <p:sp>
        <p:nvSpPr>
          <p:cNvPr id="44" name="Textfeld 43">
            <a:extLst>
              <a:ext uri="{FF2B5EF4-FFF2-40B4-BE49-F238E27FC236}">
                <a16:creationId xmlns:a16="http://schemas.microsoft.com/office/drawing/2014/main" id="{1E912E94-526D-E975-ED29-62D5449A578F}"/>
              </a:ext>
            </a:extLst>
          </p:cNvPr>
          <p:cNvSpPr txBox="1"/>
          <p:nvPr/>
        </p:nvSpPr>
        <p:spPr>
          <a:xfrm>
            <a:off x="830620" y="2999780"/>
            <a:ext cx="2574717" cy="1200329"/>
          </a:xfrm>
          <a:prstGeom prst="rect">
            <a:avLst/>
          </a:prstGeom>
          <a:noFill/>
        </p:spPr>
        <p:txBody>
          <a:bodyPr wrap="square" rtlCol="0">
            <a:spAutoFit/>
          </a:bodyPr>
          <a:lstStyle/>
          <a:p>
            <a:pPr algn="ctr"/>
            <a:r>
              <a:rPr lang="en-US">
                <a:latin typeface="Neue Haas Grotesk Text Pro" panose="020B0504020202020204" pitchFamily="34" charset="77"/>
              </a:rPr>
              <a:t>I want a car that blends </a:t>
            </a:r>
            <a:r>
              <a:rPr lang="en-US" b="1">
                <a:latin typeface="Neue Haas Grotesk Text Pro" panose="020B0504020202020204" pitchFamily="34" charset="77"/>
              </a:rPr>
              <a:t>luxury </a:t>
            </a:r>
            <a:r>
              <a:rPr lang="en-US">
                <a:latin typeface="Neue Haas Grotesk Text Pro" panose="020B0504020202020204" pitchFamily="34" charset="77"/>
              </a:rPr>
              <a:t>+</a:t>
            </a:r>
            <a:r>
              <a:rPr lang="en-US" b="1">
                <a:latin typeface="Neue Haas Grotesk Text Pro" panose="020B0504020202020204" pitchFamily="34" charset="77"/>
              </a:rPr>
              <a:t> performance</a:t>
            </a:r>
            <a:r>
              <a:rPr lang="en-US">
                <a:latin typeface="Neue Haas Grotesk Text Pro" panose="020B0504020202020204" pitchFamily="34" charset="77"/>
              </a:rPr>
              <a:t> + </a:t>
            </a:r>
            <a:r>
              <a:rPr lang="en-US" b="1">
                <a:latin typeface="Neue Haas Grotesk Text Pro" panose="020B0504020202020204" pitchFamily="34" charset="77"/>
              </a:rPr>
              <a:t>sustainability</a:t>
            </a:r>
            <a:endParaRPr lang="en-US">
              <a:latin typeface="Neue Haas Grotesk Text Pro" panose="020B0504020202020204" pitchFamily="34" charset="77"/>
            </a:endParaRPr>
          </a:p>
        </p:txBody>
      </p:sp>
      <p:sp>
        <p:nvSpPr>
          <p:cNvPr id="48" name="Textfeld 47">
            <a:extLst>
              <a:ext uri="{FF2B5EF4-FFF2-40B4-BE49-F238E27FC236}">
                <a16:creationId xmlns:a16="http://schemas.microsoft.com/office/drawing/2014/main" id="{2D0F4045-1CC9-99F7-1917-FA7F7CC552BA}"/>
              </a:ext>
            </a:extLst>
          </p:cNvPr>
          <p:cNvSpPr txBox="1"/>
          <p:nvPr/>
        </p:nvSpPr>
        <p:spPr>
          <a:xfrm>
            <a:off x="7316555" y="5444470"/>
            <a:ext cx="2628287" cy="929870"/>
          </a:xfrm>
          <a:prstGeom prst="rect">
            <a:avLst/>
          </a:prstGeom>
          <a:noFill/>
        </p:spPr>
        <p:txBody>
          <a:bodyPr wrap="square" rtlCol="0">
            <a:spAutoFit/>
          </a:bodyPr>
          <a:lstStyle/>
          <a:p>
            <a:pPr algn="ctr"/>
            <a:r>
              <a:rPr lang="en-US" sz="1814">
                <a:latin typeface="Neue Haas Grotesk Text Pro" panose="020B0504020202020204" pitchFamily="34" charset="77"/>
              </a:rPr>
              <a:t>I want a brand with a </a:t>
            </a:r>
            <a:r>
              <a:rPr lang="en-US" sz="1814" b="1">
                <a:latin typeface="Neue Haas Grotesk Text Pro" panose="020B0504020202020204" pitchFamily="34" charset="77"/>
              </a:rPr>
              <a:t>clear</a:t>
            </a:r>
            <a:r>
              <a:rPr lang="en-US" sz="1814">
                <a:latin typeface="Neue Haas Grotesk Text Pro" panose="020B0504020202020204" pitchFamily="34" charset="77"/>
              </a:rPr>
              <a:t> </a:t>
            </a:r>
            <a:r>
              <a:rPr lang="en-US" sz="1814" b="1">
                <a:latin typeface="Neue Haas Grotesk Text Pro" panose="020B0504020202020204" pitchFamily="34" charset="77"/>
              </a:rPr>
              <a:t>identity </a:t>
            </a:r>
            <a:r>
              <a:rPr lang="en-US" sz="1814">
                <a:latin typeface="Neue Haas Grotesk Text Pro" panose="020B0504020202020204" pitchFamily="34" charset="77"/>
              </a:rPr>
              <a:t>and a</a:t>
            </a:r>
            <a:r>
              <a:rPr lang="en-US" sz="1814" b="1">
                <a:latin typeface="Neue Haas Grotesk Text Pro" panose="020B0504020202020204" pitchFamily="34" charset="77"/>
              </a:rPr>
              <a:t> sense of belonging</a:t>
            </a:r>
          </a:p>
        </p:txBody>
      </p:sp>
      <p:sp>
        <p:nvSpPr>
          <p:cNvPr id="3" name="Textfeld 2">
            <a:extLst>
              <a:ext uri="{FF2B5EF4-FFF2-40B4-BE49-F238E27FC236}">
                <a16:creationId xmlns:a16="http://schemas.microsoft.com/office/drawing/2014/main" id="{0E71F46D-13BE-4C70-09FA-608987D6E189}"/>
              </a:ext>
            </a:extLst>
          </p:cNvPr>
          <p:cNvSpPr txBox="1"/>
          <p:nvPr/>
        </p:nvSpPr>
        <p:spPr>
          <a:xfrm>
            <a:off x="715146" y="5685502"/>
            <a:ext cx="2308890" cy="650691"/>
          </a:xfrm>
          <a:prstGeom prst="rect">
            <a:avLst/>
          </a:prstGeom>
          <a:noFill/>
        </p:spPr>
        <p:txBody>
          <a:bodyPr wrap="square" rtlCol="0">
            <a:spAutoFit/>
          </a:bodyPr>
          <a:lstStyle/>
          <a:p>
            <a:pPr algn="ctr"/>
            <a:r>
              <a:rPr lang="en-US" sz="1814">
                <a:latin typeface="Neue Haas Grotesk Text Pro" panose="020B0504020202020204" pitchFamily="34" charset="77"/>
              </a:rPr>
              <a:t>I take pride in </a:t>
            </a:r>
            <a:r>
              <a:rPr lang="en-US" sz="1814" b="1">
                <a:latin typeface="Neue Haas Grotesk Text Pro" panose="020B0504020202020204" pitchFamily="34" charset="77"/>
              </a:rPr>
              <a:t>British heritage</a:t>
            </a:r>
          </a:p>
        </p:txBody>
      </p:sp>
      <p:cxnSp>
        <p:nvCxnSpPr>
          <p:cNvPr id="9" name="Gerade Verbindung 8">
            <a:extLst>
              <a:ext uri="{FF2B5EF4-FFF2-40B4-BE49-F238E27FC236}">
                <a16:creationId xmlns:a16="http://schemas.microsoft.com/office/drawing/2014/main" id="{E7D269E2-2256-325B-AB62-4F3F29814209}"/>
              </a:ext>
            </a:extLst>
          </p:cNvPr>
          <p:cNvCxnSpPr>
            <a:cxnSpLocks/>
          </p:cNvCxnSpPr>
          <p:nvPr/>
        </p:nvCxnSpPr>
        <p:spPr>
          <a:xfrm flipV="1">
            <a:off x="12483357" y="7290572"/>
            <a:ext cx="2917441" cy="86372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Gerade Verbindung 10">
            <a:extLst>
              <a:ext uri="{FF2B5EF4-FFF2-40B4-BE49-F238E27FC236}">
                <a16:creationId xmlns:a16="http://schemas.microsoft.com/office/drawing/2014/main" id="{B5261615-3F9C-DA06-6C23-319AF8B3D343}"/>
              </a:ext>
            </a:extLst>
          </p:cNvPr>
          <p:cNvCxnSpPr>
            <a:cxnSpLocks/>
          </p:cNvCxnSpPr>
          <p:nvPr/>
        </p:nvCxnSpPr>
        <p:spPr>
          <a:xfrm flipV="1">
            <a:off x="15585229" y="5042670"/>
            <a:ext cx="0" cy="205174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Gerade Verbindung 19">
            <a:extLst>
              <a:ext uri="{FF2B5EF4-FFF2-40B4-BE49-F238E27FC236}">
                <a16:creationId xmlns:a16="http://schemas.microsoft.com/office/drawing/2014/main" id="{6FEA4663-5EB4-9496-7209-F9DF0667558F}"/>
              </a:ext>
            </a:extLst>
          </p:cNvPr>
          <p:cNvCxnSpPr>
            <a:cxnSpLocks/>
          </p:cNvCxnSpPr>
          <p:nvPr/>
        </p:nvCxnSpPr>
        <p:spPr>
          <a:xfrm>
            <a:off x="15774297" y="7290572"/>
            <a:ext cx="2835199" cy="840713"/>
          </a:xfrm>
          <a:prstGeom prst="line">
            <a:avLst/>
          </a:prstGeom>
        </p:spPr>
        <p:style>
          <a:lnRef idx="2">
            <a:schemeClr val="accent1"/>
          </a:lnRef>
          <a:fillRef idx="0">
            <a:schemeClr val="accent1"/>
          </a:fillRef>
          <a:effectRef idx="1">
            <a:schemeClr val="accent1"/>
          </a:effectRef>
          <a:fontRef idx="minor">
            <a:schemeClr val="tx1"/>
          </a:fontRef>
        </p:style>
      </p:cxnSp>
      <p:sp>
        <p:nvSpPr>
          <p:cNvPr id="10" name="object 3">
            <a:extLst>
              <a:ext uri="{FF2B5EF4-FFF2-40B4-BE49-F238E27FC236}">
                <a16:creationId xmlns:a16="http://schemas.microsoft.com/office/drawing/2014/main" id="{3E32C91B-49A4-5D91-81CC-F0A7D443FFB0}"/>
              </a:ext>
            </a:extLst>
          </p:cNvPr>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13" name="object 3">
            <a:extLst>
              <a:ext uri="{FF2B5EF4-FFF2-40B4-BE49-F238E27FC236}">
                <a16:creationId xmlns:a16="http://schemas.microsoft.com/office/drawing/2014/main" id="{85CCB8BF-341A-B2DE-5296-DBCCC7F999E6}"/>
              </a:ext>
            </a:extLst>
          </p:cNvPr>
          <p:cNvSpPr/>
          <p:nvPr/>
        </p:nvSpPr>
        <p:spPr>
          <a:xfrm>
            <a:off x="19066329" y="10699500"/>
            <a:ext cx="1038225" cy="0"/>
          </a:xfrm>
          <a:custGeom>
            <a:avLst/>
            <a:gdLst/>
            <a:ahLst/>
            <a:cxnLst/>
            <a:rect l="l" t="t" r="r" b="b"/>
            <a:pathLst>
              <a:path w="1038225">
                <a:moveTo>
                  <a:pt x="0" y="0"/>
                </a:moveTo>
                <a:lnTo>
                  <a:pt x="1037769" y="0"/>
                </a:lnTo>
              </a:path>
            </a:pathLst>
          </a:custGeom>
          <a:ln w="10470">
            <a:solidFill>
              <a:srgbClr val="086BB5"/>
            </a:solidFill>
          </a:ln>
        </p:spPr>
        <p:txBody>
          <a:bodyPr wrap="square" lIns="0" tIns="0" rIns="0" bIns="0" rtlCol="0"/>
          <a:lstStyle/>
          <a:p>
            <a:endParaRPr/>
          </a:p>
        </p:txBody>
      </p:sp>
      <p:sp>
        <p:nvSpPr>
          <p:cNvPr id="24" name="object 33">
            <a:extLst>
              <a:ext uri="{FF2B5EF4-FFF2-40B4-BE49-F238E27FC236}">
                <a16:creationId xmlns:a16="http://schemas.microsoft.com/office/drawing/2014/main" id="{B5D470CF-A4EE-58B0-9345-45FC372F977A}"/>
              </a:ext>
            </a:extLst>
          </p:cNvPr>
          <p:cNvSpPr txBox="1">
            <a:spLocks noGrp="1"/>
          </p:cNvSpPr>
          <p:nvPr>
            <p:ph type="sldNum" sz="quarter" idx="7"/>
          </p:nvPr>
        </p:nvSpPr>
        <p:spPr>
          <a:xfrm>
            <a:off x="18667927" y="10548235"/>
            <a:ext cx="274319" cy="276999"/>
          </a:xfrm>
          <a:prstGeom prst="rect">
            <a:avLst/>
          </a:prstGeom>
        </p:spPr>
        <p:txBody>
          <a:bodyPr vert="horz" wrap="square" lIns="0" tIns="22860" rIns="0" bIns="0" rtlCol="0" anchor="t">
            <a:spAutoFit/>
          </a:bodyPr>
          <a:lstStyle/>
          <a:p>
            <a:pPr marL="7620">
              <a:lnSpc>
                <a:spcPct val="100000"/>
              </a:lnSpc>
              <a:spcBef>
                <a:spcPts val="180"/>
              </a:spcBef>
            </a:pPr>
            <a:r>
              <a:rPr lang="en-US" spc="-25">
                <a:ea typeface="Microsoft Sans Serif"/>
              </a:rPr>
              <a:t>9</a:t>
            </a:r>
          </a:p>
        </p:txBody>
      </p:sp>
      <p:sp>
        <p:nvSpPr>
          <p:cNvPr id="29" name="object 2">
            <a:extLst>
              <a:ext uri="{FF2B5EF4-FFF2-40B4-BE49-F238E27FC236}">
                <a16:creationId xmlns:a16="http://schemas.microsoft.com/office/drawing/2014/main" id="{2A321F26-D0EE-E42C-9565-B2AB259A0DB7}"/>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8" name="object 2">
            <a:extLst>
              <a:ext uri="{FF2B5EF4-FFF2-40B4-BE49-F238E27FC236}">
                <a16:creationId xmlns:a16="http://schemas.microsoft.com/office/drawing/2014/main" id="{198E8944-FEE1-06FC-6B2B-77B09B0BB58A}"/>
              </a:ext>
            </a:extLst>
          </p:cNvPr>
          <p:cNvSpPr/>
          <p:nvPr/>
        </p:nvSpPr>
        <p:spPr>
          <a:xfrm>
            <a:off x="0" y="635"/>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pic>
        <p:nvPicPr>
          <p:cNvPr id="12" name="object 10">
            <a:extLst>
              <a:ext uri="{FF2B5EF4-FFF2-40B4-BE49-F238E27FC236}">
                <a16:creationId xmlns:a16="http://schemas.microsoft.com/office/drawing/2014/main" id="{1B49CE0D-E62C-4F66-5891-F871DD8F6BD5}"/>
              </a:ext>
            </a:extLst>
          </p:cNvPr>
          <p:cNvPicPr/>
          <p:nvPr/>
        </p:nvPicPr>
        <p:blipFill>
          <a:blip r:embed="rId5" cstate="print"/>
          <a:stretch>
            <a:fillRect/>
          </a:stretch>
        </p:blipFill>
        <p:spPr>
          <a:xfrm>
            <a:off x="47912" y="808220"/>
            <a:ext cx="1015257" cy="271405"/>
          </a:xfrm>
          <a:prstGeom prst="rect">
            <a:avLst/>
          </a:prstGeom>
        </p:spPr>
      </p:pic>
    </p:spTree>
    <p:extLst>
      <p:ext uri="{BB962C8B-B14F-4D97-AF65-F5344CB8AC3E}">
        <p14:creationId xmlns:p14="http://schemas.microsoft.com/office/powerpoint/2010/main" val="363753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object 4" descr="Une image contenant Police, Graphique, noir, graphisme&#10;&#10;Le contenu généré par l’IA peut être incorrect.">
            <a:extLst>
              <a:ext uri="{FF2B5EF4-FFF2-40B4-BE49-F238E27FC236}">
                <a16:creationId xmlns:a16="http://schemas.microsoft.com/office/drawing/2014/main" id="{B9C0F366-7A79-1148-824F-75013F3F91DC}"/>
              </a:ext>
            </a:extLst>
          </p:cNvPr>
          <p:cNvPicPr/>
          <p:nvPr/>
        </p:nvPicPr>
        <p:blipFill>
          <a:blip r:embed="rId2" cstate="print"/>
          <a:stretch>
            <a:fillRect/>
          </a:stretch>
        </p:blipFill>
        <p:spPr>
          <a:xfrm>
            <a:off x="17726790" y="399568"/>
            <a:ext cx="1233889" cy="263866"/>
          </a:xfrm>
          <a:prstGeom prst="rect">
            <a:avLst/>
          </a:prstGeom>
        </p:spPr>
      </p:pic>
      <p:sp>
        <p:nvSpPr>
          <p:cNvPr id="4" name="object 2">
            <a:extLst>
              <a:ext uri="{FF2B5EF4-FFF2-40B4-BE49-F238E27FC236}">
                <a16:creationId xmlns:a16="http://schemas.microsoft.com/office/drawing/2014/main" id="{1105E866-E8D1-DFF5-4EC0-B933F327CEDD}"/>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9" name="object 2">
            <a:extLst>
              <a:ext uri="{FF2B5EF4-FFF2-40B4-BE49-F238E27FC236}">
                <a16:creationId xmlns:a16="http://schemas.microsoft.com/office/drawing/2014/main" id="{0492A039-FC77-FD28-463F-F7C2B77C6F97}"/>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82631B0B-9A3B-79EA-151B-29C393E207D5}"/>
              </a:ext>
            </a:extLst>
          </p:cNvPr>
          <p:cNvSpPr/>
          <p:nvPr/>
        </p:nvSpPr>
        <p:spPr>
          <a:xfrm flipV="1">
            <a:off x="19042623" y="10675791"/>
            <a:ext cx="897884" cy="47418"/>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13" name="ZoneTexte 12">
            <a:extLst>
              <a:ext uri="{FF2B5EF4-FFF2-40B4-BE49-F238E27FC236}">
                <a16:creationId xmlns:a16="http://schemas.microsoft.com/office/drawing/2014/main" id="{757F1E52-17E7-E6C5-A436-2403123538CE}"/>
              </a:ext>
            </a:extLst>
          </p:cNvPr>
          <p:cNvSpPr txBox="1"/>
          <p:nvPr/>
        </p:nvSpPr>
        <p:spPr>
          <a:xfrm>
            <a:off x="18607032" y="10463722"/>
            <a:ext cx="6940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62626"/>
                </a:solidFill>
                <a:latin typeface="Microsoft Sans Serif"/>
                <a:ea typeface="Microsoft Sans Serif"/>
                <a:cs typeface="Microsoft Sans Serif"/>
              </a:rPr>
              <a:t>9</a:t>
            </a:r>
          </a:p>
          <a:p>
            <a:pPr algn="ctr"/>
            <a:endParaRPr lang="fr-FR"/>
          </a:p>
        </p:txBody>
      </p:sp>
      <p:sp>
        <p:nvSpPr>
          <p:cNvPr id="7" name="Titre 6">
            <a:extLst>
              <a:ext uri="{FF2B5EF4-FFF2-40B4-BE49-F238E27FC236}">
                <a16:creationId xmlns:a16="http://schemas.microsoft.com/office/drawing/2014/main" id="{23D67564-52BD-D793-B7C2-0342A1461A93}"/>
              </a:ext>
            </a:extLst>
          </p:cNvPr>
          <p:cNvSpPr>
            <a:spLocks noGrp="1"/>
          </p:cNvSpPr>
          <p:nvPr>
            <p:ph type="title"/>
          </p:nvPr>
        </p:nvSpPr>
        <p:spPr>
          <a:xfrm>
            <a:off x="1133558" y="786438"/>
            <a:ext cx="14804390" cy="707886"/>
          </a:xfrm>
        </p:spPr>
        <p:txBody>
          <a:bodyPr wrap="square" lIns="0" tIns="0" rIns="0" bIns="0" anchor="t">
            <a:spAutoFit/>
          </a:bodyPr>
          <a:lstStyle/>
          <a:p>
            <a:r>
              <a:rPr lang="en-US" sz="4600">
                <a:latin typeface="Neue Haas Grotesk Text Pro"/>
              </a:rPr>
              <a:t>Jaguar’s unique value proposition</a:t>
            </a:r>
            <a:endParaRPr lang="fr-FR"/>
          </a:p>
        </p:txBody>
      </p:sp>
      <p:pic>
        <p:nvPicPr>
          <p:cNvPr id="12" name="object 5">
            <a:extLst>
              <a:ext uri="{FF2B5EF4-FFF2-40B4-BE49-F238E27FC236}">
                <a16:creationId xmlns:a16="http://schemas.microsoft.com/office/drawing/2014/main" id="{0F1AF3CF-9C57-E5DC-A55A-5CDEB079DAB0}"/>
              </a:ext>
            </a:extLst>
          </p:cNvPr>
          <p:cNvPicPr/>
          <p:nvPr/>
        </p:nvPicPr>
        <p:blipFill>
          <a:blip r:embed="rId3" cstate="print"/>
          <a:stretch>
            <a:fillRect/>
          </a:stretch>
        </p:blipFill>
        <p:spPr>
          <a:xfrm>
            <a:off x="0" y="1095673"/>
            <a:ext cx="1015257" cy="271405"/>
          </a:xfrm>
          <a:prstGeom prst="rect">
            <a:avLst/>
          </a:prstGeom>
        </p:spPr>
      </p:pic>
      <p:sp>
        <p:nvSpPr>
          <p:cNvPr id="14" name="ZoneTexte 13">
            <a:extLst>
              <a:ext uri="{FF2B5EF4-FFF2-40B4-BE49-F238E27FC236}">
                <a16:creationId xmlns:a16="http://schemas.microsoft.com/office/drawing/2014/main" id="{E88E6891-6D03-6E0B-91A4-F93D9880A77A}"/>
              </a:ext>
            </a:extLst>
          </p:cNvPr>
          <p:cNvSpPr txBox="1"/>
          <p:nvPr/>
        </p:nvSpPr>
        <p:spPr>
          <a:xfrm>
            <a:off x="1128054" y="1486450"/>
            <a:ext cx="168705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a:solidFill>
                  <a:srgbClr val="000000"/>
                </a:solidFill>
              </a:rPr>
              <a:t>For modern drivers </a:t>
            </a:r>
            <a:r>
              <a:rPr lang="fr-FR" err="1">
                <a:solidFill>
                  <a:srgbClr val="000000"/>
                </a:solidFill>
              </a:rPr>
              <a:t>seeking</a:t>
            </a:r>
            <a:r>
              <a:rPr lang="fr-FR">
                <a:solidFill>
                  <a:srgbClr val="000000"/>
                </a:solidFill>
              </a:rPr>
              <a:t> performance </a:t>
            </a:r>
            <a:r>
              <a:rPr lang="fr-FR" err="1">
                <a:solidFill>
                  <a:srgbClr val="000000"/>
                </a:solidFill>
              </a:rPr>
              <a:t>with</a:t>
            </a:r>
            <a:r>
              <a:rPr lang="fr-FR">
                <a:solidFill>
                  <a:srgbClr val="000000"/>
                </a:solidFill>
              </a:rPr>
              <a:t> </a:t>
            </a:r>
            <a:r>
              <a:rPr lang="fr-FR" err="1">
                <a:solidFill>
                  <a:srgbClr val="000000"/>
                </a:solidFill>
              </a:rPr>
              <a:t>purpose</a:t>
            </a:r>
            <a:r>
              <a:rPr lang="fr-FR">
                <a:solidFill>
                  <a:srgbClr val="000000"/>
                </a:solidFill>
              </a:rPr>
              <a:t>, Jaguar combines British </a:t>
            </a:r>
            <a:r>
              <a:rPr lang="fr-FR" err="1">
                <a:solidFill>
                  <a:srgbClr val="000000"/>
                </a:solidFill>
              </a:rPr>
              <a:t>luxury</a:t>
            </a:r>
            <a:r>
              <a:rPr lang="fr-FR">
                <a:solidFill>
                  <a:srgbClr val="000000"/>
                </a:solidFill>
              </a:rPr>
              <a:t> and </a:t>
            </a:r>
            <a:r>
              <a:rPr lang="fr-FR" err="1">
                <a:solidFill>
                  <a:srgbClr val="000000"/>
                </a:solidFill>
              </a:rPr>
              <a:t>electric</a:t>
            </a:r>
            <a:r>
              <a:rPr lang="fr-FR">
                <a:solidFill>
                  <a:srgbClr val="000000"/>
                </a:solidFill>
              </a:rPr>
              <a:t> innovation for a </a:t>
            </a:r>
            <a:r>
              <a:rPr lang="fr-FR" err="1">
                <a:solidFill>
                  <a:srgbClr val="000000"/>
                </a:solidFill>
              </a:rPr>
              <a:t>timeless</a:t>
            </a:r>
            <a:r>
              <a:rPr lang="fr-FR">
                <a:solidFill>
                  <a:srgbClr val="000000"/>
                </a:solidFill>
              </a:rPr>
              <a:t> &amp; </a:t>
            </a:r>
            <a:r>
              <a:rPr lang="fr-FR" err="1">
                <a:solidFill>
                  <a:srgbClr val="000000"/>
                </a:solidFill>
              </a:rPr>
              <a:t>emotional</a:t>
            </a:r>
            <a:r>
              <a:rPr lang="fr-FR">
                <a:solidFill>
                  <a:srgbClr val="000000"/>
                </a:solidFill>
              </a:rPr>
              <a:t> </a:t>
            </a:r>
            <a:r>
              <a:rPr lang="fr-FR" err="1">
                <a:solidFill>
                  <a:srgbClr val="000000"/>
                </a:solidFill>
              </a:rPr>
              <a:t>driving</a:t>
            </a:r>
            <a:r>
              <a:rPr lang="fr-FR">
                <a:solidFill>
                  <a:srgbClr val="000000"/>
                </a:solidFill>
              </a:rPr>
              <a:t> </a:t>
            </a:r>
            <a:r>
              <a:rPr lang="fr-FR" err="1">
                <a:solidFill>
                  <a:srgbClr val="000000"/>
                </a:solidFill>
              </a:rPr>
              <a:t>experience</a:t>
            </a:r>
            <a:endParaRPr lang="fr-FR"/>
          </a:p>
          <a:p>
            <a:pPr algn="l"/>
            <a:endParaRPr lang="fr-FR"/>
          </a:p>
        </p:txBody>
      </p:sp>
      <p:sp>
        <p:nvSpPr>
          <p:cNvPr id="17" name="ZoneTexte 16">
            <a:extLst>
              <a:ext uri="{FF2B5EF4-FFF2-40B4-BE49-F238E27FC236}">
                <a16:creationId xmlns:a16="http://schemas.microsoft.com/office/drawing/2014/main" id="{3D5B7BB4-B2C2-E2CE-A38B-0EF914F0983A}"/>
              </a:ext>
            </a:extLst>
          </p:cNvPr>
          <p:cNvSpPr txBox="1"/>
          <p:nvPr/>
        </p:nvSpPr>
        <p:spPr>
          <a:xfrm>
            <a:off x="508321" y="2442740"/>
            <a:ext cx="4802360" cy="72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300" b="1">
                <a:solidFill>
                  <a:schemeClr val="tx1"/>
                </a:solidFill>
                <a:latin typeface="Neue Haas Grotesk Text Pro"/>
              </a:rPr>
              <a:t>Target customer profile</a:t>
            </a:r>
            <a:endParaRPr lang="fr-FR">
              <a:solidFill>
                <a:schemeClr val="tx1"/>
              </a:solidFill>
            </a:endParaRPr>
          </a:p>
          <a:p>
            <a:pPr algn="l"/>
            <a:endParaRPr lang="fr-FR"/>
          </a:p>
        </p:txBody>
      </p:sp>
      <p:sp>
        <p:nvSpPr>
          <p:cNvPr id="20" name="ZoneTexte 19">
            <a:extLst>
              <a:ext uri="{FF2B5EF4-FFF2-40B4-BE49-F238E27FC236}">
                <a16:creationId xmlns:a16="http://schemas.microsoft.com/office/drawing/2014/main" id="{B5CDC167-310F-9EF5-62F3-389ACCD5E184}"/>
              </a:ext>
            </a:extLst>
          </p:cNvPr>
          <p:cNvSpPr txBox="1"/>
          <p:nvPr/>
        </p:nvSpPr>
        <p:spPr>
          <a:xfrm>
            <a:off x="12811022" y="2436298"/>
            <a:ext cx="3081997" cy="72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b="1" i="0" u="none" strike="noStrike" baseline="0">
                <a:solidFill>
                  <a:srgbClr val="000000"/>
                </a:solidFill>
                <a:latin typeface="Neue Haas Grotesk Text Pro"/>
                <a:ea typeface="Neue Haas Grotesk Text Pro"/>
                <a:cs typeface="Neue Haas Grotesk Text Pro"/>
              </a:rPr>
              <a:t>Value Proposition</a:t>
            </a:r>
            <a:r>
              <a:rPr sz="2300" b="0" i="0">
                <a:solidFill>
                  <a:srgbClr val="000000"/>
                </a:solidFill>
                <a:latin typeface="Neue Haas Grotesk Text Pro"/>
                <a:ea typeface="Neue Haas Grotesk Text Pro"/>
                <a:cs typeface="Neue Haas Grotesk Text Pro"/>
              </a:rPr>
              <a:t>​</a:t>
            </a:r>
            <a:endParaRPr lang="fr-FR"/>
          </a:p>
          <a:p>
            <a:pPr algn="ctr"/>
            <a:endParaRPr lang="fr-FR"/>
          </a:p>
        </p:txBody>
      </p:sp>
      <p:sp>
        <p:nvSpPr>
          <p:cNvPr id="21" name="ZoneTexte 20">
            <a:extLst>
              <a:ext uri="{FF2B5EF4-FFF2-40B4-BE49-F238E27FC236}">
                <a16:creationId xmlns:a16="http://schemas.microsoft.com/office/drawing/2014/main" id="{BBE00AFF-71F3-2188-E421-B87DD2A3175F}"/>
              </a:ext>
            </a:extLst>
          </p:cNvPr>
          <p:cNvSpPr txBox="1"/>
          <p:nvPr/>
        </p:nvSpPr>
        <p:spPr>
          <a:xfrm>
            <a:off x="467012" y="3528787"/>
            <a:ext cx="3345500" cy="498598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000" b="1"/>
              <a:t>CUSTOMER ASPIRATION: </a:t>
            </a:r>
            <a:endParaRPr lang="fr-FR" sz="2000" b="1">
              <a:solidFill>
                <a:srgbClr val="000000"/>
              </a:solidFill>
            </a:endParaRPr>
          </a:p>
          <a:p>
            <a:pPr algn="ctr"/>
            <a:endParaRPr lang="fr-FR" sz="2000">
              <a:solidFill>
                <a:srgbClr val="000000"/>
              </a:solidFill>
            </a:endParaRPr>
          </a:p>
          <a:p>
            <a:pPr marL="285750" indent="-285750" algn="ctr">
              <a:buFont typeface="Arial"/>
              <a:buChar char="•"/>
            </a:pPr>
            <a:r>
              <a:rPr lang="en-US">
                <a:solidFill>
                  <a:srgbClr val="000000"/>
                </a:solidFill>
                <a:latin typeface="Neue Haas Grotesk Text Pro"/>
              </a:rPr>
              <a:t>I want a car that blends </a:t>
            </a:r>
            <a:r>
              <a:rPr lang="en-US" b="1">
                <a:solidFill>
                  <a:srgbClr val="000000"/>
                </a:solidFill>
                <a:latin typeface="Neue Haas Grotesk Text Pro"/>
              </a:rPr>
              <a:t>luxury </a:t>
            </a:r>
            <a:r>
              <a:rPr lang="en-US">
                <a:solidFill>
                  <a:srgbClr val="000000"/>
                </a:solidFill>
                <a:latin typeface="Neue Haas Grotesk Text Pro"/>
              </a:rPr>
              <a:t>+</a:t>
            </a:r>
            <a:r>
              <a:rPr lang="en-US" b="1">
                <a:solidFill>
                  <a:srgbClr val="000000"/>
                </a:solidFill>
                <a:latin typeface="Neue Haas Grotesk Text Pro"/>
              </a:rPr>
              <a:t> performance</a:t>
            </a:r>
            <a:r>
              <a:rPr lang="en-US">
                <a:solidFill>
                  <a:srgbClr val="000000"/>
                </a:solidFill>
                <a:latin typeface="Neue Haas Grotesk Text Pro"/>
              </a:rPr>
              <a:t> + </a:t>
            </a:r>
            <a:r>
              <a:rPr lang="en-US" b="1">
                <a:solidFill>
                  <a:srgbClr val="000000"/>
                </a:solidFill>
                <a:latin typeface="Neue Haas Grotesk Text Pro"/>
              </a:rPr>
              <a:t>sustainability</a:t>
            </a:r>
          </a:p>
          <a:p>
            <a:pPr marL="285750" indent="-285750" algn="ctr">
              <a:buFont typeface="Arial"/>
              <a:buChar char="•"/>
            </a:pPr>
            <a:endParaRPr lang="fr-FR" sz="2000">
              <a:solidFill>
                <a:srgbClr val="000000"/>
              </a:solidFill>
            </a:endParaRPr>
          </a:p>
          <a:p>
            <a:pPr marL="285750" indent="-285750" algn="ctr">
              <a:buFont typeface="Arial"/>
              <a:buChar char="•"/>
            </a:pPr>
            <a:r>
              <a:rPr lang="en-US">
                <a:solidFill>
                  <a:srgbClr val="000000"/>
                </a:solidFill>
                <a:latin typeface="Neue Haas Grotesk Text Pro"/>
              </a:rPr>
              <a:t>I need confidence in a </a:t>
            </a:r>
            <a:r>
              <a:rPr lang="en-US" b="1">
                <a:solidFill>
                  <a:srgbClr val="000000"/>
                </a:solidFill>
                <a:latin typeface="Neue Haas Grotesk Text Pro"/>
              </a:rPr>
              <a:t>future-proof brand</a:t>
            </a:r>
            <a:endParaRPr lang="fr-FR" sz="2000" b="1">
              <a:solidFill>
                <a:srgbClr val="000000"/>
              </a:solidFill>
            </a:endParaRPr>
          </a:p>
          <a:p>
            <a:pPr marL="285750" indent="-285750" algn="ctr">
              <a:buFont typeface="Arial"/>
              <a:buChar char="•"/>
            </a:pPr>
            <a:endParaRPr lang="fr-FR" sz="2000">
              <a:solidFill>
                <a:srgbClr val="000000"/>
              </a:solidFill>
            </a:endParaRPr>
          </a:p>
          <a:p>
            <a:pPr marL="285750" indent="-285750" algn="ctr">
              <a:buFont typeface="Arial"/>
              <a:buChar char="•"/>
            </a:pPr>
            <a:r>
              <a:rPr lang="en-US">
                <a:solidFill>
                  <a:srgbClr val="000000"/>
                </a:solidFill>
                <a:latin typeface="Neue Haas Grotesk Text Pro"/>
              </a:rPr>
              <a:t>I want a brand with a </a:t>
            </a:r>
            <a:r>
              <a:rPr lang="en-US" b="1">
                <a:solidFill>
                  <a:srgbClr val="000000"/>
                </a:solidFill>
                <a:latin typeface="Neue Haas Grotesk Text Pro"/>
              </a:rPr>
              <a:t>clear</a:t>
            </a:r>
            <a:r>
              <a:rPr lang="en-US">
                <a:solidFill>
                  <a:srgbClr val="000000"/>
                </a:solidFill>
                <a:latin typeface="Neue Haas Grotesk Text Pro"/>
              </a:rPr>
              <a:t> </a:t>
            </a:r>
            <a:r>
              <a:rPr lang="en-US" b="1">
                <a:solidFill>
                  <a:srgbClr val="000000"/>
                </a:solidFill>
                <a:latin typeface="Neue Haas Grotesk Text Pro"/>
              </a:rPr>
              <a:t>identity </a:t>
            </a:r>
            <a:r>
              <a:rPr lang="en-US">
                <a:solidFill>
                  <a:srgbClr val="000000"/>
                </a:solidFill>
                <a:latin typeface="Neue Haas Grotesk Text Pro"/>
              </a:rPr>
              <a:t>and a</a:t>
            </a:r>
            <a:r>
              <a:rPr lang="en-US" b="1">
                <a:solidFill>
                  <a:srgbClr val="000000"/>
                </a:solidFill>
                <a:latin typeface="Neue Haas Grotesk Text Pro"/>
              </a:rPr>
              <a:t> sense of belonging</a:t>
            </a:r>
          </a:p>
          <a:p>
            <a:pPr marL="285750" indent="-285750" algn="ctr">
              <a:buFont typeface="Arial"/>
              <a:buChar char="•"/>
            </a:pPr>
            <a:endParaRPr lang="en-US" b="1">
              <a:solidFill>
                <a:srgbClr val="000000"/>
              </a:solidFill>
              <a:latin typeface="Neue Haas Grotesk Text Pro"/>
            </a:endParaRPr>
          </a:p>
          <a:p>
            <a:pPr marL="285750" indent="-285750" algn="ctr">
              <a:buFont typeface="Arial"/>
              <a:buChar char="•"/>
            </a:pPr>
            <a:r>
              <a:rPr lang="en-US">
                <a:solidFill>
                  <a:srgbClr val="000000"/>
                </a:solidFill>
                <a:latin typeface="Neue Haas Grotesk Text Pro"/>
              </a:rPr>
              <a:t>I take pride in </a:t>
            </a:r>
            <a:r>
              <a:rPr lang="en-US" b="1">
                <a:solidFill>
                  <a:srgbClr val="000000"/>
                </a:solidFill>
                <a:latin typeface="Neue Haas Grotesk Text Pro"/>
              </a:rPr>
              <a:t>British heritage</a:t>
            </a:r>
          </a:p>
          <a:p>
            <a:pPr marL="285750" indent="-285750" algn="ctr">
              <a:buFont typeface="Arial"/>
              <a:buChar char="•"/>
            </a:pPr>
            <a:endParaRPr lang="fr-FR">
              <a:solidFill>
                <a:srgbClr val="000000"/>
              </a:solidFill>
            </a:endParaRPr>
          </a:p>
        </p:txBody>
      </p:sp>
      <p:sp>
        <p:nvSpPr>
          <p:cNvPr id="22" name="ZoneTexte 21">
            <a:extLst>
              <a:ext uri="{FF2B5EF4-FFF2-40B4-BE49-F238E27FC236}">
                <a16:creationId xmlns:a16="http://schemas.microsoft.com/office/drawing/2014/main" id="{4D3B306D-4296-DD88-3D65-61FE34E62ABB}"/>
              </a:ext>
            </a:extLst>
          </p:cNvPr>
          <p:cNvSpPr txBox="1"/>
          <p:nvPr/>
        </p:nvSpPr>
        <p:spPr>
          <a:xfrm>
            <a:off x="4437620" y="4185742"/>
            <a:ext cx="2514819" cy="31393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a:t>PAINS POINTS:</a:t>
            </a:r>
            <a:r>
              <a:rPr lang="fr-FR"/>
              <a:t> </a:t>
            </a:r>
            <a:endParaRPr lang="fr-FR">
              <a:solidFill>
                <a:srgbClr val="000000"/>
              </a:solidFill>
            </a:endParaRPr>
          </a:p>
          <a:p>
            <a:pPr algn="ctr"/>
            <a:endParaRPr lang="fr-FR">
              <a:solidFill>
                <a:srgbClr val="000000"/>
              </a:solidFill>
            </a:endParaRPr>
          </a:p>
          <a:p>
            <a:pPr marL="282575" indent="-282575" algn="ctr">
              <a:buFont typeface="Arial,Sans-Serif"/>
              <a:buChar char="•"/>
            </a:pPr>
            <a:r>
              <a:rPr lang="en-US">
                <a:latin typeface="Neue Haas Grotesk Text Pro"/>
              </a:rPr>
              <a:t>Most EV’s (e.g. Tesla) feel </a:t>
            </a:r>
            <a:r>
              <a:rPr lang="en-US" b="1">
                <a:latin typeface="Neue Haas Grotesk Text Pro"/>
              </a:rPr>
              <a:t>uniform</a:t>
            </a:r>
            <a:r>
              <a:rPr lang="en-US">
                <a:latin typeface="Neue Haas Grotesk Text Pro"/>
              </a:rPr>
              <a:t> and </a:t>
            </a:r>
            <a:r>
              <a:rPr lang="en-US" b="1">
                <a:latin typeface="Neue Haas Grotesk Text Pro"/>
              </a:rPr>
              <a:t>emotionless</a:t>
            </a:r>
            <a:endParaRPr lang="en-US">
              <a:latin typeface="Neue Haas Grotesk Text Pro"/>
            </a:endParaRPr>
          </a:p>
          <a:p>
            <a:pPr algn="ctr"/>
            <a:endParaRPr lang="en-US" b="1">
              <a:latin typeface="Neue Haas Grotesk Text Pro"/>
            </a:endParaRPr>
          </a:p>
          <a:p>
            <a:pPr marL="282575" indent="-282575" algn="ctr">
              <a:buFont typeface="Arial,Sans-Serif"/>
              <a:buChar char="•"/>
            </a:pPr>
            <a:r>
              <a:rPr lang="en-US">
                <a:latin typeface="Neue Haas Grotesk Text Pro"/>
              </a:rPr>
              <a:t>Traditional luxury brands (e.g. Bentley) seem </a:t>
            </a:r>
            <a:r>
              <a:rPr lang="en-US" b="1">
                <a:latin typeface="Neue Haas Grotesk Text Pro"/>
              </a:rPr>
              <a:t>old-fashioned</a:t>
            </a:r>
            <a:endParaRPr lang="en-US">
              <a:latin typeface="Neue Haas Grotesk Text Pro"/>
            </a:endParaRPr>
          </a:p>
          <a:p>
            <a:pPr algn="ctr">
              <a:buFont typeface="Arial"/>
            </a:pPr>
            <a:endParaRPr lang="fr-FR"/>
          </a:p>
        </p:txBody>
      </p:sp>
      <p:sp>
        <p:nvSpPr>
          <p:cNvPr id="23" name="ZoneTexte 22">
            <a:extLst>
              <a:ext uri="{FF2B5EF4-FFF2-40B4-BE49-F238E27FC236}">
                <a16:creationId xmlns:a16="http://schemas.microsoft.com/office/drawing/2014/main" id="{BDA73D8A-F00A-CF00-0694-5A5CCB185312}"/>
              </a:ext>
            </a:extLst>
          </p:cNvPr>
          <p:cNvSpPr txBox="1"/>
          <p:nvPr/>
        </p:nvSpPr>
        <p:spPr>
          <a:xfrm>
            <a:off x="7612027" y="3865815"/>
            <a:ext cx="3151505" cy="424731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a:t>DESIRED POINTS</a:t>
            </a:r>
            <a:r>
              <a:rPr lang="fr-FR"/>
              <a:t>: </a:t>
            </a:r>
          </a:p>
          <a:p>
            <a:pPr algn="ctr"/>
            <a:endParaRPr lang="fr-FR">
              <a:solidFill>
                <a:srgbClr val="000000"/>
              </a:solidFill>
            </a:endParaRPr>
          </a:p>
          <a:p>
            <a:pPr marL="282575" indent="-282575" algn="ctr">
              <a:buFont typeface="Arial,Sans-Serif"/>
              <a:buChar char="•"/>
            </a:pPr>
            <a:r>
              <a:rPr lang="en-US">
                <a:solidFill>
                  <a:srgbClr val="000000"/>
                </a:solidFill>
                <a:latin typeface="Neue Haas Grotesk Text Pro"/>
              </a:rPr>
              <a:t>Distinct </a:t>
            </a:r>
            <a:r>
              <a:rPr lang="en-US" b="1">
                <a:solidFill>
                  <a:srgbClr val="000000"/>
                </a:solidFill>
                <a:latin typeface="Neue Haas Grotesk Text Pro"/>
              </a:rPr>
              <a:t>identity</a:t>
            </a:r>
            <a:r>
              <a:rPr lang="en-US">
                <a:solidFill>
                  <a:srgbClr val="000000"/>
                </a:solidFill>
                <a:latin typeface="Neue Haas Grotesk Text Pro"/>
              </a:rPr>
              <a:t> &amp; </a:t>
            </a:r>
            <a:r>
              <a:rPr lang="en-US" b="1">
                <a:solidFill>
                  <a:srgbClr val="000000"/>
                </a:solidFill>
                <a:latin typeface="Neue Haas Grotesk Text Pro"/>
              </a:rPr>
              <a:t>exclusivity</a:t>
            </a:r>
            <a:endParaRPr lang="en-US">
              <a:latin typeface="Neue Haas Grotesk Text Pro"/>
            </a:endParaRPr>
          </a:p>
          <a:p>
            <a:pPr marL="282575" indent="-282575" algn="ctr">
              <a:buFont typeface="Arial,Sans-Serif"/>
              <a:buChar char="•"/>
            </a:pPr>
            <a:endParaRPr lang="en-US" b="1">
              <a:solidFill>
                <a:srgbClr val="000000"/>
              </a:solidFill>
              <a:latin typeface="Neue Haas Grotesk Text Pro"/>
            </a:endParaRPr>
          </a:p>
          <a:p>
            <a:pPr marL="282575" indent="-282575" algn="ctr">
              <a:buFont typeface="Arial,Sans-Serif"/>
              <a:buChar char="•"/>
            </a:pPr>
            <a:r>
              <a:rPr lang="en-US">
                <a:solidFill>
                  <a:srgbClr val="000000"/>
                </a:solidFill>
                <a:latin typeface="Neue Haas Grotesk Text Pro"/>
              </a:rPr>
              <a:t>Premium </a:t>
            </a:r>
            <a:r>
              <a:rPr lang="en-US" b="1">
                <a:solidFill>
                  <a:srgbClr val="000000"/>
                </a:solidFill>
                <a:latin typeface="Neue Haas Grotesk Text Pro"/>
              </a:rPr>
              <a:t>service</a:t>
            </a:r>
            <a:r>
              <a:rPr lang="en-US">
                <a:solidFill>
                  <a:srgbClr val="000000"/>
                </a:solidFill>
                <a:latin typeface="Neue Haas Grotesk Text Pro"/>
              </a:rPr>
              <a:t>, </a:t>
            </a:r>
            <a:r>
              <a:rPr lang="en-US" b="1">
                <a:solidFill>
                  <a:srgbClr val="000000"/>
                </a:solidFill>
                <a:latin typeface="Neue Haas Grotesk Text Pro"/>
              </a:rPr>
              <a:t>high</a:t>
            </a:r>
            <a:r>
              <a:rPr lang="en-US">
                <a:solidFill>
                  <a:srgbClr val="000000"/>
                </a:solidFill>
                <a:latin typeface="Neue Haas Grotesk Text Pro"/>
              </a:rPr>
              <a:t> </a:t>
            </a:r>
            <a:r>
              <a:rPr lang="en-US" b="1">
                <a:solidFill>
                  <a:srgbClr val="000000"/>
                </a:solidFill>
                <a:latin typeface="Neue Haas Grotesk Text Pro"/>
              </a:rPr>
              <a:t>resale</a:t>
            </a:r>
            <a:r>
              <a:rPr lang="en-US">
                <a:solidFill>
                  <a:srgbClr val="000000"/>
                </a:solidFill>
                <a:latin typeface="Neue Haas Grotesk Text Pro"/>
              </a:rPr>
              <a:t> value</a:t>
            </a:r>
          </a:p>
          <a:p>
            <a:pPr marL="282575" indent="-282575" algn="ctr">
              <a:buFont typeface="Arial,Sans-Serif"/>
              <a:buChar char="•"/>
            </a:pPr>
            <a:endParaRPr lang="en-US">
              <a:solidFill>
                <a:srgbClr val="000000"/>
              </a:solidFill>
              <a:latin typeface="Neue Haas Grotesk Text Pro"/>
            </a:endParaRPr>
          </a:p>
          <a:p>
            <a:pPr marL="282575" indent="-282575" algn="ctr">
              <a:buFont typeface="Arial,Sans-Serif"/>
              <a:buChar char="•"/>
            </a:pPr>
            <a:r>
              <a:rPr lang="en-US">
                <a:solidFill>
                  <a:srgbClr val="000000"/>
                </a:solidFill>
                <a:latin typeface="Neue Haas Grotesk Text Pro"/>
              </a:rPr>
              <a:t>Recognition through </a:t>
            </a:r>
            <a:r>
              <a:rPr lang="en-US" b="1">
                <a:solidFill>
                  <a:srgbClr val="000000"/>
                </a:solidFill>
                <a:latin typeface="Neue Haas Grotesk Text Pro"/>
              </a:rPr>
              <a:t>subtle distinction</a:t>
            </a:r>
            <a:endParaRPr lang="en-US">
              <a:solidFill>
                <a:srgbClr val="000000"/>
              </a:solidFill>
              <a:latin typeface="Neue Haas Grotesk Text Pro"/>
            </a:endParaRPr>
          </a:p>
          <a:p>
            <a:pPr marL="282575" indent="-282575" algn="ctr">
              <a:buFont typeface="Arial,Sans-Serif"/>
              <a:buChar char="•"/>
            </a:pPr>
            <a:endParaRPr lang="en-US" b="1">
              <a:solidFill>
                <a:srgbClr val="000000"/>
              </a:solidFill>
              <a:latin typeface="Neue Haas Grotesk Text Pro"/>
            </a:endParaRPr>
          </a:p>
          <a:p>
            <a:pPr marL="282575" indent="-282575" algn="ctr">
              <a:buFont typeface="Arial,Sans-Serif"/>
              <a:buChar char="•"/>
            </a:pPr>
            <a:r>
              <a:rPr lang="en-US" b="1">
                <a:solidFill>
                  <a:srgbClr val="000000"/>
                </a:solidFill>
                <a:latin typeface="Neue Haas Grotesk Text Pro"/>
              </a:rPr>
              <a:t>Effortless</a:t>
            </a:r>
            <a:r>
              <a:rPr lang="en-US">
                <a:solidFill>
                  <a:srgbClr val="000000"/>
                </a:solidFill>
                <a:latin typeface="Neue Haas Grotesk Text Pro"/>
              </a:rPr>
              <a:t> ownership experience</a:t>
            </a:r>
          </a:p>
          <a:p>
            <a:pPr marL="285750" indent="-285750" algn="ctr">
              <a:buFont typeface="Arial"/>
              <a:buChar char="•"/>
            </a:pPr>
            <a:endParaRPr lang="fr-FR" b="1"/>
          </a:p>
          <a:p>
            <a:pPr algn="ctr"/>
            <a:endParaRPr lang="fr-FR"/>
          </a:p>
        </p:txBody>
      </p:sp>
      <p:sp>
        <p:nvSpPr>
          <p:cNvPr id="24" name="Rectangle : coins arrondis 23">
            <a:extLst>
              <a:ext uri="{FF2B5EF4-FFF2-40B4-BE49-F238E27FC236}">
                <a16:creationId xmlns:a16="http://schemas.microsoft.com/office/drawing/2014/main" id="{606E488F-D080-411C-2DE9-B7B95C4A4ACF}"/>
              </a:ext>
            </a:extLst>
          </p:cNvPr>
          <p:cNvSpPr/>
          <p:nvPr/>
        </p:nvSpPr>
        <p:spPr>
          <a:xfrm>
            <a:off x="458153" y="3090212"/>
            <a:ext cx="3355009" cy="525526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Rounded Corners 26">
            <a:extLst>
              <a:ext uri="{FF2B5EF4-FFF2-40B4-BE49-F238E27FC236}">
                <a16:creationId xmlns:a16="http://schemas.microsoft.com/office/drawing/2014/main" id="{C9BAA2AA-3E18-F396-B76B-600B4A5A8040}"/>
              </a:ext>
            </a:extLst>
          </p:cNvPr>
          <p:cNvSpPr/>
          <p:nvPr/>
        </p:nvSpPr>
        <p:spPr>
          <a:xfrm>
            <a:off x="12439336" y="3094099"/>
            <a:ext cx="6626994" cy="659125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avec flèche 27">
            <a:extLst>
              <a:ext uri="{FF2B5EF4-FFF2-40B4-BE49-F238E27FC236}">
                <a16:creationId xmlns:a16="http://schemas.microsoft.com/office/drawing/2014/main" id="{A6ACEC45-9583-7E49-2E5C-013F7A7F61A6}"/>
              </a:ext>
            </a:extLst>
          </p:cNvPr>
          <p:cNvCxnSpPr/>
          <p:nvPr/>
        </p:nvCxnSpPr>
        <p:spPr>
          <a:xfrm>
            <a:off x="15594645" y="3204691"/>
            <a:ext cx="30222" cy="6346657"/>
          </a:xfrm>
          <a:prstGeom prst="straightConnector1">
            <a:avLst/>
          </a:prstGeom>
          <a:ln/>
        </p:spPr>
        <p:style>
          <a:lnRef idx="1">
            <a:schemeClr val="dk1"/>
          </a:lnRef>
          <a:fillRef idx="0">
            <a:schemeClr val="dk1"/>
          </a:fillRef>
          <a:effectRef idx="0">
            <a:schemeClr val="dk1"/>
          </a:effectRef>
          <a:fontRef idx="minor">
            <a:schemeClr val="tx1"/>
          </a:fontRef>
        </p:style>
      </p:cxnSp>
      <p:cxnSp>
        <p:nvCxnSpPr>
          <p:cNvPr id="29" name="Connecteur droit avec flèche 28">
            <a:extLst>
              <a:ext uri="{FF2B5EF4-FFF2-40B4-BE49-F238E27FC236}">
                <a16:creationId xmlns:a16="http://schemas.microsoft.com/office/drawing/2014/main" id="{938EB49A-E026-571E-C6FF-670A166F13A0}"/>
              </a:ext>
            </a:extLst>
          </p:cNvPr>
          <p:cNvCxnSpPr/>
          <p:nvPr/>
        </p:nvCxnSpPr>
        <p:spPr>
          <a:xfrm>
            <a:off x="15601203" y="6532944"/>
            <a:ext cx="3463797" cy="6513"/>
          </a:xfrm>
          <a:prstGeom prst="straightConnector1">
            <a:avLst/>
          </a:prstGeom>
          <a:ln/>
        </p:spPr>
        <p:style>
          <a:lnRef idx="1">
            <a:schemeClr val="dk1"/>
          </a:lnRef>
          <a:fillRef idx="0">
            <a:schemeClr val="dk1"/>
          </a:fillRef>
          <a:effectRef idx="0">
            <a:schemeClr val="dk1"/>
          </a:effectRef>
          <a:fontRef idx="minor">
            <a:schemeClr val="tx1"/>
          </a:fontRef>
        </p:style>
      </p:cxnSp>
      <p:sp>
        <p:nvSpPr>
          <p:cNvPr id="31" name="ZoneTexte 30">
            <a:extLst>
              <a:ext uri="{FF2B5EF4-FFF2-40B4-BE49-F238E27FC236}">
                <a16:creationId xmlns:a16="http://schemas.microsoft.com/office/drawing/2014/main" id="{CD086283-C30A-85EC-32FD-29BD95E27B83}"/>
              </a:ext>
            </a:extLst>
          </p:cNvPr>
          <p:cNvSpPr txBox="1"/>
          <p:nvPr/>
        </p:nvSpPr>
        <p:spPr>
          <a:xfrm>
            <a:off x="13331695" y="3406230"/>
            <a:ext cx="2275936"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a:latin typeface="Neue Haas Grotesk Text Pro"/>
              </a:rPr>
              <a:t>Offering</a:t>
            </a:r>
            <a:endParaRPr lang="fr-FR"/>
          </a:p>
          <a:p>
            <a:pPr algn="ctr"/>
            <a:endParaRPr lang="fr-FR"/>
          </a:p>
        </p:txBody>
      </p:sp>
      <p:sp>
        <p:nvSpPr>
          <p:cNvPr id="34" name="Rectangle : coins arrondis 33">
            <a:extLst>
              <a:ext uri="{FF2B5EF4-FFF2-40B4-BE49-F238E27FC236}">
                <a16:creationId xmlns:a16="http://schemas.microsoft.com/office/drawing/2014/main" id="{86DD7661-244B-70DD-7B74-399BE9B6ED49}"/>
              </a:ext>
            </a:extLst>
          </p:cNvPr>
          <p:cNvSpPr/>
          <p:nvPr/>
        </p:nvSpPr>
        <p:spPr>
          <a:xfrm>
            <a:off x="4008728" y="3865816"/>
            <a:ext cx="3355009" cy="374613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ED3B7E70-FE84-201F-6EC6-1B8F059A7F59}"/>
              </a:ext>
            </a:extLst>
          </p:cNvPr>
          <p:cNvSpPr/>
          <p:nvPr/>
        </p:nvSpPr>
        <p:spPr>
          <a:xfrm>
            <a:off x="7605806" y="3865816"/>
            <a:ext cx="3355009" cy="374613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625EA83F-BF3F-3141-46FE-5D495C318D91}"/>
              </a:ext>
            </a:extLst>
          </p:cNvPr>
          <p:cNvSpPr txBox="1"/>
          <p:nvPr/>
        </p:nvSpPr>
        <p:spPr>
          <a:xfrm>
            <a:off x="15745308" y="3395150"/>
            <a:ext cx="213369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u="none" strike="noStrike" baseline="0">
                <a:solidFill>
                  <a:srgbClr val="000000"/>
                </a:solidFill>
                <a:latin typeface="Neue Haas Grotesk Text Pro"/>
                <a:ea typeface="Neue Haas Grotesk Text Pro"/>
                <a:cs typeface="Neue Haas Grotesk Text Pro"/>
              </a:rPr>
              <a:t>Pain relievers</a:t>
            </a:r>
            <a:endParaRPr lang="fr-FR" sz="2000"/>
          </a:p>
          <a:p>
            <a:pPr algn="ctr"/>
            <a:endParaRPr lang="fr-FR"/>
          </a:p>
        </p:txBody>
      </p:sp>
      <p:sp>
        <p:nvSpPr>
          <p:cNvPr id="38" name="object 2">
            <a:extLst>
              <a:ext uri="{FF2B5EF4-FFF2-40B4-BE49-F238E27FC236}">
                <a16:creationId xmlns:a16="http://schemas.microsoft.com/office/drawing/2014/main" id="{60DFE2D9-24ED-AF74-BDAD-B813BCAE560F}"/>
              </a:ext>
            </a:extLst>
          </p:cNvPr>
          <p:cNvSpPr/>
          <p:nvPr/>
        </p:nvSpPr>
        <p:spPr>
          <a:xfrm>
            <a:off x="7718" y="-9506"/>
            <a:ext cx="20104100" cy="11308714"/>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
        <p:nvSpPr>
          <p:cNvPr id="39" name="ZoneTexte 38">
            <a:extLst>
              <a:ext uri="{FF2B5EF4-FFF2-40B4-BE49-F238E27FC236}">
                <a16:creationId xmlns:a16="http://schemas.microsoft.com/office/drawing/2014/main" id="{64FE0180-F5FC-46F7-CDB5-6F3EBB3FC419}"/>
              </a:ext>
            </a:extLst>
          </p:cNvPr>
          <p:cNvSpPr txBox="1"/>
          <p:nvPr/>
        </p:nvSpPr>
        <p:spPr>
          <a:xfrm>
            <a:off x="15745309" y="6754231"/>
            <a:ext cx="2299644" cy="6694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50" b="1" i="0" u="none" strike="noStrike" baseline="0">
                <a:solidFill>
                  <a:srgbClr val="000000"/>
                </a:solidFill>
                <a:latin typeface="Neue Haas Grotesk Text Pro"/>
                <a:ea typeface="Neue Haas Grotesk Text Pro"/>
                <a:cs typeface="Neue Haas Grotesk Text Pro"/>
              </a:rPr>
              <a:t>Gain Creators</a:t>
            </a:r>
            <a:r>
              <a:rPr sz="1950" b="0" i="0">
                <a:solidFill>
                  <a:srgbClr val="000000"/>
                </a:solidFill>
                <a:latin typeface="Neue Haas Grotesk Text Pro"/>
                <a:ea typeface="Neue Haas Grotesk Text Pro"/>
                <a:cs typeface="Neue Haas Grotesk Text Pro"/>
              </a:rPr>
              <a:t>​</a:t>
            </a:r>
            <a:endParaRPr lang="fr-FR"/>
          </a:p>
          <a:p>
            <a:pPr algn="ctr"/>
            <a:endParaRPr lang="fr-FR"/>
          </a:p>
        </p:txBody>
      </p:sp>
      <p:sp>
        <p:nvSpPr>
          <p:cNvPr id="40" name="ZoneTexte 39">
            <a:extLst>
              <a:ext uri="{FF2B5EF4-FFF2-40B4-BE49-F238E27FC236}">
                <a16:creationId xmlns:a16="http://schemas.microsoft.com/office/drawing/2014/main" id="{FAEA5F74-046F-9281-E6D9-07F0A0080C9C}"/>
              </a:ext>
            </a:extLst>
          </p:cNvPr>
          <p:cNvSpPr txBox="1"/>
          <p:nvPr/>
        </p:nvSpPr>
        <p:spPr>
          <a:xfrm>
            <a:off x="15603331" y="3855406"/>
            <a:ext cx="3176828"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2575" indent="-282575" algn="ctr" rtl="0">
              <a:buFont typeface="Arial,Sans-Serif"/>
              <a:buChar char="•"/>
            </a:pPr>
            <a:r>
              <a:rPr lang="en-US" sz="1600" b="0" i="0" u="none" strike="noStrike" baseline="0">
                <a:solidFill>
                  <a:srgbClr val="000000"/>
                </a:solidFill>
                <a:latin typeface="Neue Haas Grotesk Text Pro"/>
                <a:ea typeface="Arial"/>
                <a:cs typeface="Arial"/>
              </a:rPr>
              <a:t>Bring back </a:t>
            </a:r>
            <a:r>
              <a:rPr lang="en-US" sz="1600" b="1" i="0" u="none" strike="noStrike" baseline="0">
                <a:solidFill>
                  <a:srgbClr val="000000"/>
                </a:solidFill>
                <a:latin typeface="Neue Haas Grotesk Text Pro"/>
                <a:ea typeface="Arial"/>
                <a:cs typeface="Arial"/>
              </a:rPr>
              <a:t>emotion</a:t>
            </a:r>
            <a:r>
              <a:rPr lang="en-US" sz="1600" b="0" i="0" u="none" strike="noStrike" baseline="0">
                <a:solidFill>
                  <a:srgbClr val="000000"/>
                </a:solidFill>
                <a:latin typeface="Neue Haas Grotesk Text Pro"/>
                <a:ea typeface="Arial"/>
                <a:cs typeface="Arial"/>
              </a:rPr>
              <a:t> to </a:t>
            </a:r>
            <a:r>
              <a:rPr lang="en-US" sz="1600" b="1" i="0" u="none" strike="noStrike" baseline="0">
                <a:solidFill>
                  <a:srgbClr val="000000"/>
                </a:solidFill>
                <a:latin typeface="Neue Haas Grotesk Text Pro"/>
                <a:ea typeface="Arial"/>
                <a:cs typeface="Arial"/>
              </a:rPr>
              <a:t>EVs</a:t>
            </a:r>
            <a:endParaRPr lang="fr-FR"/>
          </a:p>
          <a:p>
            <a:pPr marL="282575" lvl="0" indent="-282575" algn="ctr">
              <a:buFont typeface="Arial,Sans-Serif"/>
              <a:buChar char="•"/>
            </a:pPr>
            <a:endParaRPr lang="en-US" sz="1600">
              <a:latin typeface="Neue Haas Grotesk Text Pro"/>
              <a:cs typeface="Arial"/>
            </a:endParaRPr>
          </a:p>
          <a:p>
            <a:pPr marL="282575" lvl="0" indent="-282575" algn="ctr" rtl="0">
              <a:buFont typeface="Arial,Sans-Serif"/>
              <a:buChar char="•"/>
            </a:pPr>
            <a:r>
              <a:rPr lang="en-US" sz="1600" b="1" i="0" u="none" strike="noStrike" baseline="0">
                <a:solidFill>
                  <a:srgbClr val="000000"/>
                </a:solidFill>
                <a:latin typeface="Neue Haas Grotesk Text Pro"/>
                <a:ea typeface="Arial"/>
                <a:cs typeface="Arial"/>
              </a:rPr>
              <a:t>Preserve</a:t>
            </a:r>
            <a:r>
              <a:rPr lang="en-US" sz="1600" b="0" i="0" u="none" strike="noStrike" baseline="0">
                <a:solidFill>
                  <a:srgbClr val="000000"/>
                </a:solidFill>
                <a:latin typeface="Neue Haas Grotesk Text Pro"/>
                <a:ea typeface="Arial"/>
                <a:cs typeface="Arial"/>
              </a:rPr>
              <a:t> </a:t>
            </a:r>
            <a:r>
              <a:rPr lang="en-US" sz="1600" b="1" i="0" u="none" strike="noStrike" baseline="0">
                <a:solidFill>
                  <a:srgbClr val="000000"/>
                </a:solidFill>
                <a:latin typeface="Neue Haas Grotesk Text Pro"/>
                <a:ea typeface="Arial"/>
                <a:cs typeface="Arial"/>
              </a:rPr>
              <a:t>brand DNA </a:t>
            </a:r>
            <a:r>
              <a:rPr lang="en-US" sz="1600" b="0" i="0" u="none" strike="noStrike" baseline="0">
                <a:solidFill>
                  <a:srgbClr val="000000"/>
                </a:solidFill>
                <a:latin typeface="Neue Haas Grotesk Text Pro"/>
                <a:ea typeface="Arial"/>
                <a:cs typeface="Arial"/>
              </a:rPr>
              <a:t>in electrification</a:t>
            </a:r>
            <a:r>
              <a:rPr lang="en-US" sz="1600" b="0" i="0">
                <a:solidFill>
                  <a:srgbClr val="000000"/>
                </a:solidFill>
                <a:latin typeface="Neue Haas Grotesk Text Pro"/>
                <a:ea typeface="Arial"/>
                <a:cs typeface="Arial"/>
              </a:rPr>
              <a:t>​</a:t>
            </a:r>
          </a:p>
          <a:p>
            <a:pPr marL="282575" indent="-282575" algn="ctr">
              <a:buFont typeface="Arial,Sans-Serif"/>
              <a:buChar char="•"/>
            </a:pPr>
            <a:endParaRPr lang="en-US" sz="1600">
              <a:solidFill>
                <a:srgbClr val="000000"/>
              </a:solidFill>
              <a:latin typeface="Neue Haas Grotesk Text Pro"/>
              <a:ea typeface="Arial"/>
              <a:cs typeface="Arial"/>
            </a:endParaRPr>
          </a:p>
          <a:p>
            <a:pPr marL="282575" lvl="0" indent="-282575" algn="ctr" rtl="0">
              <a:buFont typeface="Arial,Sans-Serif"/>
              <a:buChar char="•"/>
            </a:pPr>
            <a:r>
              <a:rPr lang="en-US" sz="1600" b="0" i="0" u="none" strike="noStrike" baseline="0">
                <a:solidFill>
                  <a:srgbClr val="000000"/>
                </a:solidFill>
                <a:latin typeface="Neue Haas Grotesk Text Pro"/>
                <a:ea typeface="Arial"/>
                <a:cs typeface="Arial"/>
              </a:rPr>
              <a:t>Differentiate through luxury &amp; performance</a:t>
            </a:r>
            <a:r>
              <a:rPr lang="en-US" sz="1600" b="0" i="0">
                <a:solidFill>
                  <a:srgbClr val="000000"/>
                </a:solidFill>
                <a:latin typeface="Neue Haas Grotesk Text Pro"/>
                <a:ea typeface="Arial"/>
                <a:cs typeface="Arial"/>
              </a:rPr>
              <a:t>​</a:t>
            </a:r>
          </a:p>
          <a:p>
            <a:pPr marL="282575" indent="-282575" algn="ctr">
              <a:buFont typeface="Arial,Sans-Serif"/>
              <a:buChar char="•"/>
            </a:pPr>
            <a:endParaRPr lang="en-US" sz="1600">
              <a:solidFill>
                <a:srgbClr val="000000"/>
              </a:solidFill>
              <a:latin typeface="Neue Haas Grotesk Text Pro"/>
              <a:ea typeface="Arial"/>
              <a:cs typeface="Arial"/>
            </a:endParaRPr>
          </a:p>
          <a:p>
            <a:pPr marL="282575" lvl="0" indent="-282575" algn="ctr" rtl="0">
              <a:buFont typeface="Arial,Sans-Serif"/>
              <a:buChar char="•"/>
            </a:pPr>
            <a:r>
              <a:rPr lang="en-US" sz="1600" b="0" i="0" u="none" strike="noStrike" baseline="0">
                <a:solidFill>
                  <a:srgbClr val="000000"/>
                </a:solidFill>
                <a:latin typeface="Neue Haas Grotesk Text Pro"/>
                <a:ea typeface="Arial"/>
                <a:cs typeface="Arial"/>
              </a:rPr>
              <a:t>Reinforce </a:t>
            </a:r>
            <a:r>
              <a:rPr lang="en-US" sz="1600" b="1" i="0" u="none" strike="noStrike" baseline="0">
                <a:solidFill>
                  <a:srgbClr val="000000"/>
                </a:solidFill>
                <a:latin typeface="Neue Haas Grotesk Text Pro"/>
                <a:ea typeface="Arial"/>
                <a:cs typeface="Arial"/>
              </a:rPr>
              <a:t>brand distinctiveness</a:t>
            </a:r>
            <a:r>
              <a:rPr lang="en-US" sz="1600" b="0" i="0">
                <a:solidFill>
                  <a:srgbClr val="000000"/>
                </a:solidFill>
                <a:latin typeface="Neue Haas Grotesk Text Pro"/>
                <a:ea typeface="Arial"/>
                <a:cs typeface="Arial"/>
              </a:rPr>
              <a:t>​</a:t>
            </a:r>
          </a:p>
          <a:p>
            <a:pPr algn="ctr"/>
            <a:endParaRPr lang="fr-FR"/>
          </a:p>
        </p:txBody>
      </p:sp>
      <p:sp>
        <p:nvSpPr>
          <p:cNvPr id="41" name="ZoneTexte 40">
            <a:extLst>
              <a:ext uri="{FF2B5EF4-FFF2-40B4-BE49-F238E27FC236}">
                <a16:creationId xmlns:a16="http://schemas.microsoft.com/office/drawing/2014/main" id="{256E7B56-F0A4-A5A2-DFA4-0E8967B80BD2}"/>
              </a:ext>
            </a:extLst>
          </p:cNvPr>
          <p:cNvSpPr txBox="1"/>
          <p:nvPr/>
        </p:nvSpPr>
        <p:spPr>
          <a:xfrm>
            <a:off x="15579668" y="7216490"/>
            <a:ext cx="334278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2575" lvl="0" indent="-282575" algn="ctr" rtl="0">
              <a:buFont typeface="Arial,Sans-Serif"/>
              <a:buChar char="•"/>
            </a:pPr>
            <a:r>
              <a:rPr lang="en-US" sz="1600" b="1" i="0" u="none" strike="noStrike" baseline="0">
                <a:solidFill>
                  <a:srgbClr val="000000"/>
                </a:solidFill>
                <a:latin typeface="Neue Haas Grotesk Text Pro"/>
                <a:ea typeface="Arial"/>
                <a:cs typeface="Arial"/>
              </a:rPr>
              <a:t>Heritage</a:t>
            </a:r>
            <a:r>
              <a:rPr lang="en-US" sz="1600" b="0" i="0" u="none" strike="noStrike" baseline="0">
                <a:solidFill>
                  <a:srgbClr val="000000"/>
                </a:solidFill>
                <a:latin typeface="Neue Haas Grotesk Text Pro"/>
                <a:ea typeface="Arial"/>
                <a:cs typeface="Arial"/>
              </a:rPr>
              <a:t> meets </a:t>
            </a:r>
            <a:r>
              <a:rPr lang="en-US" sz="1600" b="1" i="0" u="none" strike="noStrike" baseline="0">
                <a:solidFill>
                  <a:srgbClr val="000000"/>
                </a:solidFill>
                <a:latin typeface="Neue Haas Grotesk Text Pro"/>
                <a:ea typeface="Arial"/>
                <a:cs typeface="Arial"/>
              </a:rPr>
              <a:t>innovation</a:t>
            </a:r>
            <a:r>
              <a:rPr lang="en-US" sz="1600" b="0" i="0">
                <a:solidFill>
                  <a:srgbClr val="000000"/>
                </a:solidFill>
                <a:latin typeface="Neue Haas Grotesk Text Pro"/>
                <a:ea typeface="Arial"/>
                <a:cs typeface="Arial"/>
              </a:rPr>
              <a:t>​</a:t>
            </a:r>
          </a:p>
          <a:p>
            <a:pPr marL="282575" indent="-282575" algn="ctr">
              <a:buFont typeface="Arial,Sans-Serif"/>
              <a:buChar char="•"/>
            </a:pPr>
            <a:endParaRPr lang="en-US" sz="1600">
              <a:solidFill>
                <a:srgbClr val="000000"/>
              </a:solidFill>
              <a:latin typeface="Neue Haas Grotesk Text Pro"/>
              <a:ea typeface="Arial"/>
              <a:cs typeface="Arial"/>
            </a:endParaRPr>
          </a:p>
          <a:p>
            <a:pPr marL="282575" indent="-282575" algn="ctr" rtl="0">
              <a:buFont typeface="Arial,Sans-Serif"/>
              <a:buChar char="•"/>
            </a:pPr>
            <a:r>
              <a:rPr lang="en-US" sz="1600" b="0" i="0" u="none" strike="noStrike" baseline="0">
                <a:solidFill>
                  <a:srgbClr val="000000"/>
                </a:solidFill>
                <a:latin typeface="Neue Haas Grotesk Text Pro"/>
                <a:ea typeface="Arial"/>
                <a:cs typeface="Arial"/>
              </a:rPr>
              <a:t>Advanced </a:t>
            </a:r>
            <a:r>
              <a:rPr lang="en-US" sz="1600" b="1" i="0" u="none" strike="noStrike" baseline="0">
                <a:solidFill>
                  <a:srgbClr val="000000"/>
                </a:solidFill>
                <a:latin typeface="Neue Haas Grotesk Text Pro"/>
                <a:ea typeface="Arial"/>
                <a:cs typeface="Arial"/>
              </a:rPr>
              <a:t>tech</a:t>
            </a:r>
            <a:r>
              <a:rPr lang="en-US" sz="1600" b="0" i="0" u="none" strike="noStrike" baseline="0">
                <a:solidFill>
                  <a:srgbClr val="000000"/>
                </a:solidFill>
                <a:latin typeface="Neue Haas Grotesk Text Pro"/>
                <a:ea typeface="Arial"/>
                <a:cs typeface="Arial"/>
              </a:rPr>
              <a:t> and credibility</a:t>
            </a:r>
            <a:endParaRPr lang="en-US" sz="1600">
              <a:solidFill>
                <a:srgbClr val="000000"/>
              </a:solidFill>
              <a:latin typeface="Neue Haas Grotesk Text Pro"/>
              <a:ea typeface="Arial"/>
              <a:cs typeface="Arial"/>
            </a:endParaRPr>
          </a:p>
          <a:p>
            <a:pPr lvl="0" algn="ctr"/>
            <a:r>
              <a:rPr lang="en-US" sz="1600" b="0" i="0">
                <a:solidFill>
                  <a:srgbClr val="000000"/>
                </a:solidFill>
                <a:latin typeface="Neue Haas Grotesk Text Pro"/>
                <a:ea typeface="Arial"/>
                <a:cs typeface="Arial"/>
              </a:rPr>
              <a:t>​</a:t>
            </a:r>
            <a:endParaRPr lang="en-US" sz="1600"/>
          </a:p>
          <a:p>
            <a:pPr marL="282575" lvl="0" indent="-282575" algn="ctr" rtl="0">
              <a:buFont typeface="Arial,Sans-Serif"/>
              <a:buChar char="•"/>
            </a:pPr>
            <a:r>
              <a:rPr lang="en-US" sz="1600" b="1" i="0" u="none" strike="noStrike" baseline="0">
                <a:solidFill>
                  <a:srgbClr val="000000"/>
                </a:solidFill>
                <a:latin typeface="Neue Haas Grotesk Text Pro"/>
                <a:ea typeface="Arial"/>
                <a:cs typeface="Arial"/>
              </a:rPr>
              <a:t>Premium</a:t>
            </a:r>
            <a:r>
              <a:rPr lang="en-US" sz="1600" b="0" i="0" u="none" strike="noStrike" baseline="0">
                <a:solidFill>
                  <a:srgbClr val="000000"/>
                </a:solidFill>
                <a:latin typeface="Neue Haas Grotesk Text Pro"/>
                <a:ea typeface="Arial"/>
                <a:cs typeface="Arial"/>
              </a:rPr>
              <a:t> customer experience</a:t>
            </a:r>
            <a:r>
              <a:rPr lang="en-US" sz="1600" b="0" i="0">
                <a:solidFill>
                  <a:srgbClr val="000000"/>
                </a:solidFill>
                <a:latin typeface="Neue Haas Grotesk Text Pro"/>
                <a:ea typeface="Arial"/>
                <a:cs typeface="Arial"/>
              </a:rPr>
              <a:t>​</a:t>
            </a:r>
          </a:p>
          <a:p>
            <a:pPr marL="282575" indent="-282575" algn="ctr">
              <a:buFont typeface="Arial,Sans-Serif"/>
              <a:buChar char="•"/>
            </a:pPr>
            <a:endParaRPr lang="en-US" sz="1600">
              <a:solidFill>
                <a:srgbClr val="000000"/>
              </a:solidFill>
              <a:latin typeface="Neue Haas Grotesk Text Pro"/>
              <a:ea typeface="Arial"/>
              <a:cs typeface="Arial"/>
            </a:endParaRPr>
          </a:p>
          <a:p>
            <a:pPr marL="282575" lvl="0" indent="-282575" algn="ctr" rtl="0">
              <a:buFont typeface="Arial,Sans-Serif"/>
              <a:buChar char="•"/>
            </a:pPr>
            <a:r>
              <a:rPr lang="en-US" sz="1600" b="1" i="0" u="none" strike="noStrike" baseline="0">
                <a:solidFill>
                  <a:srgbClr val="000000"/>
                </a:solidFill>
                <a:latin typeface="Neue Haas Grotesk Text Pro"/>
                <a:ea typeface="Arial"/>
                <a:cs typeface="Arial"/>
              </a:rPr>
              <a:t>Consistent</a:t>
            </a:r>
            <a:r>
              <a:rPr lang="en-US" sz="1600" b="0" i="0" u="none" strike="noStrike" baseline="0">
                <a:solidFill>
                  <a:srgbClr val="000000"/>
                </a:solidFill>
                <a:latin typeface="Neue Haas Grotesk Text Pro"/>
                <a:ea typeface="Arial"/>
                <a:cs typeface="Arial"/>
              </a:rPr>
              <a:t> </a:t>
            </a:r>
            <a:r>
              <a:rPr lang="en-US" sz="1600" b="1" i="0" u="none" strike="noStrike" baseline="0">
                <a:solidFill>
                  <a:srgbClr val="000000"/>
                </a:solidFill>
                <a:latin typeface="Neue Haas Grotesk Text Pro"/>
                <a:ea typeface="Arial"/>
                <a:cs typeface="Arial"/>
              </a:rPr>
              <a:t>brand integrity </a:t>
            </a:r>
            <a:r>
              <a:rPr lang="en-US" sz="1600" b="0" i="0" u="none" strike="noStrike" baseline="0">
                <a:solidFill>
                  <a:srgbClr val="000000"/>
                </a:solidFill>
                <a:latin typeface="Neue Haas Grotesk Text Pro"/>
                <a:ea typeface="Arial"/>
                <a:cs typeface="Arial"/>
              </a:rPr>
              <a:t>across all touchpoints</a:t>
            </a:r>
            <a:r>
              <a:rPr lang="en-US" sz="1600" b="0" i="0">
                <a:solidFill>
                  <a:srgbClr val="000000"/>
                </a:solidFill>
                <a:latin typeface="Neue Haas Grotesk Text Pro"/>
                <a:ea typeface="Arial"/>
                <a:cs typeface="Arial"/>
              </a:rPr>
              <a:t>​</a:t>
            </a:r>
          </a:p>
          <a:p>
            <a:pPr algn="ctr"/>
            <a:endParaRPr lang="fr-FR" sz="1600"/>
          </a:p>
        </p:txBody>
      </p:sp>
      <p:sp>
        <p:nvSpPr>
          <p:cNvPr id="42" name="ZoneTexte 41">
            <a:extLst>
              <a:ext uri="{FF2B5EF4-FFF2-40B4-BE49-F238E27FC236}">
                <a16:creationId xmlns:a16="http://schemas.microsoft.com/office/drawing/2014/main" id="{19CAC185-F337-081C-6EF4-515C422FA30E}"/>
              </a:ext>
            </a:extLst>
          </p:cNvPr>
          <p:cNvSpPr txBox="1"/>
          <p:nvPr/>
        </p:nvSpPr>
        <p:spPr>
          <a:xfrm>
            <a:off x="12811110" y="4187296"/>
            <a:ext cx="2323351"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2575" lvl="0" indent="-282575" algn="ctr" rtl="0">
              <a:buFont typeface="Arial,Sans-Serif"/>
              <a:buChar char="•"/>
            </a:pPr>
            <a:r>
              <a:rPr lang="en-US" b="1" i="0" u="none" strike="noStrike" baseline="0">
                <a:solidFill>
                  <a:srgbClr val="000000"/>
                </a:solidFill>
                <a:latin typeface="Neue Haas Grotesk Text Pro"/>
                <a:ea typeface="Arial"/>
                <a:cs typeface="Arial"/>
              </a:rPr>
              <a:t>Luxury</a:t>
            </a:r>
            <a:r>
              <a:rPr lang="en-US" b="0" i="0" u="none" strike="noStrike" baseline="0">
                <a:solidFill>
                  <a:srgbClr val="000000"/>
                </a:solidFill>
                <a:latin typeface="Neue Haas Grotesk Text Pro"/>
                <a:ea typeface="Arial"/>
                <a:cs typeface="Arial"/>
              </a:rPr>
              <a:t> cars with </a:t>
            </a:r>
            <a:r>
              <a:rPr lang="en-US" b="1" i="0" u="none" strike="noStrike" baseline="0">
                <a:solidFill>
                  <a:srgbClr val="000000"/>
                </a:solidFill>
                <a:latin typeface="Neue Haas Grotesk Text Pro"/>
                <a:ea typeface="Arial"/>
                <a:cs typeface="Arial"/>
              </a:rPr>
              <a:t>design focus and electrification</a:t>
            </a:r>
            <a:r>
              <a:rPr lang="en-US" b="0" i="0">
                <a:solidFill>
                  <a:srgbClr val="000000"/>
                </a:solidFill>
                <a:latin typeface="Neue Haas Grotesk Text Pro"/>
                <a:ea typeface="Arial"/>
                <a:cs typeface="Arial"/>
              </a:rPr>
              <a:t>​</a:t>
            </a:r>
          </a:p>
          <a:p>
            <a:pPr marL="282575" indent="-282575" algn="ctr">
              <a:buFont typeface="Arial,Sans-Serif"/>
              <a:buChar char="•"/>
            </a:pPr>
            <a:endParaRPr lang="en-US">
              <a:solidFill>
                <a:srgbClr val="000000"/>
              </a:solidFill>
              <a:latin typeface="Neue Haas Grotesk Text Pro"/>
              <a:ea typeface="Arial"/>
              <a:cs typeface="Arial"/>
            </a:endParaRPr>
          </a:p>
          <a:p>
            <a:pPr marL="282575" indent="-282575" algn="ctr" rtl="0">
              <a:buFont typeface="Arial,Sans-Serif"/>
              <a:buChar char="•"/>
            </a:pPr>
            <a:r>
              <a:rPr lang="en-US" b="1" i="0" u="none" strike="noStrike" baseline="0">
                <a:solidFill>
                  <a:srgbClr val="000000"/>
                </a:solidFill>
                <a:latin typeface="Neue Haas Grotesk Text Pro"/>
                <a:ea typeface="Arial"/>
                <a:cs typeface="Arial"/>
              </a:rPr>
              <a:t>Hand crafted </a:t>
            </a:r>
            <a:r>
              <a:rPr lang="en-US" b="0" i="0" u="none" strike="noStrike" baseline="0">
                <a:solidFill>
                  <a:srgbClr val="000000"/>
                </a:solidFill>
                <a:latin typeface="Neue Haas Grotesk Text Pro"/>
                <a:ea typeface="Arial"/>
                <a:cs typeface="Arial"/>
              </a:rPr>
              <a:t>interiors</a:t>
            </a:r>
            <a:r>
              <a:rPr lang="en-US" b="1" i="0" u="none" strike="noStrike" baseline="0">
                <a:solidFill>
                  <a:srgbClr val="000000"/>
                </a:solidFill>
                <a:latin typeface="Neue Haas Grotesk Text Pro"/>
                <a:ea typeface="Arial"/>
                <a:cs typeface="Arial"/>
              </a:rPr>
              <a:t> </a:t>
            </a:r>
            <a:r>
              <a:rPr lang="en-US" b="0" i="0" u="none" strike="noStrike" baseline="0">
                <a:solidFill>
                  <a:srgbClr val="000000"/>
                </a:solidFill>
                <a:latin typeface="Neue Haas Grotesk Text Pro"/>
                <a:ea typeface="Arial"/>
                <a:cs typeface="Arial"/>
              </a:rPr>
              <a:t>and </a:t>
            </a:r>
            <a:r>
              <a:rPr lang="en-US" b="1" i="0" u="none" strike="noStrike" baseline="0">
                <a:solidFill>
                  <a:srgbClr val="000000"/>
                </a:solidFill>
                <a:latin typeface="Neue Haas Grotesk Text Pro"/>
                <a:ea typeface="Arial"/>
                <a:cs typeface="Arial"/>
              </a:rPr>
              <a:t>premium materials</a:t>
            </a:r>
            <a:endParaRPr lang="en-US" b="1">
              <a:solidFill>
                <a:srgbClr val="000000"/>
              </a:solidFill>
              <a:latin typeface="Neue Haas Grotesk Text Pro"/>
              <a:ea typeface="Arial"/>
              <a:cs typeface="Arial"/>
            </a:endParaRPr>
          </a:p>
          <a:p>
            <a:pPr lvl="0" algn="ctr"/>
            <a:r>
              <a:rPr lang="en-US" b="0" i="0">
                <a:solidFill>
                  <a:srgbClr val="000000"/>
                </a:solidFill>
                <a:latin typeface="Neue Haas Grotesk Text Pro"/>
                <a:ea typeface="Arial"/>
                <a:cs typeface="Arial"/>
              </a:rPr>
              <a:t>​</a:t>
            </a:r>
            <a:endParaRPr lang="en-US"/>
          </a:p>
          <a:p>
            <a:pPr marL="282575" lvl="0" indent="-282575" algn="ctr" rtl="0">
              <a:buFont typeface="Arial,Sans-Serif"/>
              <a:buChar char="•"/>
            </a:pPr>
            <a:r>
              <a:rPr lang="en-US" b="0" i="0" u="none" strike="noStrike" baseline="0">
                <a:solidFill>
                  <a:srgbClr val="000000"/>
                </a:solidFill>
                <a:latin typeface="Neue Haas Grotesk Text Pro"/>
                <a:ea typeface="Arial"/>
                <a:cs typeface="Arial"/>
              </a:rPr>
              <a:t>Storytelling rooted in </a:t>
            </a:r>
            <a:r>
              <a:rPr lang="en-US" b="1" i="0" u="none" strike="noStrike" baseline="0">
                <a:solidFill>
                  <a:srgbClr val="000000"/>
                </a:solidFill>
                <a:latin typeface="Neue Haas Grotesk Text Pro"/>
                <a:ea typeface="Arial"/>
                <a:cs typeface="Arial"/>
              </a:rPr>
              <a:t>British heritage </a:t>
            </a:r>
            <a:r>
              <a:rPr lang="en-US" b="0" i="0" u="none" strike="noStrike" baseline="0">
                <a:solidFill>
                  <a:srgbClr val="000000"/>
                </a:solidFill>
                <a:latin typeface="Neue Haas Grotesk Text Pro"/>
                <a:ea typeface="Arial"/>
                <a:cs typeface="Arial"/>
              </a:rPr>
              <a:t>and </a:t>
            </a:r>
            <a:r>
              <a:rPr lang="en-US" b="1" i="0" u="none" strike="noStrike" baseline="0">
                <a:solidFill>
                  <a:srgbClr val="000000"/>
                </a:solidFill>
                <a:latin typeface="Neue Haas Grotesk Text Pro"/>
                <a:ea typeface="Arial"/>
                <a:cs typeface="Arial"/>
              </a:rPr>
              <a:t>elegance</a:t>
            </a:r>
            <a:r>
              <a:rPr lang="en-US" b="0" i="0">
                <a:solidFill>
                  <a:srgbClr val="000000"/>
                </a:solidFill>
                <a:latin typeface="Neue Haas Grotesk Text Pro"/>
                <a:ea typeface="Arial"/>
                <a:cs typeface="Arial"/>
              </a:rPr>
              <a:t>​</a:t>
            </a:r>
          </a:p>
          <a:p>
            <a:pPr marL="282575" indent="-282575" algn="ctr">
              <a:buFont typeface="Arial,Sans-Serif"/>
              <a:buChar char="•"/>
            </a:pPr>
            <a:endParaRPr lang="en-US">
              <a:solidFill>
                <a:srgbClr val="000000"/>
              </a:solidFill>
              <a:latin typeface="Neue Haas Grotesk Text Pro"/>
              <a:ea typeface="Arial"/>
              <a:cs typeface="Arial"/>
            </a:endParaRPr>
          </a:p>
          <a:p>
            <a:pPr marL="282575" lvl="0" indent="-282575" algn="ctr" rtl="0">
              <a:buFont typeface="Arial,Sans-Serif"/>
              <a:buChar char="•"/>
            </a:pPr>
            <a:r>
              <a:rPr lang="en-US" b="0" i="0" u="none" strike="noStrike" baseline="0">
                <a:solidFill>
                  <a:srgbClr val="000000"/>
                </a:solidFill>
                <a:latin typeface="Neue Haas Grotesk Text Pro"/>
                <a:ea typeface="Arial"/>
                <a:cs typeface="Arial"/>
              </a:rPr>
              <a:t>Fusion of </a:t>
            </a:r>
            <a:r>
              <a:rPr lang="en-US" b="1" i="0" u="none" strike="noStrike" baseline="0">
                <a:solidFill>
                  <a:srgbClr val="000000"/>
                </a:solidFill>
                <a:latin typeface="Neue Haas Grotesk Text Pro"/>
                <a:ea typeface="Arial"/>
                <a:cs typeface="Arial"/>
              </a:rPr>
              <a:t>craftmanship</a:t>
            </a:r>
            <a:r>
              <a:rPr lang="en-US" b="0" i="0" u="none" strike="noStrike" baseline="0">
                <a:solidFill>
                  <a:srgbClr val="000000"/>
                </a:solidFill>
                <a:latin typeface="Neue Haas Grotesk Text Pro"/>
                <a:ea typeface="Arial"/>
                <a:cs typeface="Arial"/>
              </a:rPr>
              <a:t> and </a:t>
            </a:r>
            <a:r>
              <a:rPr lang="en-US" b="1" i="0" u="none" strike="noStrike" baseline="0">
                <a:solidFill>
                  <a:srgbClr val="000000"/>
                </a:solidFill>
                <a:latin typeface="Neue Haas Grotesk Text Pro"/>
                <a:ea typeface="Arial"/>
                <a:cs typeface="Arial"/>
              </a:rPr>
              <a:t>technology</a:t>
            </a:r>
            <a:r>
              <a:rPr lang="en-US" b="0" i="0">
                <a:solidFill>
                  <a:srgbClr val="000000"/>
                </a:solidFill>
                <a:latin typeface="Neue Haas Grotesk Text Pro"/>
                <a:ea typeface="Arial"/>
                <a:cs typeface="Arial"/>
              </a:rPr>
              <a:t>​</a:t>
            </a:r>
          </a:p>
          <a:p>
            <a:pPr algn="ctr"/>
            <a:endParaRPr lang="fr-FR" sz="1600"/>
          </a:p>
        </p:txBody>
      </p:sp>
      <p:pic>
        <p:nvPicPr>
          <p:cNvPr id="44" name="Picture 40" descr="A blue convertible car with black background&#10;&#10;AI-generated content may be incorrect.">
            <a:extLst>
              <a:ext uri="{FF2B5EF4-FFF2-40B4-BE49-F238E27FC236}">
                <a16:creationId xmlns:a16="http://schemas.microsoft.com/office/drawing/2014/main" id="{A79B212B-2784-C43F-2F70-E647401E35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2668" y="8302511"/>
            <a:ext cx="4952814" cy="2981083"/>
          </a:xfrm>
          <a:prstGeom prst="rect">
            <a:avLst/>
          </a:prstGeom>
        </p:spPr>
      </p:pic>
    </p:spTree>
    <p:extLst>
      <p:ext uri="{BB962C8B-B14F-4D97-AF65-F5344CB8AC3E}">
        <p14:creationId xmlns:p14="http://schemas.microsoft.com/office/powerpoint/2010/main" val="3668237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object 23">
            <a:extLst>
              <a:ext uri="{FF2B5EF4-FFF2-40B4-BE49-F238E27FC236}">
                <a16:creationId xmlns:a16="http://schemas.microsoft.com/office/drawing/2014/main" id="{D57DCA0B-41E3-2818-54A4-47D1D5D30AB1}"/>
              </a:ext>
            </a:extLst>
          </p:cNvPr>
          <p:cNvPicPr/>
          <p:nvPr/>
        </p:nvPicPr>
        <p:blipFill>
          <a:blip r:embed="rId2" cstate="print"/>
          <a:stretch>
            <a:fillRect/>
          </a:stretch>
        </p:blipFill>
        <p:spPr>
          <a:xfrm>
            <a:off x="14046754" y="3901368"/>
            <a:ext cx="4726052" cy="773391"/>
          </a:xfrm>
          <a:prstGeom prst="rect">
            <a:avLst/>
          </a:prstGeom>
        </p:spPr>
      </p:pic>
      <p:pic>
        <p:nvPicPr>
          <p:cNvPr id="42" name="object 23">
            <a:extLst>
              <a:ext uri="{FF2B5EF4-FFF2-40B4-BE49-F238E27FC236}">
                <a16:creationId xmlns:a16="http://schemas.microsoft.com/office/drawing/2014/main" id="{8B997AE4-5CA9-B204-A9F9-FA29C71F7EE1}"/>
              </a:ext>
            </a:extLst>
          </p:cNvPr>
          <p:cNvPicPr/>
          <p:nvPr/>
        </p:nvPicPr>
        <p:blipFill>
          <a:blip r:embed="rId2" cstate="print"/>
          <a:stretch>
            <a:fillRect/>
          </a:stretch>
        </p:blipFill>
        <p:spPr>
          <a:xfrm>
            <a:off x="14046754" y="4803593"/>
            <a:ext cx="4726052" cy="773391"/>
          </a:xfrm>
          <a:prstGeom prst="rect">
            <a:avLst/>
          </a:prstGeom>
        </p:spPr>
      </p:pic>
      <p:pic>
        <p:nvPicPr>
          <p:cNvPr id="44" name="object 23">
            <a:extLst>
              <a:ext uri="{FF2B5EF4-FFF2-40B4-BE49-F238E27FC236}">
                <a16:creationId xmlns:a16="http://schemas.microsoft.com/office/drawing/2014/main" id="{C297A6F9-774E-545B-C4F3-54E737CF0586}"/>
              </a:ext>
            </a:extLst>
          </p:cNvPr>
          <p:cNvPicPr/>
          <p:nvPr/>
        </p:nvPicPr>
        <p:blipFill>
          <a:blip r:embed="rId2" cstate="print"/>
          <a:stretch>
            <a:fillRect/>
          </a:stretch>
        </p:blipFill>
        <p:spPr>
          <a:xfrm>
            <a:off x="14042813" y="7716132"/>
            <a:ext cx="4760383" cy="1098636"/>
          </a:xfrm>
          <a:prstGeom prst="rect">
            <a:avLst/>
          </a:prstGeom>
        </p:spPr>
      </p:pic>
      <p:pic>
        <p:nvPicPr>
          <p:cNvPr id="43" name="object 23">
            <a:extLst>
              <a:ext uri="{FF2B5EF4-FFF2-40B4-BE49-F238E27FC236}">
                <a16:creationId xmlns:a16="http://schemas.microsoft.com/office/drawing/2014/main" id="{42AE164F-D30F-9B31-E6C3-8B3A49FADAD7}"/>
              </a:ext>
            </a:extLst>
          </p:cNvPr>
          <p:cNvPicPr/>
          <p:nvPr/>
        </p:nvPicPr>
        <p:blipFill>
          <a:blip r:embed="rId2" cstate="print"/>
          <a:stretch>
            <a:fillRect/>
          </a:stretch>
        </p:blipFill>
        <p:spPr>
          <a:xfrm>
            <a:off x="14075462" y="6678724"/>
            <a:ext cx="4726052" cy="773391"/>
          </a:xfrm>
          <a:prstGeom prst="rect">
            <a:avLst/>
          </a:prstGeom>
        </p:spPr>
      </p:pic>
      <p:pic>
        <p:nvPicPr>
          <p:cNvPr id="40" name="object 23">
            <a:extLst>
              <a:ext uri="{FF2B5EF4-FFF2-40B4-BE49-F238E27FC236}">
                <a16:creationId xmlns:a16="http://schemas.microsoft.com/office/drawing/2014/main" id="{9DF9502C-85B9-D6FA-49AC-D814F268E555}"/>
              </a:ext>
            </a:extLst>
          </p:cNvPr>
          <p:cNvPicPr/>
          <p:nvPr/>
        </p:nvPicPr>
        <p:blipFill>
          <a:blip r:embed="rId2" cstate="print"/>
          <a:stretch>
            <a:fillRect/>
          </a:stretch>
        </p:blipFill>
        <p:spPr>
          <a:xfrm>
            <a:off x="14016774" y="5748266"/>
            <a:ext cx="4726052" cy="773391"/>
          </a:xfrm>
          <a:prstGeom prst="rect">
            <a:avLst/>
          </a:prstGeom>
        </p:spPr>
      </p:pic>
      <p:sp>
        <p:nvSpPr>
          <p:cNvPr id="2" name="object 2"/>
          <p:cNvSpPr/>
          <p:nvPr/>
        </p:nvSpPr>
        <p:spPr>
          <a:xfrm>
            <a:off x="0" y="10699501"/>
            <a:ext cx="965200" cy="0"/>
          </a:xfrm>
          <a:custGeom>
            <a:avLst/>
            <a:gdLst/>
            <a:ahLst/>
            <a:cxnLst/>
            <a:rect l="l" t="t" r="r" b="b"/>
            <a:pathLst>
              <a:path w="965200">
                <a:moveTo>
                  <a:pt x="0" y="0"/>
                </a:moveTo>
                <a:lnTo>
                  <a:pt x="964641" y="0"/>
                </a:lnTo>
              </a:path>
            </a:pathLst>
          </a:custGeom>
          <a:ln w="10470">
            <a:solidFill>
              <a:srgbClr val="086BB5"/>
            </a:solidFill>
          </a:ln>
        </p:spPr>
        <p:txBody>
          <a:bodyPr wrap="square" lIns="0" tIns="0" rIns="0" bIns="0" rtlCol="0"/>
          <a:lstStyle/>
          <a:p>
            <a:endParaRPr/>
          </a:p>
        </p:txBody>
      </p:sp>
      <p:sp>
        <p:nvSpPr>
          <p:cNvPr id="3" name="object 3"/>
          <p:cNvSpPr/>
          <p:nvPr/>
        </p:nvSpPr>
        <p:spPr>
          <a:xfrm>
            <a:off x="19066329" y="10699500"/>
            <a:ext cx="1038225" cy="0"/>
          </a:xfrm>
          <a:custGeom>
            <a:avLst/>
            <a:gdLst/>
            <a:ahLst/>
            <a:cxnLst/>
            <a:rect l="l" t="t" r="r" b="b"/>
            <a:pathLst>
              <a:path w="1038225">
                <a:moveTo>
                  <a:pt x="0" y="0"/>
                </a:moveTo>
                <a:lnTo>
                  <a:pt x="1037769" y="0"/>
                </a:lnTo>
              </a:path>
            </a:pathLst>
          </a:custGeom>
          <a:ln w="10470">
            <a:solidFill>
              <a:srgbClr val="086BB5"/>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7726790" y="399568"/>
            <a:ext cx="1233889" cy="263866"/>
          </a:xfrm>
          <a:prstGeom prst="rect">
            <a:avLst/>
          </a:prstGeom>
        </p:spPr>
      </p:pic>
      <p:pic>
        <p:nvPicPr>
          <p:cNvPr id="5" name="object 5"/>
          <p:cNvPicPr/>
          <p:nvPr/>
        </p:nvPicPr>
        <p:blipFill>
          <a:blip r:embed="rId4" cstate="print"/>
          <a:stretch>
            <a:fillRect/>
          </a:stretch>
        </p:blipFill>
        <p:spPr>
          <a:xfrm>
            <a:off x="0" y="1095673"/>
            <a:ext cx="1015257" cy="271405"/>
          </a:xfrm>
          <a:prstGeom prst="rect">
            <a:avLst/>
          </a:prstGeom>
        </p:spPr>
      </p:pic>
      <p:grpSp>
        <p:nvGrpSpPr>
          <p:cNvPr id="7" name="object 7"/>
          <p:cNvGrpSpPr/>
          <p:nvPr/>
        </p:nvGrpSpPr>
        <p:grpSpPr>
          <a:xfrm>
            <a:off x="1111655" y="2083161"/>
            <a:ext cx="6109394" cy="8047980"/>
            <a:chOff x="1166100" y="2083161"/>
            <a:chExt cx="5918835" cy="8047980"/>
          </a:xfrm>
        </p:grpSpPr>
        <p:sp>
          <p:nvSpPr>
            <p:cNvPr id="8" name="object 8"/>
            <p:cNvSpPr/>
            <p:nvPr/>
          </p:nvSpPr>
          <p:spPr>
            <a:xfrm>
              <a:off x="1166100" y="2083161"/>
              <a:ext cx="5918835" cy="8047980"/>
            </a:xfrm>
            <a:custGeom>
              <a:avLst/>
              <a:gdLst/>
              <a:ahLst/>
              <a:cxnLst/>
              <a:rect l="l" t="t" r="r" b="b"/>
              <a:pathLst>
                <a:path w="5918834" h="4999990">
                  <a:moveTo>
                    <a:pt x="0" y="261127"/>
                  </a:moveTo>
                  <a:lnTo>
                    <a:pt x="4207" y="214189"/>
                  </a:lnTo>
                  <a:lnTo>
                    <a:pt x="16336" y="170011"/>
                  </a:lnTo>
                  <a:lnTo>
                    <a:pt x="35651" y="129331"/>
                  </a:lnTo>
                  <a:lnTo>
                    <a:pt x="61413" y="92886"/>
                  </a:lnTo>
                  <a:lnTo>
                    <a:pt x="92886" y="61414"/>
                  </a:lnTo>
                  <a:lnTo>
                    <a:pt x="129331" y="35651"/>
                  </a:lnTo>
                  <a:lnTo>
                    <a:pt x="170011" y="16336"/>
                  </a:lnTo>
                  <a:lnTo>
                    <a:pt x="214189" y="4207"/>
                  </a:lnTo>
                  <a:lnTo>
                    <a:pt x="261127" y="0"/>
                  </a:lnTo>
                  <a:lnTo>
                    <a:pt x="5657639" y="0"/>
                  </a:lnTo>
                  <a:lnTo>
                    <a:pt x="5704577" y="4207"/>
                  </a:lnTo>
                  <a:lnTo>
                    <a:pt x="5748755" y="16336"/>
                  </a:lnTo>
                  <a:lnTo>
                    <a:pt x="5789435" y="35651"/>
                  </a:lnTo>
                  <a:lnTo>
                    <a:pt x="5825880" y="61414"/>
                  </a:lnTo>
                  <a:lnTo>
                    <a:pt x="5857352" y="92886"/>
                  </a:lnTo>
                  <a:lnTo>
                    <a:pt x="5883115" y="129331"/>
                  </a:lnTo>
                  <a:lnTo>
                    <a:pt x="5902429" y="170011"/>
                  </a:lnTo>
                  <a:lnTo>
                    <a:pt x="5914559" y="214189"/>
                  </a:lnTo>
                  <a:lnTo>
                    <a:pt x="5918766" y="261127"/>
                  </a:lnTo>
                  <a:lnTo>
                    <a:pt x="5918766" y="4738447"/>
                  </a:lnTo>
                  <a:lnTo>
                    <a:pt x="5914559" y="4785385"/>
                  </a:lnTo>
                  <a:lnTo>
                    <a:pt x="5902429" y="4829563"/>
                  </a:lnTo>
                  <a:lnTo>
                    <a:pt x="5883115" y="4870243"/>
                  </a:lnTo>
                  <a:lnTo>
                    <a:pt x="5857352" y="4906688"/>
                  </a:lnTo>
                  <a:lnTo>
                    <a:pt x="5825880" y="4938160"/>
                  </a:lnTo>
                  <a:lnTo>
                    <a:pt x="5789435" y="4963923"/>
                  </a:lnTo>
                  <a:lnTo>
                    <a:pt x="5748755" y="4983238"/>
                  </a:lnTo>
                  <a:lnTo>
                    <a:pt x="5704577" y="4995367"/>
                  </a:lnTo>
                  <a:lnTo>
                    <a:pt x="5657639" y="4999574"/>
                  </a:lnTo>
                  <a:lnTo>
                    <a:pt x="261127" y="4999574"/>
                  </a:lnTo>
                  <a:lnTo>
                    <a:pt x="214189" y="4995367"/>
                  </a:lnTo>
                  <a:lnTo>
                    <a:pt x="170011" y="4983238"/>
                  </a:lnTo>
                  <a:lnTo>
                    <a:pt x="129331" y="4963923"/>
                  </a:lnTo>
                  <a:lnTo>
                    <a:pt x="92886" y="4938160"/>
                  </a:lnTo>
                  <a:lnTo>
                    <a:pt x="61413" y="4906688"/>
                  </a:lnTo>
                  <a:lnTo>
                    <a:pt x="35651" y="4870243"/>
                  </a:lnTo>
                  <a:lnTo>
                    <a:pt x="16336" y="4829563"/>
                  </a:lnTo>
                  <a:lnTo>
                    <a:pt x="4207" y="4785385"/>
                  </a:lnTo>
                  <a:lnTo>
                    <a:pt x="0" y="4738447"/>
                  </a:lnTo>
                  <a:lnTo>
                    <a:pt x="0" y="261127"/>
                  </a:lnTo>
                  <a:close/>
                </a:path>
              </a:pathLst>
            </a:custGeom>
            <a:ln w="10470">
              <a:solidFill>
                <a:srgbClr val="086BB5"/>
              </a:solidFill>
            </a:ln>
          </p:spPr>
          <p:txBody>
            <a:bodyPr wrap="square" lIns="0" tIns="0" rIns="0" bIns="0" rtlCol="0"/>
            <a:lstStyle/>
            <a:p>
              <a:endParaRPr/>
            </a:p>
          </p:txBody>
        </p:sp>
        <p:pic>
          <p:nvPicPr>
            <p:cNvPr id="9" name="object 9"/>
            <p:cNvPicPr/>
            <p:nvPr/>
          </p:nvPicPr>
          <p:blipFill>
            <a:blip r:embed="rId5" cstate="print"/>
            <a:stretch>
              <a:fillRect/>
            </a:stretch>
          </p:blipFill>
          <p:spPr>
            <a:xfrm>
              <a:off x="1414910" y="2562592"/>
              <a:ext cx="1038837" cy="1038847"/>
            </a:xfrm>
            <a:prstGeom prst="rect">
              <a:avLst/>
            </a:prstGeom>
          </p:spPr>
        </p:pic>
      </p:grpSp>
      <p:sp>
        <p:nvSpPr>
          <p:cNvPr id="10" name="object 10"/>
          <p:cNvSpPr txBox="1"/>
          <p:nvPr/>
        </p:nvSpPr>
        <p:spPr>
          <a:xfrm>
            <a:off x="2708064" y="2621774"/>
            <a:ext cx="3782987" cy="1548501"/>
          </a:xfrm>
          <a:prstGeom prst="rect">
            <a:avLst/>
          </a:prstGeom>
        </p:spPr>
        <p:txBody>
          <a:bodyPr vert="horz" wrap="square" lIns="0" tIns="12065" rIns="0" bIns="0" rtlCol="0">
            <a:spAutoFit/>
          </a:bodyPr>
          <a:lstStyle/>
          <a:p>
            <a:pPr marL="12700">
              <a:lnSpc>
                <a:spcPct val="100000"/>
              </a:lnSpc>
              <a:spcBef>
                <a:spcPts val="95"/>
              </a:spcBef>
            </a:pPr>
            <a:r>
              <a:rPr lang="en-US" sz="3300" spc="-10">
                <a:solidFill>
                  <a:srgbClr val="086BB5"/>
                </a:solidFill>
                <a:latin typeface="Microsoft Sans Serif"/>
                <a:cs typeface="Microsoft Sans Serif"/>
              </a:rPr>
              <a:t>Market Price Segmentation</a:t>
            </a:r>
          </a:p>
          <a:p>
            <a:pPr marL="12700">
              <a:lnSpc>
                <a:spcPct val="100000"/>
              </a:lnSpc>
              <a:spcBef>
                <a:spcPts val="95"/>
              </a:spcBef>
            </a:pPr>
            <a:endParaRPr sz="3300">
              <a:latin typeface="Microsoft Sans Serif"/>
              <a:cs typeface="Microsoft Sans Serif"/>
            </a:endParaRPr>
          </a:p>
        </p:txBody>
      </p:sp>
      <p:sp>
        <p:nvSpPr>
          <p:cNvPr id="12" name="object 12"/>
          <p:cNvSpPr/>
          <p:nvPr/>
        </p:nvSpPr>
        <p:spPr>
          <a:xfrm>
            <a:off x="1483944" y="3729362"/>
            <a:ext cx="5304155" cy="0"/>
          </a:xfrm>
          <a:custGeom>
            <a:avLst/>
            <a:gdLst/>
            <a:ahLst/>
            <a:cxnLst/>
            <a:rect l="l" t="t" r="r" b="b"/>
            <a:pathLst>
              <a:path w="5304155">
                <a:moveTo>
                  <a:pt x="0" y="0"/>
                </a:moveTo>
                <a:lnTo>
                  <a:pt x="5303811" y="0"/>
                </a:lnTo>
              </a:path>
            </a:pathLst>
          </a:custGeom>
          <a:ln w="10470">
            <a:solidFill>
              <a:srgbClr val="7F7F7F"/>
            </a:solidFill>
          </a:ln>
        </p:spPr>
        <p:txBody>
          <a:bodyPr wrap="square" lIns="0" tIns="0" rIns="0" bIns="0" rtlCol="0"/>
          <a:lstStyle/>
          <a:p>
            <a:endParaRPr/>
          </a:p>
        </p:txBody>
      </p:sp>
      <p:grpSp>
        <p:nvGrpSpPr>
          <p:cNvPr id="22" name="object 22"/>
          <p:cNvGrpSpPr/>
          <p:nvPr/>
        </p:nvGrpSpPr>
        <p:grpSpPr>
          <a:xfrm>
            <a:off x="1727353" y="2778037"/>
            <a:ext cx="4068230" cy="6022494"/>
            <a:chOff x="-2872567" y="1934825"/>
            <a:chExt cx="5130938" cy="6641702"/>
          </a:xfrm>
        </p:grpSpPr>
        <p:sp>
          <p:nvSpPr>
            <p:cNvPr id="24" name="object 24"/>
            <p:cNvSpPr/>
            <p:nvPr/>
          </p:nvSpPr>
          <p:spPr>
            <a:xfrm>
              <a:off x="1747831" y="8017092"/>
              <a:ext cx="510540" cy="559435"/>
            </a:xfrm>
            <a:custGeom>
              <a:avLst/>
              <a:gdLst/>
              <a:ahLst/>
              <a:cxnLst/>
              <a:rect l="l" t="t" r="r" b="b"/>
              <a:pathLst>
                <a:path w="510539" h="559434">
                  <a:moveTo>
                    <a:pt x="414668" y="460952"/>
                  </a:moveTo>
                  <a:lnTo>
                    <a:pt x="48783" y="460952"/>
                  </a:lnTo>
                  <a:lnTo>
                    <a:pt x="29790" y="464799"/>
                  </a:lnTo>
                  <a:lnTo>
                    <a:pt x="14284" y="475291"/>
                  </a:lnTo>
                  <a:lnTo>
                    <a:pt x="3832" y="490854"/>
                  </a:lnTo>
                  <a:lnTo>
                    <a:pt x="0" y="509914"/>
                  </a:lnTo>
                  <a:lnTo>
                    <a:pt x="3832" y="528979"/>
                  </a:lnTo>
                  <a:lnTo>
                    <a:pt x="14284" y="544541"/>
                  </a:lnTo>
                  <a:lnTo>
                    <a:pt x="29790" y="555031"/>
                  </a:lnTo>
                  <a:lnTo>
                    <a:pt x="48783" y="558876"/>
                  </a:lnTo>
                  <a:lnTo>
                    <a:pt x="414668" y="558876"/>
                  </a:lnTo>
                  <a:lnTo>
                    <a:pt x="433660" y="555031"/>
                  </a:lnTo>
                  <a:lnTo>
                    <a:pt x="449166" y="544541"/>
                  </a:lnTo>
                  <a:lnTo>
                    <a:pt x="455981" y="534395"/>
                  </a:lnTo>
                  <a:lnTo>
                    <a:pt x="48783" y="534395"/>
                  </a:lnTo>
                  <a:lnTo>
                    <a:pt x="39286" y="532472"/>
                  </a:lnTo>
                  <a:lnTo>
                    <a:pt x="31531" y="527228"/>
                  </a:lnTo>
                  <a:lnTo>
                    <a:pt x="26303" y="519447"/>
                  </a:lnTo>
                  <a:lnTo>
                    <a:pt x="24386" y="509914"/>
                  </a:lnTo>
                  <a:lnTo>
                    <a:pt x="26303" y="500382"/>
                  </a:lnTo>
                  <a:lnTo>
                    <a:pt x="31531" y="492601"/>
                  </a:lnTo>
                  <a:lnTo>
                    <a:pt x="39286" y="487356"/>
                  </a:lnTo>
                  <a:lnTo>
                    <a:pt x="48783" y="485433"/>
                  </a:lnTo>
                  <a:lnTo>
                    <a:pt x="455978" y="485433"/>
                  </a:lnTo>
                  <a:lnTo>
                    <a:pt x="449166" y="475291"/>
                  </a:lnTo>
                  <a:lnTo>
                    <a:pt x="433660" y="464799"/>
                  </a:lnTo>
                  <a:lnTo>
                    <a:pt x="414668" y="460952"/>
                  </a:lnTo>
                  <a:close/>
                </a:path>
                <a:path w="510539" h="559434">
                  <a:moveTo>
                    <a:pt x="455978" y="485433"/>
                  </a:moveTo>
                  <a:lnTo>
                    <a:pt x="414668" y="485433"/>
                  </a:lnTo>
                  <a:lnTo>
                    <a:pt x="424163" y="487356"/>
                  </a:lnTo>
                  <a:lnTo>
                    <a:pt x="431914" y="492601"/>
                  </a:lnTo>
                  <a:lnTo>
                    <a:pt x="437139" y="500382"/>
                  </a:lnTo>
                  <a:lnTo>
                    <a:pt x="439054" y="509914"/>
                  </a:lnTo>
                  <a:lnTo>
                    <a:pt x="437139" y="519447"/>
                  </a:lnTo>
                  <a:lnTo>
                    <a:pt x="431914" y="527228"/>
                  </a:lnTo>
                  <a:lnTo>
                    <a:pt x="424163" y="532472"/>
                  </a:lnTo>
                  <a:lnTo>
                    <a:pt x="414668" y="534395"/>
                  </a:lnTo>
                  <a:lnTo>
                    <a:pt x="455981" y="534395"/>
                  </a:lnTo>
                  <a:lnTo>
                    <a:pt x="459619" y="528979"/>
                  </a:lnTo>
                  <a:lnTo>
                    <a:pt x="463451" y="509914"/>
                  </a:lnTo>
                  <a:lnTo>
                    <a:pt x="459619" y="490854"/>
                  </a:lnTo>
                  <a:lnTo>
                    <a:pt x="455978" y="485433"/>
                  </a:lnTo>
                  <a:close/>
                </a:path>
                <a:path w="510539" h="559434">
                  <a:moveTo>
                    <a:pt x="232069" y="0"/>
                  </a:moveTo>
                  <a:lnTo>
                    <a:pt x="223312" y="1529"/>
                  </a:lnTo>
                  <a:lnTo>
                    <a:pt x="216299" y="6314"/>
                  </a:lnTo>
                  <a:lnTo>
                    <a:pt x="213428" y="14191"/>
                  </a:lnTo>
                  <a:lnTo>
                    <a:pt x="213428" y="460952"/>
                  </a:lnTo>
                  <a:lnTo>
                    <a:pt x="237825" y="460952"/>
                  </a:lnTo>
                  <a:lnTo>
                    <a:pt x="237825" y="315177"/>
                  </a:lnTo>
                  <a:lnTo>
                    <a:pt x="290312" y="287754"/>
                  </a:lnTo>
                  <a:lnTo>
                    <a:pt x="237825" y="287754"/>
                  </a:lnTo>
                  <a:lnTo>
                    <a:pt x="237825" y="28274"/>
                  </a:lnTo>
                  <a:lnTo>
                    <a:pt x="290607" y="28274"/>
                  </a:lnTo>
                  <a:lnTo>
                    <a:pt x="240170" y="1888"/>
                  </a:lnTo>
                  <a:lnTo>
                    <a:pt x="232069" y="0"/>
                  </a:lnTo>
                  <a:close/>
                </a:path>
                <a:path w="510539" h="559434">
                  <a:moveTo>
                    <a:pt x="290607" y="28274"/>
                  </a:moveTo>
                  <a:lnTo>
                    <a:pt x="237825" y="28274"/>
                  </a:lnTo>
                  <a:lnTo>
                    <a:pt x="485859" y="158009"/>
                  </a:lnTo>
                  <a:lnTo>
                    <a:pt x="237825" y="287754"/>
                  </a:lnTo>
                  <a:lnTo>
                    <a:pt x="290312" y="287754"/>
                  </a:lnTo>
                  <a:lnTo>
                    <a:pt x="497115" y="179704"/>
                  </a:lnTo>
                  <a:lnTo>
                    <a:pt x="506963" y="170351"/>
                  </a:lnTo>
                  <a:lnTo>
                    <a:pt x="510246" y="158009"/>
                  </a:lnTo>
                  <a:lnTo>
                    <a:pt x="506963" y="145667"/>
                  </a:lnTo>
                  <a:lnTo>
                    <a:pt x="497115" y="136313"/>
                  </a:lnTo>
                  <a:lnTo>
                    <a:pt x="290607" y="28274"/>
                  </a:lnTo>
                  <a:close/>
                </a:path>
              </a:pathLst>
            </a:custGeom>
            <a:solidFill>
              <a:srgbClr val="FFFFFF"/>
            </a:solidFill>
          </p:spPr>
          <p:txBody>
            <a:bodyPr wrap="square" lIns="0" tIns="0" rIns="0" bIns="0" rtlCol="0"/>
            <a:lstStyle/>
            <a:p>
              <a:endParaRPr/>
            </a:p>
          </p:txBody>
        </p:sp>
        <p:sp>
          <p:nvSpPr>
            <p:cNvPr id="25" name="object 25"/>
            <p:cNvSpPr/>
            <p:nvPr/>
          </p:nvSpPr>
          <p:spPr>
            <a:xfrm>
              <a:off x="-2872567" y="1934825"/>
              <a:ext cx="510540" cy="559435"/>
            </a:xfrm>
            <a:custGeom>
              <a:avLst/>
              <a:gdLst/>
              <a:ahLst/>
              <a:cxnLst/>
              <a:rect l="l" t="t" r="r" b="b"/>
              <a:pathLst>
                <a:path w="510539" h="559434">
                  <a:moveTo>
                    <a:pt x="240175" y="1886"/>
                  </a:moveTo>
                  <a:lnTo>
                    <a:pt x="232074" y="0"/>
                  </a:lnTo>
                  <a:lnTo>
                    <a:pt x="223318" y="1530"/>
                  </a:lnTo>
                  <a:lnTo>
                    <a:pt x="216305" y="6314"/>
                  </a:lnTo>
                  <a:lnTo>
                    <a:pt x="213435" y="14187"/>
                  </a:lnTo>
                  <a:lnTo>
                    <a:pt x="213435" y="460955"/>
                  </a:lnTo>
                  <a:lnTo>
                    <a:pt x="48784" y="460955"/>
                  </a:lnTo>
                  <a:lnTo>
                    <a:pt x="29791" y="464802"/>
                  </a:lnTo>
                  <a:lnTo>
                    <a:pt x="14284" y="475292"/>
                  </a:lnTo>
                  <a:lnTo>
                    <a:pt x="3832" y="490854"/>
                  </a:lnTo>
                  <a:lnTo>
                    <a:pt x="0" y="509916"/>
                  </a:lnTo>
                  <a:lnTo>
                    <a:pt x="3832" y="528979"/>
                  </a:lnTo>
                  <a:lnTo>
                    <a:pt x="14284" y="544541"/>
                  </a:lnTo>
                  <a:lnTo>
                    <a:pt x="29791" y="555032"/>
                  </a:lnTo>
                  <a:lnTo>
                    <a:pt x="48784" y="558878"/>
                  </a:lnTo>
                  <a:lnTo>
                    <a:pt x="414671" y="558878"/>
                  </a:lnTo>
                  <a:lnTo>
                    <a:pt x="433664" y="555032"/>
                  </a:lnTo>
                  <a:lnTo>
                    <a:pt x="449170" y="544541"/>
                  </a:lnTo>
                  <a:lnTo>
                    <a:pt x="459623" y="528979"/>
                  </a:lnTo>
                  <a:lnTo>
                    <a:pt x="463455" y="509916"/>
                  </a:lnTo>
                  <a:lnTo>
                    <a:pt x="459623" y="490854"/>
                  </a:lnTo>
                  <a:lnTo>
                    <a:pt x="449170" y="475292"/>
                  </a:lnTo>
                  <a:lnTo>
                    <a:pt x="433664" y="464802"/>
                  </a:lnTo>
                  <a:lnTo>
                    <a:pt x="414671" y="460955"/>
                  </a:lnTo>
                  <a:lnTo>
                    <a:pt x="237827" y="460955"/>
                  </a:lnTo>
                  <a:lnTo>
                    <a:pt x="237827" y="315177"/>
                  </a:lnTo>
                  <a:lnTo>
                    <a:pt x="497121" y="179707"/>
                  </a:lnTo>
                  <a:lnTo>
                    <a:pt x="506966" y="170354"/>
                  </a:lnTo>
                  <a:lnTo>
                    <a:pt x="510247" y="158011"/>
                  </a:lnTo>
                  <a:lnTo>
                    <a:pt x="506966" y="145668"/>
                  </a:lnTo>
                  <a:lnTo>
                    <a:pt x="497121" y="136315"/>
                  </a:lnTo>
                  <a:lnTo>
                    <a:pt x="240175" y="1886"/>
                  </a:lnTo>
                  <a:close/>
                </a:path>
                <a:path w="510539" h="559434">
                  <a:moveTo>
                    <a:pt x="237827" y="287756"/>
                  </a:moveTo>
                  <a:lnTo>
                    <a:pt x="485865" y="158013"/>
                  </a:lnTo>
                  <a:lnTo>
                    <a:pt x="237827" y="28270"/>
                  </a:lnTo>
                  <a:lnTo>
                    <a:pt x="237827" y="287756"/>
                  </a:lnTo>
                  <a:close/>
                </a:path>
                <a:path w="510539" h="559434">
                  <a:moveTo>
                    <a:pt x="24392" y="509914"/>
                  </a:moveTo>
                  <a:lnTo>
                    <a:pt x="26308" y="500383"/>
                  </a:lnTo>
                  <a:lnTo>
                    <a:pt x="31534" y="492602"/>
                  </a:lnTo>
                  <a:lnTo>
                    <a:pt x="39287" y="487356"/>
                  </a:lnTo>
                  <a:lnTo>
                    <a:pt x="48784" y="485433"/>
                  </a:lnTo>
                  <a:lnTo>
                    <a:pt x="414671" y="485433"/>
                  </a:lnTo>
                  <a:lnTo>
                    <a:pt x="424168" y="487356"/>
                  </a:lnTo>
                  <a:lnTo>
                    <a:pt x="431921" y="492602"/>
                  </a:lnTo>
                  <a:lnTo>
                    <a:pt x="437147" y="500383"/>
                  </a:lnTo>
                  <a:lnTo>
                    <a:pt x="439063" y="509914"/>
                  </a:lnTo>
                  <a:lnTo>
                    <a:pt x="437147" y="519446"/>
                  </a:lnTo>
                  <a:lnTo>
                    <a:pt x="431921" y="527227"/>
                  </a:lnTo>
                  <a:lnTo>
                    <a:pt x="424168" y="532472"/>
                  </a:lnTo>
                  <a:lnTo>
                    <a:pt x="414671" y="534395"/>
                  </a:lnTo>
                  <a:lnTo>
                    <a:pt x="48784" y="534395"/>
                  </a:lnTo>
                  <a:lnTo>
                    <a:pt x="39287" y="532472"/>
                  </a:lnTo>
                  <a:lnTo>
                    <a:pt x="31534" y="527227"/>
                  </a:lnTo>
                  <a:lnTo>
                    <a:pt x="26308" y="519446"/>
                  </a:lnTo>
                  <a:lnTo>
                    <a:pt x="24392" y="509914"/>
                  </a:lnTo>
                  <a:close/>
                </a:path>
              </a:pathLst>
            </a:custGeom>
            <a:ln w="5235">
              <a:solidFill>
                <a:srgbClr val="FFFFFF"/>
              </a:solidFill>
            </a:ln>
          </p:spPr>
          <p:txBody>
            <a:bodyPr wrap="square" lIns="0" tIns="0" rIns="0" bIns="0" rtlCol="0"/>
            <a:lstStyle/>
            <a:p>
              <a:endParaRPr/>
            </a:p>
          </p:txBody>
        </p:sp>
      </p:grpSp>
      <p:grpSp>
        <p:nvGrpSpPr>
          <p:cNvPr id="27" name="object 27"/>
          <p:cNvGrpSpPr/>
          <p:nvPr/>
        </p:nvGrpSpPr>
        <p:grpSpPr>
          <a:xfrm>
            <a:off x="7367116" y="2083151"/>
            <a:ext cx="11541760" cy="8047990"/>
            <a:chOff x="7435406" y="2083151"/>
            <a:chExt cx="11541760" cy="8047990"/>
          </a:xfrm>
        </p:grpSpPr>
        <p:sp>
          <p:nvSpPr>
            <p:cNvPr id="28" name="object 28"/>
            <p:cNvSpPr/>
            <p:nvPr/>
          </p:nvSpPr>
          <p:spPr>
            <a:xfrm>
              <a:off x="7435406" y="2083151"/>
              <a:ext cx="11541760" cy="8047990"/>
            </a:xfrm>
            <a:custGeom>
              <a:avLst/>
              <a:gdLst/>
              <a:ahLst/>
              <a:cxnLst/>
              <a:rect l="l" t="t" r="r" b="b"/>
              <a:pathLst>
                <a:path w="11541760" h="8047990">
                  <a:moveTo>
                    <a:pt x="0" y="301315"/>
                  </a:moveTo>
                  <a:lnTo>
                    <a:pt x="3943" y="252440"/>
                  </a:lnTo>
                  <a:lnTo>
                    <a:pt x="15361" y="206076"/>
                  </a:lnTo>
                  <a:lnTo>
                    <a:pt x="33632" y="162843"/>
                  </a:lnTo>
                  <a:lnTo>
                    <a:pt x="58136" y="123362"/>
                  </a:lnTo>
                  <a:lnTo>
                    <a:pt x="88253" y="88253"/>
                  </a:lnTo>
                  <a:lnTo>
                    <a:pt x="123362" y="58136"/>
                  </a:lnTo>
                  <a:lnTo>
                    <a:pt x="162843" y="33632"/>
                  </a:lnTo>
                  <a:lnTo>
                    <a:pt x="206076" y="15361"/>
                  </a:lnTo>
                  <a:lnTo>
                    <a:pt x="252440" y="3943"/>
                  </a:lnTo>
                  <a:lnTo>
                    <a:pt x="301315" y="0"/>
                  </a:lnTo>
                  <a:lnTo>
                    <a:pt x="11240349" y="0"/>
                  </a:lnTo>
                  <a:lnTo>
                    <a:pt x="11289224" y="3943"/>
                  </a:lnTo>
                  <a:lnTo>
                    <a:pt x="11335588" y="15361"/>
                  </a:lnTo>
                  <a:lnTo>
                    <a:pt x="11378820" y="33632"/>
                  </a:lnTo>
                  <a:lnTo>
                    <a:pt x="11418302" y="58136"/>
                  </a:lnTo>
                  <a:lnTo>
                    <a:pt x="11453411" y="88253"/>
                  </a:lnTo>
                  <a:lnTo>
                    <a:pt x="11483528" y="123362"/>
                  </a:lnTo>
                  <a:lnTo>
                    <a:pt x="11508032" y="162843"/>
                  </a:lnTo>
                  <a:lnTo>
                    <a:pt x="11526303" y="206076"/>
                  </a:lnTo>
                  <a:lnTo>
                    <a:pt x="11537720" y="252440"/>
                  </a:lnTo>
                  <a:lnTo>
                    <a:pt x="11541664" y="301315"/>
                  </a:lnTo>
                  <a:lnTo>
                    <a:pt x="11541664" y="7746523"/>
                  </a:lnTo>
                  <a:lnTo>
                    <a:pt x="11537720" y="7795397"/>
                  </a:lnTo>
                  <a:lnTo>
                    <a:pt x="11526303" y="7841761"/>
                  </a:lnTo>
                  <a:lnTo>
                    <a:pt x="11508032" y="7884994"/>
                  </a:lnTo>
                  <a:lnTo>
                    <a:pt x="11483528" y="7924475"/>
                  </a:lnTo>
                  <a:lnTo>
                    <a:pt x="11453411" y="7959584"/>
                  </a:lnTo>
                  <a:lnTo>
                    <a:pt x="11418302" y="7989701"/>
                  </a:lnTo>
                  <a:lnTo>
                    <a:pt x="11378820" y="8014205"/>
                  </a:lnTo>
                  <a:lnTo>
                    <a:pt x="11335588" y="8032477"/>
                  </a:lnTo>
                  <a:lnTo>
                    <a:pt x="11289224" y="8043894"/>
                  </a:lnTo>
                  <a:lnTo>
                    <a:pt x="11240349" y="8047838"/>
                  </a:lnTo>
                  <a:lnTo>
                    <a:pt x="301315" y="8047838"/>
                  </a:lnTo>
                  <a:lnTo>
                    <a:pt x="252440" y="8043894"/>
                  </a:lnTo>
                  <a:lnTo>
                    <a:pt x="206076" y="8032477"/>
                  </a:lnTo>
                  <a:lnTo>
                    <a:pt x="162843" y="8014205"/>
                  </a:lnTo>
                  <a:lnTo>
                    <a:pt x="123362" y="7989701"/>
                  </a:lnTo>
                  <a:lnTo>
                    <a:pt x="88253" y="7959584"/>
                  </a:lnTo>
                  <a:lnTo>
                    <a:pt x="58136" y="7924475"/>
                  </a:lnTo>
                  <a:lnTo>
                    <a:pt x="33632" y="7884994"/>
                  </a:lnTo>
                  <a:lnTo>
                    <a:pt x="15361" y="7841761"/>
                  </a:lnTo>
                  <a:lnTo>
                    <a:pt x="3943" y="7795397"/>
                  </a:lnTo>
                  <a:lnTo>
                    <a:pt x="0" y="7746523"/>
                  </a:lnTo>
                  <a:lnTo>
                    <a:pt x="0" y="301315"/>
                  </a:lnTo>
                  <a:close/>
                </a:path>
              </a:pathLst>
            </a:custGeom>
            <a:ln w="10470">
              <a:solidFill>
                <a:srgbClr val="333399"/>
              </a:solidFill>
            </a:ln>
          </p:spPr>
          <p:txBody>
            <a:bodyPr wrap="square" lIns="0" tIns="0" rIns="0" bIns="0" rtlCol="0"/>
            <a:lstStyle/>
            <a:p>
              <a:endParaRPr/>
            </a:p>
          </p:txBody>
        </p:sp>
        <p:pic>
          <p:nvPicPr>
            <p:cNvPr id="29" name="object 29"/>
            <p:cNvPicPr/>
            <p:nvPr/>
          </p:nvPicPr>
          <p:blipFill>
            <a:blip r:embed="rId6" cstate="print"/>
            <a:stretch>
              <a:fillRect/>
            </a:stretch>
          </p:blipFill>
          <p:spPr>
            <a:xfrm>
              <a:off x="7752831" y="2400586"/>
              <a:ext cx="1038847" cy="1038847"/>
            </a:xfrm>
            <a:prstGeom prst="rect">
              <a:avLst/>
            </a:prstGeom>
          </p:spPr>
        </p:pic>
      </p:grpSp>
      <p:sp>
        <p:nvSpPr>
          <p:cNvPr id="30" name="object 30"/>
          <p:cNvSpPr txBox="1"/>
          <p:nvPr/>
        </p:nvSpPr>
        <p:spPr>
          <a:xfrm>
            <a:off x="8977372" y="2621774"/>
            <a:ext cx="5507822" cy="1040670"/>
          </a:xfrm>
          <a:prstGeom prst="rect">
            <a:avLst/>
          </a:prstGeom>
        </p:spPr>
        <p:txBody>
          <a:bodyPr vert="horz" wrap="square" lIns="0" tIns="12065" rIns="0" bIns="0" rtlCol="0">
            <a:spAutoFit/>
          </a:bodyPr>
          <a:lstStyle/>
          <a:p>
            <a:pPr marL="12700">
              <a:lnSpc>
                <a:spcPct val="100000"/>
              </a:lnSpc>
              <a:spcBef>
                <a:spcPts val="95"/>
              </a:spcBef>
            </a:pPr>
            <a:r>
              <a:rPr lang="en-US" sz="3300" spc="-10">
                <a:solidFill>
                  <a:srgbClr val="333399"/>
                </a:solidFill>
                <a:latin typeface="Microsoft Sans Serif"/>
                <a:cs typeface="Microsoft Sans Serif"/>
              </a:rPr>
              <a:t>Market Mapping in 2025</a:t>
            </a:r>
          </a:p>
          <a:p>
            <a:pPr marL="12700">
              <a:lnSpc>
                <a:spcPct val="100000"/>
              </a:lnSpc>
              <a:spcBef>
                <a:spcPts val="95"/>
              </a:spcBef>
            </a:pPr>
            <a:endParaRPr sz="3300">
              <a:latin typeface="Microsoft Sans Serif"/>
              <a:cs typeface="Microsoft Sans Serif"/>
            </a:endParaRPr>
          </a:p>
        </p:txBody>
      </p:sp>
      <p:grpSp>
        <p:nvGrpSpPr>
          <p:cNvPr id="31" name="object 31"/>
          <p:cNvGrpSpPr/>
          <p:nvPr/>
        </p:nvGrpSpPr>
        <p:grpSpPr>
          <a:xfrm>
            <a:off x="7836393" y="2620217"/>
            <a:ext cx="10402673" cy="1111063"/>
            <a:chOff x="7753250" y="2572026"/>
            <a:chExt cx="18643041" cy="1157335"/>
          </a:xfrm>
        </p:grpSpPr>
        <p:sp>
          <p:nvSpPr>
            <p:cNvPr id="32" name="object 32"/>
            <p:cNvSpPr/>
            <p:nvPr/>
          </p:nvSpPr>
          <p:spPr>
            <a:xfrm flipV="1">
              <a:off x="7753250" y="3671134"/>
              <a:ext cx="18643041" cy="58227"/>
            </a:xfrm>
            <a:custGeom>
              <a:avLst/>
              <a:gdLst/>
              <a:ahLst/>
              <a:cxnLst/>
              <a:rect l="l" t="t" r="r" b="b"/>
              <a:pathLst>
                <a:path w="10893425">
                  <a:moveTo>
                    <a:pt x="0" y="0"/>
                  </a:moveTo>
                  <a:lnTo>
                    <a:pt x="10893024" y="0"/>
                  </a:lnTo>
                </a:path>
              </a:pathLst>
            </a:custGeom>
            <a:ln w="10470">
              <a:solidFill>
                <a:srgbClr val="7F7F7F"/>
              </a:solidFill>
            </a:ln>
          </p:spPr>
          <p:txBody>
            <a:bodyPr wrap="square" lIns="0" tIns="0" rIns="0" bIns="0" rtlCol="0"/>
            <a:lstStyle/>
            <a:p>
              <a:endParaRPr/>
            </a:p>
          </p:txBody>
        </p:sp>
        <p:pic>
          <p:nvPicPr>
            <p:cNvPr id="33" name="object 33"/>
            <p:cNvPicPr/>
            <p:nvPr/>
          </p:nvPicPr>
          <p:blipFill>
            <a:blip r:embed="rId7" cstate="print"/>
            <a:stretch>
              <a:fillRect/>
            </a:stretch>
          </p:blipFill>
          <p:spPr>
            <a:xfrm>
              <a:off x="7808575" y="2572026"/>
              <a:ext cx="1136829" cy="590803"/>
            </a:xfrm>
            <a:prstGeom prst="rect">
              <a:avLst/>
            </a:prstGeom>
          </p:spPr>
        </p:pic>
      </p:grpSp>
      <p:sp>
        <p:nvSpPr>
          <p:cNvPr id="48" name="AutoShape 4">
            <a:extLst>
              <a:ext uri="{FF2B5EF4-FFF2-40B4-BE49-F238E27FC236}">
                <a16:creationId xmlns:a16="http://schemas.microsoft.com/office/drawing/2014/main" id="{1D99249A-B9F1-AB7D-8D66-F24B7B13B322}"/>
              </a:ext>
            </a:extLst>
          </p:cNvPr>
          <p:cNvSpPr/>
          <p:nvPr/>
        </p:nvSpPr>
        <p:spPr>
          <a:xfrm flipV="1">
            <a:off x="8369713" y="4170275"/>
            <a:ext cx="0" cy="4860919"/>
          </a:xfrm>
          <a:prstGeom prst="line">
            <a:avLst/>
          </a:prstGeom>
          <a:ln w="66675" cap="flat">
            <a:solidFill>
              <a:srgbClr val="6669BF"/>
            </a:solidFill>
            <a:prstDash val="solid"/>
            <a:headEnd type="none" w="sm" len="sm"/>
            <a:tailEnd type="arrow" w="med" len="sm"/>
          </a:ln>
        </p:spPr>
        <p:txBody>
          <a:bodyPr/>
          <a:lstStyle/>
          <a:p>
            <a:endParaRPr lang="fr-FR"/>
          </a:p>
        </p:txBody>
      </p:sp>
      <p:sp>
        <p:nvSpPr>
          <p:cNvPr id="49" name="AutoShape 5">
            <a:extLst>
              <a:ext uri="{FF2B5EF4-FFF2-40B4-BE49-F238E27FC236}">
                <a16:creationId xmlns:a16="http://schemas.microsoft.com/office/drawing/2014/main" id="{24AFD128-8D99-F271-1B49-57C0E001098A}"/>
              </a:ext>
            </a:extLst>
          </p:cNvPr>
          <p:cNvSpPr/>
          <p:nvPr/>
        </p:nvSpPr>
        <p:spPr>
          <a:xfrm>
            <a:off x="8343767" y="9008690"/>
            <a:ext cx="5604486" cy="0"/>
          </a:xfrm>
          <a:prstGeom prst="line">
            <a:avLst/>
          </a:prstGeom>
          <a:ln w="66675" cap="flat">
            <a:solidFill>
              <a:srgbClr val="6669BF"/>
            </a:solidFill>
            <a:prstDash val="solid"/>
            <a:headEnd type="none" w="sm" len="sm"/>
            <a:tailEnd type="arrow" w="med" len="sm"/>
          </a:ln>
        </p:spPr>
        <p:txBody>
          <a:bodyPr/>
          <a:lstStyle/>
          <a:p>
            <a:endParaRPr lang="fr-FR"/>
          </a:p>
        </p:txBody>
      </p:sp>
      <p:sp>
        <p:nvSpPr>
          <p:cNvPr id="50" name="Freeform 6">
            <a:extLst>
              <a:ext uri="{FF2B5EF4-FFF2-40B4-BE49-F238E27FC236}">
                <a16:creationId xmlns:a16="http://schemas.microsoft.com/office/drawing/2014/main" id="{D9034948-184B-B134-BB8B-1D23A950D885}"/>
              </a:ext>
            </a:extLst>
          </p:cNvPr>
          <p:cNvSpPr/>
          <p:nvPr/>
        </p:nvSpPr>
        <p:spPr>
          <a:xfrm>
            <a:off x="9439255" y="8374935"/>
            <a:ext cx="519927" cy="451511"/>
          </a:xfrm>
          <a:custGeom>
            <a:avLst/>
            <a:gdLst/>
            <a:ahLst/>
            <a:cxnLst/>
            <a:rect l="l" t="t" r="r" b="b"/>
            <a:pathLst>
              <a:path w="626950" h="627735">
                <a:moveTo>
                  <a:pt x="0" y="0"/>
                </a:moveTo>
                <a:lnTo>
                  <a:pt x="626951" y="0"/>
                </a:lnTo>
                <a:lnTo>
                  <a:pt x="626951" y="627735"/>
                </a:lnTo>
                <a:lnTo>
                  <a:pt x="0" y="627735"/>
                </a:lnTo>
                <a:lnTo>
                  <a:pt x="0" y="0"/>
                </a:lnTo>
                <a:close/>
              </a:path>
            </a:pathLst>
          </a:custGeom>
          <a:blipFill>
            <a:blip r:embed="rId8"/>
            <a:stretch>
              <a:fillRect/>
            </a:stretch>
          </a:blipFill>
        </p:spPr>
        <p:txBody>
          <a:bodyPr/>
          <a:lstStyle/>
          <a:p>
            <a:endParaRPr lang="fr-FR"/>
          </a:p>
        </p:txBody>
      </p:sp>
      <p:sp>
        <p:nvSpPr>
          <p:cNvPr id="51" name="Freeform 7">
            <a:extLst>
              <a:ext uri="{FF2B5EF4-FFF2-40B4-BE49-F238E27FC236}">
                <a16:creationId xmlns:a16="http://schemas.microsoft.com/office/drawing/2014/main" id="{1C7E9610-A048-D327-A266-4D600187E971}"/>
              </a:ext>
            </a:extLst>
          </p:cNvPr>
          <p:cNvSpPr/>
          <p:nvPr/>
        </p:nvSpPr>
        <p:spPr>
          <a:xfrm>
            <a:off x="10519586" y="5810714"/>
            <a:ext cx="702963" cy="328221"/>
          </a:xfrm>
          <a:custGeom>
            <a:avLst/>
            <a:gdLst/>
            <a:ahLst/>
            <a:cxnLst/>
            <a:rect l="l" t="t" r="r" b="b"/>
            <a:pathLst>
              <a:path w="847663" h="456325">
                <a:moveTo>
                  <a:pt x="0" y="0"/>
                </a:moveTo>
                <a:lnTo>
                  <a:pt x="847663" y="0"/>
                </a:lnTo>
                <a:lnTo>
                  <a:pt x="847663" y="456325"/>
                </a:lnTo>
                <a:lnTo>
                  <a:pt x="0" y="456325"/>
                </a:lnTo>
                <a:lnTo>
                  <a:pt x="0" y="0"/>
                </a:lnTo>
                <a:close/>
              </a:path>
            </a:pathLst>
          </a:custGeom>
          <a:blipFill>
            <a:blip r:embed="rId9"/>
            <a:stretch>
              <a:fillRect/>
            </a:stretch>
          </a:blipFill>
        </p:spPr>
        <p:txBody>
          <a:bodyPr/>
          <a:lstStyle/>
          <a:p>
            <a:endParaRPr lang="fr-FR"/>
          </a:p>
        </p:txBody>
      </p:sp>
      <p:sp>
        <p:nvSpPr>
          <p:cNvPr id="52" name="Freeform 8">
            <a:extLst>
              <a:ext uri="{FF2B5EF4-FFF2-40B4-BE49-F238E27FC236}">
                <a16:creationId xmlns:a16="http://schemas.microsoft.com/office/drawing/2014/main" id="{3B6E2B56-8555-B71B-6444-E05DBCAF0FCC}"/>
              </a:ext>
            </a:extLst>
          </p:cNvPr>
          <p:cNvSpPr/>
          <p:nvPr/>
        </p:nvSpPr>
        <p:spPr>
          <a:xfrm>
            <a:off x="11621681" y="8023409"/>
            <a:ext cx="1279558" cy="496633"/>
          </a:xfrm>
          <a:custGeom>
            <a:avLst/>
            <a:gdLst/>
            <a:ahLst/>
            <a:cxnLst/>
            <a:rect l="l" t="t" r="r" b="b"/>
            <a:pathLst>
              <a:path w="1542947" h="690469">
                <a:moveTo>
                  <a:pt x="0" y="0"/>
                </a:moveTo>
                <a:lnTo>
                  <a:pt x="1542948" y="0"/>
                </a:lnTo>
                <a:lnTo>
                  <a:pt x="1542948" y="690469"/>
                </a:lnTo>
                <a:lnTo>
                  <a:pt x="0" y="690469"/>
                </a:lnTo>
                <a:lnTo>
                  <a:pt x="0" y="0"/>
                </a:lnTo>
                <a:close/>
              </a:path>
            </a:pathLst>
          </a:custGeom>
          <a:blipFill>
            <a:blip r:embed="rId10"/>
            <a:stretch>
              <a:fillRect/>
            </a:stretch>
          </a:blipFill>
        </p:spPr>
        <p:txBody>
          <a:bodyPr/>
          <a:lstStyle/>
          <a:p>
            <a:endParaRPr lang="fr-FR"/>
          </a:p>
        </p:txBody>
      </p:sp>
      <p:sp>
        <p:nvSpPr>
          <p:cNvPr id="53" name="Freeform 9">
            <a:extLst>
              <a:ext uri="{FF2B5EF4-FFF2-40B4-BE49-F238E27FC236}">
                <a16:creationId xmlns:a16="http://schemas.microsoft.com/office/drawing/2014/main" id="{1F514758-84D1-291F-D301-E3D7F14120F6}"/>
              </a:ext>
            </a:extLst>
          </p:cNvPr>
          <p:cNvSpPr/>
          <p:nvPr/>
        </p:nvSpPr>
        <p:spPr>
          <a:xfrm>
            <a:off x="11900362" y="6291240"/>
            <a:ext cx="573471" cy="497386"/>
          </a:xfrm>
          <a:custGeom>
            <a:avLst/>
            <a:gdLst/>
            <a:ahLst/>
            <a:cxnLst/>
            <a:rect l="l" t="t" r="r" b="b"/>
            <a:pathLst>
              <a:path w="691516" h="691516">
                <a:moveTo>
                  <a:pt x="0" y="0"/>
                </a:moveTo>
                <a:lnTo>
                  <a:pt x="691516" y="0"/>
                </a:lnTo>
                <a:lnTo>
                  <a:pt x="691516" y="691516"/>
                </a:lnTo>
                <a:lnTo>
                  <a:pt x="0" y="691516"/>
                </a:lnTo>
                <a:lnTo>
                  <a:pt x="0" y="0"/>
                </a:lnTo>
                <a:close/>
              </a:path>
            </a:pathLst>
          </a:custGeom>
          <a:blipFill>
            <a:blip r:embed="rId11"/>
            <a:stretch>
              <a:fillRect/>
            </a:stretch>
          </a:blipFill>
        </p:spPr>
        <p:txBody>
          <a:bodyPr/>
          <a:lstStyle/>
          <a:p>
            <a:endParaRPr lang="fr-FR"/>
          </a:p>
        </p:txBody>
      </p:sp>
      <p:sp>
        <p:nvSpPr>
          <p:cNvPr id="54" name="Freeform 10">
            <a:extLst>
              <a:ext uri="{FF2B5EF4-FFF2-40B4-BE49-F238E27FC236}">
                <a16:creationId xmlns:a16="http://schemas.microsoft.com/office/drawing/2014/main" id="{417EF734-DA71-CEDE-79FB-11D448A8B9F6}"/>
              </a:ext>
            </a:extLst>
          </p:cNvPr>
          <p:cNvSpPr/>
          <p:nvPr/>
        </p:nvSpPr>
        <p:spPr>
          <a:xfrm>
            <a:off x="11219925" y="6275956"/>
            <a:ext cx="560106" cy="485795"/>
          </a:xfrm>
          <a:custGeom>
            <a:avLst/>
            <a:gdLst/>
            <a:ahLst/>
            <a:cxnLst/>
            <a:rect l="l" t="t" r="r" b="b"/>
            <a:pathLst>
              <a:path w="675400" h="675400">
                <a:moveTo>
                  <a:pt x="0" y="0"/>
                </a:moveTo>
                <a:lnTo>
                  <a:pt x="675400" y="0"/>
                </a:lnTo>
                <a:lnTo>
                  <a:pt x="675400" y="675401"/>
                </a:lnTo>
                <a:lnTo>
                  <a:pt x="0" y="675401"/>
                </a:lnTo>
                <a:lnTo>
                  <a:pt x="0" y="0"/>
                </a:lnTo>
                <a:close/>
              </a:path>
            </a:pathLst>
          </a:custGeom>
          <a:blipFill>
            <a:blip r:embed="rId12"/>
            <a:stretch>
              <a:fillRect/>
            </a:stretch>
          </a:blipFill>
        </p:spPr>
        <p:txBody>
          <a:bodyPr/>
          <a:lstStyle/>
          <a:p>
            <a:endParaRPr lang="fr-FR"/>
          </a:p>
        </p:txBody>
      </p:sp>
      <p:sp>
        <p:nvSpPr>
          <p:cNvPr id="55" name="Freeform 11">
            <a:extLst>
              <a:ext uri="{FF2B5EF4-FFF2-40B4-BE49-F238E27FC236}">
                <a16:creationId xmlns:a16="http://schemas.microsoft.com/office/drawing/2014/main" id="{5EE24208-BD06-5293-377A-6175870E6F30}"/>
              </a:ext>
            </a:extLst>
          </p:cNvPr>
          <p:cNvSpPr/>
          <p:nvPr/>
        </p:nvSpPr>
        <p:spPr>
          <a:xfrm>
            <a:off x="11388428" y="6066752"/>
            <a:ext cx="925492" cy="418409"/>
          </a:xfrm>
          <a:custGeom>
            <a:avLst/>
            <a:gdLst/>
            <a:ahLst/>
            <a:cxnLst/>
            <a:rect l="l" t="t" r="r" b="b"/>
            <a:pathLst>
              <a:path w="1115998" h="581714">
                <a:moveTo>
                  <a:pt x="0" y="0"/>
                </a:moveTo>
                <a:lnTo>
                  <a:pt x="1115998" y="0"/>
                </a:lnTo>
                <a:lnTo>
                  <a:pt x="1115998" y="581713"/>
                </a:lnTo>
                <a:lnTo>
                  <a:pt x="0" y="581713"/>
                </a:lnTo>
                <a:lnTo>
                  <a:pt x="0" y="0"/>
                </a:lnTo>
                <a:close/>
              </a:path>
            </a:pathLst>
          </a:custGeom>
          <a:blipFill>
            <a:blip r:embed="rId13"/>
            <a:stretch>
              <a:fillRect/>
            </a:stretch>
          </a:blipFill>
        </p:spPr>
        <p:txBody>
          <a:bodyPr/>
          <a:lstStyle/>
          <a:p>
            <a:endParaRPr lang="fr-FR"/>
          </a:p>
        </p:txBody>
      </p:sp>
      <p:sp>
        <p:nvSpPr>
          <p:cNvPr id="56" name="Freeform 12">
            <a:extLst>
              <a:ext uri="{FF2B5EF4-FFF2-40B4-BE49-F238E27FC236}">
                <a16:creationId xmlns:a16="http://schemas.microsoft.com/office/drawing/2014/main" id="{5A3DA150-1E4D-4FB2-5395-06CFF0C9F75F}"/>
              </a:ext>
            </a:extLst>
          </p:cNvPr>
          <p:cNvSpPr/>
          <p:nvPr/>
        </p:nvSpPr>
        <p:spPr>
          <a:xfrm>
            <a:off x="11908416" y="8170521"/>
            <a:ext cx="1763457" cy="860340"/>
          </a:xfrm>
          <a:custGeom>
            <a:avLst/>
            <a:gdLst/>
            <a:ahLst/>
            <a:cxnLst/>
            <a:rect l="l" t="t" r="r" b="b"/>
            <a:pathLst>
              <a:path w="2126453" h="1196130">
                <a:moveTo>
                  <a:pt x="0" y="0"/>
                </a:moveTo>
                <a:lnTo>
                  <a:pt x="2126453" y="0"/>
                </a:lnTo>
                <a:lnTo>
                  <a:pt x="2126453" y="1196129"/>
                </a:lnTo>
                <a:lnTo>
                  <a:pt x="0" y="1196129"/>
                </a:lnTo>
                <a:lnTo>
                  <a:pt x="0" y="0"/>
                </a:lnTo>
                <a:close/>
              </a:path>
            </a:pathLst>
          </a:custGeom>
          <a:blipFill>
            <a:blip r:embed="rId14"/>
            <a:stretch>
              <a:fillRect/>
            </a:stretch>
          </a:blipFill>
        </p:spPr>
        <p:txBody>
          <a:bodyPr/>
          <a:lstStyle/>
          <a:p>
            <a:endParaRPr lang="fr-FR"/>
          </a:p>
        </p:txBody>
      </p:sp>
      <p:sp>
        <p:nvSpPr>
          <p:cNvPr id="57" name="Freeform 13">
            <a:extLst>
              <a:ext uri="{FF2B5EF4-FFF2-40B4-BE49-F238E27FC236}">
                <a16:creationId xmlns:a16="http://schemas.microsoft.com/office/drawing/2014/main" id="{5BCB8B1B-7D1C-9EF1-5273-04B11D16EEBE}"/>
              </a:ext>
            </a:extLst>
          </p:cNvPr>
          <p:cNvSpPr/>
          <p:nvPr/>
        </p:nvSpPr>
        <p:spPr>
          <a:xfrm>
            <a:off x="10823011" y="8600691"/>
            <a:ext cx="1023867" cy="452894"/>
          </a:xfrm>
          <a:custGeom>
            <a:avLst/>
            <a:gdLst/>
            <a:ahLst/>
            <a:cxnLst/>
            <a:rect l="l" t="t" r="r" b="b"/>
            <a:pathLst>
              <a:path w="1234623" h="629658">
                <a:moveTo>
                  <a:pt x="0" y="0"/>
                </a:moveTo>
                <a:lnTo>
                  <a:pt x="1234624" y="0"/>
                </a:lnTo>
                <a:lnTo>
                  <a:pt x="1234624" y="629658"/>
                </a:lnTo>
                <a:lnTo>
                  <a:pt x="0" y="629658"/>
                </a:lnTo>
                <a:lnTo>
                  <a:pt x="0" y="0"/>
                </a:lnTo>
                <a:close/>
              </a:path>
            </a:pathLst>
          </a:custGeom>
          <a:blipFill>
            <a:blip r:embed="rId15"/>
            <a:stretch>
              <a:fillRect/>
            </a:stretch>
          </a:blipFill>
        </p:spPr>
        <p:txBody>
          <a:bodyPr/>
          <a:lstStyle/>
          <a:p>
            <a:endParaRPr lang="fr-FR"/>
          </a:p>
        </p:txBody>
      </p:sp>
      <p:sp>
        <p:nvSpPr>
          <p:cNvPr id="58" name="Freeform 14">
            <a:extLst>
              <a:ext uri="{FF2B5EF4-FFF2-40B4-BE49-F238E27FC236}">
                <a16:creationId xmlns:a16="http://schemas.microsoft.com/office/drawing/2014/main" id="{6AE169FB-05A6-556F-3078-6006A3536A61}"/>
              </a:ext>
            </a:extLst>
          </p:cNvPr>
          <p:cNvSpPr/>
          <p:nvPr/>
        </p:nvSpPr>
        <p:spPr>
          <a:xfrm>
            <a:off x="10567051" y="3857629"/>
            <a:ext cx="1535788" cy="999022"/>
          </a:xfrm>
          <a:custGeom>
            <a:avLst/>
            <a:gdLst/>
            <a:ahLst/>
            <a:cxnLst/>
            <a:rect l="l" t="t" r="r" b="b"/>
            <a:pathLst>
              <a:path w="1851920" h="1388940">
                <a:moveTo>
                  <a:pt x="0" y="0"/>
                </a:moveTo>
                <a:lnTo>
                  <a:pt x="1851920" y="0"/>
                </a:lnTo>
                <a:lnTo>
                  <a:pt x="1851920" y="1388941"/>
                </a:lnTo>
                <a:lnTo>
                  <a:pt x="0" y="1388941"/>
                </a:lnTo>
                <a:lnTo>
                  <a:pt x="0" y="0"/>
                </a:lnTo>
                <a:close/>
              </a:path>
            </a:pathLst>
          </a:custGeom>
          <a:blipFill>
            <a:blip r:embed="rId16"/>
            <a:stretch>
              <a:fillRect/>
            </a:stretch>
          </a:blipFill>
        </p:spPr>
        <p:txBody>
          <a:bodyPr/>
          <a:lstStyle/>
          <a:p>
            <a:endParaRPr lang="fr-FR"/>
          </a:p>
        </p:txBody>
      </p:sp>
      <p:sp>
        <p:nvSpPr>
          <p:cNvPr id="59" name="Freeform 15">
            <a:extLst>
              <a:ext uri="{FF2B5EF4-FFF2-40B4-BE49-F238E27FC236}">
                <a16:creationId xmlns:a16="http://schemas.microsoft.com/office/drawing/2014/main" id="{351271FA-33BC-83C5-D76C-F505D82685EB}"/>
              </a:ext>
            </a:extLst>
          </p:cNvPr>
          <p:cNvSpPr/>
          <p:nvPr/>
        </p:nvSpPr>
        <p:spPr>
          <a:xfrm>
            <a:off x="9531015" y="4056761"/>
            <a:ext cx="510820" cy="571675"/>
          </a:xfrm>
          <a:custGeom>
            <a:avLst/>
            <a:gdLst/>
            <a:ahLst/>
            <a:cxnLst/>
            <a:rect l="l" t="t" r="r" b="b"/>
            <a:pathLst>
              <a:path w="615969" h="794799">
                <a:moveTo>
                  <a:pt x="0" y="0"/>
                </a:moveTo>
                <a:lnTo>
                  <a:pt x="615969" y="0"/>
                </a:lnTo>
                <a:lnTo>
                  <a:pt x="615969" y="794799"/>
                </a:lnTo>
                <a:lnTo>
                  <a:pt x="0" y="794799"/>
                </a:lnTo>
                <a:lnTo>
                  <a:pt x="0" y="0"/>
                </a:lnTo>
                <a:close/>
              </a:path>
            </a:pathLst>
          </a:custGeom>
          <a:blipFill>
            <a:blip r:embed="rId17"/>
            <a:stretch>
              <a:fillRect/>
            </a:stretch>
          </a:blipFill>
        </p:spPr>
        <p:txBody>
          <a:bodyPr/>
          <a:lstStyle/>
          <a:p>
            <a:endParaRPr lang="fr-FR"/>
          </a:p>
        </p:txBody>
      </p:sp>
      <p:sp>
        <p:nvSpPr>
          <p:cNvPr id="60" name="Freeform 16">
            <a:extLst>
              <a:ext uri="{FF2B5EF4-FFF2-40B4-BE49-F238E27FC236}">
                <a16:creationId xmlns:a16="http://schemas.microsoft.com/office/drawing/2014/main" id="{289CD9AA-C2AE-E01F-014C-8046CD4FD906}"/>
              </a:ext>
            </a:extLst>
          </p:cNvPr>
          <p:cNvSpPr/>
          <p:nvPr/>
        </p:nvSpPr>
        <p:spPr>
          <a:xfrm>
            <a:off x="8951778" y="7955436"/>
            <a:ext cx="579238" cy="430170"/>
          </a:xfrm>
          <a:custGeom>
            <a:avLst/>
            <a:gdLst/>
            <a:ahLst/>
            <a:cxnLst/>
            <a:rect l="l" t="t" r="r" b="b"/>
            <a:pathLst>
              <a:path w="698470" h="598065">
                <a:moveTo>
                  <a:pt x="0" y="0"/>
                </a:moveTo>
                <a:lnTo>
                  <a:pt x="698470" y="0"/>
                </a:lnTo>
                <a:lnTo>
                  <a:pt x="698470" y="598065"/>
                </a:lnTo>
                <a:lnTo>
                  <a:pt x="0" y="598065"/>
                </a:lnTo>
                <a:lnTo>
                  <a:pt x="0" y="0"/>
                </a:lnTo>
                <a:close/>
              </a:path>
            </a:pathLst>
          </a:custGeom>
          <a:blipFill>
            <a:blip r:embed="rId18"/>
            <a:stretch>
              <a:fillRect/>
            </a:stretch>
          </a:blipFill>
        </p:spPr>
        <p:txBody>
          <a:bodyPr/>
          <a:lstStyle/>
          <a:p>
            <a:endParaRPr lang="fr-FR"/>
          </a:p>
        </p:txBody>
      </p:sp>
      <p:sp>
        <p:nvSpPr>
          <p:cNvPr id="61" name="Freeform 17">
            <a:extLst>
              <a:ext uri="{FF2B5EF4-FFF2-40B4-BE49-F238E27FC236}">
                <a16:creationId xmlns:a16="http://schemas.microsoft.com/office/drawing/2014/main" id="{8E0CE608-31A9-24BE-4717-DE786CA97270}"/>
              </a:ext>
            </a:extLst>
          </p:cNvPr>
          <p:cNvSpPr/>
          <p:nvPr/>
        </p:nvSpPr>
        <p:spPr>
          <a:xfrm>
            <a:off x="10567051" y="8271726"/>
            <a:ext cx="697326" cy="604809"/>
          </a:xfrm>
          <a:custGeom>
            <a:avLst/>
            <a:gdLst/>
            <a:ahLst/>
            <a:cxnLst/>
            <a:rect l="l" t="t" r="r" b="b"/>
            <a:pathLst>
              <a:path w="840866" h="840866">
                <a:moveTo>
                  <a:pt x="0" y="0"/>
                </a:moveTo>
                <a:lnTo>
                  <a:pt x="840866" y="0"/>
                </a:lnTo>
                <a:lnTo>
                  <a:pt x="840866" y="840866"/>
                </a:lnTo>
                <a:lnTo>
                  <a:pt x="0" y="840866"/>
                </a:lnTo>
                <a:lnTo>
                  <a:pt x="0" y="0"/>
                </a:lnTo>
                <a:close/>
              </a:path>
            </a:pathLst>
          </a:custGeom>
          <a:blipFill>
            <a:blip r:embed="rId19"/>
            <a:stretch>
              <a:fillRect/>
            </a:stretch>
          </a:blipFill>
        </p:spPr>
        <p:txBody>
          <a:bodyPr/>
          <a:lstStyle/>
          <a:p>
            <a:endParaRPr lang="fr-FR"/>
          </a:p>
        </p:txBody>
      </p:sp>
      <p:sp>
        <p:nvSpPr>
          <p:cNvPr id="62" name="Freeform 33">
            <a:extLst>
              <a:ext uri="{FF2B5EF4-FFF2-40B4-BE49-F238E27FC236}">
                <a16:creationId xmlns:a16="http://schemas.microsoft.com/office/drawing/2014/main" id="{239E1C30-7FFD-3506-60F3-B3F1DBD6942A}"/>
              </a:ext>
            </a:extLst>
          </p:cNvPr>
          <p:cNvSpPr/>
          <p:nvPr/>
        </p:nvSpPr>
        <p:spPr>
          <a:xfrm>
            <a:off x="11147599" y="7833302"/>
            <a:ext cx="374693" cy="438423"/>
          </a:xfrm>
          <a:custGeom>
            <a:avLst/>
            <a:gdLst/>
            <a:ahLst/>
            <a:cxnLst/>
            <a:rect l="l" t="t" r="r" b="b"/>
            <a:pathLst>
              <a:path w="451821" h="609539">
                <a:moveTo>
                  <a:pt x="0" y="0"/>
                </a:moveTo>
                <a:lnTo>
                  <a:pt x="451821" y="0"/>
                </a:lnTo>
                <a:lnTo>
                  <a:pt x="451821" y="609540"/>
                </a:lnTo>
                <a:lnTo>
                  <a:pt x="0" y="609540"/>
                </a:lnTo>
                <a:lnTo>
                  <a:pt x="0" y="0"/>
                </a:lnTo>
                <a:close/>
              </a:path>
            </a:pathLst>
          </a:custGeom>
          <a:blipFill>
            <a:blip r:embed="rId20"/>
            <a:stretch>
              <a:fillRect/>
            </a:stretch>
          </a:blipFill>
        </p:spPr>
        <p:txBody>
          <a:bodyPr/>
          <a:lstStyle/>
          <a:p>
            <a:endParaRPr lang="fr-FR"/>
          </a:p>
        </p:txBody>
      </p:sp>
      <p:sp>
        <p:nvSpPr>
          <p:cNvPr id="63" name="Freeform 34">
            <a:extLst>
              <a:ext uri="{FF2B5EF4-FFF2-40B4-BE49-F238E27FC236}">
                <a16:creationId xmlns:a16="http://schemas.microsoft.com/office/drawing/2014/main" id="{9FBB23AB-A3AE-2368-5D3B-0077617274F8}"/>
              </a:ext>
            </a:extLst>
          </p:cNvPr>
          <p:cNvSpPr/>
          <p:nvPr/>
        </p:nvSpPr>
        <p:spPr>
          <a:xfrm>
            <a:off x="11277284" y="6879247"/>
            <a:ext cx="1147779" cy="559969"/>
          </a:xfrm>
          <a:custGeom>
            <a:avLst/>
            <a:gdLst/>
            <a:ahLst/>
            <a:cxnLst/>
            <a:rect l="l" t="t" r="r" b="b"/>
            <a:pathLst>
              <a:path w="1384042" h="778524">
                <a:moveTo>
                  <a:pt x="0" y="0"/>
                </a:moveTo>
                <a:lnTo>
                  <a:pt x="1384042" y="0"/>
                </a:lnTo>
                <a:lnTo>
                  <a:pt x="1384042" y="778524"/>
                </a:lnTo>
                <a:lnTo>
                  <a:pt x="0" y="778524"/>
                </a:lnTo>
                <a:lnTo>
                  <a:pt x="0" y="0"/>
                </a:lnTo>
                <a:close/>
              </a:path>
            </a:pathLst>
          </a:custGeom>
          <a:blipFill>
            <a:blip r:embed="rId21"/>
            <a:stretch>
              <a:fillRect/>
            </a:stretch>
          </a:blipFill>
        </p:spPr>
        <p:txBody>
          <a:bodyPr/>
          <a:lstStyle/>
          <a:p>
            <a:endParaRPr lang="fr-FR"/>
          </a:p>
        </p:txBody>
      </p:sp>
      <p:sp>
        <p:nvSpPr>
          <p:cNvPr id="64" name="Freeform 36">
            <a:extLst>
              <a:ext uri="{FF2B5EF4-FFF2-40B4-BE49-F238E27FC236}">
                <a16:creationId xmlns:a16="http://schemas.microsoft.com/office/drawing/2014/main" id="{8E3238BA-E362-4F11-983F-2F4BFBC51D03}"/>
              </a:ext>
            </a:extLst>
          </p:cNvPr>
          <p:cNvSpPr/>
          <p:nvPr/>
        </p:nvSpPr>
        <p:spPr>
          <a:xfrm>
            <a:off x="10381727" y="5329234"/>
            <a:ext cx="1062338" cy="518284"/>
          </a:xfrm>
          <a:custGeom>
            <a:avLst/>
            <a:gdLst/>
            <a:ahLst/>
            <a:cxnLst/>
            <a:rect l="l" t="t" r="r" b="b"/>
            <a:pathLst>
              <a:path w="1281013" h="720570">
                <a:moveTo>
                  <a:pt x="0" y="0"/>
                </a:moveTo>
                <a:lnTo>
                  <a:pt x="1281013" y="0"/>
                </a:lnTo>
                <a:lnTo>
                  <a:pt x="1281013" y="720570"/>
                </a:lnTo>
                <a:lnTo>
                  <a:pt x="0" y="720570"/>
                </a:lnTo>
                <a:lnTo>
                  <a:pt x="0" y="0"/>
                </a:lnTo>
                <a:close/>
              </a:path>
            </a:pathLst>
          </a:custGeom>
          <a:blipFill>
            <a:blip r:embed="rId22"/>
            <a:stretch>
              <a:fillRect/>
            </a:stretch>
          </a:blipFill>
        </p:spPr>
        <p:txBody>
          <a:bodyPr/>
          <a:lstStyle/>
          <a:p>
            <a:endParaRPr lang="fr-FR"/>
          </a:p>
        </p:txBody>
      </p:sp>
      <p:sp>
        <p:nvSpPr>
          <p:cNvPr id="65" name="Freeform 37">
            <a:extLst>
              <a:ext uri="{FF2B5EF4-FFF2-40B4-BE49-F238E27FC236}">
                <a16:creationId xmlns:a16="http://schemas.microsoft.com/office/drawing/2014/main" id="{43D06A66-4C2E-2BF8-CAD1-03C756BB25D7}"/>
              </a:ext>
            </a:extLst>
          </p:cNvPr>
          <p:cNvSpPr/>
          <p:nvPr/>
        </p:nvSpPr>
        <p:spPr>
          <a:xfrm>
            <a:off x="13417794" y="8385606"/>
            <a:ext cx="490545" cy="531300"/>
          </a:xfrm>
          <a:custGeom>
            <a:avLst/>
            <a:gdLst/>
            <a:ahLst/>
            <a:cxnLst/>
            <a:rect l="l" t="t" r="r" b="b"/>
            <a:pathLst>
              <a:path w="591521" h="738666">
                <a:moveTo>
                  <a:pt x="0" y="0"/>
                </a:moveTo>
                <a:lnTo>
                  <a:pt x="591521" y="0"/>
                </a:lnTo>
                <a:lnTo>
                  <a:pt x="591521" y="738666"/>
                </a:lnTo>
                <a:lnTo>
                  <a:pt x="0" y="738666"/>
                </a:lnTo>
                <a:lnTo>
                  <a:pt x="0" y="0"/>
                </a:lnTo>
                <a:close/>
              </a:path>
            </a:pathLst>
          </a:custGeom>
          <a:blipFill>
            <a:blip r:embed="rId23"/>
            <a:stretch>
              <a:fillRect/>
            </a:stretch>
          </a:blipFill>
        </p:spPr>
        <p:txBody>
          <a:bodyPr/>
          <a:lstStyle/>
          <a:p>
            <a:endParaRPr lang="fr-FR"/>
          </a:p>
        </p:txBody>
      </p:sp>
      <p:sp>
        <p:nvSpPr>
          <p:cNvPr id="66" name="Freeform 40">
            <a:extLst>
              <a:ext uri="{FF2B5EF4-FFF2-40B4-BE49-F238E27FC236}">
                <a16:creationId xmlns:a16="http://schemas.microsoft.com/office/drawing/2014/main" id="{3F467410-9EC6-2C9A-CBF6-49D503030B58}"/>
              </a:ext>
            </a:extLst>
          </p:cNvPr>
          <p:cNvSpPr/>
          <p:nvPr/>
        </p:nvSpPr>
        <p:spPr>
          <a:xfrm>
            <a:off x="10043064" y="5405525"/>
            <a:ext cx="779947" cy="676469"/>
          </a:xfrm>
          <a:custGeom>
            <a:avLst/>
            <a:gdLst/>
            <a:ahLst/>
            <a:cxnLst/>
            <a:rect l="l" t="t" r="r" b="b"/>
            <a:pathLst>
              <a:path w="940494" h="940494">
                <a:moveTo>
                  <a:pt x="0" y="0"/>
                </a:moveTo>
                <a:lnTo>
                  <a:pt x="940494" y="0"/>
                </a:lnTo>
                <a:lnTo>
                  <a:pt x="940494" y="940494"/>
                </a:lnTo>
                <a:lnTo>
                  <a:pt x="0" y="940494"/>
                </a:lnTo>
                <a:lnTo>
                  <a:pt x="0" y="0"/>
                </a:lnTo>
                <a:close/>
              </a:path>
            </a:pathLst>
          </a:custGeom>
          <a:blipFill>
            <a:blip r:embed="rId24"/>
            <a:stretch>
              <a:fillRect/>
            </a:stretch>
          </a:blipFill>
        </p:spPr>
        <p:txBody>
          <a:bodyPr/>
          <a:lstStyle/>
          <a:p>
            <a:endParaRPr lang="fr-FR"/>
          </a:p>
        </p:txBody>
      </p:sp>
      <p:sp>
        <p:nvSpPr>
          <p:cNvPr id="67" name="TextBox 43">
            <a:extLst>
              <a:ext uri="{FF2B5EF4-FFF2-40B4-BE49-F238E27FC236}">
                <a16:creationId xmlns:a16="http://schemas.microsoft.com/office/drawing/2014/main" id="{A6FA787F-4216-197C-49BF-BFF05C2623D2}"/>
              </a:ext>
            </a:extLst>
          </p:cNvPr>
          <p:cNvSpPr txBox="1"/>
          <p:nvPr/>
        </p:nvSpPr>
        <p:spPr>
          <a:xfrm>
            <a:off x="8301694" y="9143666"/>
            <a:ext cx="2521315" cy="531812"/>
          </a:xfrm>
          <a:prstGeom prst="rect">
            <a:avLst/>
          </a:prstGeom>
        </p:spPr>
        <p:txBody>
          <a:bodyPr lIns="0" tIns="0" rIns="0" bIns="0" rtlCol="0" anchor="t">
            <a:spAutoFit/>
          </a:bodyPr>
          <a:lstStyle>
            <a:defPPr>
              <a:defRPr kern="0"/>
            </a:defPPr>
            <a:lvl1pPr algn="ctr">
              <a:lnSpc>
                <a:spcPts val="4759"/>
              </a:lnSpc>
              <a:spcBef>
                <a:spcPct val="0"/>
              </a:spcBef>
              <a:defRPr sz="1950" spc="-105">
                <a:solidFill>
                  <a:srgbClr val="333399"/>
                </a:solidFill>
                <a:latin typeface="Microsoft Sans Serif"/>
                <a:cs typeface="Microsoft Sans Serif"/>
              </a:defRPr>
            </a:lvl1pPr>
          </a:lstStyle>
          <a:p>
            <a:r>
              <a:rPr lang="en-US">
                <a:sym typeface="Open Sauce"/>
              </a:rPr>
              <a:t>Performance</a:t>
            </a:r>
          </a:p>
        </p:txBody>
      </p:sp>
      <p:sp>
        <p:nvSpPr>
          <p:cNvPr id="68" name="TextBox 44">
            <a:extLst>
              <a:ext uri="{FF2B5EF4-FFF2-40B4-BE49-F238E27FC236}">
                <a16:creationId xmlns:a16="http://schemas.microsoft.com/office/drawing/2014/main" id="{C404C08C-0F32-96BD-11EF-5D67B51B9251}"/>
              </a:ext>
            </a:extLst>
          </p:cNvPr>
          <p:cNvSpPr txBox="1"/>
          <p:nvPr/>
        </p:nvSpPr>
        <p:spPr>
          <a:xfrm>
            <a:off x="13053129" y="9143665"/>
            <a:ext cx="1396777" cy="531812"/>
          </a:xfrm>
          <a:prstGeom prst="rect">
            <a:avLst/>
          </a:prstGeom>
        </p:spPr>
        <p:txBody>
          <a:bodyPr lIns="0" tIns="0" rIns="0" bIns="0" rtlCol="0" anchor="t">
            <a:spAutoFit/>
          </a:bodyPr>
          <a:lstStyle>
            <a:defPPr>
              <a:defRPr kern="0"/>
            </a:defPPr>
            <a:lvl1pPr algn="ctr">
              <a:lnSpc>
                <a:spcPts val="4759"/>
              </a:lnSpc>
              <a:spcBef>
                <a:spcPct val="0"/>
              </a:spcBef>
              <a:defRPr sz="1950" spc="-105">
                <a:solidFill>
                  <a:srgbClr val="333399"/>
                </a:solidFill>
                <a:latin typeface="Microsoft Sans Serif"/>
                <a:cs typeface="Microsoft Sans Serif"/>
              </a:defRPr>
            </a:lvl1pPr>
          </a:lstStyle>
          <a:p>
            <a:r>
              <a:rPr lang="en-US">
                <a:sym typeface="Open Sauce"/>
              </a:rPr>
              <a:t>Luxury</a:t>
            </a:r>
          </a:p>
        </p:txBody>
      </p:sp>
      <p:sp>
        <p:nvSpPr>
          <p:cNvPr id="70" name="TextBox 46">
            <a:extLst>
              <a:ext uri="{FF2B5EF4-FFF2-40B4-BE49-F238E27FC236}">
                <a16:creationId xmlns:a16="http://schemas.microsoft.com/office/drawing/2014/main" id="{3005AE32-4EB7-5E96-DAD8-4F0A65C15695}"/>
              </a:ext>
            </a:extLst>
          </p:cNvPr>
          <p:cNvSpPr txBox="1"/>
          <p:nvPr/>
        </p:nvSpPr>
        <p:spPr>
          <a:xfrm rot="5400000">
            <a:off x="7129697" y="4076692"/>
            <a:ext cx="1973271" cy="531812"/>
          </a:xfrm>
          <a:prstGeom prst="rect">
            <a:avLst/>
          </a:prstGeom>
        </p:spPr>
        <p:txBody>
          <a:bodyPr lIns="0" tIns="0" rIns="0" bIns="0" rtlCol="0" anchor="t">
            <a:spAutoFit/>
          </a:bodyPr>
          <a:lstStyle/>
          <a:p>
            <a:pPr algn="ctr">
              <a:lnSpc>
                <a:spcPts val="4759"/>
              </a:lnSpc>
              <a:spcBef>
                <a:spcPct val="0"/>
              </a:spcBef>
            </a:pPr>
            <a:r>
              <a:rPr lang="en-US" sz="1950" spc="-105">
                <a:solidFill>
                  <a:srgbClr val="333399"/>
                </a:solidFill>
                <a:latin typeface="Microsoft Sans Serif"/>
                <a:cs typeface="Microsoft Sans Serif"/>
                <a:sym typeface="Open Sauce"/>
              </a:rPr>
              <a:t>Electric</a:t>
            </a:r>
          </a:p>
        </p:txBody>
      </p:sp>
      <p:sp>
        <p:nvSpPr>
          <p:cNvPr id="71" name="TextBox 47">
            <a:extLst>
              <a:ext uri="{FF2B5EF4-FFF2-40B4-BE49-F238E27FC236}">
                <a16:creationId xmlns:a16="http://schemas.microsoft.com/office/drawing/2014/main" id="{313D97F0-FF29-601B-A3BA-0560C1331A64}"/>
              </a:ext>
            </a:extLst>
          </p:cNvPr>
          <p:cNvSpPr txBox="1"/>
          <p:nvPr/>
        </p:nvSpPr>
        <p:spPr>
          <a:xfrm rot="5400000">
            <a:off x="7129696" y="8435989"/>
            <a:ext cx="1973271" cy="531812"/>
          </a:xfrm>
          <a:prstGeom prst="rect">
            <a:avLst/>
          </a:prstGeom>
        </p:spPr>
        <p:txBody>
          <a:bodyPr lIns="0" tIns="0" rIns="0" bIns="0" rtlCol="0" anchor="t">
            <a:spAutoFit/>
          </a:bodyPr>
          <a:lstStyle>
            <a:defPPr>
              <a:defRPr kern="0"/>
            </a:defPPr>
            <a:lvl1pPr algn="ctr">
              <a:lnSpc>
                <a:spcPts val="4759"/>
              </a:lnSpc>
              <a:spcBef>
                <a:spcPct val="0"/>
              </a:spcBef>
              <a:defRPr sz="1950" spc="-105">
                <a:solidFill>
                  <a:srgbClr val="333399"/>
                </a:solidFill>
                <a:latin typeface="Microsoft Sans Serif"/>
                <a:cs typeface="Microsoft Sans Serif"/>
              </a:defRPr>
            </a:lvl1pPr>
          </a:lstStyle>
          <a:p>
            <a:r>
              <a:rPr lang="en-US">
                <a:sym typeface="Open Sauce"/>
              </a:rPr>
              <a:t>Thermic</a:t>
            </a:r>
          </a:p>
        </p:txBody>
      </p:sp>
      <p:sp>
        <p:nvSpPr>
          <p:cNvPr id="74" name="AutoShape 2">
            <a:extLst>
              <a:ext uri="{FF2B5EF4-FFF2-40B4-BE49-F238E27FC236}">
                <a16:creationId xmlns:a16="http://schemas.microsoft.com/office/drawing/2014/main" id="{72FBF6E4-E7D3-AC9E-DB37-354DF5A89141}"/>
              </a:ext>
            </a:extLst>
          </p:cNvPr>
          <p:cNvSpPr/>
          <p:nvPr/>
        </p:nvSpPr>
        <p:spPr>
          <a:xfrm flipV="1">
            <a:off x="1806570" y="5423181"/>
            <a:ext cx="0" cy="3481057"/>
          </a:xfrm>
          <a:prstGeom prst="line">
            <a:avLst/>
          </a:prstGeom>
          <a:ln w="66675" cap="flat">
            <a:solidFill>
              <a:srgbClr val="0B89D8"/>
            </a:solidFill>
            <a:prstDash val="solid"/>
            <a:headEnd type="none" w="sm" len="sm"/>
            <a:tailEnd type="arrow" w="med" len="sm"/>
          </a:ln>
        </p:spPr>
        <p:txBody>
          <a:bodyPr/>
          <a:lstStyle/>
          <a:p>
            <a:endParaRPr lang="fr-FR"/>
          </a:p>
        </p:txBody>
      </p:sp>
      <p:sp>
        <p:nvSpPr>
          <p:cNvPr id="75" name="AutoShape 3">
            <a:extLst>
              <a:ext uri="{FF2B5EF4-FFF2-40B4-BE49-F238E27FC236}">
                <a16:creationId xmlns:a16="http://schemas.microsoft.com/office/drawing/2014/main" id="{BE3F8B68-E624-5A0A-3AF0-EDA3FC26C0F3}"/>
              </a:ext>
            </a:extLst>
          </p:cNvPr>
          <p:cNvSpPr/>
          <p:nvPr/>
        </p:nvSpPr>
        <p:spPr>
          <a:xfrm>
            <a:off x="1806570" y="8930323"/>
            <a:ext cx="4675318" cy="8289"/>
          </a:xfrm>
          <a:prstGeom prst="line">
            <a:avLst/>
          </a:prstGeom>
          <a:ln w="66675" cap="flat">
            <a:solidFill>
              <a:srgbClr val="0B89D8"/>
            </a:solidFill>
            <a:prstDash val="solid"/>
            <a:headEnd type="none" w="sm" len="sm"/>
            <a:tailEnd type="arrow" w="med" len="sm"/>
          </a:ln>
        </p:spPr>
        <p:txBody>
          <a:bodyPr/>
          <a:lstStyle/>
          <a:p>
            <a:endParaRPr lang="fr-FR"/>
          </a:p>
        </p:txBody>
      </p:sp>
      <p:sp>
        <p:nvSpPr>
          <p:cNvPr id="76" name="TextBox 18">
            <a:extLst>
              <a:ext uri="{FF2B5EF4-FFF2-40B4-BE49-F238E27FC236}">
                <a16:creationId xmlns:a16="http://schemas.microsoft.com/office/drawing/2014/main" id="{489E10B5-CB66-CDCC-8FBA-00C0948CBC89}"/>
              </a:ext>
            </a:extLst>
          </p:cNvPr>
          <p:cNvSpPr txBox="1"/>
          <p:nvPr/>
        </p:nvSpPr>
        <p:spPr>
          <a:xfrm rot="5400000">
            <a:off x="-75551" y="5845894"/>
            <a:ext cx="3509244" cy="517321"/>
          </a:xfrm>
          <a:prstGeom prst="rect">
            <a:avLst/>
          </a:prstGeom>
          <a:ln>
            <a:noFill/>
          </a:ln>
        </p:spPr>
        <p:txBody>
          <a:bodyPr lIns="0" tIns="0" rIns="0" bIns="0" rtlCol="0" anchor="t">
            <a:spAutoFit/>
          </a:bodyPr>
          <a:lstStyle/>
          <a:p>
            <a:pPr algn="ctr">
              <a:lnSpc>
                <a:spcPts val="4759"/>
              </a:lnSpc>
              <a:spcBef>
                <a:spcPct val="0"/>
              </a:spcBef>
            </a:pPr>
            <a:r>
              <a:rPr lang="en-US" sz="1950">
                <a:solidFill>
                  <a:srgbClr val="0B87D6"/>
                </a:solidFill>
                <a:latin typeface="Microsoft Sans Serif" panose="020B0604020202020204" pitchFamily="34" charset="0"/>
                <a:ea typeface="Microsoft Sans Serif" panose="020B0604020202020204" pitchFamily="34" charset="0"/>
                <a:cs typeface="Microsoft Sans Serif" panose="020B0604020202020204" pitchFamily="34" charset="0"/>
                <a:sym typeface="Open Sauce"/>
              </a:rPr>
              <a:t>Price</a:t>
            </a:r>
          </a:p>
        </p:txBody>
      </p:sp>
      <p:sp>
        <p:nvSpPr>
          <p:cNvPr id="77" name="Freeform 20">
            <a:extLst>
              <a:ext uri="{FF2B5EF4-FFF2-40B4-BE49-F238E27FC236}">
                <a16:creationId xmlns:a16="http://schemas.microsoft.com/office/drawing/2014/main" id="{83EF7EC4-E557-FA12-BF7C-B97F6CDEE00F}"/>
              </a:ext>
            </a:extLst>
          </p:cNvPr>
          <p:cNvSpPr/>
          <p:nvPr/>
        </p:nvSpPr>
        <p:spPr>
          <a:xfrm>
            <a:off x="5846218" y="4427916"/>
            <a:ext cx="1531334" cy="1776650"/>
          </a:xfrm>
          <a:custGeom>
            <a:avLst/>
            <a:gdLst/>
            <a:ahLst/>
            <a:cxnLst/>
            <a:rect l="l" t="t" r="r" b="b"/>
            <a:pathLst>
              <a:path w="1851920" h="1388940">
                <a:moveTo>
                  <a:pt x="0" y="0"/>
                </a:moveTo>
                <a:lnTo>
                  <a:pt x="1851920" y="0"/>
                </a:lnTo>
                <a:lnTo>
                  <a:pt x="1851920" y="1388940"/>
                </a:lnTo>
                <a:lnTo>
                  <a:pt x="0" y="1388940"/>
                </a:lnTo>
                <a:lnTo>
                  <a:pt x="0" y="0"/>
                </a:lnTo>
                <a:close/>
              </a:path>
            </a:pathLst>
          </a:custGeom>
          <a:blipFill>
            <a:blip r:embed="rId16"/>
            <a:stretch>
              <a:fillRect/>
            </a:stretch>
          </a:blipFill>
        </p:spPr>
        <p:txBody>
          <a:bodyPr/>
          <a:lstStyle/>
          <a:p>
            <a:endParaRPr lang="fr-FR"/>
          </a:p>
        </p:txBody>
      </p:sp>
      <p:sp>
        <p:nvSpPr>
          <p:cNvPr id="78" name="Freeform 21">
            <a:extLst>
              <a:ext uri="{FF2B5EF4-FFF2-40B4-BE49-F238E27FC236}">
                <a16:creationId xmlns:a16="http://schemas.microsoft.com/office/drawing/2014/main" id="{A9A47C8D-5A5C-E15E-C051-A5BFAEE0E00B}"/>
              </a:ext>
            </a:extLst>
          </p:cNvPr>
          <p:cNvSpPr/>
          <p:nvPr/>
        </p:nvSpPr>
        <p:spPr>
          <a:xfrm>
            <a:off x="6104991" y="5316241"/>
            <a:ext cx="1025433" cy="805421"/>
          </a:xfrm>
          <a:custGeom>
            <a:avLst/>
            <a:gdLst/>
            <a:ahLst/>
            <a:cxnLst/>
            <a:rect l="l" t="t" r="r" b="b"/>
            <a:pathLst>
              <a:path w="1234623" h="629658">
                <a:moveTo>
                  <a:pt x="0" y="0"/>
                </a:moveTo>
                <a:lnTo>
                  <a:pt x="1234624" y="0"/>
                </a:lnTo>
                <a:lnTo>
                  <a:pt x="1234624" y="629657"/>
                </a:lnTo>
                <a:lnTo>
                  <a:pt x="0" y="629657"/>
                </a:lnTo>
                <a:lnTo>
                  <a:pt x="0" y="0"/>
                </a:lnTo>
                <a:close/>
              </a:path>
            </a:pathLst>
          </a:custGeom>
          <a:blipFill>
            <a:blip r:embed="rId15"/>
            <a:stretch>
              <a:fillRect/>
            </a:stretch>
          </a:blipFill>
        </p:spPr>
        <p:txBody>
          <a:bodyPr/>
          <a:lstStyle/>
          <a:p>
            <a:endParaRPr lang="fr-FR"/>
          </a:p>
        </p:txBody>
      </p:sp>
      <p:sp>
        <p:nvSpPr>
          <p:cNvPr id="79" name="Freeform 22">
            <a:extLst>
              <a:ext uri="{FF2B5EF4-FFF2-40B4-BE49-F238E27FC236}">
                <a16:creationId xmlns:a16="http://schemas.microsoft.com/office/drawing/2014/main" id="{3182D68C-A9C0-E845-0CC9-79C1B7FE5774}"/>
              </a:ext>
            </a:extLst>
          </p:cNvPr>
          <p:cNvSpPr/>
          <p:nvPr/>
        </p:nvSpPr>
        <p:spPr>
          <a:xfrm>
            <a:off x="5640907" y="4778448"/>
            <a:ext cx="695452" cy="1075586"/>
          </a:xfrm>
          <a:custGeom>
            <a:avLst/>
            <a:gdLst/>
            <a:ahLst/>
            <a:cxnLst/>
            <a:rect l="l" t="t" r="r" b="b"/>
            <a:pathLst>
              <a:path w="840866" h="840866">
                <a:moveTo>
                  <a:pt x="0" y="0"/>
                </a:moveTo>
                <a:lnTo>
                  <a:pt x="840866" y="0"/>
                </a:lnTo>
                <a:lnTo>
                  <a:pt x="840866" y="840865"/>
                </a:lnTo>
                <a:lnTo>
                  <a:pt x="0" y="840865"/>
                </a:lnTo>
                <a:lnTo>
                  <a:pt x="0" y="0"/>
                </a:lnTo>
                <a:close/>
              </a:path>
            </a:pathLst>
          </a:custGeom>
          <a:blipFill>
            <a:blip r:embed="rId19"/>
            <a:stretch>
              <a:fillRect/>
            </a:stretch>
          </a:blipFill>
        </p:spPr>
        <p:txBody>
          <a:bodyPr/>
          <a:lstStyle/>
          <a:p>
            <a:endParaRPr lang="fr-FR"/>
          </a:p>
        </p:txBody>
      </p:sp>
      <p:sp>
        <p:nvSpPr>
          <p:cNvPr id="80" name="Freeform 23">
            <a:extLst>
              <a:ext uri="{FF2B5EF4-FFF2-40B4-BE49-F238E27FC236}">
                <a16:creationId xmlns:a16="http://schemas.microsoft.com/office/drawing/2014/main" id="{949FD12D-0983-1EE7-B1B7-FCCB4F42AEDF}"/>
              </a:ext>
            </a:extLst>
          </p:cNvPr>
          <p:cNvSpPr/>
          <p:nvPr/>
        </p:nvSpPr>
        <p:spPr>
          <a:xfrm>
            <a:off x="2164691" y="8252963"/>
            <a:ext cx="525933" cy="802962"/>
          </a:xfrm>
          <a:custGeom>
            <a:avLst/>
            <a:gdLst/>
            <a:ahLst/>
            <a:cxnLst/>
            <a:rect l="l" t="t" r="r" b="b"/>
            <a:pathLst>
              <a:path w="626950" h="627735">
                <a:moveTo>
                  <a:pt x="0" y="0"/>
                </a:moveTo>
                <a:lnTo>
                  <a:pt x="626951" y="0"/>
                </a:lnTo>
                <a:lnTo>
                  <a:pt x="626951" y="627735"/>
                </a:lnTo>
                <a:lnTo>
                  <a:pt x="0" y="627735"/>
                </a:lnTo>
                <a:lnTo>
                  <a:pt x="0" y="0"/>
                </a:lnTo>
                <a:close/>
              </a:path>
            </a:pathLst>
          </a:custGeom>
          <a:blipFill>
            <a:blip r:embed="rId8"/>
            <a:stretch>
              <a:fillRect/>
            </a:stretch>
          </a:blipFill>
        </p:spPr>
        <p:txBody>
          <a:bodyPr/>
          <a:lstStyle/>
          <a:p>
            <a:endParaRPr lang="fr-FR"/>
          </a:p>
        </p:txBody>
      </p:sp>
      <p:sp>
        <p:nvSpPr>
          <p:cNvPr id="81" name="Freeform 24">
            <a:extLst>
              <a:ext uri="{FF2B5EF4-FFF2-40B4-BE49-F238E27FC236}">
                <a16:creationId xmlns:a16="http://schemas.microsoft.com/office/drawing/2014/main" id="{4C0C0B40-586E-41EA-C26D-00FCC0CCAA78}"/>
              </a:ext>
            </a:extLst>
          </p:cNvPr>
          <p:cNvSpPr/>
          <p:nvPr/>
        </p:nvSpPr>
        <p:spPr>
          <a:xfrm>
            <a:off x="1944584" y="7889435"/>
            <a:ext cx="573508" cy="765009"/>
          </a:xfrm>
          <a:custGeom>
            <a:avLst/>
            <a:gdLst/>
            <a:ahLst/>
            <a:cxnLst/>
            <a:rect l="l" t="t" r="r" b="b"/>
            <a:pathLst>
              <a:path w="698470" h="598065">
                <a:moveTo>
                  <a:pt x="0" y="0"/>
                </a:moveTo>
                <a:lnTo>
                  <a:pt x="698470" y="0"/>
                </a:lnTo>
                <a:lnTo>
                  <a:pt x="698470" y="598065"/>
                </a:lnTo>
                <a:lnTo>
                  <a:pt x="0" y="598065"/>
                </a:lnTo>
                <a:lnTo>
                  <a:pt x="0" y="0"/>
                </a:lnTo>
                <a:close/>
              </a:path>
            </a:pathLst>
          </a:custGeom>
          <a:blipFill>
            <a:blip r:embed="rId18"/>
            <a:stretch>
              <a:fillRect/>
            </a:stretch>
          </a:blipFill>
        </p:spPr>
        <p:txBody>
          <a:bodyPr/>
          <a:lstStyle/>
          <a:p>
            <a:endParaRPr lang="fr-FR"/>
          </a:p>
        </p:txBody>
      </p:sp>
      <p:sp>
        <p:nvSpPr>
          <p:cNvPr id="82" name="Freeform 25">
            <a:extLst>
              <a:ext uri="{FF2B5EF4-FFF2-40B4-BE49-F238E27FC236}">
                <a16:creationId xmlns:a16="http://schemas.microsoft.com/office/drawing/2014/main" id="{91F93840-B777-19EA-C4C9-412DB408067A}"/>
              </a:ext>
            </a:extLst>
          </p:cNvPr>
          <p:cNvSpPr/>
          <p:nvPr/>
        </p:nvSpPr>
        <p:spPr>
          <a:xfrm>
            <a:off x="2977449" y="5680058"/>
            <a:ext cx="1284974" cy="883207"/>
          </a:xfrm>
          <a:custGeom>
            <a:avLst/>
            <a:gdLst/>
            <a:ahLst/>
            <a:cxnLst/>
            <a:rect l="l" t="t" r="r" b="b"/>
            <a:pathLst>
              <a:path w="1542947" h="690469">
                <a:moveTo>
                  <a:pt x="0" y="0"/>
                </a:moveTo>
                <a:lnTo>
                  <a:pt x="1542948" y="0"/>
                </a:lnTo>
                <a:lnTo>
                  <a:pt x="1542948" y="690469"/>
                </a:lnTo>
                <a:lnTo>
                  <a:pt x="0" y="690469"/>
                </a:lnTo>
                <a:lnTo>
                  <a:pt x="0" y="0"/>
                </a:lnTo>
                <a:close/>
              </a:path>
            </a:pathLst>
          </a:custGeom>
          <a:blipFill>
            <a:blip r:embed="rId10"/>
            <a:stretch>
              <a:fillRect/>
            </a:stretch>
          </a:blipFill>
        </p:spPr>
        <p:txBody>
          <a:bodyPr/>
          <a:lstStyle/>
          <a:p>
            <a:endParaRPr lang="fr-FR"/>
          </a:p>
        </p:txBody>
      </p:sp>
      <p:sp>
        <p:nvSpPr>
          <p:cNvPr id="83" name="Freeform 26">
            <a:extLst>
              <a:ext uri="{FF2B5EF4-FFF2-40B4-BE49-F238E27FC236}">
                <a16:creationId xmlns:a16="http://schemas.microsoft.com/office/drawing/2014/main" id="{D197BAB8-4653-C95D-E33B-0B63569DAC88}"/>
              </a:ext>
            </a:extLst>
          </p:cNvPr>
          <p:cNvSpPr/>
          <p:nvPr/>
        </p:nvSpPr>
        <p:spPr>
          <a:xfrm>
            <a:off x="1806570" y="5765191"/>
            <a:ext cx="1768398" cy="1530019"/>
          </a:xfrm>
          <a:custGeom>
            <a:avLst/>
            <a:gdLst/>
            <a:ahLst/>
            <a:cxnLst/>
            <a:rect l="l" t="t" r="r" b="b"/>
            <a:pathLst>
              <a:path w="2126453" h="1196130">
                <a:moveTo>
                  <a:pt x="0" y="0"/>
                </a:moveTo>
                <a:lnTo>
                  <a:pt x="2126453" y="0"/>
                </a:lnTo>
                <a:lnTo>
                  <a:pt x="2126453" y="1196129"/>
                </a:lnTo>
                <a:lnTo>
                  <a:pt x="0" y="1196129"/>
                </a:lnTo>
                <a:lnTo>
                  <a:pt x="0" y="0"/>
                </a:lnTo>
                <a:close/>
              </a:path>
            </a:pathLst>
          </a:custGeom>
          <a:blipFill>
            <a:blip r:embed="rId14"/>
            <a:stretch>
              <a:fillRect/>
            </a:stretch>
          </a:blipFill>
          <a:ln>
            <a:noFill/>
          </a:ln>
        </p:spPr>
        <p:txBody>
          <a:bodyPr/>
          <a:lstStyle/>
          <a:p>
            <a:endParaRPr lang="fr-FR"/>
          </a:p>
        </p:txBody>
      </p:sp>
      <p:sp>
        <p:nvSpPr>
          <p:cNvPr id="84" name="Freeform 27">
            <a:extLst>
              <a:ext uri="{FF2B5EF4-FFF2-40B4-BE49-F238E27FC236}">
                <a16:creationId xmlns:a16="http://schemas.microsoft.com/office/drawing/2014/main" id="{D98C61EA-2AC9-C1F6-8C8A-4FEBE5999C57}"/>
              </a:ext>
            </a:extLst>
          </p:cNvPr>
          <p:cNvSpPr/>
          <p:nvPr/>
        </p:nvSpPr>
        <p:spPr>
          <a:xfrm>
            <a:off x="4327731" y="6766397"/>
            <a:ext cx="505018" cy="1092782"/>
          </a:xfrm>
          <a:custGeom>
            <a:avLst/>
            <a:gdLst/>
            <a:ahLst/>
            <a:cxnLst/>
            <a:rect l="l" t="t" r="r" b="b"/>
            <a:pathLst>
              <a:path w="615969" h="854309">
                <a:moveTo>
                  <a:pt x="0" y="0"/>
                </a:moveTo>
                <a:lnTo>
                  <a:pt x="615969" y="0"/>
                </a:lnTo>
                <a:lnTo>
                  <a:pt x="615969" y="854308"/>
                </a:lnTo>
                <a:lnTo>
                  <a:pt x="0" y="854308"/>
                </a:lnTo>
                <a:lnTo>
                  <a:pt x="0" y="0"/>
                </a:lnTo>
                <a:close/>
              </a:path>
            </a:pathLst>
          </a:custGeom>
          <a:blipFill>
            <a:blip r:embed="rId17"/>
            <a:stretch>
              <a:fillRect l="-3743" r="-3743"/>
            </a:stretch>
          </a:blipFill>
        </p:spPr>
        <p:txBody>
          <a:bodyPr/>
          <a:lstStyle/>
          <a:p>
            <a:endParaRPr lang="fr-FR"/>
          </a:p>
        </p:txBody>
      </p:sp>
      <p:sp>
        <p:nvSpPr>
          <p:cNvPr id="85" name="Freeform 28">
            <a:extLst>
              <a:ext uri="{FF2B5EF4-FFF2-40B4-BE49-F238E27FC236}">
                <a16:creationId xmlns:a16="http://schemas.microsoft.com/office/drawing/2014/main" id="{F0218959-E19C-3350-E30B-740648F9E032}"/>
              </a:ext>
            </a:extLst>
          </p:cNvPr>
          <p:cNvSpPr/>
          <p:nvPr/>
        </p:nvSpPr>
        <p:spPr>
          <a:xfrm>
            <a:off x="4290125" y="6216495"/>
            <a:ext cx="563859" cy="627408"/>
          </a:xfrm>
          <a:custGeom>
            <a:avLst/>
            <a:gdLst/>
            <a:ahLst/>
            <a:cxnLst/>
            <a:rect l="l" t="t" r="r" b="b"/>
            <a:pathLst>
              <a:path w="847663" h="490492">
                <a:moveTo>
                  <a:pt x="0" y="0"/>
                </a:moveTo>
                <a:lnTo>
                  <a:pt x="847663" y="0"/>
                </a:lnTo>
                <a:lnTo>
                  <a:pt x="847663" y="490493"/>
                </a:lnTo>
                <a:lnTo>
                  <a:pt x="0" y="490493"/>
                </a:lnTo>
                <a:lnTo>
                  <a:pt x="0" y="0"/>
                </a:lnTo>
                <a:close/>
              </a:path>
            </a:pathLst>
          </a:custGeom>
          <a:blipFill>
            <a:blip r:embed="rId9"/>
            <a:stretch>
              <a:fillRect l="-3743" r="-3743"/>
            </a:stretch>
          </a:blipFill>
        </p:spPr>
        <p:txBody>
          <a:bodyPr/>
          <a:lstStyle/>
          <a:p>
            <a:endParaRPr lang="fr-FR"/>
          </a:p>
        </p:txBody>
      </p:sp>
      <p:sp>
        <p:nvSpPr>
          <p:cNvPr id="86" name="Freeform 29">
            <a:extLst>
              <a:ext uri="{FF2B5EF4-FFF2-40B4-BE49-F238E27FC236}">
                <a16:creationId xmlns:a16="http://schemas.microsoft.com/office/drawing/2014/main" id="{12DC57D8-784C-CD5F-069E-FE867C649DBE}"/>
              </a:ext>
            </a:extLst>
          </p:cNvPr>
          <p:cNvSpPr/>
          <p:nvPr/>
        </p:nvSpPr>
        <p:spPr>
          <a:xfrm>
            <a:off x="4572054" y="6530199"/>
            <a:ext cx="459991" cy="950777"/>
          </a:xfrm>
          <a:custGeom>
            <a:avLst/>
            <a:gdLst/>
            <a:ahLst/>
            <a:cxnLst/>
            <a:rect l="l" t="t" r="r" b="b"/>
            <a:pathLst>
              <a:path w="691516" h="743293">
                <a:moveTo>
                  <a:pt x="0" y="0"/>
                </a:moveTo>
                <a:lnTo>
                  <a:pt x="691517" y="0"/>
                </a:lnTo>
                <a:lnTo>
                  <a:pt x="691517" y="743293"/>
                </a:lnTo>
                <a:lnTo>
                  <a:pt x="0" y="743293"/>
                </a:lnTo>
                <a:lnTo>
                  <a:pt x="0" y="0"/>
                </a:lnTo>
                <a:close/>
              </a:path>
            </a:pathLst>
          </a:custGeom>
          <a:blipFill>
            <a:blip r:embed="rId11"/>
            <a:stretch>
              <a:fillRect l="-3743" r="-3743"/>
            </a:stretch>
          </a:blipFill>
        </p:spPr>
        <p:txBody>
          <a:bodyPr/>
          <a:lstStyle/>
          <a:p>
            <a:endParaRPr lang="fr-FR"/>
          </a:p>
        </p:txBody>
      </p:sp>
      <p:sp>
        <p:nvSpPr>
          <p:cNvPr id="87" name="Freeform 30">
            <a:extLst>
              <a:ext uri="{FF2B5EF4-FFF2-40B4-BE49-F238E27FC236}">
                <a16:creationId xmlns:a16="http://schemas.microsoft.com/office/drawing/2014/main" id="{948B1B8C-0D66-04AF-2B63-2EA18CBECA01}"/>
              </a:ext>
            </a:extLst>
          </p:cNvPr>
          <p:cNvSpPr/>
          <p:nvPr/>
        </p:nvSpPr>
        <p:spPr>
          <a:xfrm>
            <a:off x="4026264" y="6500984"/>
            <a:ext cx="449271" cy="928618"/>
          </a:xfrm>
          <a:custGeom>
            <a:avLst/>
            <a:gdLst/>
            <a:ahLst/>
            <a:cxnLst/>
            <a:rect l="l" t="t" r="r" b="b"/>
            <a:pathLst>
              <a:path w="675400" h="725970">
                <a:moveTo>
                  <a:pt x="0" y="0"/>
                </a:moveTo>
                <a:lnTo>
                  <a:pt x="675400" y="0"/>
                </a:lnTo>
                <a:lnTo>
                  <a:pt x="675400" y="725971"/>
                </a:lnTo>
                <a:lnTo>
                  <a:pt x="0" y="725971"/>
                </a:lnTo>
                <a:lnTo>
                  <a:pt x="0" y="0"/>
                </a:lnTo>
                <a:close/>
              </a:path>
            </a:pathLst>
          </a:custGeom>
          <a:blipFill>
            <a:blip r:embed="rId12"/>
            <a:stretch>
              <a:fillRect l="-3743" r="-3743"/>
            </a:stretch>
          </a:blipFill>
        </p:spPr>
        <p:txBody>
          <a:bodyPr/>
          <a:lstStyle/>
          <a:p>
            <a:endParaRPr lang="fr-FR"/>
          </a:p>
        </p:txBody>
      </p:sp>
      <p:sp>
        <p:nvSpPr>
          <p:cNvPr id="88" name="Freeform 31">
            <a:extLst>
              <a:ext uri="{FF2B5EF4-FFF2-40B4-BE49-F238E27FC236}">
                <a16:creationId xmlns:a16="http://schemas.microsoft.com/office/drawing/2014/main" id="{7E4CB141-6935-7926-C041-639C18994170}"/>
              </a:ext>
            </a:extLst>
          </p:cNvPr>
          <p:cNvSpPr/>
          <p:nvPr/>
        </p:nvSpPr>
        <p:spPr>
          <a:xfrm>
            <a:off x="4161424" y="6101081"/>
            <a:ext cx="941721" cy="799807"/>
          </a:xfrm>
          <a:custGeom>
            <a:avLst/>
            <a:gdLst/>
            <a:ahLst/>
            <a:cxnLst/>
            <a:rect l="l" t="t" r="r" b="b"/>
            <a:pathLst>
              <a:path w="1129239" h="625269">
                <a:moveTo>
                  <a:pt x="0" y="0"/>
                </a:moveTo>
                <a:lnTo>
                  <a:pt x="1129239" y="0"/>
                </a:lnTo>
                <a:lnTo>
                  <a:pt x="1129239" y="625269"/>
                </a:lnTo>
                <a:lnTo>
                  <a:pt x="0" y="625269"/>
                </a:lnTo>
                <a:lnTo>
                  <a:pt x="0" y="0"/>
                </a:lnTo>
                <a:close/>
              </a:path>
            </a:pathLst>
          </a:custGeom>
          <a:blipFill>
            <a:blip r:embed="rId13"/>
            <a:stretch>
              <a:fillRect l="-3699" r="-2527"/>
            </a:stretch>
          </a:blipFill>
        </p:spPr>
        <p:txBody>
          <a:bodyPr/>
          <a:lstStyle/>
          <a:p>
            <a:endParaRPr lang="fr-FR"/>
          </a:p>
        </p:txBody>
      </p:sp>
      <p:sp>
        <p:nvSpPr>
          <p:cNvPr id="89" name="Freeform 32">
            <a:extLst>
              <a:ext uri="{FF2B5EF4-FFF2-40B4-BE49-F238E27FC236}">
                <a16:creationId xmlns:a16="http://schemas.microsoft.com/office/drawing/2014/main" id="{60321472-853D-186D-08F5-41B70DF17CDE}"/>
              </a:ext>
            </a:extLst>
          </p:cNvPr>
          <p:cNvSpPr/>
          <p:nvPr/>
        </p:nvSpPr>
        <p:spPr>
          <a:xfrm>
            <a:off x="5993137" y="5473671"/>
            <a:ext cx="368605" cy="779686"/>
          </a:xfrm>
          <a:custGeom>
            <a:avLst/>
            <a:gdLst/>
            <a:ahLst/>
            <a:cxnLst/>
            <a:rect l="l" t="t" r="r" b="b"/>
            <a:pathLst>
              <a:path w="451821" h="609539">
                <a:moveTo>
                  <a:pt x="0" y="0"/>
                </a:moveTo>
                <a:lnTo>
                  <a:pt x="451821" y="0"/>
                </a:lnTo>
                <a:lnTo>
                  <a:pt x="451821" y="609540"/>
                </a:lnTo>
                <a:lnTo>
                  <a:pt x="0" y="609540"/>
                </a:lnTo>
                <a:lnTo>
                  <a:pt x="0" y="0"/>
                </a:lnTo>
                <a:close/>
              </a:path>
            </a:pathLst>
          </a:custGeom>
          <a:blipFill>
            <a:blip r:embed="rId20"/>
            <a:stretch>
              <a:fillRect/>
            </a:stretch>
          </a:blipFill>
        </p:spPr>
        <p:txBody>
          <a:bodyPr/>
          <a:lstStyle/>
          <a:p>
            <a:endParaRPr lang="fr-FR"/>
          </a:p>
        </p:txBody>
      </p:sp>
      <p:sp>
        <p:nvSpPr>
          <p:cNvPr id="90" name="Freeform 35">
            <a:extLst>
              <a:ext uri="{FF2B5EF4-FFF2-40B4-BE49-F238E27FC236}">
                <a16:creationId xmlns:a16="http://schemas.microsoft.com/office/drawing/2014/main" id="{ACA039B5-D62C-C939-7B5A-85B1EC596E45}"/>
              </a:ext>
            </a:extLst>
          </p:cNvPr>
          <p:cNvSpPr/>
          <p:nvPr/>
        </p:nvSpPr>
        <p:spPr>
          <a:xfrm>
            <a:off x="4111727" y="6433761"/>
            <a:ext cx="1152048" cy="995842"/>
          </a:xfrm>
          <a:custGeom>
            <a:avLst/>
            <a:gdLst/>
            <a:ahLst/>
            <a:cxnLst/>
            <a:rect l="l" t="t" r="r" b="b"/>
            <a:pathLst>
              <a:path w="1384042" h="778524">
                <a:moveTo>
                  <a:pt x="0" y="0"/>
                </a:moveTo>
                <a:lnTo>
                  <a:pt x="1384043" y="0"/>
                </a:lnTo>
                <a:lnTo>
                  <a:pt x="1384043" y="778524"/>
                </a:lnTo>
                <a:lnTo>
                  <a:pt x="0" y="778524"/>
                </a:lnTo>
                <a:lnTo>
                  <a:pt x="0" y="0"/>
                </a:lnTo>
                <a:close/>
              </a:path>
            </a:pathLst>
          </a:custGeom>
          <a:blipFill>
            <a:blip r:embed="rId21"/>
            <a:stretch>
              <a:fillRect/>
            </a:stretch>
          </a:blipFill>
        </p:spPr>
        <p:txBody>
          <a:bodyPr/>
          <a:lstStyle/>
          <a:p>
            <a:endParaRPr lang="fr-FR"/>
          </a:p>
        </p:txBody>
      </p:sp>
      <p:sp>
        <p:nvSpPr>
          <p:cNvPr id="91" name="Freeform 38">
            <a:extLst>
              <a:ext uri="{FF2B5EF4-FFF2-40B4-BE49-F238E27FC236}">
                <a16:creationId xmlns:a16="http://schemas.microsoft.com/office/drawing/2014/main" id="{E36D7575-4DAE-E482-4914-8C9250880E7D}"/>
              </a:ext>
            </a:extLst>
          </p:cNvPr>
          <p:cNvSpPr/>
          <p:nvPr/>
        </p:nvSpPr>
        <p:spPr>
          <a:xfrm>
            <a:off x="2015725" y="5156223"/>
            <a:ext cx="488755" cy="944858"/>
          </a:xfrm>
          <a:custGeom>
            <a:avLst/>
            <a:gdLst/>
            <a:ahLst/>
            <a:cxnLst/>
            <a:rect l="l" t="t" r="r" b="b"/>
            <a:pathLst>
              <a:path w="591521" h="738666">
                <a:moveTo>
                  <a:pt x="0" y="0"/>
                </a:moveTo>
                <a:lnTo>
                  <a:pt x="591522" y="0"/>
                </a:lnTo>
                <a:lnTo>
                  <a:pt x="591522" y="738666"/>
                </a:lnTo>
                <a:lnTo>
                  <a:pt x="0" y="738666"/>
                </a:lnTo>
                <a:lnTo>
                  <a:pt x="0" y="0"/>
                </a:lnTo>
                <a:close/>
              </a:path>
            </a:pathLst>
          </a:custGeom>
          <a:blipFill>
            <a:blip r:embed="rId23"/>
            <a:stretch>
              <a:fillRect/>
            </a:stretch>
          </a:blipFill>
        </p:spPr>
        <p:txBody>
          <a:bodyPr/>
          <a:lstStyle/>
          <a:p>
            <a:endParaRPr lang="fr-FR"/>
          </a:p>
        </p:txBody>
      </p:sp>
      <p:sp>
        <p:nvSpPr>
          <p:cNvPr id="92" name="Freeform 39">
            <a:extLst>
              <a:ext uri="{FF2B5EF4-FFF2-40B4-BE49-F238E27FC236}">
                <a16:creationId xmlns:a16="http://schemas.microsoft.com/office/drawing/2014/main" id="{82BE0E76-4108-4386-CFD0-11B5D2AD3AA9}"/>
              </a:ext>
            </a:extLst>
          </p:cNvPr>
          <p:cNvSpPr/>
          <p:nvPr/>
        </p:nvSpPr>
        <p:spPr>
          <a:xfrm>
            <a:off x="5032046" y="5922194"/>
            <a:ext cx="1056291" cy="921711"/>
          </a:xfrm>
          <a:custGeom>
            <a:avLst/>
            <a:gdLst/>
            <a:ahLst/>
            <a:cxnLst/>
            <a:rect l="l" t="t" r="r" b="b"/>
            <a:pathLst>
              <a:path w="1281013" h="720570">
                <a:moveTo>
                  <a:pt x="0" y="0"/>
                </a:moveTo>
                <a:lnTo>
                  <a:pt x="1281013" y="0"/>
                </a:lnTo>
                <a:lnTo>
                  <a:pt x="1281013" y="720570"/>
                </a:lnTo>
                <a:lnTo>
                  <a:pt x="0" y="720570"/>
                </a:lnTo>
                <a:lnTo>
                  <a:pt x="0" y="0"/>
                </a:lnTo>
                <a:close/>
              </a:path>
            </a:pathLst>
          </a:custGeom>
          <a:blipFill>
            <a:blip r:embed="rId22"/>
            <a:stretch>
              <a:fillRect/>
            </a:stretch>
          </a:blipFill>
        </p:spPr>
        <p:txBody>
          <a:bodyPr/>
          <a:lstStyle/>
          <a:p>
            <a:endParaRPr lang="fr-FR"/>
          </a:p>
        </p:txBody>
      </p:sp>
      <p:sp>
        <p:nvSpPr>
          <p:cNvPr id="93" name="Freeform 41">
            <a:extLst>
              <a:ext uri="{FF2B5EF4-FFF2-40B4-BE49-F238E27FC236}">
                <a16:creationId xmlns:a16="http://schemas.microsoft.com/office/drawing/2014/main" id="{80699D40-164E-E48B-F629-527C86BB4374}"/>
              </a:ext>
            </a:extLst>
          </p:cNvPr>
          <p:cNvSpPr/>
          <p:nvPr/>
        </p:nvSpPr>
        <p:spPr>
          <a:xfrm>
            <a:off x="4832497" y="5262003"/>
            <a:ext cx="775335" cy="1203024"/>
          </a:xfrm>
          <a:custGeom>
            <a:avLst/>
            <a:gdLst/>
            <a:ahLst/>
            <a:cxnLst/>
            <a:rect l="l" t="t" r="r" b="b"/>
            <a:pathLst>
              <a:path w="940494" h="940494">
                <a:moveTo>
                  <a:pt x="0" y="0"/>
                </a:moveTo>
                <a:lnTo>
                  <a:pt x="940494" y="0"/>
                </a:lnTo>
                <a:lnTo>
                  <a:pt x="940494" y="940494"/>
                </a:lnTo>
                <a:lnTo>
                  <a:pt x="0" y="940494"/>
                </a:lnTo>
                <a:lnTo>
                  <a:pt x="0" y="0"/>
                </a:lnTo>
                <a:close/>
              </a:path>
            </a:pathLst>
          </a:custGeom>
          <a:blipFill>
            <a:blip r:embed="rId24"/>
            <a:stretch>
              <a:fillRect/>
            </a:stretch>
          </a:blipFill>
        </p:spPr>
        <p:txBody>
          <a:bodyPr/>
          <a:lstStyle/>
          <a:p>
            <a:endParaRPr lang="fr-FR"/>
          </a:p>
        </p:txBody>
      </p:sp>
      <p:sp>
        <p:nvSpPr>
          <p:cNvPr id="94" name="TextBox 42">
            <a:extLst>
              <a:ext uri="{FF2B5EF4-FFF2-40B4-BE49-F238E27FC236}">
                <a16:creationId xmlns:a16="http://schemas.microsoft.com/office/drawing/2014/main" id="{FF6D528C-A6ED-A521-C0D6-3FC5A0A02EBE}"/>
              </a:ext>
            </a:extLst>
          </p:cNvPr>
          <p:cNvSpPr txBox="1"/>
          <p:nvPr/>
        </p:nvSpPr>
        <p:spPr>
          <a:xfrm>
            <a:off x="3904758" y="8791206"/>
            <a:ext cx="3132302" cy="517320"/>
          </a:xfrm>
          <a:prstGeom prst="rect">
            <a:avLst/>
          </a:prstGeom>
          <a:ln>
            <a:noFill/>
          </a:ln>
        </p:spPr>
        <p:txBody>
          <a:bodyPr wrap="square" lIns="0" tIns="0" rIns="0" bIns="0" rtlCol="0" anchor="t">
            <a:spAutoFit/>
          </a:bodyPr>
          <a:lstStyle/>
          <a:p>
            <a:pPr algn="ctr">
              <a:lnSpc>
                <a:spcPts val="4759"/>
              </a:lnSpc>
              <a:spcBef>
                <a:spcPct val="0"/>
              </a:spcBef>
            </a:pPr>
            <a:r>
              <a:rPr lang="en-US" sz="1950">
                <a:solidFill>
                  <a:srgbClr val="0B87D6"/>
                </a:solidFill>
                <a:latin typeface="Microsoft Sans Serif" panose="020B0604020202020204" pitchFamily="34" charset="0"/>
                <a:ea typeface="Microsoft Sans Serif" panose="020B0604020202020204" pitchFamily="34" charset="0"/>
                <a:cs typeface="Microsoft Sans Serif" panose="020B0604020202020204" pitchFamily="34" charset="0"/>
                <a:sym typeface="Open Sauce"/>
              </a:rPr>
              <a:t>Performance</a:t>
            </a:r>
          </a:p>
        </p:txBody>
      </p:sp>
      <p:sp>
        <p:nvSpPr>
          <p:cNvPr id="101" name="object 99">
            <a:extLst>
              <a:ext uri="{FF2B5EF4-FFF2-40B4-BE49-F238E27FC236}">
                <a16:creationId xmlns:a16="http://schemas.microsoft.com/office/drawing/2014/main" id="{494B0D6F-6921-0EC1-B8E0-1E43CC9D4D12}"/>
              </a:ext>
            </a:extLst>
          </p:cNvPr>
          <p:cNvSpPr txBox="1">
            <a:spLocks/>
          </p:cNvSpPr>
          <p:nvPr/>
        </p:nvSpPr>
        <p:spPr>
          <a:xfrm>
            <a:off x="18623927" y="12317596"/>
            <a:ext cx="274319" cy="276999"/>
          </a:xfrm>
          <a:prstGeom prst="rect">
            <a:avLst/>
          </a:prstGeom>
        </p:spPr>
        <p:txBody>
          <a:bodyPr vert="horz" wrap="square" lIns="0" tIns="22860" rIns="0" bIns="0" rtlCol="0">
            <a:spAutoFit/>
          </a:bodyPr>
          <a:lstStyle>
            <a:defPPr>
              <a:defRPr kern="0"/>
            </a:defPPr>
            <a:lvl1pPr>
              <a:defRPr sz="1650" b="0" i="0">
                <a:solidFill>
                  <a:srgbClr val="262626"/>
                </a:solidFill>
                <a:latin typeface="Microsoft Sans Serif"/>
                <a:cs typeface="Microsoft Sans Serif"/>
              </a:defRPr>
            </a:lvl1pPr>
          </a:lstStyle>
          <a:p>
            <a:pPr marL="12065">
              <a:spcBef>
                <a:spcPts val="180"/>
              </a:spcBef>
            </a:pPr>
            <a:r>
              <a:rPr lang="en-US" spc="-25"/>
              <a:t>7</a:t>
            </a:r>
          </a:p>
        </p:txBody>
      </p:sp>
      <p:sp>
        <p:nvSpPr>
          <p:cNvPr id="104" name="object 16">
            <a:extLst>
              <a:ext uri="{FF2B5EF4-FFF2-40B4-BE49-F238E27FC236}">
                <a16:creationId xmlns:a16="http://schemas.microsoft.com/office/drawing/2014/main" id="{18CFDE21-73FC-5059-4E9E-F4C5C4923F92}"/>
              </a:ext>
            </a:extLst>
          </p:cNvPr>
          <p:cNvSpPr txBox="1">
            <a:spLocks/>
          </p:cNvSpPr>
          <p:nvPr/>
        </p:nvSpPr>
        <p:spPr>
          <a:xfrm>
            <a:off x="1107277" y="842673"/>
            <a:ext cx="16593490" cy="773930"/>
          </a:xfrm>
          <a:prstGeom prst="rect">
            <a:avLst/>
          </a:prstGeom>
        </p:spPr>
        <p:txBody>
          <a:bodyPr vert="horz" wrap="square" lIns="0" tIns="12065" rIns="0" bIns="0" rtlCol="0" anchor="t">
            <a:spAutoFit/>
          </a:bodyPr>
          <a:lstStyle>
            <a:lvl1pPr>
              <a:defRPr sz="4950" b="0" i="0">
                <a:solidFill>
                  <a:srgbClr val="262626"/>
                </a:solidFill>
                <a:latin typeface="Microsoft Sans Serif"/>
                <a:ea typeface="+mj-ea"/>
                <a:cs typeface="Microsoft Sans Serif"/>
              </a:defRPr>
            </a:lvl1pPr>
          </a:lstStyle>
          <a:p>
            <a:pPr marL="12700">
              <a:spcBef>
                <a:spcPts val="95"/>
              </a:spcBef>
            </a:pPr>
            <a:r>
              <a:rPr lang="en-US" b="1">
                <a:ea typeface="Microsoft Sans Serif"/>
              </a:rPr>
              <a:t>Jaguar’s current market reality: Premium but not distinct</a:t>
            </a:r>
            <a:endParaRPr lang="en-US" b="1" spc="-1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05" name="object 2">
            <a:extLst>
              <a:ext uri="{FF2B5EF4-FFF2-40B4-BE49-F238E27FC236}">
                <a16:creationId xmlns:a16="http://schemas.microsoft.com/office/drawing/2014/main" id="{F81041BB-23EA-3ECB-788B-6A51065BE33D}"/>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ZoneTexte 5">
            <a:extLst>
              <a:ext uri="{FF2B5EF4-FFF2-40B4-BE49-F238E27FC236}">
                <a16:creationId xmlns:a16="http://schemas.microsoft.com/office/drawing/2014/main" id="{17A7ACF8-E8DC-E09E-AC9B-A3CCEDD91FDD}"/>
              </a:ext>
            </a:extLst>
          </p:cNvPr>
          <p:cNvSpPr txBox="1"/>
          <p:nvPr/>
        </p:nvSpPr>
        <p:spPr>
          <a:xfrm>
            <a:off x="14557206" y="5724731"/>
            <a:ext cx="36818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Calibri"/>
              <a:buChar char="-"/>
            </a:pPr>
            <a:endParaRPr lang="fr-FR"/>
          </a:p>
        </p:txBody>
      </p:sp>
      <p:pic>
        <p:nvPicPr>
          <p:cNvPr id="16" name="object 22">
            <a:extLst>
              <a:ext uri="{FF2B5EF4-FFF2-40B4-BE49-F238E27FC236}">
                <a16:creationId xmlns:a16="http://schemas.microsoft.com/office/drawing/2014/main" id="{BBBF65A4-4480-1C6A-BA42-735D22755F63}"/>
              </a:ext>
            </a:extLst>
          </p:cNvPr>
          <p:cNvPicPr/>
          <p:nvPr/>
        </p:nvPicPr>
        <p:blipFill>
          <a:blip r:embed="rId25" cstate="print"/>
          <a:stretch>
            <a:fillRect/>
          </a:stretch>
        </p:blipFill>
        <p:spPr>
          <a:xfrm>
            <a:off x="13889263" y="3796393"/>
            <a:ext cx="5018656" cy="979308"/>
          </a:xfrm>
          <a:prstGeom prst="rect">
            <a:avLst/>
          </a:prstGeom>
        </p:spPr>
      </p:pic>
      <p:sp>
        <p:nvSpPr>
          <p:cNvPr id="20" name="object 11">
            <a:extLst>
              <a:ext uri="{FF2B5EF4-FFF2-40B4-BE49-F238E27FC236}">
                <a16:creationId xmlns:a16="http://schemas.microsoft.com/office/drawing/2014/main" id="{291E52EE-1585-6837-CFE8-77394EE74894}"/>
              </a:ext>
            </a:extLst>
          </p:cNvPr>
          <p:cNvSpPr txBox="1"/>
          <p:nvPr/>
        </p:nvSpPr>
        <p:spPr>
          <a:xfrm>
            <a:off x="14214554" y="3898156"/>
            <a:ext cx="4577722" cy="760220"/>
          </a:xfrm>
          <a:prstGeom prst="rect">
            <a:avLst/>
          </a:prstGeom>
        </p:spPr>
        <p:txBody>
          <a:bodyPr vert="horz" wrap="square" lIns="0" tIns="17145" rIns="0" bIns="0" rtlCol="0">
            <a:spAutoFit/>
          </a:bodyPr>
          <a:lstStyle/>
          <a:p>
            <a:pPr lvl="0" eaLnBrk="0" fontAlgn="base" hangingPunct="0">
              <a:spcBef>
                <a:spcPct val="0"/>
              </a:spcBef>
              <a:spcAft>
                <a:spcPct val="0"/>
              </a:spcAft>
            </a:pPr>
            <a:r>
              <a:rPr lang="en-US" sz="1600">
                <a:solidFill>
                  <a:schemeClr val="bg1"/>
                </a:solidFill>
                <a:latin typeface="Neue Haas Grotesk Text Pro" panose="020B0504020202020204" pitchFamily="34" charset="77"/>
              </a:rPr>
              <a:t>The industry is undergoing major transformations : electrification has become the main strategic priority for all brands.</a:t>
            </a:r>
          </a:p>
        </p:txBody>
      </p:sp>
      <p:pic>
        <p:nvPicPr>
          <p:cNvPr id="21" name="object 22">
            <a:extLst>
              <a:ext uri="{FF2B5EF4-FFF2-40B4-BE49-F238E27FC236}">
                <a16:creationId xmlns:a16="http://schemas.microsoft.com/office/drawing/2014/main" id="{830F595B-5377-7E3E-4A8F-E29FAE571239}"/>
              </a:ext>
            </a:extLst>
          </p:cNvPr>
          <p:cNvPicPr/>
          <p:nvPr/>
        </p:nvPicPr>
        <p:blipFill>
          <a:blip r:embed="rId25" cstate="print"/>
          <a:stretch>
            <a:fillRect/>
          </a:stretch>
        </p:blipFill>
        <p:spPr>
          <a:xfrm>
            <a:off x="13889263" y="4698640"/>
            <a:ext cx="5018656" cy="979308"/>
          </a:xfrm>
          <a:prstGeom prst="rect">
            <a:avLst/>
          </a:prstGeom>
        </p:spPr>
      </p:pic>
      <p:sp>
        <p:nvSpPr>
          <p:cNvPr id="23" name="object 11">
            <a:extLst>
              <a:ext uri="{FF2B5EF4-FFF2-40B4-BE49-F238E27FC236}">
                <a16:creationId xmlns:a16="http://schemas.microsoft.com/office/drawing/2014/main" id="{9D15A558-F737-F2DB-E3A0-17750C77CB34}"/>
              </a:ext>
            </a:extLst>
          </p:cNvPr>
          <p:cNvSpPr txBox="1"/>
          <p:nvPr/>
        </p:nvSpPr>
        <p:spPr>
          <a:xfrm>
            <a:off x="14267590" y="4904336"/>
            <a:ext cx="4317768" cy="509755"/>
          </a:xfrm>
          <a:prstGeom prst="rect">
            <a:avLst/>
          </a:prstGeom>
        </p:spPr>
        <p:txBody>
          <a:bodyPr vert="horz" wrap="square" lIns="0" tIns="17145" rIns="0" bIns="0" rtlCol="0">
            <a:spAutoFit/>
          </a:bodyPr>
          <a:lstStyle/>
          <a:p>
            <a:pPr algn="just"/>
            <a:r>
              <a:rPr lang="fr-FR" sz="1600" err="1">
                <a:solidFill>
                  <a:schemeClr val="bg1"/>
                </a:solidFill>
                <a:latin typeface="Microsoft Sans Serif"/>
                <a:ea typeface="Microsoft Sans Serif"/>
                <a:cs typeface="Microsoft Sans Serif"/>
              </a:rPr>
              <a:t>Competition</a:t>
            </a:r>
            <a:r>
              <a:rPr lang="fr-FR" sz="1600">
                <a:solidFill>
                  <a:schemeClr val="bg1"/>
                </a:solidFill>
                <a:latin typeface="Microsoft Sans Serif"/>
                <a:ea typeface="Microsoft Sans Serif"/>
                <a:cs typeface="Microsoft Sans Serif"/>
              </a:rPr>
              <a:t> </a:t>
            </a:r>
            <a:r>
              <a:rPr lang="fr-FR" sz="1600" err="1">
                <a:solidFill>
                  <a:schemeClr val="bg1"/>
                </a:solidFill>
                <a:latin typeface="Microsoft Sans Serif"/>
                <a:ea typeface="Microsoft Sans Serif"/>
                <a:cs typeface="Microsoft Sans Serif"/>
              </a:rPr>
              <a:t>is</a:t>
            </a:r>
            <a:r>
              <a:rPr lang="fr-FR" sz="1600">
                <a:solidFill>
                  <a:schemeClr val="bg1"/>
                </a:solidFill>
                <a:latin typeface="Microsoft Sans Serif"/>
                <a:ea typeface="Microsoft Sans Serif"/>
                <a:cs typeface="Microsoft Sans Serif"/>
              </a:rPr>
              <a:t> </a:t>
            </a:r>
            <a:r>
              <a:rPr lang="fr-FR" sz="1600" err="1">
                <a:solidFill>
                  <a:schemeClr val="bg1"/>
                </a:solidFill>
                <a:latin typeface="Microsoft Sans Serif"/>
                <a:ea typeface="Microsoft Sans Serif"/>
                <a:cs typeface="Microsoft Sans Serif"/>
              </a:rPr>
              <a:t>fierce</a:t>
            </a:r>
            <a:r>
              <a:rPr lang="fr-FR" sz="1600">
                <a:solidFill>
                  <a:schemeClr val="bg1"/>
                </a:solidFill>
                <a:latin typeface="Microsoft Sans Serif"/>
                <a:ea typeface="Microsoft Sans Serif"/>
                <a:cs typeface="Microsoft Sans Serif"/>
              </a:rPr>
              <a:t>, </a:t>
            </a:r>
            <a:r>
              <a:rPr lang="fr-FR" sz="1600" err="1">
                <a:solidFill>
                  <a:schemeClr val="bg1"/>
                </a:solidFill>
                <a:latin typeface="Microsoft Sans Serif"/>
                <a:ea typeface="Microsoft Sans Serif"/>
                <a:cs typeface="Microsoft Sans Serif"/>
              </a:rPr>
              <a:t>making</a:t>
            </a:r>
            <a:r>
              <a:rPr lang="fr-FR" sz="1600">
                <a:solidFill>
                  <a:schemeClr val="bg1"/>
                </a:solidFill>
                <a:latin typeface="Microsoft Sans Serif"/>
                <a:ea typeface="Microsoft Sans Serif"/>
                <a:cs typeface="Microsoft Sans Serif"/>
              </a:rPr>
              <a:t> </a:t>
            </a:r>
            <a:r>
              <a:rPr lang="fr-FR" sz="1600" err="1">
                <a:solidFill>
                  <a:schemeClr val="bg1"/>
                </a:solidFill>
                <a:latin typeface="Microsoft Sans Serif"/>
                <a:ea typeface="Microsoft Sans Serif"/>
                <a:cs typeface="Microsoft Sans Serif"/>
              </a:rPr>
              <a:t>differentiation</a:t>
            </a:r>
            <a:r>
              <a:rPr lang="fr-FR" sz="1600">
                <a:solidFill>
                  <a:schemeClr val="bg1"/>
                </a:solidFill>
                <a:latin typeface="Microsoft Sans Serif"/>
                <a:ea typeface="Microsoft Sans Serif"/>
                <a:cs typeface="Microsoft Sans Serif"/>
              </a:rPr>
              <a:t> a key challenge.</a:t>
            </a:r>
          </a:p>
        </p:txBody>
      </p:sp>
      <p:pic>
        <p:nvPicPr>
          <p:cNvPr id="26" name="object 22">
            <a:extLst>
              <a:ext uri="{FF2B5EF4-FFF2-40B4-BE49-F238E27FC236}">
                <a16:creationId xmlns:a16="http://schemas.microsoft.com/office/drawing/2014/main" id="{BE1B6C53-FA7A-33EE-23B1-E55A6FF46B34}"/>
              </a:ext>
            </a:extLst>
          </p:cNvPr>
          <p:cNvPicPr/>
          <p:nvPr/>
        </p:nvPicPr>
        <p:blipFill>
          <a:blip r:embed="rId25" cstate="print"/>
          <a:stretch>
            <a:fillRect/>
          </a:stretch>
        </p:blipFill>
        <p:spPr>
          <a:xfrm>
            <a:off x="13859283" y="5628390"/>
            <a:ext cx="5018656" cy="979308"/>
          </a:xfrm>
          <a:prstGeom prst="rect">
            <a:avLst/>
          </a:prstGeom>
        </p:spPr>
      </p:pic>
      <p:sp>
        <p:nvSpPr>
          <p:cNvPr id="34" name="object 11">
            <a:extLst>
              <a:ext uri="{FF2B5EF4-FFF2-40B4-BE49-F238E27FC236}">
                <a16:creationId xmlns:a16="http://schemas.microsoft.com/office/drawing/2014/main" id="{60CF3841-4373-BCDD-BFB4-9B9B395108C7}"/>
              </a:ext>
            </a:extLst>
          </p:cNvPr>
          <p:cNvSpPr txBox="1"/>
          <p:nvPr/>
        </p:nvSpPr>
        <p:spPr>
          <a:xfrm>
            <a:off x="14191108" y="5731546"/>
            <a:ext cx="4577722" cy="755976"/>
          </a:xfrm>
          <a:prstGeom prst="rect">
            <a:avLst/>
          </a:prstGeom>
        </p:spPr>
        <p:txBody>
          <a:bodyPr vert="horz" wrap="square" lIns="0" tIns="17145" rIns="0" bIns="0" rtlCol="0">
            <a:spAutoFit/>
          </a:bodyPr>
          <a:lstStyle/>
          <a:p>
            <a:pPr lvl="0" eaLnBrk="0" fontAlgn="base" hangingPunct="0">
              <a:spcBef>
                <a:spcPct val="0"/>
              </a:spcBef>
              <a:spcAft>
                <a:spcPct val="0"/>
              </a:spcAft>
            </a:pPr>
            <a:r>
              <a:rPr lang="en-US" sz="1600">
                <a:solidFill>
                  <a:schemeClr val="bg1"/>
                </a:solidFill>
                <a:latin typeface="Neue Haas Grotesk Text Pro" panose="020B0504020202020204" pitchFamily="34" charset="77"/>
              </a:rPr>
              <a:t>Jaguar is positioned in the middle of the premium market, alongside Audi, BMW, and Mercedes</a:t>
            </a:r>
          </a:p>
        </p:txBody>
      </p:sp>
      <p:pic>
        <p:nvPicPr>
          <p:cNvPr id="35" name="object 22">
            <a:extLst>
              <a:ext uri="{FF2B5EF4-FFF2-40B4-BE49-F238E27FC236}">
                <a16:creationId xmlns:a16="http://schemas.microsoft.com/office/drawing/2014/main" id="{9E365EF0-CA9E-9E1D-C107-6BB43A7E89A4}"/>
              </a:ext>
            </a:extLst>
          </p:cNvPr>
          <p:cNvPicPr/>
          <p:nvPr/>
        </p:nvPicPr>
        <p:blipFill>
          <a:blip r:embed="rId25" cstate="print"/>
          <a:stretch>
            <a:fillRect/>
          </a:stretch>
        </p:blipFill>
        <p:spPr>
          <a:xfrm>
            <a:off x="13899180" y="6575766"/>
            <a:ext cx="5018656" cy="979308"/>
          </a:xfrm>
          <a:prstGeom prst="rect">
            <a:avLst/>
          </a:prstGeom>
        </p:spPr>
      </p:pic>
      <p:sp>
        <p:nvSpPr>
          <p:cNvPr id="36" name="object 11">
            <a:extLst>
              <a:ext uri="{FF2B5EF4-FFF2-40B4-BE49-F238E27FC236}">
                <a16:creationId xmlns:a16="http://schemas.microsoft.com/office/drawing/2014/main" id="{E7463CE7-8706-74B4-A422-A3ABDD1F64D4}"/>
              </a:ext>
            </a:extLst>
          </p:cNvPr>
          <p:cNvSpPr txBox="1"/>
          <p:nvPr/>
        </p:nvSpPr>
        <p:spPr>
          <a:xfrm>
            <a:off x="14231005" y="6801969"/>
            <a:ext cx="4577722" cy="509755"/>
          </a:xfrm>
          <a:prstGeom prst="rect">
            <a:avLst/>
          </a:prstGeom>
        </p:spPr>
        <p:txBody>
          <a:bodyPr vert="horz" wrap="square" lIns="0" tIns="17145" rIns="0" bIns="0" rtlCol="0">
            <a:spAutoFit/>
          </a:bodyPr>
          <a:lstStyle/>
          <a:p>
            <a:pPr lvl="0" eaLnBrk="0" fontAlgn="base" hangingPunct="0">
              <a:spcBef>
                <a:spcPct val="0"/>
              </a:spcBef>
              <a:spcAft>
                <a:spcPct val="0"/>
              </a:spcAft>
            </a:pPr>
            <a:r>
              <a:rPr lang="en-US" sz="1600">
                <a:solidFill>
                  <a:schemeClr val="bg1"/>
                </a:solidFill>
                <a:latin typeface="Neue Haas Grotesk Text Pro" panose="020B0504020202020204" pitchFamily="34" charset="77"/>
              </a:rPr>
              <a:t>Jaguar’s price and performance levels remain similar to those of its main competitors.</a:t>
            </a:r>
          </a:p>
        </p:txBody>
      </p:sp>
      <p:pic>
        <p:nvPicPr>
          <p:cNvPr id="37" name="object 22">
            <a:extLst>
              <a:ext uri="{FF2B5EF4-FFF2-40B4-BE49-F238E27FC236}">
                <a16:creationId xmlns:a16="http://schemas.microsoft.com/office/drawing/2014/main" id="{B70D21CF-4B95-93B2-F177-63C03080A0DD}"/>
              </a:ext>
            </a:extLst>
          </p:cNvPr>
          <p:cNvPicPr/>
          <p:nvPr/>
        </p:nvPicPr>
        <p:blipFill>
          <a:blip r:embed="rId25" cstate="print"/>
          <a:stretch>
            <a:fillRect/>
          </a:stretch>
        </p:blipFill>
        <p:spPr>
          <a:xfrm>
            <a:off x="13878871" y="7544982"/>
            <a:ext cx="5081174" cy="1424170"/>
          </a:xfrm>
          <a:prstGeom prst="rect">
            <a:avLst/>
          </a:prstGeom>
        </p:spPr>
      </p:pic>
      <p:sp>
        <p:nvSpPr>
          <p:cNvPr id="38" name="object 11">
            <a:extLst>
              <a:ext uri="{FF2B5EF4-FFF2-40B4-BE49-F238E27FC236}">
                <a16:creationId xmlns:a16="http://schemas.microsoft.com/office/drawing/2014/main" id="{42D9DE51-CD65-7E84-6606-0856BCD023BC}"/>
              </a:ext>
            </a:extLst>
          </p:cNvPr>
          <p:cNvSpPr txBox="1"/>
          <p:nvPr/>
        </p:nvSpPr>
        <p:spPr>
          <a:xfrm>
            <a:off x="14192178" y="7845603"/>
            <a:ext cx="4577722" cy="755976"/>
          </a:xfrm>
          <a:prstGeom prst="rect">
            <a:avLst/>
          </a:prstGeom>
        </p:spPr>
        <p:txBody>
          <a:bodyPr vert="horz" wrap="square" lIns="0" tIns="17145" rIns="0" bIns="0" rtlCol="0" anchor="t">
            <a:spAutoFit/>
          </a:bodyPr>
          <a:lstStyle/>
          <a:p>
            <a:pPr lvl="0" eaLnBrk="0" fontAlgn="base" hangingPunct="0">
              <a:spcBef>
                <a:spcPct val="0"/>
              </a:spcBef>
              <a:spcAft>
                <a:spcPct val="0"/>
              </a:spcAft>
            </a:pPr>
            <a:r>
              <a:rPr lang="en-US" sz="1600">
                <a:solidFill>
                  <a:schemeClr val="bg1"/>
                </a:solidFill>
                <a:latin typeface="Neue Haas Grotesk Text Pro"/>
              </a:rPr>
              <a:t>To stand out, Jaguar must choose between:</a:t>
            </a:r>
          </a:p>
          <a:p>
            <a:pPr marL="285750" indent="-285750" eaLnBrk="0" fontAlgn="base" hangingPunct="0">
              <a:spcBef>
                <a:spcPct val="0"/>
              </a:spcBef>
              <a:spcAft>
                <a:spcPct val="0"/>
              </a:spcAft>
              <a:buFont typeface="Arial"/>
              <a:buChar char="•"/>
            </a:pPr>
            <a:r>
              <a:rPr lang="en-US" sz="1600">
                <a:solidFill>
                  <a:schemeClr val="bg1"/>
                </a:solidFill>
                <a:latin typeface="Neue Haas Grotesk Text Pro"/>
              </a:rPr>
              <a:t>Focusing on petrol and electric performance, </a:t>
            </a:r>
          </a:p>
          <a:p>
            <a:pPr marL="285750" lvl="0" indent="-285750" eaLnBrk="0" fontAlgn="base" hangingPunct="0">
              <a:spcBef>
                <a:spcPct val="0"/>
              </a:spcBef>
              <a:spcAft>
                <a:spcPct val="0"/>
              </a:spcAft>
              <a:buFont typeface="Arial"/>
              <a:buChar char="•"/>
            </a:pPr>
            <a:r>
              <a:rPr lang="en-US" sz="1600">
                <a:solidFill>
                  <a:schemeClr val="bg1"/>
                </a:solidFill>
                <a:latin typeface="Neue Haas Grotesk Text Pro"/>
              </a:rPr>
              <a:t>Entering the ultra-luxury electric niche.</a:t>
            </a:r>
          </a:p>
        </p:txBody>
      </p:sp>
      <p:sp>
        <p:nvSpPr>
          <p:cNvPr id="46" name="object 33">
            <a:extLst>
              <a:ext uri="{FF2B5EF4-FFF2-40B4-BE49-F238E27FC236}">
                <a16:creationId xmlns:a16="http://schemas.microsoft.com/office/drawing/2014/main" id="{EEFBBBD7-0516-B949-4351-29647D925BAD}"/>
              </a:ext>
            </a:extLst>
          </p:cNvPr>
          <p:cNvSpPr txBox="1">
            <a:spLocks noGrp="1"/>
          </p:cNvSpPr>
          <p:nvPr>
            <p:ph type="sldNum" sz="quarter" idx="7"/>
          </p:nvPr>
        </p:nvSpPr>
        <p:spPr>
          <a:xfrm>
            <a:off x="18667927" y="10548235"/>
            <a:ext cx="274319" cy="276999"/>
          </a:xfrm>
          <a:prstGeom prst="rect">
            <a:avLst/>
          </a:prstGeom>
        </p:spPr>
        <p:txBody>
          <a:bodyPr vert="horz" wrap="square" lIns="0" tIns="22860" rIns="0" bIns="0" rtlCol="0" anchor="t">
            <a:spAutoFit/>
          </a:bodyPr>
          <a:lstStyle/>
          <a:p>
            <a:pPr marL="7620">
              <a:lnSpc>
                <a:spcPct val="100000"/>
              </a:lnSpc>
              <a:spcBef>
                <a:spcPts val="180"/>
              </a:spcBef>
            </a:pPr>
            <a:r>
              <a:rPr lang="en-US" spc="-25">
                <a:ea typeface="Microsoft Sans Serif"/>
              </a:rPr>
              <a:t>10</a:t>
            </a:r>
          </a:p>
        </p:txBody>
      </p:sp>
      <p:sp>
        <p:nvSpPr>
          <p:cNvPr id="13" name="object 2">
            <a:extLst>
              <a:ext uri="{FF2B5EF4-FFF2-40B4-BE49-F238E27FC236}">
                <a16:creationId xmlns:a16="http://schemas.microsoft.com/office/drawing/2014/main" id="{33ED1599-93FF-08B2-39A2-087FB1AC8ADC}"/>
              </a:ext>
            </a:extLst>
          </p:cNvPr>
          <p:cNvSpPr/>
          <p:nvPr/>
        </p:nvSpPr>
        <p:spPr>
          <a:xfrm>
            <a:off x="10823" y="-7924"/>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B52BA-8A95-C9A3-047D-DA3E83012C3E}"/>
            </a:ext>
          </a:extLst>
        </p:cNvPr>
        <p:cNvGrpSpPr/>
        <p:nvPr/>
      </p:nvGrpSpPr>
      <p:grpSpPr>
        <a:xfrm>
          <a:off x="0" y="0"/>
          <a:ext cx="0" cy="0"/>
          <a:chOff x="0" y="0"/>
          <a:chExt cx="0" cy="0"/>
        </a:xfrm>
      </p:grpSpPr>
      <p:sp>
        <p:nvSpPr>
          <p:cNvPr id="6" name="object 2">
            <a:extLst>
              <a:ext uri="{FF2B5EF4-FFF2-40B4-BE49-F238E27FC236}">
                <a16:creationId xmlns:a16="http://schemas.microsoft.com/office/drawing/2014/main" id="{4F8B86FA-A3AD-9933-1010-55574F02A7A7}"/>
              </a:ext>
            </a:extLst>
          </p:cNvPr>
          <p:cNvSpPr/>
          <p:nvPr/>
        </p:nvSpPr>
        <p:spPr>
          <a:xfrm>
            <a:off x="-121486" y="20177"/>
            <a:ext cx="20339478"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
        <p:nvSpPr>
          <p:cNvPr id="2" name="object 2">
            <a:extLst>
              <a:ext uri="{FF2B5EF4-FFF2-40B4-BE49-F238E27FC236}">
                <a16:creationId xmlns:a16="http://schemas.microsoft.com/office/drawing/2014/main" id="{ECC7F28B-8C5A-4AA7-35C0-57CD27704746}"/>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3" name="object 3">
            <a:extLst>
              <a:ext uri="{FF2B5EF4-FFF2-40B4-BE49-F238E27FC236}">
                <a16:creationId xmlns:a16="http://schemas.microsoft.com/office/drawing/2014/main" id="{A06DDA87-67FF-BF23-31FF-520930824CAE}"/>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5" name="object 5">
            <a:extLst>
              <a:ext uri="{FF2B5EF4-FFF2-40B4-BE49-F238E27FC236}">
                <a16:creationId xmlns:a16="http://schemas.microsoft.com/office/drawing/2014/main" id="{0FFE5ECD-617B-88E2-3E05-87C74CE3A6A6}"/>
              </a:ext>
            </a:extLst>
          </p:cNvPr>
          <p:cNvPicPr/>
          <p:nvPr/>
        </p:nvPicPr>
        <p:blipFill>
          <a:blip r:embed="rId2" cstate="print"/>
          <a:stretch>
            <a:fillRect/>
          </a:stretch>
        </p:blipFill>
        <p:spPr>
          <a:xfrm>
            <a:off x="0" y="1095673"/>
            <a:ext cx="1015257" cy="271405"/>
          </a:xfrm>
          <a:prstGeom prst="rect">
            <a:avLst/>
          </a:prstGeom>
        </p:spPr>
      </p:pic>
      <p:sp>
        <p:nvSpPr>
          <p:cNvPr id="47" name="object 47">
            <a:extLst>
              <a:ext uri="{FF2B5EF4-FFF2-40B4-BE49-F238E27FC236}">
                <a16:creationId xmlns:a16="http://schemas.microsoft.com/office/drawing/2014/main" id="{44276753-92C6-9F7A-18EF-19C381B5A6B2}"/>
              </a:ext>
            </a:extLst>
          </p:cNvPr>
          <p:cNvSpPr txBox="1">
            <a:spLocks noGrp="1"/>
          </p:cNvSpPr>
          <p:nvPr>
            <p:ph type="sldNum" sz="quarter" idx="7"/>
          </p:nvPr>
        </p:nvSpPr>
        <p:spPr>
          <a:xfrm>
            <a:off x="18667927" y="10548235"/>
            <a:ext cx="274319" cy="276999"/>
          </a:xfrm>
          <a:prstGeom prst="rect">
            <a:avLst/>
          </a:prstGeom>
        </p:spPr>
        <p:txBody>
          <a:bodyPr vert="horz" wrap="square" lIns="0" tIns="22860" rIns="0" bIns="0" rtlCol="0" anchor="t">
            <a:spAutoFit/>
          </a:bodyPr>
          <a:lstStyle/>
          <a:p>
            <a:pPr marL="7620">
              <a:lnSpc>
                <a:spcPct val="100000"/>
              </a:lnSpc>
              <a:spcBef>
                <a:spcPts val="180"/>
              </a:spcBef>
            </a:pPr>
            <a:r>
              <a:rPr lang="en-US" spc="-25"/>
              <a:t>11</a:t>
            </a:r>
            <a:endParaRPr spc="-25"/>
          </a:p>
        </p:txBody>
      </p:sp>
      <p:sp>
        <p:nvSpPr>
          <p:cNvPr id="4" name="object 2">
            <a:extLst>
              <a:ext uri="{FF2B5EF4-FFF2-40B4-BE49-F238E27FC236}">
                <a16:creationId xmlns:a16="http://schemas.microsoft.com/office/drawing/2014/main" id="{993F2A45-69E6-55C0-4E6F-B227EE7931FC}"/>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55" name="object 11">
            <a:extLst>
              <a:ext uri="{FF2B5EF4-FFF2-40B4-BE49-F238E27FC236}">
                <a16:creationId xmlns:a16="http://schemas.microsoft.com/office/drawing/2014/main" id="{FDDDC8EC-95E7-A5D7-E41E-090EC4B3655A}"/>
              </a:ext>
            </a:extLst>
          </p:cNvPr>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5696997" y="2996451"/>
            <a:ext cx="4749855" cy="4586246"/>
          </a:xfrm>
          <a:prstGeom prst="rect">
            <a:avLst/>
          </a:prstGeom>
        </p:spPr>
      </p:pic>
      <p:sp>
        <p:nvSpPr>
          <p:cNvPr id="75" name="object 15">
            <a:extLst>
              <a:ext uri="{FF2B5EF4-FFF2-40B4-BE49-F238E27FC236}">
                <a16:creationId xmlns:a16="http://schemas.microsoft.com/office/drawing/2014/main" id="{5EE2827F-2743-E01F-7865-B342CEB3098F}"/>
              </a:ext>
            </a:extLst>
          </p:cNvPr>
          <p:cNvSpPr txBox="1"/>
          <p:nvPr/>
        </p:nvSpPr>
        <p:spPr>
          <a:xfrm>
            <a:off x="5965012" y="4481964"/>
            <a:ext cx="3652235" cy="748282"/>
          </a:xfrm>
          <a:prstGeom prst="rect">
            <a:avLst/>
          </a:prstGeom>
        </p:spPr>
        <p:txBody>
          <a:bodyPr vert="horz" wrap="square" lIns="0" tIns="9525" rIns="0" bIns="0" rtlCol="0" anchor="t">
            <a:spAutoFit/>
          </a:bodyPr>
          <a:lstStyle>
            <a:defPPr>
              <a:defRPr kern="0"/>
            </a:defPPr>
            <a:lvl1pPr lvl="0" algn="ctr">
              <a:lnSpc>
                <a:spcPct val="100000"/>
              </a:lnSpc>
              <a:defRPr sz="1600" b="1">
                <a:solidFill>
                  <a:schemeClr val="tx1"/>
                </a:solidFill>
                <a:latin typeface="Aptos" panose="020B0004020202020204" pitchFamily="34" charset="0"/>
              </a:defRPr>
            </a:lvl1pPr>
          </a:lstStyle>
          <a:p>
            <a:r>
              <a:rPr lang="en-GB" sz="2400">
                <a:latin typeface="Aptos"/>
              </a:rPr>
              <a:t>1. Jaguar </a:t>
            </a:r>
            <a:r>
              <a:rPr lang="en-GB" sz="2400" u="sng">
                <a:latin typeface="Aptos"/>
              </a:rPr>
              <a:t>Ultra-Luxury</a:t>
            </a:r>
            <a:r>
              <a:rPr lang="en-GB" sz="2400">
                <a:latin typeface="Aptos"/>
              </a:rPr>
              <a:t> division</a:t>
            </a:r>
          </a:p>
        </p:txBody>
      </p:sp>
      <p:pic>
        <p:nvPicPr>
          <p:cNvPr id="13" name="object 4">
            <a:extLst>
              <a:ext uri="{FF2B5EF4-FFF2-40B4-BE49-F238E27FC236}">
                <a16:creationId xmlns:a16="http://schemas.microsoft.com/office/drawing/2014/main" id="{F52587B1-8291-CF36-0443-699C972104D7}"/>
              </a:ext>
            </a:extLst>
          </p:cNvPr>
          <p:cNvPicPr/>
          <p:nvPr/>
        </p:nvPicPr>
        <p:blipFill>
          <a:blip r:embed="rId5" cstate="print"/>
          <a:stretch>
            <a:fillRect/>
          </a:stretch>
        </p:blipFill>
        <p:spPr>
          <a:xfrm>
            <a:off x="17726790" y="399568"/>
            <a:ext cx="1233889" cy="263866"/>
          </a:xfrm>
          <a:prstGeom prst="rect">
            <a:avLst/>
          </a:prstGeom>
        </p:spPr>
      </p:pic>
      <p:pic>
        <p:nvPicPr>
          <p:cNvPr id="28" name="object 11">
            <a:extLst>
              <a:ext uri="{FF2B5EF4-FFF2-40B4-BE49-F238E27FC236}">
                <a16:creationId xmlns:a16="http://schemas.microsoft.com/office/drawing/2014/main" id="{6DC0F546-BE73-0E14-A7B3-DC7C56E0610B}"/>
              </a:ext>
            </a:extLst>
          </p:cNvPr>
          <p:cNvPicPr/>
          <p:nvPr/>
        </p:nvPicPr>
        <p:blipFill>
          <a:blip r:embed="rId6" cstate="print"/>
          <a:stretch>
            <a:fillRect/>
          </a:stretch>
        </p:blipFill>
        <p:spPr>
          <a:xfrm>
            <a:off x="9589360" y="3000778"/>
            <a:ext cx="4749855" cy="4586246"/>
          </a:xfrm>
          <a:prstGeom prst="rect">
            <a:avLst/>
          </a:prstGeom>
        </p:spPr>
      </p:pic>
      <p:sp>
        <p:nvSpPr>
          <p:cNvPr id="29" name="object 15">
            <a:extLst>
              <a:ext uri="{FF2B5EF4-FFF2-40B4-BE49-F238E27FC236}">
                <a16:creationId xmlns:a16="http://schemas.microsoft.com/office/drawing/2014/main" id="{72C6649D-5DD9-9F3C-D64F-84C8DA97727E}"/>
              </a:ext>
            </a:extLst>
          </p:cNvPr>
          <p:cNvSpPr txBox="1"/>
          <p:nvPr/>
        </p:nvSpPr>
        <p:spPr>
          <a:xfrm>
            <a:off x="10437480" y="4481965"/>
            <a:ext cx="3632144" cy="809837"/>
          </a:xfrm>
          <a:prstGeom prst="rect">
            <a:avLst/>
          </a:prstGeom>
        </p:spPr>
        <p:txBody>
          <a:bodyPr vert="horz" wrap="square" lIns="0" tIns="9525" rIns="0" bIns="0" rtlCol="0" anchor="t">
            <a:spAutoFit/>
          </a:bodyPr>
          <a:lstStyle>
            <a:defPPr>
              <a:defRPr kern="0"/>
            </a:defPPr>
            <a:lvl1pPr lvl="0" algn="ctr">
              <a:lnSpc>
                <a:spcPct val="100000"/>
              </a:lnSpc>
              <a:defRPr sz="1600" b="1">
                <a:solidFill>
                  <a:schemeClr val="tx1"/>
                </a:solidFill>
                <a:latin typeface="Aptos" panose="020B0004020202020204" pitchFamily="34" charset="0"/>
              </a:defRPr>
            </a:lvl1pPr>
          </a:lstStyle>
          <a:p>
            <a:r>
              <a:rPr lang="en-GB" sz="2800">
                <a:latin typeface="Aptos"/>
              </a:rPr>
              <a:t>2. </a:t>
            </a:r>
            <a:r>
              <a:rPr lang="en-GB" sz="2400">
                <a:latin typeface="Aptos"/>
              </a:rPr>
              <a:t>Jaguar </a:t>
            </a:r>
            <a:r>
              <a:rPr lang="en-GB" sz="2400" u="sng">
                <a:latin typeface="Aptos"/>
              </a:rPr>
              <a:t>Performance </a:t>
            </a:r>
            <a:r>
              <a:rPr lang="en-GB" sz="2400">
                <a:latin typeface="Aptos"/>
              </a:rPr>
              <a:t>division</a:t>
            </a:r>
          </a:p>
        </p:txBody>
      </p:sp>
      <p:sp>
        <p:nvSpPr>
          <p:cNvPr id="30" name="object 19">
            <a:extLst>
              <a:ext uri="{FF2B5EF4-FFF2-40B4-BE49-F238E27FC236}">
                <a16:creationId xmlns:a16="http://schemas.microsoft.com/office/drawing/2014/main" id="{044368A9-5F4D-0A27-1C28-A9F36CF69447}"/>
              </a:ext>
            </a:extLst>
          </p:cNvPr>
          <p:cNvSpPr txBox="1"/>
          <p:nvPr/>
        </p:nvSpPr>
        <p:spPr>
          <a:xfrm>
            <a:off x="6775304" y="5459260"/>
            <a:ext cx="2590800" cy="1089401"/>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Positioning: Electric British Elegance</a:t>
            </a:r>
            <a:b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b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Target: Younger global elite</a:t>
            </a:r>
            <a:b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b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Focus: Craftsmanship, sustainability, serenity</a:t>
            </a:r>
          </a:p>
        </p:txBody>
      </p:sp>
      <p:sp>
        <p:nvSpPr>
          <p:cNvPr id="35" name="object 19">
            <a:extLst>
              <a:ext uri="{FF2B5EF4-FFF2-40B4-BE49-F238E27FC236}">
                <a16:creationId xmlns:a16="http://schemas.microsoft.com/office/drawing/2014/main" id="{FFCE0E8E-2119-0473-0546-A635180D795C}"/>
              </a:ext>
            </a:extLst>
          </p:cNvPr>
          <p:cNvSpPr txBox="1"/>
          <p:nvPr/>
        </p:nvSpPr>
        <p:spPr>
          <a:xfrm>
            <a:off x="11011101" y="5457783"/>
            <a:ext cx="2489145" cy="1304844"/>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Positioning: Emotion through performance and exclusivity</a:t>
            </a:r>
            <a:b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b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Target: Younger performance enthusiasts</a:t>
            </a:r>
            <a:b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br>
            <a:r>
              <a:rPr kumimoji="0" lang="en-US" sz="1400" b="1" i="0" u="none" strike="noStrike" kern="1200" cap="none" spc="0" normalizeH="0" baseline="0" noProof="0">
                <a:ln>
                  <a:noFill/>
                </a:ln>
                <a:solidFill>
                  <a:schemeClr val="tx1"/>
                </a:solidFill>
                <a:effectLst/>
                <a:uLnTx/>
                <a:uFillTx/>
                <a:latin typeface="Aptos" panose="02110004020202020204"/>
                <a:ea typeface="+mn-ea"/>
                <a:cs typeface="+mn-cs"/>
              </a:rPr>
              <a:t>Focus: Design, driver connection, sportiness</a:t>
            </a:r>
          </a:p>
        </p:txBody>
      </p:sp>
      <p:sp>
        <p:nvSpPr>
          <p:cNvPr id="36" name="object 6">
            <a:extLst>
              <a:ext uri="{FF2B5EF4-FFF2-40B4-BE49-F238E27FC236}">
                <a16:creationId xmlns:a16="http://schemas.microsoft.com/office/drawing/2014/main" id="{3DE5F266-8770-150E-918C-0FAFCF2889A8}"/>
              </a:ext>
            </a:extLst>
          </p:cNvPr>
          <p:cNvSpPr txBox="1">
            <a:spLocks noGrp="1"/>
          </p:cNvSpPr>
          <p:nvPr>
            <p:ph type="title"/>
          </p:nvPr>
        </p:nvSpPr>
        <p:spPr>
          <a:xfrm>
            <a:off x="966946" y="892821"/>
            <a:ext cx="17250106" cy="676980"/>
          </a:xfrm>
          <a:prstGeom prst="rect">
            <a:avLst/>
          </a:prstGeom>
        </p:spPr>
        <p:txBody>
          <a:bodyPr vert="horz" wrap="square" lIns="0" tIns="12065" rIns="0" bIns="0" rtlCol="0" anchor="t">
            <a:spAutoFit/>
          </a:bodyPr>
          <a:lstStyle/>
          <a:p>
            <a:pPr algn="ctr">
              <a:lnSpc>
                <a:spcPct val="90000"/>
              </a:lnSpc>
              <a:spcBef>
                <a:spcPct val="0"/>
              </a:spcBef>
              <a:spcAft>
                <a:spcPts val="600"/>
              </a:spcAft>
            </a:pPr>
            <a:r>
              <a:rPr lang="en-US" sz="4800" b="1"/>
              <a:t>OUR RECOMMENDATION : SPLIT JAGUAR IN 2 DIVISIONS</a:t>
            </a:r>
          </a:p>
        </p:txBody>
      </p:sp>
      <p:sp>
        <p:nvSpPr>
          <p:cNvPr id="37" name="object 7">
            <a:extLst>
              <a:ext uri="{FF2B5EF4-FFF2-40B4-BE49-F238E27FC236}">
                <a16:creationId xmlns:a16="http://schemas.microsoft.com/office/drawing/2014/main" id="{FC8D8EA8-AFBF-7F55-0B76-74040401465D}"/>
              </a:ext>
            </a:extLst>
          </p:cNvPr>
          <p:cNvSpPr txBox="1"/>
          <p:nvPr/>
        </p:nvSpPr>
        <p:spPr>
          <a:xfrm>
            <a:off x="1212850" y="1721494"/>
            <a:ext cx="16804533" cy="441146"/>
          </a:xfrm>
          <a:prstGeom prst="rect">
            <a:avLst/>
          </a:prstGeom>
        </p:spPr>
        <p:txBody>
          <a:bodyPr vert="horz" wrap="square" lIns="0" tIns="10160" rIns="0" bIns="0" rtlCol="0">
            <a:spAutoFit/>
          </a:bodyPr>
          <a:lstStyle/>
          <a:p>
            <a:pPr>
              <a:spcAft>
                <a:spcPts val="600"/>
              </a:spcAft>
            </a:pPr>
            <a:r>
              <a:rPr lang="en-US" sz="2800"/>
              <a:t>Reimagine Jaguar as a dual-brand powerhouse, combining ultra-luxury and performance</a:t>
            </a:r>
          </a:p>
        </p:txBody>
      </p:sp>
      <p:pic>
        <p:nvPicPr>
          <p:cNvPr id="39" name="object 18">
            <a:extLst>
              <a:ext uri="{FF2B5EF4-FFF2-40B4-BE49-F238E27FC236}">
                <a16:creationId xmlns:a16="http://schemas.microsoft.com/office/drawing/2014/main" id="{E4409489-000B-E04C-DD61-39EAC919E625}"/>
              </a:ext>
            </a:extLst>
          </p:cNvPr>
          <p:cNvPicPr/>
          <p:nvPr/>
        </p:nvPicPr>
        <p:blipFill>
          <a:blip r:embed="rId7" cstate="print"/>
          <a:stretch>
            <a:fillRect/>
          </a:stretch>
        </p:blipFill>
        <p:spPr>
          <a:xfrm>
            <a:off x="1771443" y="6496140"/>
            <a:ext cx="4629628" cy="2590873"/>
          </a:xfrm>
          <a:prstGeom prst="rect">
            <a:avLst/>
          </a:prstGeom>
        </p:spPr>
      </p:pic>
      <p:pic>
        <p:nvPicPr>
          <p:cNvPr id="41" name="Picture 40" descr="A blue convertible car with black background&#10;&#10;AI-generated content may be incorrect.">
            <a:extLst>
              <a:ext uri="{FF2B5EF4-FFF2-40B4-BE49-F238E27FC236}">
                <a16:creationId xmlns:a16="http://schemas.microsoft.com/office/drawing/2014/main" id="{325EC59F-CD75-EC47-41F8-74DFBB20C6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729059" y="5672737"/>
            <a:ext cx="7062795" cy="4237677"/>
          </a:xfrm>
          <a:prstGeom prst="rect">
            <a:avLst/>
          </a:prstGeom>
        </p:spPr>
      </p:pic>
    </p:spTree>
    <p:extLst>
      <p:ext uri="{BB962C8B-B14F-4D97-AF65-F5344CB8AC3E}">
        <p14:creationId xmlns:p14="http://schemas.microsoft.com/office/powerpoint/2010/main" val="2211091488"/>
      </p:ext>
    </p:extLst>
  </p:cSld>
  <p:clrMapOvr>
    <a:masterClrMapping/>
  </p:clrMapOvr>
  <p:transition spd="slow">
    <p:comb/>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9FA6A-3D19-458A-D0C4-BAB8A8CDB1B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37289E-0DA9-C530-AC37-29D6C27ED4B8}"/>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3" name="object 3">
            <a:extLst>
              <a:ext uri="{FF2B5EF4-FFF2-40B4-BE49-F238E27FC236}">
                <a16:creationId xmlns:a16="http://schemas.microsoft.com/office/drawing/2014/main" id="{A3621624-63FC-9514-74A5-618F1FF2575E}"/>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5" name="object 5">
            <a:extLst>
              <a:ext uri="{FF2B5EF4-FFF2-40B4-BE49-F238E27FC236}">
                <a16:creationId xmlns:a16="http://schemas.microsoft.com/office/drawing/2014/main" id="{F4109419-AAA5-B095-665A-82C945C27CAD}"/>
              </a:ext>
            </a:extLst>
          </p:cNvPr>
          <p:cNvPicPr/>
          <p:nvPr/>
        </p:nvPicPr>
        <p:blipFill>
          <a:blip r:embed="rId2" cstate="print"/>
          <a:stretch>
            <a:fillRect/>
          </a:stretch>
        </p:blipFill>
        <p:spPr>
          <a:xfrm>
            <a:off x="0" y="1095673"/>
            <a:ext cx="1015257" cy="271405"/>
          </a:xfrm>
          <a:prstGeom prst="rect">
            <a:avLst/>
          </a:prstGeom>
        </p:spPr>
      </p:pic>
      <p:sp>
        <p:nvSpPr>
          <p:cNvPr id="6" name="object 6">
            <a:extLst>
              <a:ext uri="{FF2B5EF4-FFF2-40B4-BE49-F238E27FC236}">
                <a16:creationId xmlns:a16="http://schemas.microsoft.com/office/drawing/2014/main" id="{06F75C94-C25B-6C85-C07E-BC8063C43E39}"/>
              </a:ext>
            </a:extLst>
          </p:cNvPr>
          <p:cNvSpPr txBox="1">
            <a:spLocks noGrp="1"/>
          </p:cNvSpPr>
          <p:nvPr>
            <p:ph type="title"/>
          </p:nvPr>
        </p:nvSpPr>
        <p:spPr>
          <a:xfrm>
            <a:off x="1081756" y="128032"/>
            <a:ext cx="10744484" cy="773930"/>
          </a:xfrm>
          <a:prstGeom prst="rect">
            <a:avLst/>
          </a:prstGeom>
        </p:spPr>
        <p:txBody>
          <a:bodyPr vert="horz" wrap="square" lIns="0" tIns="12065" rIns="0" bIns="0" rtlCol="0" anchor="t">
            <a:spAutoFit/>
          </a:bodyPr>
          <a:lstStyle/>
          <a:p>
            <a:pPr marL="12700">
              <a:lnSpc>
                <a:spcPct val="100000"/>
              </a:lnSpc>
              <a:spcBef>
                <a:spcPts val="95"/>
              </a:spcBef>
            </a:pPr>
            <a:r>
              <a:rPr lang="en-US" spc="-240"/>
              <a:t>The Spheres of Shange </a:t>
            </a:r>
            <a:r>
              <a:rPr lang="en-US" sz="2800" spc="-240"/>
              <a:t>(Oliver Wyman) </a:t>
            </a:r>
            <a:endParaRPr spc="-155"/>
          </a:p>
        </p:txBody>
      </p:sp>
      <p:grpSp>
        <p:nvGrpSpPr>
          <p:cNvPr id="7" name="object 7">
            <a:extLst>
              <a:ext uri="{FF2B5EF4-FFF2-40B4-BE49-F238E27FC236}">
                <a16:creationId xmlns:a16="http://schemas.microsoft.com/office/drawing/2014/main" id="{E7CA42F2-E802-8BDF-C84B-18D90A590E0C}"/>
              </a:ext>
            </a:extLst>
          </p:cNvPr>
          <p:cNvGrpSpPr/>
          <p:nvPr/>
        </p:nvGrpSpPr>
        <p:grpSpPr>
          <a:xfrm>
            <a:off x="507628" y="2176976"/>
            <a:ext cx="15613346" cy="4586247"/>
            <a:chOff x="2246633" y="2105904"/>
            <a:chExt cx="15613346" cy="4586247"/>
          </a:xfrm>
        </p:grpSpPr>
        <p:pic>
          <p:nvPicPr>
            <p:cNvPr id="10" name="object 10">
              <a:extLst>
                <a:ext uri="{FF2B5EF4-FFF2-40B4-BE49-F238E27FC236}">
                  <a16:creationId xmlns:a16="http://schemas.microsoft.com/office/drawing/2014/main" id="{F71C0036-F8C8-C077-BD0B-0AB18F9D38AE}"/>
                </a:ext>
              </a:extLst>
            </p:cNvPr>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Lst>
            </a:blip>
            <a:stretch>
              <a:fillRect/>
            </a:stretch>
          </p:blipFill>
          <p:spPr>
            <a:xfrm>
              <a:off x="2246633" y="2105904"/>
              <a:ext cx="4586247" cy="4586247"/>
            </a:xfrm>
            <a:prstGeom prst="rect">
              <a:avLst/>
            </a:prstGeom>
          </p:spPr>
        </p:pic>
        <p:pic>
          <p:nvPicPr>
            <p:cNvPr id="8" name="object 8">
              <a:extLst>
                <a:ext uri="{FF2B5EF4-FFF2-40B4-BE49-F238E27FC236}">
                  <a16:creationId xmlns:a16="http://schemas.microsoft.com/office/drawing/2014/main" id="{84030519-D944-64A6-FE37-2608D1827502}"/>
                </a:ext>
              </a:extLst>
            </p:cNvPr>
            <p:cNvPicPr/>
            <p:nvPr/>
          </p:nvPicPr>
          <p:blipFill>
            <a:blip r:embed="rId5" cstate="print">
              <a:extLst>
                <a:ext uri="{BEBA8EAE-BF5A-486C-A8C5-ECC9F3942E4B}">
                  <a14:imgProps xmlns:a14="http://schemas.microsoft.com/office/drawing/2010/main">
                    <a14:imgLayer r:embed="rId6">
                      <a14:imgEffect>
                        <a14:brightnessContrast bright="40000"/>
                      </a14:imgEffect>
                    </a14:imgLayer>
                  </a14:imgProps>
                </a:ext>
              </a:extLst>
            </a:blip>
            <a:stretch>
              <a:fillRect/>
            </a:stretch>
          </p:blipFill>
          <p:spPr>
            <a:xfrm>
              <a:off x="13273732" y="2105904"/>
              <a:ext cx="4586247" cy="4586247"/>
            </a:xfrm>
            <a:prstGeom prst="rect">
              <a:avLst/>
            </a:prstGeom>
          </p:spPr>
        </p:pic>
        <p:pic>
          <p:nvPicPr>
            <p:cNvPr id="9" name="object 9">
              <a:extLst>
                <a:ext uri="{FF2B5EF4-FFF2-40B4-BE49-F238E27FC236}">
                  <a16:creationId xmlns:a16="http://schemas.microsoft.com/office/drawing/2014/main" id="{665847FA-C4B0-89D5-B5C2-F8F943C30123}"/>
                </a:ext>
              </a:extLst>
            </p:cNvPr>
            <p:cNvPicPr/>
            <p:nvPr/>
          </p:nvPicPr>
          <p:blipFill>
            <a:blip r:embed="rId7" cstate="print">
              <a:extLst>
                <a:ext uri="{BEBA8EAE-BF5A-486C-A8C5-ECC9F3942E4B}">
                  <a14:imgProps xmlns:a14="http://schemas.microsoft.com/office/drawing/2010/main">
                    <a14:imgLayer r:embed="rId8">
                      <a14:imgEffect>
                        <a14:brightnessContrast bright="40000"/>
                      </a14:imgEffect>
                    </a14:imgLayer>
                  </a14:imgProps>
                </a:ext>
              </a:extLst>
            </a:blip>
            <a:stretch>
              <a:fillRect/>
            </a:stretch>
          </p:blipFill>
          <p:spPr>
            <a:xfrm>
              <a:off x="5923170" y="2105904"/>
              <a:ext cx="4586247" cy="4586247"/>
            </a:xfrm>
            <a:prstGeom prst="rect">
              <a:avLst/>
            </a:prstGeom>
          </p:spPr>
        </p:pic>
        <p:pic>
          <p:nvPicPr>
            <p:cNvPr id="11" name="object 11">
              <a:extLst>
                <a:ext uri="{FF2B5EF4-FFF2-40B4-BE49-F238E27FC236}">
                  <a16:creationId xmlns:a16="http://schemas.microsoft.com/office/drawing/2014/main" id="{9444E7BC-A23E-A14C-02A2-EDBB0DB70A95}"/>
                </a:ext>
              </a:extLst>
            </p:cNvPr>
            <p:cNvPicPr/>
            <p:nvPr/>
          </p:nvPicPr>
          <p:blipFill>
            <a:blip r:embed="rId9" cstate="print">
              <a:extLst>
                <a:ext uri="{BEBA8EAE-BF5A-486C-A8C5-ECC9F3942E4B}">
                  <a14:imgProps xmlns:a14="http://schemas.microsoft.com/office/drawing/2010/main">
                    <a14:imgLayer r:embed="rId10">
                      <a14:imgEffect>
                        <a14:brightnessContrast bright="40000" contrast="20000"/>
                      </a14:imgEffect>
                    </a14:imgLayer>
                  </a14:imgProps>
                </a:ext>
              </a:extLst>
            </a:blip>
            <a:stretch>
              <a:fillRect/>
            </a:stretch>
          </p:blipFill>
          <p:spPr>
            <a:xfrm>
              <a:off x="9597194" y="2105904"/>
              <a:ext cx="4586247" cy="4586247"/>
            </a:xfrm>
            <a:prstGeom prst="rect">
              <a:avLst/>
            </a:prstGeom>
          </p:spPr>
        </p:pic>
      </p:grpSp>
      <p:sp>
        <p:nvSpPr>
          <p:cNvPr id="12" name="object 12">
            <a:extLst>
              <a:ext uri="{FF2B5EF4-FFF2-40B4-BE49-F238E27FC236}">
                <a16:creationId xmlns:a16="http://schemas.microsoft.com/office/drawing/2014/main" id="{ACB6C5F6-824F-9552-CE1A-E63542E03769}"/>
              </a:ext>
            </a:extLst>
          </p:cNvPr>
          <p:cNvSpPr txBox="1"/>
          <p:nvPr/>
        </p:nvSpPr>
        <p:spPr>
          <a:xfrm>
            <a:off x="617810" y="4183482"/>
            <a:ext cx="4130584" cy="286617"/>
          </a:xfrm>
          <a:prstGeom prst="rect">
            <a:avLst/>
          </a:prstGeom>
        </p:spPr>
        <p:txBody>
          <a:bodyPr vert="horz" wrap="square" lIns="0" tIns="9525" rIns="0" bIns="0" rtlCol="0">
            <a:spAutoFit/>
          </a:bodyPr>
          <a:lstStyle/>
          <a:p>
            <a:pPr marL="0" marR="0" lvl="0" indent="0" algn="ctr" defTabSz="622300" rtl="0" eaLnBrk="1" fontAlgn="auto" latinLnBrk="0" hangingPunct="1">
              <a:lnSpc>
                <a:spcPct val="100000"/>
              </a:lnSpc>
              <a:spcBef>
                <a:spcPct val="0"/>
              </a:spcBef>
              <a:spcAft>
                <a:spcPct val="35000"/>
              </a:spcAft>
              <a:buClrTx/>
              <a:buSzTx/>
              <a:buFontTx/>
              <a:buNone/>
              <a:tabLst/>
              <a:defRPr b="1"/>
            </a:pPr>
            <a:r>
              <a:rPr kumimoji="0" lang="en-US" b="1" i="0" u="none" strike="noStrike" kern="1200" cap="none" spc="0" normalizeH="0" baseline="0" noProof="0">
                <a:ln>
                  <a:noFill/>
                </a:ln>
                <a:solidFill>
                  <a:schemeClr val="tx1"/>
                </a:solidFill>
                <a:effectLst/>
                <a:uLnTx/>
                <a:uFillTx/>
                <a:latin typeface="Aptos" panose="02110004020202020204"/>
                <a:ea typeface="+mn-ea"/>
                <a:cs typeface="+mn-cs"/>
              </a:rPr>
              <a:t>ACCELERATE PORTFOLIO UPGRADE</a:t>
            </a:r>
          </a:p>
        </p:txBody>
      </p:sp>
      <p:sp>
        <p:nvSpPr>
          <p:cNvPr id="14" name="object 14">
            <a:extLst>
              <a:ext uri="{FF2B5EF4-FFF2-40B4-BE49-F238E27FC236}">
                <a16:creationId xmlns:a16="http://schemas.microsoft.com/office/drawing/2014/main" id="{B8DF2D70-34FE-CF44-06F3-3B7C0EE10326}"/>
              </a:ext>
            </a:extLst>
          </p:cNvPr>
          <p:cNvSpPr txBox="1"/>
          <p:nvPr/>
        </p:nvSpPr>
        <p:spPr>
          <a:xfrm>
            <a:off x="8981177" y="3999621"/>
            <a:ext cx="2140764" cy="840615"/>
          </a:xfrm>
          <a:prstGeom prst="rect">
            <a:avLst/>
          </a:prstGeom>
        </p:spPr>
        <p:txBody>
          <a:bodyPr vert="horz" wrap="square" lIns="0" tIns="9525" rIns="0" bIns="0" rtlCol="0">
            <a:spAutoFit/>
          </a:bodyPr>
          <a:lstStyle>
            <a:defPPr>
              <a:defRPr kern="0"/>
            </a:defPPr>
            <a:lvl1pPr lvl="0" algn="ctr">
              <a:lnSpc>
                <a:spcPct val="100000"/>
              </a:lnSpc>
              <a:defRPr sz="1600" b="1">
                <a:solidFill>
                  <a:schemeClr val="tx1"/>
                </a:solidFill>
                <a:latin typeface="Aptos" panose="020B0004020202020204" pitchFamily="34" charset="0"/>
              </a:defRPr>
            </a:lvl1pPr>
          </a:lstStyle>
          <a:p>
            <a:r>
              <a:rPr lang="en-GB" sz="1800"/>
              <a:t>BUILD ORGANIZATIONAL COMPETENCIES</a:t>
            </a:r>
            <a:endParaRPr lang="en-US" sz="1800"/>
          </a:p>
        </p:txBody>
      </p:sp>
      <p:sp>
        <p:nvSpPr>
          <p:cNvPr id="15" name="object 15">
            <a:extLst>
              <a:ext uri="{FF2B5EF4-FFF2-40B4-BE49-F238E27FC236}">
                <a16:creationId xmlns:a16="http://schemas.microsoft.com/office/drawing/2014/main" id="{C23F2A99-610A-01DC-AE47-5A708F0B0EDE}"/>
              </a:ext>
            </a:extLst>
          </p:cNvPr>
          <p:cNvSpPr txBox="1"/>
          <p:nvPr/>
        </p:nvSpPr>
        <p:spPr>
          <a:xfrm>
            <a:off x="12640588" y="4128122"/>
            <a:ext cx="2250181" cy="563616"/>
          </a:xfrm>
          <a:prstGeom prst="rect">
            <a:avLst/>
          </a:prstGeom>
        </p:spPr>
        <p:txBody>
          <a:bodyPr vert="horz" wrap="square" lIns="0" tIns="9525" rIns="0" bIns="0" rtlCol="0">
            <a:spAutoFit/>
          </a:bodyPr>
          <a:lstStyle>
            <a:defPPr>
              <a:defRPr kern="0"/>
            </a:defPPr>
            <a:lvl1pPr lvl="0" algn="ctr">
              <a:lnSpc>
                <a:spcPct val="100000"/>
              </a:lnSpc>
              <a:defRPr sz="1600" b="1">
                <a:solidFill>
                  <a:schemeClr val="tx1"/>
                </a:solidFill>
                <a:latin typeface="Aptos" panose="020B0004020202020204" pitchFamily="34" charset="0"/>
              </a:defRPr>
            </a:lvl1pPr>
          </a:lstStyle>
          <a:p>
            <a:r>
              <a:rPr lang="en-GB" sz="1800"/>
              <a:t>GO TO MARKET WITH DTC MODEL</a:t>
            </a:r>
            <a:endParaRPr lang="en-US" sz="1800"/>
          </a:p>
        </p:txBody>
      </p:sp>
      <p:sp>
        <p:nvSpPr>
          <p:cNvPr id="16" name="object 16">
            <a:extLst>
              <a:ext uri="{FF2B5EF4-FFF2-40B4-BE49-F238E27FC236}">
                <a16:creationId xmlns:a16="http://schemas.microsoft.com/office/drawing/2014/main" id="{1CAFC997-710C-4D9E-8C7C-B3B867598039}"/>
              </a:ext>
            </a:extLst>
          </p:cNvPr>
          <p:cNvSpPr txBox="1"/>
          <p:nvPr/>
        </p:nvSpPr>
        <p:spPr>
          <a:xfrm>
            <a:off x="5385433" y="3191392"/>
            <a:ext cx="2618372" cy="443070"/>
          </a:xfrm>
          <a:prstGeom prst="rect">
            <a:avLst/>
          </a:prstGeom>
        </p:spPr>
        <p:txBody>
          <a:bodyPr vert="horz" wrap="square" lIns="0" tIns="12065" rIns="0" bIns="0" rtlCol="0">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4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a:t>Ensure cost efficiency via shared EV knowledge from the group</a:t>
            </a:r>
          </a:p>
        </p:txBody>
      </p:sp>
      <p:sp>
        <p:nvSpPr>
          <p:cNvPr id="17" name="object 17">
            <a:extLst>
              <a:ext uri="{FF2B5EF4-FFF2-40B4-BE49-F238E27FC236}">
                <a16:creationId xmlns:a16="http://schemas.microsoft.com/office/drawing/2014/main" id="{8C6F83EC-3190-AA95-31C7-3102085D92B3}"/>
              </a:ext>
            </a:extLst>
          </p:cNvPr>
          <p:cNvSpPr txBox="1"/>
          <p:nvPr/>
        </p:nvSpPr>
        <p:spPr>
          <a:xfrm>
            <a:off x="9002304" y="3194615"/>
            <a:ext cx="2667571" cy="733919"/>
          </a:xfrm>
          <a:prstGeom prst="rect">
            <a:avLst/>
          </a:prstGeom>
        </p:spPr>
        <p:txBody>
          <a:bodyPr vert="horz" wrap="square" lIns="0" tIns="12065" rIns="0" bIns="0" rtlCol="0">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4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a:t>Use agile project management to speed concept-to-market</a:t>
            </a:r>
          </a:p>
          <a:p>
            <a:endParaRPr/>
          </a:p>
        </p:txBody>
      </p:sp>
      <p:sp>
        <p:nvSpPr>
          <p:cNvPr id="18" name="object 18">
            <a:extLst>
              <a:ext uri="{FF2B5EF4-FFF2-40B4-BE49-F238E27FC236}">
                <a16:creationId xmlns:a16="http://schemas.microsoft.com/office/drawing/2014/main" id="{D64BEC34-F267-BF90-03EC-B24C9D5CFF83}"/>
              </a:ext>
            </a:extLst>
          </p:cNvPr>
          <p:cNvSpPr txBox="1"/>
          <p:nvPr/>
        </p:nvSpPr>
        <p:spPr>
          <a:xfrm>
            <a:off x="1216390" y="3166569"/>
            <a:ext cx="3120660" cy="658514"/>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Expand into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luxury services</a:t>
            </a: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 (chauffeur, bespoke charging, lifetime care) leveraging SV division</a:t>
            </a:r>
          </a:p>
        </p:txBody>
      </p:sp>
      <p:sp>
        <p:nvSpPr>
          <p:cNvPr id="19" name="object 19">
            <a:extLst>
              <a:ext uri="{FF2B5EF4-FFF2-40B4-BE49-F238E27FC236}">
                <a16:creationId xmlns:a16="http://schemas.microsoft.com/office/drawing/2014/main" id="{BD6A7484-32AE-CD82-66FC-54ABB43A4D12}"/>
              </a:ext>
            </a:extLst>
          </p:cNvPr>
          <p:cNvSpPr txBox="1"/>
          <p:nvPr/>
        </p:nvSpPr>
        <p:spPr>
          <a:xfrm>
            <a:off x="1400917" y="4838441"/>
            <a:ext cx="1133475" cy="1304844"/>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Full EV lineup by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2030:</a:t>
            </a: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 reposition Jaguar as an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ultra-luxury electric brand</a:t>
            </a:r>
          </a:p>
        </p:txBody>
      </p:sp>
      <p:sp>
        <p:nvSpPr>
          <p:cNvPr id="21" name="object 21">
            <a:extLst>
              <a:ext uri="{FF2B5EF4-FFF2-40B4-BE49-F238E27FC236}">
                <a16:creationId xmlns:a16="http://schemas.microsoft.com/office/drawing/2014/main" id="{738A97BB-00D2-F6A1-8D1C-C08EB436AD28}"/>
              </a:ext>
            </a:extLst>
          </p:cNvPr>
          <p:cNvSpPr txBox="1"/>
          <p:nvPr/>
        </p:nvSpPr>
        <p:spPr>
          <a:xfrm>
            <a:off x="5233898" y="4888482"/>
            <a:ext cx="1243724" cy="1089401"/>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Leverage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Tata’s EV &amp; battery R&amp;D </a:t>
            </a: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(Pune, Coventry) for proprietary tech</a:t>
            </a:r>
          </a:p>
        </p:txBody>
      </p:sp>
      <p:sp>
        <p:nvSpPr>
          <p:cNvPr id="22" name="object 22">
            <a:extLst>
              <a:ext uri="{FF2B5EF4-FFF2-40B4-BE49-F238E27FC236}">
                <a16:creationId xmlns:a16="http://schemas.microsoft.com/office/drawing/2014/main" id="{FBFC3D00-DBBA-FE4F-60A5-A78D0F5D8F66}"/>
              </a:ext>
            </a:extLst>
          </p:cNvPr>
          <p:cNvSpPr txBox="1"/>
          <p:nvPr/>
        </p:nvSpPr>
        <p:spPr>
          <a:xfrm>
            <a:off x="6623418" y="4843518"/>
            <a:ext cx="1380387" cy="1304844"/>
          </a:xfrm>
          <a:prstGeom prst="rect">
            <a:avLst/>
          </a:prstGeom>
        </p:spPr>
        <p:txBody>
          <a:bodyPr vert="horz" wrap="square" lIns="0" tIns="12065" rIns="0" bIns="0" rtlCol="0" anchor="t">
            <a:spAutoFit/>
          </a:bodyPr>
          <a:lstStyle/>
          <a:p>
            <a:pPr marR="0" lvl="0" algn="l" defTabSz="488950" rtl="0" eaLnBrk="1" fontAlgn="auto" latinLnBrk="0" hangingPunct="1">
              <a:lnSpc>
                <a:spcPct val="100000"/>
              </a:lnSpc>
              <a:spcBef>
                <a:spcPct val="0"/>
              </a:spcBef>
              <a:spcAft>
                <a:spcPct val="35000"/>
              </a:spcAft>
              <a:buClrTx/>
              <a:buSzTx/>
              <a:tabLst/>
              <a:defRPr/>
            </a:pP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Partner with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British AI &amp; interior </a:t>
            </a: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tech firms for smart, customizable experiences</a:t>
            </a:r>
          </a:p>
        </p:txBody>
      </p:sp>
      <p:sp>
        <p:nvSpPr>
          <p:cNvPr id="23" name="object 23">
            <a:extLst>
              <a:ext uri="{FF2B5EF4-FFF2-40B4-BE49-F238E27FC236}">
                <a16:creationId xmlns:a16="http://schemas.microsoft.com/office/drawing/2014/main" id="{4DB365BD-5A42-D69B-0912-5F69E74CFEBA}"/>
              </a:ext>
            </a:extLst>
          </p:cNvPr>
          <p:cNvSpPr txBox="1"/>
          <p:nvPr/>
        </p:nvSpPr>
        <p:spPr>
          <a:xfrm>
            <a:off x="8763233" y="4946173"/>
            <a:ext cx="1423190" cy="873957"/>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sz="1400"/>
              <a:t>Create a </a:t>
            </a:r>
            <a:r>
              <a:rPr lang="en-GB" sz="1400" b="1"/>
              <a:t>Jaguar Excellence Unit</a:t>
            </a:r>
            <a:r>
              <a:rPr lang="en-GB" sz="1400"/>
              <a:t> (design, software, sustainability</a:t>
            </a:r>
            <a:endParaRPr sz="1400"/>
          </a:p>
        </p:txBody>
      </p:sp>
      <p:sp>
        <p:nvSpPr>
          <p:cNvPr id="24" name="object 24">
            <a:extLst>
              <a:ext uri="{FF2B5EF4-FFF2-40B4-BE49-F238E27FC236}">
                <a16:creationId xmlns:a16="http://schemas.microsoft.com/office/drawing/2014/main" id="{FC52F28F-EC08-8F26-33F1-76A96DEB3219}"/>
              </a:ext>
            </a:extLst>
          </p:cNvPr>
          <p:cNvSpPr txBox="1"/>
          <p:nvPr/>
        </p:nvSpPr>
        <p:spPr>
          <a:xfrm>
            <a:off x="12571174" y="3244558"/>
            <a:ext cx="2814875" cy="443070"/>
          </a:xfrm>
          <a:prstGeom prst="rect">
            <a:avLst/>
          </a:prstGeom>
        </p:spPr>
        <p:txBody>
          <a:bodyPr vert="horz" wrap="square" lIns="0" tIns="12065" rIns="0" bIns="0" rtlCol="0">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4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a:t>Hybrid agency model preserving heritage dealer exclusivity</a:t>
            </a:r>
          </a:p>
        </p:txBody>
      </p:sp>
      <p:sp>
        <p:nvSpPr>
          <p:cNvPr id="25" name="object 25">
            <a:extLst>
              <a:ext uri="{FF2B5EF4-FFF2-40B4-BE49-F238E27FC236}">
                <a16:creationId xmlns:a16="http://schemas.microsoft.com/office/drawing/2014/main" id="{C1253267-10A1-384F-5F4D-989DD19B421A}"/>
              </a:ext>
            </a:extLst>
          </p:cNvPr>
          <p:cNvSpPr txBox="1"/>
          <p:nvPr/>
        </p:nvSpPr>
        <p:spPr>
          <a:xfrm>
            <a:off x="12447101" y="4950642"/>
            <a:ext cx="1326648" cy="1089401"/>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sz="1400"/>
              <a:t>Invitation-only </a:t>
            </a:r>
            <a:r>
              <a:rPr lang="en-GB" sz="1400" b="1"/>
              <a:t>boutiques </a:t>
            </a:r>
            <a:r>
              <a:rPr lang="en-GB" sz="1400"/>
              <a:t>in key cities (London, Paris, Dubai, Shanghai)</a:t>
            </a:r>
          </a:p>
        </p:txBody>
      </p:sp>
      <p:sp>
        <p:nvSpPr>
          <p:cNvPr id="26" name="object 26">
            <a:extLst>
              <a:ext uri="{FF2B5EF4-FFF2-40B4-BE49-F238E27FC236}">
                <a16:creationId xmlns:a16="http://schemas.microsoft.com/office/drawing/2014/main" id="{D914ADDB-4DCB-89EC-B6A0-A468FF6CD180}"/>
              </a:ext>
            </a:extLst>
          </p:cNvPr>
          <p:cNvSpPr txBox="1"/>
          <p:nvPr/>
        </p:nvSpPr>
        <p:spPr>
          <a:xfrm>
            <a:off x="13989737" y="5047285"/>
            <a:ext cx="1437005" cy="1089401"/>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sz="1400"/>
              <a:t>Immersive 3</a:t>
            </a:r>
            <a:r>
              <a:rPr lang="en-GB" sz="1400" b="1"/>
              <a:t>D online configurators</a:t>
            </a:r>
            <a:r>
              <a:rPr lang="en-GB" sz="1400"/>
              <a:t> &amp; </a:t>
            </a:r>
            <a:r>
              <a:rPr lang="en-GB" sz="1400" b="1"/>
              <a:t>virtual </a:t>
            </a:r>
            <a:r>
              <a:rPr lang="en-GB" sz="1400"/>
              <a:t>delivery tracking</a:t>
            </a:r>
          </a:p>
        </p:txBody>
      </p:sp>
      <p:pic>
        <p:nvPicPr>
          <p:cNvPr id="32" name="object 32">
            <a:extLst>
              <a:ext uri="{FF2B5EF4-FFF2-40B4-BE49-F238E27FC236}">
                <a16:creationId xmlns:a16="http://schemas.microsoft.com/office/drawing/2014/main" id="{64169332-3CE0-3C2B-02E4-4501B839D33B}"/>
              </a:ext>
            </a:extLst>
          </p:cNvPr>
          <p:cNvPicPr/>
          <p:nvPr/>
        </p:nvPicPr>
        <p:blipFill>
          <a:blip r:embed="rId11" cstate="print"/>
          <a:stretch>
            <a:fillRect/>
          </a:stretch>
        </p:blipFill>
        <p:spPr>
          <a:xfrm>
            <a:off x="14213284" y="7454799"/>
            <a:ext cx="4749855" cy="2278024"/>
          </a:xfrm>
          <a:prstGeom prst="rect">
            <a:avLst/>
          </a:prstGeom>
        </p:spPr>
      </p:pic>
      <p:pic>
        <p:nvPicPr>
          <p:cNvPr id="33" name="object 33">
            <a:extLst>
              <a:ext uri="{FF2B5EF4-FFF2-40B4-BE49-F238E27FC236}">
                <a16:creationId xmlns:a16="http://schemas.microsoft.com/office/drawing/2014/main" id="{21366689-D7A5-3A1D-D21B-EB256079F0A1}"/>
              </a:ext>
            </a:extLst>
          </p:cNvPr>
          <p:cNvPicPr/>
          <p:nvPr/>
        </p:nvPicPr>
        <p:blipFill>
          <a:blip r:embed="rId12" cstate="print"/>
          <a:stretch>
            <a:fillRect/>
          </a:stretch>
        </p:blipFill>
        <p:spPr>
          <a:xfrm>
            <a:off x="1885421" y="7091069"/>
            <a:ext cx="2123495" cy="2638663"/>
          </a:xfrm>
          <a:prstGeom prst="rect">
            <a:avLst/>
          </a:prstGeom>
        </p:spPr>
      </p:pic>
      <p:sp>
        <p:nvSpPr>
          <p:cNvPr id="47" name="object 47">
            <a:extLst>
              <a:ext uri="{FF2B5EF4-FFF2-40B4-BE49-F238E27FC236}">
                <a16:creationId xmlns:a16="http://schemas.microsoft.com/office/drawing/2014/main" id="{124BF07B-DB27-CB6A-47B7-0175C9BD813D}"/>
              </a:ext>
            </a:extLst>
          </p:cNvPr>
          <p:cNvSpPr txBox="1">
            <a:spLocks noGrp="1"/>
          </p:cNvSpPr>
          <p:nvPr>
            <p:ph type="sldNum" sz="quarter" idx="7"/>
          </p:nvPr>
        </p:nvSpPr>
        <p:spPr>
          <a:xfrm>
            <a:off x="18667927" y="10548235"/>
            <a:ext cx="274319" cy="276999"/>
          </a:xfrm>
          <a:prstGeom prst="rect">
            <a:avLst/>
          </a:prstGeom>
        </p:spPr>
        <p:txBody>
          <a:bodyPr vert="horz" wrap="square" lIns="0" tIns="22860" rIns="0" bIns="0" rtlCol="0" anchor="t">
            <a:spAutoFit/>
          </a:bodyPr>
          <a:lstStyle/>
          <a:p>
            <a:pPr marL="7620">
              <a:lnSpc>
                <a:spcPct val="100000"/>
              </a:lnSpc>
              <a:spcBef>
                <a:spcPts val="180"/>
              </a:spcBef>
            </a:pPr>
            <a:r>
              <a:rPr lang="en-US" spc="-25"/>
              <a:t>12</a:t>
            </a:r>
            <a:endParaRPr lang="en-US" spc="-25">
              <a:ea typeface="Microsoft Sans Serif"/>
            </a:endParaRPr>
          </a:p>
        </p:txBody>
      </p:sp>
      <p:sp>
        <p:nvSpPr>
          <p:cNvPr id="4" name="object 2">
            <a:extLst>
              <a:ext uri="{FF2B5EF4-FFF2-40B4-BE49-F238E27FC236}">
                <a16:creationId xmlns:a16="http://schemas.microsoft.com/office/drawing/2014/main" id="{CD8ED81E-7A91-9A16-F5E0-CEE62BC9690D}"/>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55" name="object 11">
            <a:extLst>
              <a:ext uri="{FF2B5EF4-FFF2-40B4-BE49-F238E27FC236}">
                <a16:creationId xmlns:a16="http://schemas.microsoft.com/office/drawing/2014/main" id="{2B2946F0-B508-F222-7E2F-82093E9A64D0}"/>
              </a:ext>
            </a:extLst>
          </p:cNvPr>
          <p:cNvPicPr/>
          <p:nvPr/>
        </p:nvPicPr>
        <p:blipFill>
          <a:blip r:embed="rId13" cstate="print">
            <a:extLst>
              <a:ext uri="{BEBA8EAE-BF5A-486C-A8C5-ECC9F3942E4B}">
                <a14:imgProps xmlns:a14="http://schemas.microsoft.com/office/drawing/2010/main">
                  <a14:imgLayer r:embed="rId10">
                    <a14:imgEffect>
                      <a14:brightnessContrast bright="40000" contrast="40000"/>
                    </a14:imgEffect>
                  </a14:imgLayer>
                </a14:imgProps>
              </a:ext>
            </a:extLst>
          </a:blip>
          <a:stretch>
            <a:fillRect/>
          </a:stretch>
        </p:blipFill>
        <p:spPr>
          <a:xfrm>
            <a:off x="15122053" y="2211452"/>
            <a:ext cx="4749855" cy="4586246"/>
          </a:xfrm>
          <a:prstGeom prst="rect">
            <a:avLst/>
          </a:prstGeom>
        </p:spPr>
      </p:pic>
      <p:sp>
        <p:nvSpPr>
          <p:cNvPr id="57" name="object 19">
            <a:extLst>
              <a:ext uri="{FF2B5EF4-FFF2-40B4-BE49-F238E27FC236}">
                <a16:creationId xmlns:a16="http://schemas.microsoft.com/office/drawing/2014/main" id="{64302E6F-9079-FE61-2BC1-4FDDA162A4B8}"/>
              </a:ext>
            </a:extLst>
          </p:cNvPr>
          <p:cNvSpPr txBox="1"/>
          <p:nvPr/>
        </p:nvSpPr>
        <p:spPr>
          <a:xfrm>
            <a:off x="2864537" y="4838307"/>
            <a:ext cx="1133475" cy="1089401"/>
          </a:xfrm>
          <a:prstGeom prst="rect">
            <a:avLst/>
          </a:prstGeom>
        </p:spPr>
        <p:txBody>
          <a:bodyPr vert="horz" wrap="square" lIns="0" tIns="12065" rIns="0" bIns="0" rtlCol="0">
            <a:spAutoFit/>
          </a:bodyPr>
          <a:lstStyle/>
          <a:p>
            <a:pPr marR="0" lvl="0" algn="l" defTabSz="488950" rtl="0" eaLnBrk="1" fontAlgn="auto" latinLnBrk="0" hangingPunct="1">
              <a:lnSpc>
                <a:spcPct val="100000"/>
              </a:lnSpc>
              <a:spcBef>
                <a:spcPct val="0"/>
              </a:spcBef>
              <a:spcAft>
                <a:spcPct val="35000"/>
              </a:spcAft>
              <a:buClrTx/>
              <a:buSzTx/>
              <a:tabLst/>
              <a:defRPr/>
            </a:pP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2 </a:t>
            </a:r>
            <a:r>
              <a:rPr kumimoji="0" lang="en-GB" sz="1400" b="1" i="0" u="none" strike="noStrike" kern="1200" cap="none" spc="0" normalizeH="0" baseline="0" noProof="0">
                <a:ln>
                  <a:noFill/>
                </a:ln>
                <a:solidFill>
                  <a:schemeClr val="tx1"/>
                </a:solidFill>
                <a:effectLst/>
                <a:uLnTx/>
                <a:uFillTx/>
                <a:latin typeface="Aptos" panose="02110004020202020204"/>
                <a:ea typeface="+mn-ea"/>
                <a:cs typeface="+mn-cs"/>
              </a:rPr>
              <a:t>handcrafted EV flagships</a:t>
            </a:r>
            <a:r>
              <a:rPr kumimoji="0" lang="en-GB" sz="1400" b="0" i="0" u="none" strike="noStrike" kern="1200" cap="none" spc="0" normalizeH="0" baseline="0" noProof="0">
                <a:ln>
                  <a:noFill/>
                </a:ln>
                <a:solidFill>
                  <a:schemeClr val="tx1"/>
                </a:solidFill>
                <a:effectLst/>
                <a:uLnTx/>
                <a:uFillTx/>
                <a:latin typeface="Aptos" panose="02110004020202020204"/>
                <a:ea typeface="+mn-ea"/>
                <a:cs typeface="+mn-cs"/>
              </a:rPr>
              <a:t> (GT Sedan &amp; SUV) priced at $300–500K</a:t>
            </a:r>
          </a:p>
        </p:txBody>
      </p:sp>
      <p:sp>
        <p:nvSpPr>
          <p:cNvPr id="68" name="object 12">
            <a:extLst>
              <a:ext uri="{FF2B5EF4-FFF2-40B4-BE49-F238E27FC236}">
                <a16:creationId xmlns:a16="http://schemas.microsoft.com/office/drawing/2014/main" id="{3C25BE4F-4933-AB7D-54AB-57AA02074DA1}"/>
              </a:ext>
            </a:extLst>
          </p:cNvPr>
          <p:cNvSpPr txBox="1"/>
          <p:nvPr/>
        </p:nvSpPr>
        <p:spPr>
          <a:xfrm>
            <a:off x="5015886" y="4110464"/>
            <a:ext cx="2923496" cy="563616"/>
          </a:xfrm>
          <a:prstGeom prst="rect">
            <a:avLst/>
          </a:prstGeom>
        </p:spPr>
        <p:txBody>
          <a:bodyPr vert="horz" wrap="square" lIns="0" tIns="9525" rIns="0" bIns="0" rtlCol="0">
            <a:spAutoFit/>
          </a:bodyPr>
          <a:lstStyle/>
          <a:p>
            <a:pPr lvl="0" algn="ctr">
              <a:lnSpc>
                <a:spcPct val="100000"/>
              </a:lnSpc>
              <a:defRPr b="1"/>
            </a:pPr>
            <a:r>
              <a:rPr lang="en-GB" b="1">
                <a:solidFill>
                  <a:schemeClr val="tx1"/>
                </a:solidFill>
                <a:latin typeface="Aptos" panose="020B0004020202020204" pitchFamily="34" charset="0"/>
              </a:rPr>
              <a:t>PLAY AS TECHNOLOGY PIONEER</a:t>
            </a:r>
            <a:endParaRPr lang="en-GB">
              <a:solidFill>
                <a:schemeClr val="tx1"/>
              </a:solidFill>
              <a:latin typeface="Aptos" panose="020B0004020202020204" pitchFamily="34" charset="0"/>
            </a:endParaRPr>
          </a:p>
        </p:txBody>
      </p:sp>
      <p:sp>
        <p:nvSpPr>
          <p:cNvPr id="74" name="object 22">
            <a:extLst>
              <a:ext uri="{FF2B5EF4-FFF2-40B4-BE49-F238E27FC236}">
                <a16:creationId xmlns:a16="http://schemas.microsoft.com/office/drawing/2014/main" id="{CF166CB7-3081-8A6A-1855-14A6B63E2395}"/>
              </a:ext>
            </a:extLst>
          </p:cNvPr>
          <p:cNvSpPr txBox="1"/>
          <p:nvPr/>
        </p:nvSpPr>
        <p:spPr>
          <a:xfrm>
            <a:off x="10297347" y="4687715"/>
            <a:ext cx="1268395" cy="1164806"/>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endParaRPr lang="en-GB" sz="1400"/>
          </a:p>
          <a:p>
            <a:r>
              <a:rPr lang="en-GB" sz="1400"/>
              <a:t>Train teams in digital craftsmanship &amp; luxury </a:t>
            </a:r>
            <a:r>
              <a:rPr lang="en-GB" sz="1400" b="1"/>
              <a:t>service</a:t>
            </a:r>
          </a:p>
        </p:txBody>
      </p:sp>
      <p:sp>
        <p:nvSpPr>
          <p:cNvPr id="75" name="object 15">
            <a:extLst>
              <a:ext uri="{FF2B5EF4-FFF2-40B4-BE49-F238E27FC236}">
                <a16:creationId xmlns:a16="http://schemas.microsoft.com/office/drawing/2014/main" id="{79313143-CEE5-7BC9-7447-D89C25B455D0}"/>
              </a:ext>
            </a:extLst>
          </p:cNvPr>
          <p:cNvSpPr txBox="1"/>
          <p:nvPr/>
        </p:nvSpPr>
        <p:spPr>
          <a:xfrm>
            <a:off x="16689312" y="4118515"/>
            <a:ext cx="1596390" cy="563616"/>
          </a:xfrm>
          <a:prstGeom prst="rect">
            <a:avLst/>
          </a:prstGeom>
        </p:spPr>
        <p:txBody>
          <a:bodyPr vert="horz" wrap="square" lIns="0" tIns="9525" rIns="0" bIns="0" rtlCol="0">
            <a:spAutoFit/>
          </a:bodyPr>
          <a:lstStyle>
            <a:defPPr>
              <a:defRPr kern="0"/>
            </a:defPPr>
            <a:lvl1pPr lvl="0" algn="ctr">
              <a:lnSpc>
                <a:spcPct val="100000"/>
              </a:lnSpc>
              <a:defRPr sz="1600" b="1">
                <a:solidFill>
                  <a:schemeClr val="tx1"/>
                </a:solidFill>
                <a:latin typeface="Aptos" panose="020B0004020202020204" pitchFamily="34" charset="0"/>
              </a:defRPr>
            </a:lvl1pPr>
          </a:lstStyle>
          <a:p>
            <a:r>
              <a:rPr lang="en-GB" sz="1800"/>
              <a:t>REPOSITION THE BRAND</a:t>
            </a:r>
            <a:endParaRPr lang="en-US" sz="1800"/>
          </a:p>
        </p:txBody>
      </p:sp>
      <p:sp>
        <p:nvSpPr>
          <p:cNvPr id="76" name="object 24">
            <a:extLst>
              <a:ext uri="{FF2B5EF4-FFF2-40B4-BE49-F238E27FC236}">
                <a16:creationId xmlns:a16="http://schemas.microsoft.com/office/drawing/2014/main" id="{7BC00E2D-2EF9-E00C-6D5F-59B2A0967B60}"/>
              </a:ext>
            </a:extLst>
          </p:cNvPr>
          <p:cNvSpPr txBox="1"/>
          <p:nvPr/>
        </p:nvSpPr>
        <p:spPr>
          <a:xfrm>
            <a:off x="16288386" y="3189701"/>
            <a:ext cx="3060063" cy="443070"/>
          </a:xfrm>
          <a:prstGeom prst="rect">
            <a:avLst/>
          </a:prstGeom>
        </p:spPr>
        <p:txBody>
          <a:bodyPr vert="horz" wrap="square" lIns="0" tIns="12065" rIns="0" bIns="0" rtlCol="0">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4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a:t>Collaborate with British luxury houses (Burberry, Connolly, Bremont)</a:t>
            </a:r>
          </a:p>
        </p:txBody>
      </p:sp>
      <p:sp>
        <p:nvSpPr>
          <p:cNvPr id="77" name="object 25">
            <a:extLst>
              <a:ext uri="{FF2B5EF4-FFF2-40B4-BE49-F238E27FC236}">
                <a16:creationId xmlns:a16="http://schemas.microsoft.com/office/drawing/2014/main" id="{296253DF-AC96-431D-DEF8-5476ECDEDE3D}"/>
              </a:ext>
            </a:extLst>
          </p:cNvPr>
          <p:cNvSpPr txBox="1"/>
          <p:nvPr/>
        </p:nvSpPr>
        <p:spPr>
          <a:xfrm>
            <a:off x="15969529" y="5190888"/>
            <a:ext cx="1437004" cy="658514"/>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sz="1400"/>
              <a:t>From Performance Luxury to </a:t>
            </a:r>
            <a:r>
              <a:rPr lang="en-GB" sz="1400" b="1"/>
              <a:t>Electric British Elegance</a:t>
            </a:r>
          </a:p>
        </p:txBody>
      </p:sp>
      <p:sp>
        <p:nvSpPr>
          <p:cNvPr id="78" name="object 26">
            <a:extLst>
              <a:ext uri="{FF2B5EF4-FFF2-40B4-BE49-F238E27FC236}">
                <a16:creationId xmlns:a16="http://schemas.microsoft.com/office/drawing/2014/main" id="{E84E6A7B-DA90-6832-FED6-779DE098F0C4}"/>
              </a:ext>
            </a:extLst>
          </p:cNvPr>
          <p:cNvSpPr txBox="1"/>
          <p:nvPr/>
        </p:nvSpPr>
        <p:spPr>
          <a:xfrm>
            <a:off x="17566446" y="4747160"/>
            <a:ext cx="1437005" cy="1811137"/>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r>
              <a:rPr lang="en-GB" sz="1400"/>
              <a:t>Focus on </a:t>
            </a:r>
            <a:r>
              <a:rPr lang="en-GB" sz="1400" b="1"/>
              <a:t>sustainability,</a:t>
            </a:r>
            <a:r>
              <a:rPr lang="en-GB" sz="1400"/>
              <a:t> </a:t>
            </a:r>
            <a:r>
              <a:rPr lang="en-GB" sz="1400" b="1"/>
              <a:t>serenity</a:t>
            </a:r>
            <a:r>
              <a:rPr lang="en-GB" sz="1400"/>
              <a:t>, and </a:t>
            </a:r>
            <a:r>
              <a:rPr lang="en-GB" sz="1400" b="1"/>
              <a:t>design </a:t>
            </a:r>
            <a:r>
              <a:rPr lang="en-GB" sz="1400"/>
              <a:t>purity</a:t>
            </a:r>
          </a:p>
          <a:p>
            <a:r>
              <a:rPr lang="en-GB" sz="1400"/>
              <a:t>Target younger global elite seeking </a:t>
            </a:r>
            <a:r>
              <a:rPr lang="en-GB" sz="1400" b="1"/>
              <a:t>“silent luxury”</a:t>
            </a:r>
          </a:p>
        </p:txBody>
      </p:sp>
      <p:sp>
        <p:nvSpPr>
          <p:cNvPr id="79" name="Rectangle 78" descr="Gauge">
            <a:extLst>
              <a:ext uri="{FF2B5EF4-FFF2-40B4-BE49-F238E27FC236}">
                <a16:creationId xmlns:a16="http://schemas.microsoft.com/office/drawing/2014/main" id="{F6139659-2AC3-9239-5540-B91B7F5DAE7A}"/>
              </a:ext>
            </a:extLst>
          </p:cNvPr>
          <p:cNvSpPr/>
          <p:nvPr/>
        </p:nvSpPr>
        <p:spPr>
          <a:xfrm>
            <a:off x="2454406" y="2331054"/>
            <a:ext cx="873318" cy="85428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fr-FR"/>
          </a:p>
        </p:txBody>
      </p:sp>
      <p:sp>
        <p:nvSpPr>
          <p:cNvPr id="80" name="Rectangle 79" descr="Handshake">
            <a:extLst>
              <a:ext uri="{FF2B5EF4-FFF2-40B4-BE49-F238E27FC236}">
                <a16:creationId xmlns:a16="http://schemas.microsoft.com/office/drawing/2014/main" id="{8801C7DC-1B20-CF35-D39C-2FF565C43AAB}"/>
              </a:ext>
            </a:extLst>
          </p:cNvPr>
          <p:cNvSpPr/>
          <p:nvPr/>
        </p:nvSpPr>
        <p:spPr>
          <a:xfrm>
            <a:off x="9828998" y="2423092"/>
            <a:ext cx="873318" cy="854284"/>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fr-FR"/>
          </a:p>
        </p:txBody>
      </p:sp>
      <p:sp>
        <p:nvSpPr>
          <p:cNvPr id="81" name="Rectangle 80" descr="Bullseye">
            <a:extLst>
              <a:ext uri="{FF2B5EF4-FFF2-40B4-BE49-F238E27FC236}">
                <a16:creationId xmlns:a16="http://schemas.microsoft.com/office/drawing/2014/main" id="{4C423411-DA74-AC26-4582-D7E7A4DB5431}"/>
              </a:ext>
            </a:extLst>
          </p:cNvPr>
          <p:cNvSpPr/>
          <p:nvPr/>
        </p:nvSpPr>
        <p:spPr>
          <a:xfrm>
            <a:off x="17208404" y="2316070"/>
            <a:ext cx="878927" cy="87329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fr-FR"/>
          </a:p>
        </p:txBody>
      </p:sp>
      <p:pic>
        <p:nvPicPr>
          <p:cNvPr id="82" name="Graphique 7" descr="Batterie en charge avec un remplissage uni">
            <a:extLst>
              <a:ext uri="{FF2B5EF4-FFF2-40B4-BE49-F238E27FC236}">
                <a16:creationId xmlns:a16="http://schemas.microsoft.com/office/drawing/2014/main" id="{F654CE17-FDDF-7232-931A-4A8C79F8ACE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155755" y="2392385"/>
            <a:ext cx="935718" cy="935718"/>
          </a:xfrm>
          <a:prstGeom prst="rect">
            <a:avLst/>
          </a:prstGeom>
        </p:spPr>
      </p:pic>
      <p:pic>
        <p:nvPicPr>
          <p:cNvPr id="83" name="Graphique 16" descr="Ouverture avec un remplissage uni">
            <a:extLst>
              <a:ext uri="{FF2B5EF4-FFF2-40B4-BE49-F238E27FC236}">
                <a16:creationId xmlns:a16="http://schemas.microsoft.com/office/drawing/2014/main" id="{19A2A7F3-F20C-C4F2-3B23-7A65142A359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3483843" y="2488028"/>
            <a:ext cx="808362" cy="808362"/>
          </a:xfrm>
          <a:prstGeom prst="rect">
            <a:avLst/>
          </a:prstGeom>
        </p:spPr>
      </p:pic>
      <p:sp>
        <p:nvSpPr>
          <p:cNvPr id="95" name="object 7">
            <a:extLst>
              <a:ext uri="{FF2B5EF4-FFF2-40B4-BE49-F238E27FC236}">
                <a16:creationId xmlns:a16="http://schemas.microsoft.com/office/drawing/2014/main" id="{CC3072E3-B1E4-F5B8-9102-262F78E2E68F}"/>
              </a:ext>
            </a:extLst>
          </p:cNvPr>
          <p:cNvSpPr txBox="1"/>
          <p:nvPr/>
        </p:nvSpPr>
        <p:spPr>
          <a:xfrm>
            <a:off x="1086491" y="999742"/>
            <a:ext cx="16804533" cy="441146"/>
          </a:xfrm>
          <a:prstGeom prst="rect">
            <a:avLst/>
          </a:prstGeom>
        </p:spPr>
        <p:txBody>
          <a:bodyPr vert="horz" wrap="square" lIns="0" tIns="10160" rIns="0" bIns="0" rtlCol="0">
            <a:spAutoFit/>
          </a:bodyPr>
          <a:lstStyle/>
          <a:p>
            <a:pPr>
              <a:spcAft>
                <a:spcPts val="600"/>
              </a:spcAft>
            </a:pPr>
            <a:r>
              <a:rPr lang="en-GB" sz="2800" b="1"/>
              <a:t>Objective 1 : </a:t>
            </a:r>
            <a:r>
              <a:rPr lang="en-GB" sz="2800"/>
              <a:t>Rebuild Jaguar as an </a:t>
            </a:r>
            <a:r>
              <a:rPr lang="en-GB" sz="2800" b="1" u="sng"/>
              <a:t>ultra-luxury electric brand</a:t>
            </a:r>
            <a:r>
              <a:rPr lang="en-GB" sz="2800" u="sng"/>
              <a:t> </a:t>
            </a:r>
            <a:r>
              <a:rPr lang="en-GB" sz="2800"/>
              <a:t>competing with Rolls-Royce and Bentley </a:t>
            </a:r>
          </a:p>
        </p:txBody>
      </p:sp>
      <p:pic>
        <p:nvPicPr>
          <p:cNvPr id="13" name="object 4">
            <a:extLst>
              <a:ext uri="{FF2B5EF4-FFF2-40B4-BE49-F238E27FC236}">
                <a16:creationId xmlns:a16="http://schemas.microsoft.com/office/drawing/2014/main" id="{F205FB7B-988C-B720-46AF-64065FF4CCAE}"/>
              </a:ext>
            </a:extLst>
          </p:cNvPr>
          <p:cNvPicPr/>
          <p:nvPr/>
        </p:nvPicPr>
        <p:blipFill>
          <a:blip r:embed="rId19" cstate="print"/>
          <a:stretch>
            <a:fillRect/>
          </a:stretch>
        </p:blipFill>
        <p:spPr>
          <a:xfrm>
            <a:off x="17726790" y="399568"/>
            <a:ext cx="1233889" cy="263866"/>
          </a:xfrm>
          <a:prstGeom prst="rect">
            <a:avLst/>
          </a:prstGeom>
        </p:spPr>
      </p:pic>
      <p:sp>
        <p:nvSpPr>
          <p:cNvPr id="27" name="TextBox 26">
            <a:extLst>
              <a:ext uri="{FF2B5EF4-FFF2-40B4-BE49-F238E27FC236}">
                <a16:creationId xmlns:a16="http://schemas.microsoft.com/office/drawing/2014/main" id="{1C51F7D5-5DCA-F02E-640A-3F3059A01FA3}"/>
              </a:ext>
            </a:extLst>
          </p:cNvPr>
          <p:cNvSpPr txBox="1"/>
          <p:nvPr/>
        </p:nvSpPr>
        <p:spPr>
          <a:xfrm>
            <a:off x="4750857" y="7071408"/>
            <a:ext cx="8632459" cy="1538883"/>
          </a:xfrm>
          <a:prstGeom prst="rect">
            <a:avLst/>
          </a:prstGeom>
          <a:noFill/>
        </p:spPr>
        <p:txBody>
          <a:bodyPr wrap="square" lIns="91440" tIns="45720" rIns="91440" bIns="45720" rtlCol="0" anchor="t">
            <a:spAutoFit/>
          </a:bodyPr>
          <a:lstStyle/>
          <a:p>
            <a:pPr algn="l"/>
            <a:r>
              <a:rPr lang="en-GB" sz="2000" b="1">
                <a:solidFill>
                  <a:schemeClr val="tx2"/>
                </a:solidFill>
              </a:rPr>
              <a:t>Expected Outcomes</a:t>
            </a:r>
            <a:br>
              <a:rPr lang="en-GB" sz="2000" b="1">
                <a:solidFill>
                  <a:schemeClr val="tx2"/>
                </a:solidFill>
              </a:rPr>
            </a:br>
            <a:endParaRPr lang="en-GB" sz="2000" b="1">
              <a:solidFill>
                <a:schemeClr val="tx2"/>
              </a:solidFill>
            </a:endParaRPr>
          </a:p>
          <a:p>
            <a:pPr algn="l"/>
            <a:r>
              <a:rPr lang="en-GB" sz="1800" b="1"/>
              <a:t>Stronger profitability: </a:t>
            </a:r>
            <a:r>
              <a:rPr lang="en-GB" sz="1800"/>
              <a:t>moving from a volume-driven to a value-driven model reinforces margins and financial resilience.</a:t>
            </a:r>
          </a:p>
          <a:p>
            <a:pPr marL="471170" indent="-471170" algn="l">
              <a:buFont typeface="Arial" panose="020B0604020202020204" pitchFamily="34" charset="0"/>
              <a:buChar char="•"/>
            </a:pPr>
            <a:endParaRPr lang="en-GB" sz="1800"/>
          </a:p>
        </p:txBody>
      </p:sp>
      <p:sp>
        <p:nvSpPr>
          <p:cNvPr id="28" name="TextBox 27">
            <a:extLst>
              <a:ext uri="{FF2B5EF4-FFF2-40B4-BE49-F238E27FC236}">
                <a16:creationId xmlns:a16="http://schemas.microsoft.com/office/drawing/2014/main" id="{10006EA1-1D85-7101-002F-8E3631E25A10}"/>
              </a:ext>
            </a:extLst>
          </p:cNvPr>
          <p:cNvSpPr txBox="1"/>
          <p:nvPr/>
        </p:nvSpPr>
        <p:spPr>
          <a:xfrm>
            <a:off x="4756472" y="8109602"/>
            <a:ext cx="8632459" cy="1231106"/>
          </a:xfrm>
          <a:prstGeom prst="rect">
            <a:avLst/>
          </a:prstGeom>
          <a:noFill/>
        </p:spPr>
        <p:txBody>
          <a:bodyPr wrap="square" lIns="91440" tIns="45720" rIns="91440" bIns="45720" rtlCol="0" anchor="t">
            <a:spAutoFit/>
          </a:bodyPr>
          <a:lstStyle/>
          <a:p>
            <a:pPr algn="l"/>
            <a:endParaRPr lang="en-GB" sz="2000" b="1">
              <a:solidFill>
                <a:schemeClr val="tx2"/>
              </a:solidFill>
            </a:endParaRPr>
          </a:p>
          <a:p>
            <a:pPr algn="l"/>
            <a:r>
              <a:rPr lang="en-GB" sz="1800" b="1"/>
              <a:t>Revitalized brand image: </a:t>
            </a:r>
            <a:r>
              <a:rPr lang="en-GB" sz="1800"/>
              <a:t>Jaguar re-establishes itself as a benchmark of “Electric British Elegance,” recognized alongside the world’s top luxury marques.</a:t>
            </a:r>
          </a:p>
          <a:p>
            <a:pPr algn="l"/>
            <a:endParaRPr lang="en-GB" sz="1800" b="1"/>
          </a:p>
        </p:txBody>
      </p:sp>
      <p:sp>
        <p:nvSpPr>
          <p:cNvPr id="30" name="TextBox 29">
            <a:extLst>
              <a:ext uri="{FF2B5EF4-FFF2-40B4-BE49-F238E27FC236}">
                <a16:creationId xmlns:a16="http://schemas.microsoft.com/office/drawing/2014/main" id="{68041EA7-AFE3-2A69-486C-916A49096BAC}"/>
              </a:ext>
            </a:extLst>
          </p:cNvPr>
          <p:cNvSpPr txBox="1"/>
          <p:nvPr/>
        </p:nvSpPr>
        <p:spPr>
          <a:xfrm>
            <a:off x="4755562" y="9181582"/>
            <a:ext cx="8632459" cy="923330"/>
          </a:xfrm>
          <a:prstGeom prst="rect">
            <a:avLst/>
          </a:prstGeom>
          <a:noFill/>
        </p:spPr>
        <p:txBody>
          <a:bodyPr wrap="square" lIns="91440" tIns="45720" rIns="91440" bIns="45720" rtlCol="0" anchor="t">
            <a:spAutoFit/>
          </a:bodyPr>
          <a:lstStyle/>
          <a:p>
            <a:pPr algn="l"/>
            <a:r>
              <a:rPr lang="en-GB" sz="1800" b="1"/>
              <a:t>Enhanced group positioning: </a:t>
            </a:r>
            <a:r>
              <a:rPr lang="en-GB" sz="1800"/>
              <a:t>the brand becomes Tata’s technological and symbolic showcase in the luxury EV space, strengthening group synergies and innovation capacity.</a:t>
            </a:r>
            <a:endParaRPr lang="en-US"/>
          </a:p>
        </p:txBody>
      </p:sp>
      <p:cxnSp>
        <p:nvCxnSpPr>
          <p:cNvPr id="31" name="Straight Connector 30">
            <a:extLst>
              <a:ext uri="{FF2B5EF4-FFF2-40B4-BE49-F238E27FC236}">
                <a16:creationId xmlns:a16="http://schemas.microsoft.com/office/drawing/2014/main" id="{D4FBD470-0EED-4E10-7E39-95F1868269F9}"/>
              </a:ext>
            </a:extLst>
          </p:cNvPr>
          <p:cNvCxnSpPr/>
          <p:nvPr/>
        </p:nvCxnSpPr>
        <p:spPr>
          <a:xfrm>
            <a:off x="4802080" y="8373978"/>
            <a:ext cx="8817667" cy="0"/>
          </a:xfrm>
          <a:prstGeom prst="line">
            <a:avLst/>
          </a:prstGeom>
          <a:ln w="28575">
            <a:solidFill>
              <a:srgbClr val="AFC7D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F930684-D1B3-D918-CED9-116FC4B8F742}"/>
              </a:ext>
            </a:extLst>
          </p:cNvPr>
          <p:cNvCxnSpPr/>
          <p:nvPr/>
        </p:nvCxnSpPr>
        <p:spPr>
          <a:xfrm>
            <a:off x="4802080" y="9101372"/>
            <a:ext cx="8817667" cy="0"/>
          </a:xfrm>
          <a:prstGeom prst="line">
            <a:avLst/>
          </a:prstGeom>
          <a:ln w="28575">
            <a:solidFill>
              <a:srgbClr val="AFC7D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C0CFB9E-A91D-C651-AB74-87DFC0F5B6CE}"/>
              </a:ext>
            </a:extLst>
          </p:cNvPr>
          <p:cNvCxnSpPr/>
          <p:nvPr/>
        </p:nvCxnSpPr>
        <p:spPr>
          <a:xfrm>
            <a:off x="4802080" y="7601435"/>
            <a:ext cx="8817667" cy="0"/>
          </a:xfrm>
          <a:prstGeom prst="line">
            <a:avLst/>
          </a:prstGeom>
          <a:ln w="28575">
            <a:solidFill>
              <a:srgbClr val="AFC7D9"/>
            </a:solidFill>
          </a:ln>
        </p:spPr>
        <p:style>
          <a:lnRef idx="1">
            <a:schemeClr val="accent1"/>
          </a:lnRef>
          <a:fillRef idx="0">
            <a:schemeClr val="accent1"/>
          </a:fillRef>
          <a:effectRef idx="0">
            <a:schemeClr val="accent1"/>
          </a:effectRef>
          <a:fontRef idx="minor">
            <a:schemeClr val="tx1"/>
          </a:fontRef>
        </p:style>
      </p:cxnSp>
      <p:sp>
        <p:nvSpPr>
          <p:cNvPr id="36" name="object 2">
            <a:extLst>
              <a:ext uri="{FF2B5EF4-FFF2-40B4-BE49-F238E27FC236}">
                <a16:creationId xmlns:a16="http://schemas.microsoft.com/office/drawing/2014/main" id="{A66B38E4-55B9-9574-615E-0334CEB83032}"/>
              </a:ext>
            </a:extLst>
          </p:cNvPr>
          <p:cNvSpPr/>
          <p:nvPr/>
        </p:nvSpPr>
        <p:spPr>
          <a:xfrm>
            <a:off x="0" y="635"/>
            <a:ext cx="20339478"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spTree>
    <p:extLst>
      <p:ext uri="{BB962C8B-B14F-4D97-AF65-F5344CB8AC3E}">
        <p14:creationId xmlns:p14="http://schemas.microsoft.com/office/powerpoint/2010/main" val="20023038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4D69F2-E7A3-FCC6-0259-3E1E9EC702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CEA7C9-804C-172C-6280-6B0C06C4475A}"/>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3" name="object 3">
            <a:extLst>
              <a:ext uri="{FF2B5EF4-FFF2-40B4-BE49-F238E27FC236}">
                <a16:creationId xmlns:a16="http://schemas.microsoft.com/office/drawing/2014/main" id="{0DD60717-4B86-CE01-8774-B433A48C30D6}"/>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4" name="object 2">
            <a:extLst>
              <a:ext uri="{FF2B5EF4-FFF2-40B4-BE49-F238E27FC236}">
                <a16:creationId xmlns:a16="http://schemas.microsoft.com/office/drawing/2014/main" id="{2E63988C-A94A-E93E-FE88-9EBBE60B6BD9}"/>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02" name="Graphique 28" descr="Étoile contour">
            <a:extLst>
              <a:ext uri="{FF2B5EF4-FFF2-40B4-BE49-F238E27FC236}">
                <a16:creationId xmlns:a16="http://schemas.microsoft.com/office/drawing/2014/main" id="{07917878-0155-D6D5-35FB-34640F2511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4397" y="2378418"/>
            <a:ext cx="646905" cy="646905"/>
          </a:xfrm>
          <a:prstGeom prst="rect">
            <a:avLst/>
          </a:prstGeom>
        </p:spPr>
      </p:pic>
      <p:sp>
        <p:nvSpPr>
          <p:cNvPr id="103" name="Rectangle 102" descr="Bullseye">
            <a:extLst>
              <a:ext uri="{FF2B5EF4-FFF2-40B4-BE49-F238E27FC236}">
                <a16:creationId xmlns:a16="http://schemas.microsoft.com/office/drawing/2014/main" id="{A8566D0F-7C91-7B79-97BF-2391DE804DE9}"/>
              </a:ext>
            </a:extLst>
          </p:cNvPr>
          <p:cNvSpPr/>
          <p:nvPr/>
        </p:nvSpPr>
        <p:spPr>
          <a:xfrm>
            <a:off x="17352622" y="2490237"/>
            <a:ext cx="546607" cy="55418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fr-FR"/>
          </a:p>
        </p:txBody>
      </p:sp>
      <p:pic>
        <p:nvPicPr>
          <p:cNvPr id="129" name="object 4">
            <a:extLst>
              <a:ext uri="{FF2B5EF4-FFF2-40B4-BE49-F238E27FC236}">
                <a16:creationId xmlns:a16="http://schemas.microsoft.com/office/drawing/2014/main" id="{4C119206-0FBE-C98D-DFA7-3DF0FFB6B7C6}"/>
              </a:ext>
            </a:extLst>
          </p:cNvPr>
          <p:cNvPicPr/>
          <p:nvPr/>
        </p:nvPicPr>
        <p:blipFill>
          <a:blip r:embed="rId5" cstate="print"/>
          <a:stretch>
            <a:fillRect/>
          </a:stretch>
        </p:blipFill>
        <p:spPr>
          <a:xfrm>
            <a:off x="17726790" y="399568"/>
            <a:ext cx="1233889" cy="263866"/>
          </a:xfrm>
          <a:prstGeom prst="rect">
            <a:avLst/>
          </a:prstGeom>
        </p:spPr>
      </p:pic>
      <p:sp>
        <p:nvSpPr>
          <p:cNvPr id="7" name="ZoneTexte 6">
            <a:extLst>
              <a:ext uri="{FF2B5EF4-FFF2-40B4-BE49-F238E27FC236}">
                <a16:creationId xmlns:a16="http://schemas.microsoft.com/office/drawing/2014/main" id="{699D2720-F551-D17B-CB30-2D9E626F4E93}"/>
              </a:ext>
            </a:extLst>
          </p:cNvPr>
          <p:cNvSpPr txBox="1"/>
          <p:nvPr/>
        </p:nvSpPr>
        <p:spPr>
          <a:xfrm>
            <a:off x="18607032" y="10557746"/>
            <a:ext cx="6940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62626"/>
                </a:solidFill>
                <a:latin typeface="Microsoft Sans Serif"/>
                <a:ea typeface="Microsoft Sans Serif"/>
                <a:cs typeface="Microsoft Sans Serif"/>
              </a:rPr>
              <a:t>13</a:t>
            </a:r>
            <a:endParaRPr lang="fr-FR"/>
          </a:p>
          <a:p>
            <a:pPr algn="ctr"/>
            <a:endParaRPr lang="fr-FR"/>
          </a:p>
        </p:txBody>
      </p:sp>
      <p:pic>
        <p:nvPicPr>
          <p:cNvPr id="5" name="object 10">
            <a:extLst>
              <a:ext uri="{FF2B5EF4-FFF2-40B4-BE49-F238E27FC236}">
                <a16:creationId xmlns:a16="http://schemas.microsoft.com/office/drawing/2014/main" id="{1B52CA76-4FD5-C3E2-7264-41BA0643B8E6}"/>
              </a:ext>
            </a:extLst>
          </p:cNvPr>
          <p:cNvPicPr/>
          <p:nvPr/>
        </p:nvPicPr>
        <p:blipFill>
          <a:blip r:embed="rId6" cstate="print">
            <a:extLst>
              <a:ext uri="{BEBA8EAE-BF5A-486C-A8C5-ECC9F3942E4B}">
                <a14:imgProps xmlns:a14="http://schemas.microsoft.com/office/drawing/2010/main">
                  <a14:imgLayer r:embed="rId7">
                    <a14:imgEffect>
                      <a14:brightnessContrast bright="40000" contrast="20000"/>
                    </a14:imgEffect>
                  </a14:imgLayer>
                </a14:imgProps>
              </a:ext>
            </a:extLst>
          </a:blip>
          <a:stretch>
            <a:fillRect/>
          </a:stretch>
        </p:blipFill>
        <p:spPr>
          <a:xfrm>
            <a:off x="421806" y="1862972"/>
            <a:ext cx="9955125" cy="4193826"/>
          </a:xfrm>
          <a:prstGeom prst="rect">
            <a:avLst/>
          </a:prstGeom>
        </p:spPr>
      </p:pic>
      <p:pic>
        <p:nvPicPr>
          <p:cNvPr id="6" name="object 10">
            <a:extLst>
              <a:ext uri="{FF2B5EF4-FFF2-40B4-BE49-F238E27FC236}">
                <a16:creationId xmlns:a16="http://schemas.microsoft.com/office/drawing/2014/main" id="{0D86CFEC-26D2-023B-C5C0-E80739049662}"/>
              </a:ext>
            </a:extLst>
          </p:cNvPr>
          <p:cNvPicPr/>
          <p:nvPr/>
        </p:nvPicPr>
        <p:blipFill>
          <a:blip r:embed="rId6" cstate="print">
            <a:extLst>
              <a:ext uri="{BEBA8EAE-BF5A-486C-A8C5-ECC9F3942E4B}">
                <a14:imgProps xmlns:a14="http://schemas.microsoft.com/office/drawing/2010/main">
                  <a14:imgLayer r:embed="rId7">
                    <a14:imgEffect>
                      <a14:brightnessContrast bright="40000" contrast="20000"/>
                    </a14:imgEffect>
                  </a14:imgLayer>
                </a14:imgProps>
              </a:ext>
            </a:extLst>
          </a:blip>
          <a:stretch>
            <a:fillRect/>
          </a:stretch>
        </p:blipFill>
        <p:spPr>
          <a:xfrm>
            <a:off x="9863847" y="1905344"/>
            <a:ext cx="9096832" cy="4261964"/>
          </a:xfrm>
          <a:prstGeom prst="rect">
            <a:avLst/>
          </a:prstGeom>
        </p:spPr>
      </p:pic>
      <p:sp>
        <p:nvSpPr>
          <p:cNvPr id="9" name="object 12">
            <a:extLst>
              <a:ext uri="{FF2B5EF4-FFF2-40B4-BE49-F238E27FC236}">
                <a16:creationId xmlns:a16="http://schemas.microsoft.com/office/drawing/2014/main" id="{1A9798C3-56BA-A4DD-E6D4-2243BC708DF9}"/>
              </a:ext>
            </a:extLst>
          </p:cNvPr>
          <p:cNvSpPr txBox="1"/>
          <p:nvPr/>
        </p:nvSpPr>
        <p:spPr>
          <a:xfrm>
            <a:off x="2736788" y="2187145"/>
            <a:ext cx="5376112" cy="871392"/>
          </a:xfrm>
          <a:prstGeom prst="rect">
            <a:avLst/>
          </a:prstGeom>
        </p:spPr>
        <p:txBody>
          <a:bodyPr vert="horz" wrap="square" lIns="0" tIns="9525" rIns="0" bIns="0" rtlCol="0">
            <a:spAutoFit/>
          </a:bodyPr>
          <a:lstStyle/>
          <a:p>
            <a:pPr marL="0" marR="0" lvl="0" indent="0" algn="ctr" defTabSz="622300" rtl="0" eaLnBrk="1" fontAlgn="auto" latinLnBrk="0" hangingPunct="1">
              <a:lnSpc>
                <a:spcPct val="100000"/>
              </a:lnSpc>
              <a:spcBef>
                <a:spcPct val="0"/>
              </a:spcBef>
              <a:spcAft>
                <a:spcPct val="35000"/>
              </a:spcAft>
              <a:buClrTx/>
              <a:buSzTx/>
              <a:buFontTx/>
              <a:buNone/>
              <a:tabLst/>
              <a:defRPr b="1"/>
            </a:pPr>
            <a:r>
              <a:rPr kumimoji="0" lang="en-US" sz="2800" b="1" i="0" u="none" strike="noStrike" kern="1200" cap="none" spc="0" normalizeH="0" baseline="0" noProof="0">
                <a:ln>
                  <a:noFill/>
                </a:ln>
                <a:solidFill>
                  <a:schemeClr val="tx1"/>
                </a:solidFill>
                <a:effectLst/>
                <a:uLnTx/>
                <a:uFillTx/>
                <a:latin typeface="Aptos" panose="02110004020202020204"/>
                <a:ea typeface="+mn-ea"/>
                <a:cs typeface="+mn-cs"/>
              </a:rPr>
              <a:t>EXISTING SPECIAL BUILDS DEPARTMENT </a:t>
            </a:r>
          </a:p>
        </p:txBody>
      </p:sp>
      <p:sp>
        <p:nvSpPr>
          <p:cNvPr id="10" name="object 12">
            <a:extLst>
              <a:ext uri="{FF2B5EF4-FFF2-40B4-BE49-F238E27FC236}">
                <a16:creationId xmlns:a16="http://schemas.microsoft.com/office/drawing/2014/main" id="{B19D3BE3-17CB-1D97-FA5F-147272527629}"/>
              </a:ext>
            </a:extLst>
          </p:cNvPr>
          <p:cNvSpPr txBox="1"/>
          <p:nvPr/>
        </p:nvSpPr>
        <p:spPr>
          <a:xfrm>
            <a:off x="11771704" y="2292885"/>
            <a:ext cx="5429857" cy="440505"/>
          </a:xfrm>
          <a:prstGeom prst="rect">
            <a:avLst/>
          </a:prstGeom>
        </p:spPr>
        <p:txBody>
          <a:bodyPr vert="horz" wrap="square" lIns="0" tIns="9525" rIns="0" bIns="0" rtlCol="0">
            <a:spAutoFit/>
          </a:bodyPr>
          <a:lstStyle/>
          <a:p>
            <a:pPr marL="0" marR="0" lvl="0" indent="0" algn="ctr" defTabSz="622300" rtl="0" eaLnBrk="1" fontAlgn="auto" latinLnBrk="0" hangingPunct="1">
              <a:lnSpc>
                <a:spcPct val="100000"/>
              </a:lnSpc>
              <a:spcBef>
                <a:spcPct val="0"/>
              </a:spcBef>
              <a:spcAft>
                <a:spcPct val="35000"/>
              </a:spcAft>
              <a:buClrTx/>
              <a:buSzTx/>
              <a:buFontTx/>
              <a:buNone/>
              <a:tabLst/>
              <a:defRPr b="1"/>
            </a:pPr>
            <a:r>
              <a:rPr kumimoji="0" lang="en-US" sz="2800" b="1" i="0" u="none" strike="noStrike" kern="1200" cap="none" spc="0" normalizeH="0" baseline="0" noProof="0">
                <a:ln>
                  <a:noFill/>
                </a:ln>
                <a:solidFill>
                  <a:schemeClr val="tx1"/>
                </a:solidFill>
                <a:effectLst/>
                <a:uLnTx/>
                <a:uFillTx/>
                <a:latin typeface="Aptos" panose="02110004020202020204"/>
                <a:ea typeface="+mn-ea"/>
                <a:cs typeface="+mn-cs"/>
              </a:rPr>
              <a:t>TRANSITION TO EVS</a:t>
            </a:r>
          </a:p>
        </p:txBody>
      </p:sp>
      <p:sp>
        <p:nvSpPr>
          <p:cNvPr id="12" name="object 7">
            <a:extLst>
              <a:ext uri="{FF2B5EF4-FFF2-40B4-BE49-F238E27FC236}">
                <a16:creationId xmlns:a16="http://schemas.microsoft.com/office/drawing/2014/main" id="{1FFA04A9-4DAF-C0D9-EB8B-60C42DE8651A}"/>
              </a:ext>
            </a:extLst>
          </p:cNvPr>
          <p:cNvSpPr txBox="1"/>
          <p:nvPr/>
        </p:nvSpPr>
        <p:spPr>
          <a:xfrm>
            <a:off x="1086441" y="1020199"/>
            <a:ext cx="18302081" cy="441146"/>
          </a:xfrm>
          <a:prstGeom prst="rect">
            <a:avLst/>
          </a:prstGeom>
        </p:spPr>
        <p:txBody>
          <a:bodyPr vert="horz" wrap="square" lIns="0" tIns="10160" rIns="0" bIns="0" rtlCol="0" anchor="t">
            <a:spAutoFit/>
          </a:bodyPr>
          <a:lstStyle/>
          <a:p>
            <a:pPr>
              <a:spcAft>
                <a:spcPts val="600"/>
              </a:spcAft>
            </a:pPr>
            <a:r>
              <a:rPr lang="en-GB" sz="2800" b="1"/>
              <a:t>Objective 2 : </a:t>
            </a:r>
            <a:r>
              <a:rPr lang="en-GB" sz="2800"/>
              <a:t>Reinforce Jaguar’s </a:t>
            </a:r>
            <a:r>
              <a:rPr lang="en-GB" sz="2800" b="1" u="sng"/>
              <a:t>performance </a:t>
            </a:r>
            <a:r>
              <a:rPr lang="en-GB" sz="2800"/>
              <a:t>DNA, emotional and sporty, while accelerating portfolio renewal </a:t>
            </a:r>
          </a:p>
        </p:txBody>
      </p:sp>
      <p:pic>
        <p:nvPicPr>
          <p:cNvPr id="11" name="object 5" descr="Une image contenant capture d’écran, bleu, Bleu électrique, Caractère coloré&#10;&#10;Le contenu généré par l’IA peut être incorrect.">
            <a:extLst>
              <a:ext uri="{FF2B5EF4-FFF2-40B4-BE49-F238E27FC236}">
                <a16:creationId xmlns:a16="http://schemas.microsoft.com/office/drawing/2014/main" id="{0E48322D-469A-5BE3-037D-57B01018CB9E}"/>
              </a:ext>
            </a:extLst>
          </p:cNvPr>
          <p:cNvPicPr/>
          <p:nvPr/>
        </p:nvPicPr>
        <p:blipFill>
          <a:blip r:embed="rId8" cstate="print"/>
          <a:stretch>
            <a:fillRect/>
          </a:stretch>
        </p:blipFill>
        <p:spPr>
          <a:xfrm>
            <a:off x="0" y="1095673"/>
            <a:ext cx="1015257" cy="271405"/>
          </a:xfrm>
          <a:prstGeom prst="rect">
            <a:avLst/>
          </a:prstGeom>
        </p:spPr>
      </p:pic>
      <p:pic>
        <p:nvPicPr>
          <p:cNvPr id="18" name="object 22" descr="Une image contenant capture d’écran&#10;&#10;Le contenu généré par l’IA peut être incorrect.">
            <a:extLst>
              <a:ext uri="{FF2B5EF4-FFF2-40B4-BE49-F238E27FC236}">
                <a16:creationId xmlns:a16="http://schemas.microsoft.com/office/drawing/2014/main" id="{5F1DD537-4C26-10B8-0B13-11692E7D8C5E}"/>
              </a:ext>
            </a:extLst>
          </p:cNvPr>
          <p:cNvPicPr/>
          <p:nvPr/>
        </p:nvPicPr>
        <p:blipFill>
          <a:blip r:embed="rId9" cstate="print"/>
          <a:stretch>
            <a:fillRect/>
          </a:stretch>
        </p:blipFill>
        <p:spPr>
          <a:xfrm>
            <a:off x="3622622" y="6782598"/>
            <a:ext cx="12892132" cy="4275456"/>
          </a:xfrm>
          <a:prstGeom prst="rect">
            <a:avLst/>
          </a:prstGeom>
        </p:spPr>
      </p:pic>
      <p:sp>
        <p:nvSpPr>
          <p:cNvPr id="19" name="Flèche vers le bas 18">
            <a:extLst>
              <a:ext uri="{FF2B5EF4-FFF2-40B4-BE49-F238E27FC236}">
                <a16:creationId xmlns:a16="http://schemas.microsoft.com/office/drawing/2014/main" id="{5FAEA0CD-EBE6-4E57-6CF1-CCD60FE4DD97}"/>
              </a:ext>
            </a:extLst>
          </p:cNvPr>
          <p:cNvSpPr/>
          <p:nvPr/>
        </p:nvSpPr>
        <p:spPr>
          <a:xfrm>
            <a:off x="9306615" y="5308173"/>
            <a:ext cx="1490870" cy="1748447"/>
          </a:xfrm>
          <a:prstGeom prst="downArrow">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CA16F7AF-07D3-1892-DDB5-AD35696B8F10}"/>
              </a:ext>
            </a:extLst>
          </p:cNvPr>
          <p:cNvSpPr/>
          <p:nvPr/>
        </p:nvSpPr>
        <p:spPr>
          <a:xfrm>
            <a:off x="8988467" y="5220939"/>
            <a:ext cx="2127165" cy="87234"/>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24" name="object 22">
            <a:extLst>
              <a:ext uri="{FF2B5EF4-FFF2-40B4-BE49-F238E27FC236}">
                <a16:creationId xmlns:a16="http://schemas.microsoft.com/office/drawing/2014/main" id="{C335352F-64C9-C109-6D52-160FAA95203A}"/>
              </a:ext>
            </a:extLst>
          </p:cNvPr>
          <p:cNvSpPr txBox="1"/>
          <p:nvPr/>
        </p:nvSpPr>
        <p:spPr>
          <a:xfrm>
            <a:off x="11097691" y="3044419"/>
            <a:ext cx="7700543" cy="2472856"/>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pPr marL="285750" indent="-285750">
              <a:buFont typeface="Arial" panose="020B0604020202020204" pitchFamily="34" charset="0"/>
              <a:buChar char="•"/>
            </a:pPr>
            <a:endParaRPr lang="en-GB" sz="1400"/>
          </a:p>
          <a:p>
            <a:pPr marL="285750" indent="-285750">
              <a:buFont typeface="Arial" panose="020B0604020202020204" pitchFamily="34" charset="0"/>
              <a:buChar char="•"/>
            </a:pPr>
            <a:r>
              <a:rPr lang="en-GB" sz="2000"/>
              <a:t>3 fully electric models in 2026 </a:t>
            </a:r>
          </a:p>
          <a:p>
            <a:pPr marL="285750" indent="-285750">
              <a:buFont typeface="Arial" panose="020B0604020202020204" pitchFamily="34" charset="0"/>
              <a:buChar char="•"/>
            </a:pPr>
            <a:r>
              <a:rPr lang="fr-FR" sz="2000" err="1"/>
              <a:t>Aims</a:t>
            </a:r>
            <a:r>
              <a:rPr lang="fr-FR" sz="2000"/>
              <a:t> to </a:t>
            </a:r>
            <a:r>
              <a:rPr lang="fr-FR" sz="2000" err="1"/>
              <a:t>generate</a:t>
            </a:r>
            <a:r>
              <a:rPr lang="fr-FR" sz="2000"/>
              <a:t> 36.4% of </a:t>
            </a:r>
            <a:r>
              <a:rPr lang="fr-FR" sz="2000" err="1"/>
              <a:t>its</a:t>
            </a:r>
            <a:r>
              <a:rPr lang="fr-FR" sz="2000"/>
              <a:t> global </a:t>
            </a:r>
            <a:r>
              <a:rPr lang="fr-FR" sz="2000" err="1"/>
              <a:t>energy</a:t>
            </a:r>
            <a:r>
              <a:rPr lang="fr-FR" sz="2000"/>
              <a:t> </a:t>
            </a:r>
            <a:r>
              <a:rPr lang="fr-FR" sz="2000" err="1"/>
              <a:t>consumption</a:t>
            </a:r>
            <a:r>
              <a:rPr lang="fr-FR" sz="2000"/>
              <a:t> </a:t>
            </a:r>
            <a:r>
              <a:rPr lang="fr-FR" sz="2000" err="1"/>
              <a:t>through</a:t>
            </a:r>
            <a:r>
              <a:rPr lang="fr-FR" sz="2000"/>
              <a:t> self-</a:t>
            </a:r>
            <a:r>
              <a:rPr lang="fr-FR" sz="2000" err="1"/>
              <a:t>generated</a:t>
            </a:r>
            <a:r>
              <a:rPr lang="fr-FR" sz="2000"/>
              <a:t> </a:t>
            </a:r>
            <a:r>
              <a:rPr lang="fr-FR" sz="2000" err="1"/>
              <a:t>renewable</a:t>
            </a:r>
            <a:r>
              <a:rPr lang="fr-FR" sz="2000"/>
              <a:t> sources by 2030</a:t>
            </a:r>
          </a:p>
          <a:p>
            <a:pPr marL="285750" indent="-285750">
              <a:buFont typeface="Arial" panose="020B0604020202020204" pitchFamily="34" charset="0"/>
              <a:buChar char="•"/>
            </a:pPr>
            <a:r>
              <a:rPr lang="fr-FR" sz="2000"/>
              <a:t>Rebranding focus: </a:t>
            </a:r>
            <a:r>
              <a:rPr lang="fr-FR" sz="2000" err="1"/>
              <a:t>attract</a:t>
            </a:r>
            <a:r>
              <a:rPr lang="fr-FR" sz="2000"/>
              <a:t> </a:t>
            </a:r>
            <a:r>
              <a:rPr lang="fr-FR" sz="2000" err="1"/>
              <a:t>younger</a:t>
            </a:r>
            <a:r>
              <a:rPr lang="fr-FR" sz="2000"/>
              <a:t> and </a:t>
            </a:r>
            <a:r>
              <a:rPr lang="fr-FR" sz="2000" err="1"/>
              <a:t>wealthier</a:t>
            </a:r>
            <a:r>
              <a:rPr lang="fr-FR" sz="2000"/>
              <a:t> </a:t>
            </a:r>
            <a:r>
              <a:rPr lang="fr-FR" sz="2000" err="1"/>
              <a:t>buyers</a:t>
            </a:r>
            <a:r>
              <a:rPr lang="fr-FR" sz="2000"/>
              <a:t> </a:t>
            </a:r>
            <a:r>
              <a:rPr lang="fr-FR" sz="2000" err="1"/>
              <a:t>seeking</a:t>
            </a:r>
            <a:r>
              <a:rPr lang="fr-FR" sz="2000"/>
              <a:t> modern </a:t>
            </a:r>
            <a:r>
              <a:rPr lang="fr-FR" sz="2000" err="1"/>
              <a:t>luxury</a:t>
            </a:r>
            <a:r>
              <a:rPr lang="fr-FR" sz="2000"/>
              <a:t>, </a:t>
            </a:r>
            <a:r>
              <a:rPr lang="fr-FR" sz="2000" err="1"/>
              <a:t>sustainability</a:t>
            </a:r>
            <a:r>
              <a:rPr lang="fr-FR" sz="2000"/>
              <a:t>, and </a:t>
            </a:r>
            <a:r>
              <a:rPr lang="fr-FR" sz="2000" err="1"/>
              <a:t>individuality</a:t>
            </a:r>
            <a:endParaRPr lang="fr-FR" sz="2000"/>
          </a:p>
          <a:p>
            <a:r>
              <a:rPr lang="en-GB" sz="2000"/>
              <a:t> </a:t>
            </a:r>
            <a:endParaRPr lang="en-GB" sz="2000" b="1"/>
          </a:p>
        </p:txBody>
      </p:sp>
      <p:sp>
        <p:nvSpPr>
          <p:cNvPr id="26" name="ZoneTexte 25">
            <a:extLst>
              <a:ext uri="{FF2B5EF4-FFF2-40B4-BE49-F238E27FC236}">
                <a16:creationId xmlns:a16="http://schemas.microsoft.com/office/drawing/2014/main" id="{26DB0C5F-2535-523D-5769-A82914EC8764}"/>
              </a:ext>
            </a:extLst>
          </p:cNvPr>
          <p:cNvSpPr txBox="1"/>
          <p:nvPr/>
        </p:nvSpPr>
        <p:spPr>
          <a:xfrm>
            <a:off x="4862191" y="9584646"/>
            <a:ext cx="11870588" cy="1200329"/>
          </a:xfrm>
          <a:prstGeom prst="rect">
            <a:avLst/>
          </a:prstGeom>
          <a:noFill/>
        </p:spPr>
        <p:txBody>
          <a:bodyPr wrap="square">
            <a:spAutoFit/>
          </a:bodyPr>
          <a:lstStyle/>
          <a:p>
            <a:r>
              <a:rPr lang="fr-FR" b="1" u="sng" err="1">
                <a:latin typeface="Aptos" panose="020B0004020202020204" pitchFamily="34" charset="0"/>
              </a:rPr>
              <a:t>Expected</a:t>
            </a:r>
            <a:r>
              <a:rPr lang="fr-FR" b="1" u="sng">
                <a:latin typeface="Aptos" panose="020B0004020202020204" pitchFamily="34" charset="0"/>
              </a:rPr>
              <a:t> </a:t>
            </a:r>
            <a:r>
              <a:rPr lang="fr-FR" b="1" u="sng" err="1">
                <a:latin typeface="Aptos" panose="020B0004020202020204" pitchFamily="34" charset="0"/>
              </a:rPr>
              <a:t>outcomes</a:t>
            </a:r>
            <a:r>
              <a:rPr lang="fr-FR" b="1" u="sng">
                <a:latin typeface="Aptos" panose="020B0004020202020204" pitchFamily="34" charset="0"/>
              </a:rPr>
              <a:t> : </a:t>
            </a:r>
          </a:p>
          <a:p>
            <a:pPr marL="285750" indent="-285750">
              <a:buFont typeface="Arial" panose="020B0604020202020204" pitchFamily="34" charset="0"/>
              <a:buChar char="•"/>
            </a:pPr>
            <a:r>
              <a:rPr lang="fr-FR" b="1">
                <a:latin typeface="Aptos" panose="020B0004020202020204" pitchFamily="34" charset="0"/>
              </a:rPr>
              <a:t>Brand </a:t>
            </a:r>
            <a:r>
              <a:rPr lang="fr-FR" b="1" err="1">
                <a:latin typeface="Aptos" panose="020B0004020202020204" pitchFamily="34" charset="0"/>
              </a:rPr>
              <a:t>repositioning</a:t>
            </a:r>
            <a:r>
              <a:rPr lang="fr-FR" b="1">
                <a:latin typeface="Aptos" panose="020B0004020202020204" pitchFamily="34" charset="0"/>
              </a:rPr>
              <a:t>: </a:t>
            </a:r>
            <a:r>
              <a:rPr lang="fr-FR" err="1">
                <a:latin typeface="Aptos" panose="020B0004020202020204" pitchFamily="34" charset="0"/>
              </a:rPr>
              <a:t>from</a:t>
            </a:r>
            <a:r>
              <a:rPr lang="fr-FR">
                <a:latin typeface="Aptos" panose="020B0004020202020204" pitchFamily="34" charset="0"/>
              </a:rPr>
              <a:t> </a:t>
            </a:r>
            <a:r>
              <a:rPr lang="fr-FR" err="1">
                <a:latin typeface="Aptos" panose="020B0004020202020204" pitchFamily="34" charset="0"/>
              </a:rPr>
              <a:t>traditional</a:t>
            </a:r>
            <a:r>
              <a:rPr lang="fr-FR">
                <a:latin typeface="Aptos" panose="020B0004020202020204" pitchFamily="34" charset="0"/>
              </a:rPr>
              <a:t> </a:t>
            </a:r>
            <a:r>
              <a:rPr lang="fr-FR" err="1">
                <a:latin typeface="Aptos" panose="020B0004020202020204" pitchFamily="34" charset="0"/>
              </a:rPr>
              <a:t>luxury</a:t>
            </a:r>
            <a:r>
              <a:rPr lang="fr-FR">
                <a:latin typeface="Aptos" panose="020B0004020202020204" pitchFamily="34" charset="0"/>
              </a:rPr>
              <a:t> to modern </a:t>
            </a:r>
            <a:r>
              <a:rPr lang="fr-FR" err="1">
                <a:latin typeface="Aptos" panose="020B0004020202020204" pitchFamily="34" charset="0"/>
              </a:rPr>
              <a:t>electrified</a:t>
            </a:r>
            <a:r>
              <a:rPr lang="fr-FR">
                <a:latin typeface="Aptos" panose="020B0004020202020204" pitchFamily="34" charset="0"/>
              </a:rPr>
              <a:t> performance </a:t>
            </a:r>
          </a:p>
          <a:p>
            <a:pPr marL="285750" indent="-285750">
              <a:buFont typeface="Arial" panose="020B0604020202020204" pitchFamily="34" charset="0"/>
              <a:buChar char="•"/>
            </a:pPr>
            <a:r>
              <a:rPr lang="fr-FR" b="1">
                <a:latin typeface="Aptos" panose="020B0004020202020204" pitchFamily="34" charset="0"/>
              </a:rPr>
              <a:t>Customer expansion: </a:t>
            </a:r>
            <a:r>
              <a:rPr lang="fr-FR">
                <a:latin typeface="Aptos" panose="020B0004020202020204" pitchFamily="34" charset="0"/>
              </a:rPr>
              <a:t>new </a:t>
            </a:r>
            <a:r>
              <a:rPr lang="fr-FR" err="1">
                <a:latin typeface="Aptos" panose="020B0004020202020204" pitchFamily="34" charset="0"/>
              </a:rPr>
              <a:t>generation</a:t>
            </a:r>
            <a:r>
              <a:rPr lang="fr-FR">
                <a:latin typeface="Aptos" panose="020B0004020202020204" pitchFamily="34" charset="0"/>
              </a:rPr>
              <a:t> of design-</a:t>
            </a:r>
            <a:r>
              <a:rPr lang="fr-FR" err="1">
                <a:latin typeface="Aptos" panose="020B0004020202020204" pitchFamily="34" charset="0"/>
              </a:rPr>
              <a:t>minded</a:t>
            </a:r>
            <a:r>
              <a:rPr lang="fr-FR">
                <a:latin typeface="Aptos" panose="020B0004020202020204" pitchFamily="34" charset="0"/>
              </a:rPr>
              <a:t>, tech-</a:t>
            </a:r>
            <a:r>
              <a:rPr lang="fr-FR" err="1">
                <a:latin typeface="Aptos" panose="020B0004020202020204" pitchFamily="34" charset="0"/>
              </a:rPr>
              <a:t>savvy</a:t>
            </a:r>
            <a:r>
              <a:rPr lang="fr-FR">
                <a:latin typeface="Aptos" panose="020B0004020202020204" pitchFamily="34" charset="0"/>
              </a:rPr>
              <a:t>, affluent </a:t>
            </a:r>
            <a:r>
              <a:rPr lang="fr-FR" err="1">
                <a:latin typeface="Aptos" panose="020B0004020202020204" pitchFamily="34" charset="0"/>
              </a:rPr>
              <a:t>consumers</a:t>
            </a:r>
            <a:endParaRPr lang="fr-FR">
              <a:latin typeface="Aptos" panose="020B0004020202020204" pitchFamily="34" charset="0"/>
            </a:endParaRPr>
          </a:p>
          <a:p>
            <a:pPr marL="285750" indent="-285750">
              <a:buFont typeface="Arial" panose="020B0604020202020204" pitchFamily="34" charset="0"/>
              <a:buChar char="•"/>
            </a:pPr>
            <a:r>
              <a:rPr lang="fr-FR" b="1" err="1">
                <a:latin typeface="Aptos" panose="020B0004020202020204" pitchFamily="34" charset="0"/>
              </a:rPr>
              <a:t>Sustainability</a:t>
            </a:r>
            <a:r>
              <a:rPr lang="fr-FR" b="1">
                <a:latin typeface="Aptos" panose="020B0004020202020204" pitchFamily="34" charset="0"/>
              </a:rPr>
              <a:t> &amp; Emotion: </a:t>
            </a:r>
            <a:r>
              <a:rPr lang="fr-FR" err="1">
                <a:latin typeface="Aptos" panose="020B0004020202020204" pitchFamily="34" charset="0"/>
              </a:rPr>
              <a:t>deliver</a:t>
            </a:r>
            <a:r>
              <a:rPr lang="fr-FR">
                <a:latin typeface="Aptos" panose="020B0004020202020204" pitchFamily="34" charset="0"/>
              </a:rPr>
              <a:t> clean </a:t>
            </a:r>
            <a:r>
              <a:rPr lang="fr-FR" err="1">
                <a:latin typeface="Aptos" panose="020B0004020202020204" pitchFamily="34" charset="0"/>
              </a:rPr>
              <a:t>energy</a:t>
            </a:r>
            <a:r>
              <a:rPr lang="fr-FR">
                <a:latin typeface="Aptos" panose="020B0004020202020204" pitchFamily="34" charset="0"/>
              </a:rPr>
              <a:t> </a:t>
            </a:r>
            <a:r>
              <a:rPr lang="fr-FR" err="1">
                <a:latin typeface="Aptos" panose="020B0004020202020204" pitchFamily="34" charset="0"/>
              </a:rPr>
              <a:t>mobility</a:t>
            </a:r>
            <a:r>
              <a:rPr lang="fr-FR">
                <a:latin typeface="Aptos" panose="020B0004020202020204" pitchFamily="34" charset="0"/>
              </a:rPr>
              <a:t> </a:t>
            </a:r>
            <a:r>
              <a:rPr lang="fr-FR" err="1">
                <a:latin typeface="Aptos" panose="020B0004020202020204" pitchFamily="34" charset="0"/>
              </a:rPr>
              <a:t>without</a:t>
            </a:r>
            <a:r>
              <a:rPr lang="fr-FR">
                <a:latin typeface="Aptos" panose="020B0004020202020204" pitchFamily="34" charset="0"/>
              </a:rPr>
              <a:t> </a:t>
            </a:r>
            <a:r>
              <a:rPr lang="fr-FR" err="1">
                <a:latin typeface="Aptos" panose="020B0004020202020204" pitchFamily="34" charset="0"/>
              </a:rPr>
              <a:t>losing</a:t>
            </a:r>
            <a:r>
              <a:rPr lang="fr-FR">
                <a:latin typeface="Aptos" panose="020B0004020202020204" pitchFamily="34" charset="0"/>
              </a:rPr>
              <a:t> </a:t>
            </a:r>
            <a:r>
              <a:rPr lang="fr-FR" err="1">
                <a:latin typeface="Aptos" panose="020B0004020202020204" pitchFamily="34" charset="0"/>
              </a:rPr>
              <a:t>Jaguar’s</a:t>
            </a:r>
            <a:r>
              <a:rPr lang="fr-FR">
                <a:latin typeface="Aptos" panose="020B0004020202020204" pitchFamily="34" charset="0"/>
              </a:rPr>
              <a:t> signature </a:t>
            </a:r>
            <a:r>
              <a:rPr lang="fr-FR" err="1">
                <a:latin typeface="Aptos" panose="020B0004020202020204" pitchFamily="34" charset="0"/>
              </a:rPr>
              <a:t>driving</a:t>
            </a:r>
            <a:r>
              <a:rPr lang="fr-FR">
                <a:latin typeface="Aptos" panose="020B0004020202020204" pitchFamily="34" charset="0"/>
              </a:rPr>
              <a:t> </a:t>
            </a:r>
            <a:r>
              <a:rPr lang="fr-FR" err="1">
                <a:latin typeface="Aptos" panose="020B0004020202020204" pitchFamily="34" charset="0"/>
              </a:rPr>
              <a:t>feel</a:t>
            </a:r>
            <a:r>
              <a:rPr lang="fr-FR">
                <a:latin typeface="Aptos" panose="020B0004020202020204" pitchFamily="34" charset="0"/>
              </a:rPr>
              <a:t> </a:t>
            </a:r>
          </a:p>
        </p:txBody>
      </p:sp>
      <p:sp>
        <p:nvSpPr>
          <p:cNvPr id="27" name="object 22">
            <a:extLst>
              <a:ext uri="{FF2B5EF4-FFF2-40B4-BE49-F238E27FC236}">
                <a16:creationId xmlns:a16="http://schemas.microsoft.com/office/drawing/2014/main" id="{6D83819E-A5A4-6230-85D8-25EC5B1046F5}"/>
              </a:ext>
            </a:extLst>
          </p:cNvPr>
          <p:cNvSpPr txBox="1"/>
          <p:nvPr/>
        </p:nvSpPr>
        <p:spPr>
          <a:xfrm>
            <a:off x="1853204" y="3383637"/>
            <a:ext cx="7242507" cy="2472856"/>
          </a:xfrm>
          <a:prstGeom prst="rect">
            <a:avLst/>
          </a:prstGeom>
        </p:spPr>
        <p:txBody>
          <a:bodyPr vert="horz" wrap="square" lIns="0" tIns="12065" rIns="0" bIns="0" rtlCol="0" anchor="t">
            <a:spAutoFit/>
          </a:bodyPr>
          <a:lstStyle>
            <a:defPPr>
              <a:defRPr kern="0"/>
            </a:defPPr>
            <a:lvl1pPr marR="0" lvl="0" algn="l" defTabSz="488950" rtl="0" eaLnBrk="1" fontAlgn="auto" latinLnBrk="0" hangingPunct="1">
              <a:lnSpc>
                <a:spcPct val="100000"/>
              </a:lnSpc>
              <a:spcBef>
                <a:spcPct val="0"/>
              </a:spcBef>
              <a:spcAft>
                <a:spcPct val="35000"/>
              </a:spcAft>
              <a:buClrTx/>
              <a:buSzTx/>
              <a:tabLst/>
              <a:defRPr kumimoji="0" sz="1100" b="0" i="0" u="none" strike="noStrike" kern="1200" cap="none" spc="0" normalizeH="0" baseline="0">
                <a:ln>
                  <a:noFill/>
                </a:ln>
                <a:solidFill>
                  <a:schemeClr val="tx1"/>
                </a:solidFill>
                <a:effectLst/>
                <a:uLnTx/>
                <a:uFillTx/>
                <a:latin typeface="Aptos" panose="02110004020202020204"/>
                <a:ea typeface="+mn-ea"/>
                <a:cs typeface="+mn-cs"/>
              </a:defRPr>
            </a:lvl1pPr>
          </a:lstStyle>
          <a:p>
            <a:pPr marL="285750" indent="-285750">
              <a:buFont typeface="Arial" panose="020B0604020202020204" pitchFamily="34" charset="0"/>
              <a:buChar char="•"/>
            </a:pPr>
            <a:endParaRPr lang="en-GB" sz="1400"/>
          </a:p>
          <a:p>
            <a:pPr marL="285750" indent="-285750">
              <a:buFont typeface="Arial" panose="020B0604020202020204" pitchFamily="34" charset="0"/>
              <a:buChar char="•"/>
            </a:pPr>
            <a:r>
              <a:rPr lang="en-GB" sz="2000"/>
              <a:t>Deep expertise in </a:t>
            </a:r>
            <a:r>
              <a:rPr lang="fr-FR" sz="2000" err="1"/>
              <a:t>bespoke</a:t>
            </a:r>
            <a:r>
              <a:rPr lang="fr-FR" sz="2000"/>
              <a:t> </a:t>
            </a:r>
            <a:r>
              <a:rPr lang="fr-FR" sz="2000" err="1"/>
              <a:t>craftsmanship</a:t>
            </a:r>
            <a:r>
              <a:rPr lang="fr-FR" sz="2000"/>
              <a:t> (use of </a:t>
            </a:r>
            <a:r>
              <a:rPr lang="fr-FR" sz="2000" err="1"/>
              <a:t>sustainable</a:t>
            </a:r>
            <a:r>
              <a:rPr lang="fr-FR" sz="2000"/>
              <a:t>, premium and </a:t>
            </a:r>
            <a:r>
              <a:rPr lang="fr-FR" sz="2000" err="1"/>
              <a:t>customized</a:t>
            </a:r>
            <a:r>
              <a:rPr lang="fr-FR" sz="2000"/>
              <a:t> </a:t>
            </a:r>
            <a:r>
              <a:rPr lang="fr-FR" sz="2000" err="1"/>
              <a:t>materials</a:t>
            </a:r>
            <a:r>
              <a:rPr lang="fr-FR" sz="2000"/>
              <a:t>)</a:t>
            </a:r>
          </a:p>
          <a:p>
            <a:pPr marL="285750" indent="-285750">
              <a:buFont typeface="Arial" panose="020B0604020202020204" pitchFamily="34" charset="0"/>
              <a:buChar char="•"/>
            </a:pPr>
            <a:r>
              <a:rPr lang="fr-FR" sz="2000"/>
              <a:t>Performance engineering expertise (performance tuning, </a:t>
            </a:r>
            <a:r>
              <a:rPr lang="fr-FR" sz="2000" err="1"/>
              <a:t>lightweight</a:t>
            </a:r>
            <a:r>
              <a:rPr lang="fr-FR" sz="2000"/>
              <a:t> </a:t>
            </a:r>
            <a:r>
              <a:rPr lang="fr-FR" sz="2000" err="1"/>
              <a:t>materials</a:t>
            </a:r>
            <a:r>
              <a:rPr lang="fr-FR" sz="2000"/>
              <a:t>).</a:t>
            </a:r>
            <a:endParaRPr lang="en-GB" sz="2000"/>
          </a:p>
          <a:p>
            <a:pPr marL="285750" indent="-285750">
              <a:buFont typeface="Arial" panose="020B0604020202020204" pitchFamily="34" charset="0"/>
              <a:buChar char="•"/>
            </a:pPr>
            <a:r>
              <a:rPr lang="fr-FR" sz="2000" err="1"/>
              <a:t>Heritage</a:t>
            </a:r>
            <a:r>
              <a:rPr lang="fr-FR" sz="2000"/>
              <a:t> of excellence and </a:t>
            </a:r>
            <a:r>
              <a:rPr lang="fr-FR" sz="2000" err="1"/>
              <a:t>exclusivity</a:t>
            </a:r>
            <a:r>
              <a:rPr lang="fr-FR" sz="2000"/>
              <a:t> </a:t>
            </a:r>
          </a:p>
          <a:p>
            <a:r>
              <a:rPr lang="en-GB" sz="2000"/>
              <a:t> </a:t>
            </a:r>
            <a:endParaRPr lang="en-GB" sz="2000" b="1"/>
          </a:p>
        </p:txBody>
      </p:sp>
      <p:sp>
        <p:nvSpPr>
          <p:cNvPr id="31" name="ZoneTexte 30">
            <a:extLst>
              <a:ext uri="{FF2B5EF4-FFF2-40B4-BE49-F238E27FC236}">
                <a16:creationId xmlns:a16="http://schemas.microsoft.com/office/drawing/2014/main" id="{C7FBD466-C87B-E715-509B-07E1F96EEBA4}"/>
              </a:ext>
            </a:extLst>
          </p:cNvPr>
          <p:cNvSpPr txBox="1"/>
          <p:nvPr/>
        </p:nvSpPr>
        <p:spPr>
          <a:xfrm>
            <a:off x="11771704" y="2672256"/>
            <a:ext cx="5578557" cy="369332"/>
          </a:xfrm>
          <a:prstGeom prst="rect">
            <a:avLst/>
          </a:prstGeom>
          <a:noFill/>
        </p:spPr>
        <p:txBody>
          <a:bodyPr wrap="square" rtlCol="0">
            <a:spAutoFit/>
          </a:bodyPr>
          <a:lstStyle/>
          <a:p>
            <a:pPr algn="ctr"/>
            <a:r>
              <a:rPr lang="fr-FR" b="1">
                <a:latin typeface="Aptos" panose="020B0004020202020204" pitchFamily="34" charset="0"/>
              </a:rPr>
              <a:t>An </a:t>
            </a:r>
            <a:r>
              <a:rPr lang="fr-FR" b="1" err="1">
                <a:latin typeface="Aptos" panose="020B0004020202020204" pitchFamily="34" charset="0"/>
              </a:rPr>
              <a:t>electric</a:t>
            </a:r>
            <a:r>
              <a:rPr lang="fr-FR" b="1">
                <a:latin typeface="Aptos" panose="020B0004020202020204" pitchFamily="34" charset="0"/>
              </a:rPr>
              <a:t>, </a:t>
            </a:r>
            <a:r>
              <a:rPr lang="fr-FR" b="1" err="1">
                <a:latin typeface="Aptos" panose="020B0004020202020204" pitchFamily="34" charset="0"/>
              </a:rPr>
              <a:t>emotional</a:t>
            </a:r>
            <a:r>
              <a:rPr lang="fr-FR" b="1">
                <a:latin typeface="Aptos" panose="020B0004020202020204" pitchFamily="34" charset="0"/>
              </a:rPr>
              <a:t> and inclusive future</a:t>
            </a:r>
          </a:p>
        </p:txBody>
      </p:sp>
      <p:sp>
        <p:nvSpPr>
          <p:cNvPr id="32" name="ZoneTexte 31">
            <a:extLst>
              <a:ext uri="{FF2B5EF4-FFF2-40B4-BE49-F238E27FC236}">
                <a16:creationId xmlns:a16="http://schemas.microsoft.com/office/drawing/2014/main" id="{7940F5DE-F7FA-0FE4-A104-131A69C3E13B}"/>
              </a:ext>
            </a:extLst>
          </p:cNvPr>
          <p:cNvSpPr txBox="1"/>
          <p:nvPr/>
        </p:nvSpPr>
        <p:spPr>
          <a:xfrm>
            <a:off x="2723711" y="3041588"/>
            <a:ext cx="5376112" cy="646331"/>
          </a:xfrm>
          <a:prstGeom prst="rect">
            <a:avLst/>
          </a:prstGeom>
          <a:noFill/>
        </p:spPr>
        <p:txBody>
          <a:bodyPr wrap="square" rtlCol="0">
            <a:spAutoFit/>
          </a:bodyPr>
          <a:lstStyle/>
          <a:p>
            <a:pPr algn="ctr"/>
            <a:r>
              <a:rPr lang="fr-FR" b="1" err="1">
                <a:latin typeface="Aptos" panose="020B0004020202020204" pitchFamily="34" charset="0"/>
              </a:rPr>
              <a:t>Skills</a:t>
            </a:r>
            <a:r>
              <a:rPr lang="fr-FR" b="1">
                <a:latin typeface="Aptos" panose="020B0004020202020204" pitchFamily="34" charset="0"/>
              </a:rPr>
              <a:t>, culture and </a:t>
            </a:r>
            <a:r>
              <a:rPr lang="fr-FR" b="1" err="1">
                <a:latin typeface="Aptos" panose="020B0004020202020204" pitchFamily="34" charset="0"/>
              </a:rPr>
              <a:t>precision</a:t>
            </a:r>
            <a:r>
              <a:rPr lang="fr-FR" b="1">
                <a:latin typeface="Aptos" panose="020B0004020202020204" pitchFamily="34" charset="0"/>
              </a:rPr>
              <a:t> </a:t>
            </a:r>
            <a:r>
              <a:rPr lang="fr-FR" b="1" err="1">
                <a:latin typeface="Aptos" panose="020B0004020202020204" pitchFamily="34" charset="0"/>
              </a:rPr>
              <a:t>that</a:t>
            </a:r>
            <a:r>
              <a:rPr lang="fr-FR" b="1">
                <a:latin typeface="Aptos" panose="020B0004020202020204" pitchFamily="34" charset="0"/>
              </a:rPr>
              <a:t> </a:t>
            </a:r>
            <a:r>
              <a:rPr lang="fr-FR" b="1" err="1">
                <a:latin typeface="Aptos" panose="020B0004020202020204" pitchFamily="34" charset="0"/>
              </a:rPr>
              <a:t>defines</a:t>
            </a:r>
            <a:r>
              <a:rPr lang="fr-FR" b="1">
                <a:latin typeface="Aptos" panose="020B0004020202020204" pitchFamily="34" charset="0"/>
              </a:rPr>
              <a:t> « The Art of Performance »</a:t>
            </a:r>
          </a:p>
        </p:txBody>
      </p:sp>
      <p:graphicFrame>
        <p:nvGraphicFramePr>
          <p:cNvPr id="33" name="Tableau 32">
            <a:extLst>
              <a:ext uri="{FF2B5EF4-FFF2-40B4-BE49-F238E27FC236}">
                <a16:creationId xmlns:a16="http://schemas.microsoft.com/office/drawing/2014/main" id="{5B5DC347-45AD-F5C2-C0BC-41E72D6FC691}"/>
              </a:ext>
            </a:extLst>
          </p:cNvPr>
          <p:cNvGraphicFramePr>
            <a:graphicFrameLocks noGrp="1"/>
          </p:cNvGraphicFramePr>
          <p:nvPr>
            <p:extLst>
              <p:ext uri="{D42A27DB-BD31-4B8C-83A1-F6EECF244321}">
                <p14:modId xmlns:p14="http://schemas.microsoft.com/office/powerpoint/2010/main" val="3272680968"/>
              </p:ext>
            </p:extLst>
          </p:nvPr>
        </p:nvGraphicFramePr>
        <p:xfrm>
          <a:off x="4258320" y="7556726"/>
          <a:ext cx="11587458" cy="2033934"/>
        </p:xfrm>
        <a:graphic>
          <a:graphicData uri="http://schemas.openxmlformats.org/drawingml/2006/table">
            <a:tbl>
              <a:tblPr firstRow="1" bandRow="1">
                <a:tableStyleId>{D27102A9-8310-4765-A935-A1911B00CA55}</a:tableStyleId>
              </a:tblPr>
              <a:tblGrid>
                <a:gridCol w="3862486">
                  <a:extLst>
                    <a:ext uri="{9D8B030D-6E8A-4147-A177-3AD203B41FA5}">
                      <a16:colId xmlns:a16="http://schemas.microsoft.com/office/drawing/2014/main" val="4166451466"/>
                    </a:ext>
                  </a:extLst>
                </a:gridCol>
                <a:gridCol w="3862486">
                  <a:extLst>
                    <a:ext uri="{9D8B030D-6E8A-4147-A177-3AD203B41FA5}">
                      <a16:colId xmlns:a16="http://schemas.microsoft.com/office/drawing/2014/main" val="3073793373"/>
                    </a:ext>
                  </a:extLst>
                </a:gridCol>
                <a:gridCol w="3862486">
                  <a:extLst>
                    <a:ext uri="{9D8B030D-6E8A-4147-A177-3AD203B41FA5}">
                      <a16:colId xmlns:a16="http://schemas.microsoft.com/office/drawing/2014/main" val="2661735360"/>
                    </a:ext>
                  </a:extLst>
                </a:gridCol>
              </a:tblGrid>
              <a:tr h="406787">
                <a:tc>
                  <a:txBody>
                    <a:bodyPr/>
                    <a:lstStyle/>
                    <a:p>
                      <a:r>
                        <a:rPr lang="fr-FR" err="1"/>
                        <a:t>Metric</a:t>
                      </a:r>
                      <a:endParaRPr lang="fr-FR"/>
                    </a:p>
                  </a:txBody>
                  <a:tcPr/>
                </a:tc>
                <a:tc>
                  <a:txBody>
                    <a:bodyPr/>
                    <a:lstStyle/>
                    <a:p>
                      <a:r>
                        <a:rPr lang="fr-FR"/>
                        <a:t>2025</a:t>
                      </a:r>
                    </a:p>
                  </a:txBody>
                  <a:tcPr/>
                </a:tc>
                <a:tc>
                  <a:txBody>
                    <a:bodyPr/>
                    <a:lstStyle/>
                    <a:p>
                      <a:r>
                        <a:rPr lang="fr-FR"/>
                        <a:t>2030</a:t>
                      </a:r>
                    </a:p>
                  </a:txBody>
                  <a:tcPr/>
                </a:tc>
                <a:extLst>
                  <a:ext uri="{0D108BD9-81ED-4DB2-BD59-A6C34878D82A}">
                    <a16:rowId xmlns:a16="http://schemas.microsoft.com/office/drawing/2014/main" val="3151176589"/>
                  </a:ext>
                </a:extLst>
              </a:tr>
              <a:tr h="406786">
                <a:tc>
                  <a:txBody>
                    <a:bodyPr/>
                    <a:lstStyle/>
                    <a:p>
                      <a:pPr lvl="0">
                        <a:buNone/>
                      </a:pPr>
                      <a:endParaRPr lang="fr-FR"/>
                    </a:p>
                  </a:txBody>
                  <a:tcPr/>
                </a:tc>
                <a:tc>
                  <a:txBody>
                    <a:bodyPr/>
                    <a:lstStyle/>
                    <a:p>
                      <a:pPr lvl="0">
                        <a:buNone/>
                      </a:pPr>
                      <a:endParaRPr lang="fr-FR"/>
                    </a:p>
                  </a:txBody>
                  <a:tcPr/>
                </a:tc>
                <a:tc>
                  <a:txBody>
                    <a:bodyPr/>
                    <a:lstStyle/>
                    <a:p>
                      <a:pPr lvl="0">
                        <a:buNone/>
                      </a:pPr>
                      <a:endParaRPr lang="fr-FR"/>
                    </a:p>
                  </a:txBody>
                  <a:tcPr/>
                </a:tc>
                <a:extLst>
                  <a:ext uri="{0D108BD9-81ED-4DB2-BD59-A6C34878D82A}">
                    <a16:rowId xmlns:a16="http://schemas.microsoft.com/office/drawing/2014/main" val="1980032581"/>
                  </a:ext>
                </a:extLst>
              </a:tr>
              <a:tr h="406787">
                <a:tc>
                  <a:txBody>
                    <a:bodyPr/>
                    <a:lstStyle/>
                    <a:p>
                      <a:r>
                        <a:rPr lang="fr-FR"/>
                        <a:t>Share of EV sales </a:t>
                      </a:r>
                    </a:p>
                  </a:txBody>
                  <a:tcPr/>
                </a:tc>
                <a:tc>
                  <a:txBody>
                    <a:bodyPr/>
                    <a:lstStyle/>
                    <a:p>
                      <a:r>
                        <a:rPr lang="fr-FR"/>
                        <a:t>20%</a:t>
                      </a:r>
                    </a:p>
                  </a:txBody>
                  <a:tcPr/>
                </a:tc>
                <a:tc>
                  <a:txBody>
                    <a:bodyPr/>
                    <a:lstStyle/>
                    <a:p>
                      <a:r>
                        <a:rPr lang="fr-FR"/>
                        <a:t>75%</a:t>
                      </a:r>
                    </a:p>
                  </a:txBody>
                  <a:tcPr/>
                </a:tc>
                <a:extLst>
                  <a:ext uri="{0D108BD9-81ED-4DB2-BD59-A6C34878D82A}">
                    <a16:rowId xmlns:a16="http://schemas.microsoft.com/office/drawing/2014/main" val="2069413379"/>
                  </a:ext>
                </a:extLst>
              </a:tr>
              <a:tr h="406787">
                <a:tc>
                  <a:txBody>
                    <a:bodyPr/>
                    <a:lstStyle/>
                    <a:p>
                      <a:r>
                        <a:rPr lang="fr-FR" err="1"/>
                        <a:t>Average</a:t>
                      </a:r>
                      <a:r>
                        <a:rPr lang="fr-FR"/>
                        <a:t> transaction </a:t>
                      </a:r>
                      <a:r>
                        <a:rPr lang="fr-FR" err="1"/>
                        <a:t>price</a:t>
                      </a:r>
                      <a:r>
                        <a:rPr lang="fr-FR"/>
                        <a:t> </a:t>
                      </a:r>
                    </a:p>
                  </a:txBody>
                  <a:tcPr/>
                </a:tc>
                <a:tc>
                  <a:txBody>
                    <a:bodyPr/>
                    <a:lstStyle/>
                    <a:p>
                      <a:r>
                        <a:rPr lang="fr-FR"/>
                        <a:t>$85K</a:t>
                      </a:r>
                    </a:p>
                  </a:txBody>
                  <a:tcPr/>
                </a:tc>
                <a:tc>
                  <a:txBody>
                    <a:bodyPr/>
                    <a:lstStyle/>
                    <a:p>
                      <a:r>
                        <a:rPr lang="fr-FR"/>
                        <a:t>$130K</a:t>
                      </a:r>
                    </a:p>
                  </a:txBody>
                  <a:tcPr/>
                </a:tc>
                <a:extLst>
                  <a:ext uri="{0D108BD9-81ED-4DB2-BD59-A6C34878D82A}">
                    <a16:rowId xmlns:a16="http://schemas.microsoft.com/office/drawing/2014/main" val="2797485317"/>
                  </a:ext>
                </a:extLst>
              </a:tr>
              <a:tr h="406787">
                <a:tc>
                  <a:txBody>
                    <a:bodyPr/>
                    <a:lstStyle/>
                    <a:p>
                      <a:r>
                        <a:rPr lang="fr-FR"/>
                        <a:t>New-</a:t>
                      </a:r>
                      <a:r>
                        <a:rPr lang="fr-FR" err="1"/>
                        <a:t>customer</a:t>
                      </a:r>
                      <a:r>
                        <a:rPr lang="fr-FR"/>
                        <a:t> </a:t>
                      </a:r>
                      <a:r>
                        <a:rPr lang="fr-FR" err="1"/>
                        <a:t>share</a:t>
                      </a:r>
                      <a:endParaRPr lang="fr-FR"/>
                    </a:p>
                  </a:txBody>
                  <a:tcPr/>
                </a:tc>
                <a:tc>
                  <a:txBody>
                    <a:bodyPr/>
                    <a:lstStyle/>
                    <a:p>
                      <a:r>
                        <a:rPr lang="fr-FR"/>
                        <a:t>15%</a:t>
                      </a:r>
                    </a:p>
                  </a:txBody>
                  <a:tcPr/>
                </a:tc>
                <a:tc>
                  <a:txBody>
                    <a:bodyPr/>
                    <a:lstStyle/>
                    <a:p>
                      <a:r>
                        <a:rPr lang="fr-FR"/>
                        <a:t>45-50%</a:t>
                      </a:r>
                    </a:p>
                  </a:txBody>
                  <a:tcPr/>
                </a:tc>
                <a:extLst>
                  <a:ext uri="{0D108BD9-81ED-4DB2-BD59-A6C34878D82A}">
                    <a16:rowId xmlns:a16="http://schemas.microsoft.com/office/drawing/2014/main" val="1256966964"/>
                  </a:ext>
                </a:extLst>
              </a:tr>
            </a:tbl>
          </a:graphicData>
        </a:graphic>
      </p:graphicFrame>
    </p:spTree>
    <p:extLst>
      <p:ext uri="{BB962C8B-B14F-4D97-AF65-F5344CB8AC3E}">
        <p14:creationId xmlns:p14="http://schemas.microsoft.com/office/powerpoint/2010/main" val="11234069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1837F-96AB-4EB7-32CC-C052DAF3C5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502152-60FD-9463-8961-9B4D8744B7B4}"/>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3" name="object 3">
            <a:extLst>
              <a:ext uri="{FF2B5EF4-FFF2-40B4-BE49-F238E27FC236}">
                <a16:creationId xmlns:a16="http://schemas.microsoft.com/office/drawing/2014/main" id="{18086D58-F364-BE26-562F-01EE509C1C8D}"/>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4" name="object 2">
            <a:extLst>
              <a:ext uri="{FF2B5EF4-FFF2-40B4-BE49-F238E27FC236}">
                <a16:creationId xmlns:a16="http://schemas.microsoft.com/office/drawing/2014/main" id="{8957ED05-56E0-CA92-C6C7-85C704E33FD9}"/>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29" name="object 4">
            <a:extLst>
              <a:ext uri="{FF2B5EF4-FFF2-40B4-BE49-F238E27FC236}">
                <a16:creationId xmlns:a16="http://schemas.microsoft.com/office/drawing/2014/main" id="{A55D6C03-858B-0C31-E95B-7969394AB3EA}"/>
              </a:ext>
            </a:extLst>
          </p:cNvPr>
          <p:cNvPicPr/>
          <p:nvPr/>
        </p:nvPicPr>
        <p:blipFill>
          <a:blip r:embed="rId3" cstate="print"/>
          <a:stretch>
            <a:fillRect/>
          </a:stretch>
        </p:blipFill>
        <p:spPr>
          <a:xfrm>
            <a:off x="17726790" y="399568"/>
            <a:ext cx="1233889" cy="263866"/>
          </a:xfrm>
          <a:prstGeom prst="rect">
            <a:avLst/>
          </a:prstGeom>
        </p:spPr>
      </p:pic>
      <p:sp>
        <p:nvSpPr>
          <p:cNvPr id="7" name="ZoneTexte 6">
            <a:extLst>
              <a:ext uri="{FF2B5EF4-FFF2-40B4-BE49-F238E27FC236}">
                <a16:creationId xmlns:a16="http://schemas.microsoft.com/office/drawing/2014/main" id="{8BDB50A9-E87A-7725-23EB-6390E283B007}"/>
              </a:ext>
            </a:extLst>
          </p:cNvPr>
          <p:cNvSpPr txBox="1"/>
          <p:nvPr/>
        </p:nvSpPr>
        <p:spPr>
          <a:xfrm>
            <a:off x="18607032" y="10463721"/>
            <a:ext cx="6940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62626"/>
                </a:solidFill>
                <a:latin typeface="Microsoft Sans Serif"/>
                <a:ea typeface="Microsoft Sans Serif"/>
                <a:cs typeface="Microsoft Sans Serif"/>
              </a:rPr>
              <a:t>13</a:t>
            </a:r>
            <a:endParaRPr lang="fr-FR"/>
          </a:p>
          <a:p>
            <a:pPr algn="ctr"/>
            <a:endParaRPr lang="fr-FR"/>
          </a:p>
        </p:txBody>
      </p:sp>
      <p:sp>
        <p:nvSpPr>
          <p:cNvPr id="12" name="object 7">
            <a:extLst>
              <a:ext uri="{FF2B5EF4-FFF2-40B4-BE49-F238E27FC236}">
                <a16:creationId xmlns:a16="http://schemas.microsoft.com/office/drawing/2014/main" id="{F87CDD59-4F83-6515-A024-F6699F8DB141}"/>
              </a:ext>
            </a:extLst>
          </p:cNvPr>
          <p:cNvSpPr txBox="1"/>
          <p:nvPr/>
        </p:nvSpPr>
        <p:spPr>
          <a:xfrm>
            <a:off x="1086441" y="1020199"/>
            <a:ext cx="18302081" cy="441146"/>
          </a:xfrm>
          <a:prstGeom prst="rect">
            <a:avLst/>
          </a:prstGeom>
        </p:spPr>
        <p:txBody>
          <a:bodyPr vert="horz" wrap="square" lIns="0" tIns="10160" rIns="0" bIns="0" rtlCol="0" anchor="t">
            <a:spAutoFit/>
          </a:bodyPr>
          <a:lstStyle/>
          <a:p>
            <a:pPr>
              <a:spcAft>
                <a:spcPts val="600"/>
              </a:spcAft>
            </a:pPr>
            <a:r>
              <a:rPr lang="en-GB" sz="2800" b="1"/>
              <a:t>Objective 2 : </a:t>
            </a:r>
            <a:r>
              <a:rPr lang="en-GB" sz="2800"/>
              <a:t>Reinforce Jaguar’s </a:t>
            </a:r>
            <a:r>
              <a:rPr lang="en-GB" sz="2800" b="1" u="sng"/>
              <a:t>performance </a:t>
            </a:r>
            <a:r>
              <a:rPr lang="en-GB" sz="2800"/>
              <a:t>DNA, emotional and sporty, while accelerating portfolio renewal </a:t>
            </a:r>
          </a:p>
        </p:txBody>
      </p:sp>
      <p:sp>
        <p:nvSpPr>
          <p:cNvPr id="14" name="object 6">
            <a:extLst>
              <a:ext uri="{FF2B5EF4-FFF2-40B4-BE49-F238E27FC236}">
                <a16:creationId xmlns:a16="http://schemas.microsoft.com/office/drawing/2014/main" id="{750D5AEA-0139-467F-16DB-C2BCCF55EF82}"/>
              </a:ext>
            </a:extLst>
          </p:cNvPr>
          <p:cNvSpPr txBox="1">
            <a:spLocks noGrp="1"/>
          </p:cNvSpPr>
          <p:nvPr>
            <p:ph type="title"/>
          </p:nvPr>
        </p:nvSpPr>
        <p:spPr>
          <a:xfrm>
            <a:off x="1081756" y="128032"/>
            <a:ext cx="13044466" cy="773930"/>
          </a:xfrm>
          <a:prstGeom prst="rect">
            <a:avLst/>
          </a:prstGeom>
        </p:spPr>
        <p:txBody>
          <a:bodyPr vert="horz" wrap="square" lIns="0" tIns="12065" rIns="0" bIns="0" rtlCol="0" anchor="t">
            <a:spAutoFit/>
          </a:bodyPr>
          <a:lstStyle/>
          <a:p>
            <a:pPr marL="12700">
              <a:lnSpc>
                <a:spcPct val="100000"/>
              </a:lnSpc>
              <a:spcBef>
                <a:spcPts val="95"/>
              </a:spcBef>
            </a:pPr>
            <a:r>
              <a:rPr lang="en-US" spc="-240"/>
              <a:t>The Pyramid of Excellence </a:t>
            </a:r>
            <a:r>
              <a:rPr lang="en-US" sz="2800" spc="-240"/>
              <a:t>(Keller’s model) </a:t>
            </a:r>
            <a:endParaRPr spc="-155"/>
          </a:p>
        </p:txBody>
      </p:sp>
      <p:pic>
        <p:nvPicPr>
          <p:cNvPr id="11" name="object 5" descr="Une image contenant capture d’écran, bleu, Bleu électrique, Caractère coloré&#10;&#10;Le contenu généré par l’IA peut être incorrect.">
            <a:extLst>
              <a:ext uri="{FF2B5EF4-FFF2-40B4-BE49-F238E27FC236}">
                <a16:creationId xmlns:a16="http://schemas.microsoft.com/office/drawing/2014/main" id="{BA919B40-35D5-FBCC-5BD9-B7FAF53D2B97}"/>
              </a:ext>
            </a:extLst>
          </p:cNvPr>
          <p:cNvPicPr/>
          <p:nvPr/>
        </p:nvPicPr>
        <p:blipFill>
          <a:blip r:embed="rId4" cstate="print"/>
          <a:stretch>
            <a:fillRect/>
          </a:stretch>
        </p:blipFill>
        <p:spPr>
          <a:xfrm>
            <a:off x="0" y="1095673"/>
            <a:ext cx="1015257" cy="271405"/>
          </a:xfrm>
          <a:prstGeom prst="rect">
            <a:avLst/>
          </a:prstGeom>
        </p:spPr>
      </p:pic>
      <p:sp>
        <p:nvSpPr>
          <p:cNvPr id="8" name="Isosceles Triangle 7">
            <a:extLst>
              <a:ext uri="{FF2B5EF4-FFF2-40B4-BE49-F238E27FC236}">
                <a16:creationId xmlns:a16="http://schemas.microsoft.com/office/drawing/2014/main" id="{87627178-3B38-DD9F-B9C9-863999AAB195}"/>
              </a:ext>
            </a:extLst>
          </p:cNvPr>
          <p:cNvSpPr/>
          <p:nvPr/>
        </p:nvSpPr>
        <p:spPr>
          <a:xfrm>
            <a:off x="2916059" y="1723843"/>
            <a:ext cx="14271982" cy="8177054"/>
          </a:xfrm>
          <a:prstGeom prst="triangle">
            <a:avLst/>
          </a:prstGeom>
          <a:solidFill>
            <a:srgbClr val="A8C2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8776DFE-7CA6-B239-E80D-6D8A6019F6D7}"/>
              </a:ext>
            </a:extLst>
          </p:cNvPr>
          <p:cNvCxnSpPr>
            <a:cxnSpLocks/>
          </p:cNvCxnSpPr>
          <p:nvPr/>
        </p:nvCxnSpPr>
        <p:spPr>
          <a:xfrm>
            <a:off x="4419600" y="8229600"/>
            <a:ext cx="109968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CF4572-A801-F11D-D872-56EB4BF6910D}"/>
              </a:ext>
            </a:extLst>
          </p:cNvPr>
          <p:cNvCxnSpPr>
            <a:cxnSpLocks/>
            <a:stCxn id="8" idx="1"/>
            <a:endCxn id="8" idx="5"/>
          </p:cNvCxnSpPr>
          <p:nvPr/>
        </p:nvCxnSpPr>
        <p:spPr>
          <a:xfrm>
            <a:off x="6484055" y="5812370"/>
            <a:ext cx="713599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3E1D2D7-6276-485D-97CB-3B8BF8CF010E}"/>
              </a:ext>
            </a:extLst>
          </p:cNvPr>
          <p:cNvCxnSpPr>
            <a:cxnSpLocks/>
          </p:cNvCxnSpPr>
          <p:nvPr/>
        </p:nvCxnSpPr>
        <p:spPr>
          <a:xfrm>
            <a:off x="7780421" y="4392644"/>
            <a:ext cx="452387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5DFE628-4749-27BC-9855-36B561686843}"/>
              </a:ext>
            </a:extLst>
          </p:cNvPr>
          <p:cNvCxnSpPr>
            <a:cxnSpLocks/>
          </p:cNvCxnSpPr>
          <p:nvPr/>
        </p:nvCxnSpPr>
        <p:spPr>
          <a:xfrm>
            <a:off x="10052050" y="4392644"/>
            <a:ext cx="0" cy="38424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ZoneTexte 31">
            <a:extLst>
              <a:ext uri="{FF2B5EF4-FFF2-40B4-BE49-F238E27FC236}">
                <a16:creationId xmlns:a16="http://schemas.microsoft.com/office/drawing/2014/main" id="{A686F515-41F6-758C-356A-61FE80AAE1B8}"/>
              </a:ext>
            </a:extLst>
          </p:cNvPr>
          <p:cNvSpPr txBox="1"/>
          <p:nvPr/>
        </p:nvSpPr>
        <p:spPr>
          <a:xfrm>
            <a:off x="4731878" y="8288034"/>
            <a:ext cx="11186155" cy="830997"/>
          </a:xfrm>
          <a:prstGeom prst="rect">
            <a:avLst/>
          </a:prstGeom>
          <a:noFill/>
        </p:spPr>
        <p:txBody>
          <a:bodyPr wrap="square" rtlCol="0">
            <a:spAutoFit/>
          </a:bodyPr>
          <a:lstStyle/>
          <a:p>
            <a:pPr algn="ctr"/>
            <a:r>
              <a:rPr lang="en-US" sz="2400"/>
              <a:t>From heritage luxury to modern, electrified performance. </a:t>
            </a:r>
          </a:p>
          <a:p>
            <a:pPr algn="ctr"/>
            <a:endParaRPr lang="fr-FR" sz="2400" b="1">
              <a:latin typeface="Aptos" panose="020B0004020202020204" pitchFamily="34" charset="0"/>
            </a:endParaRPr>
          </a:p>
        </p:txBody>
      </p:sp>
      <p:sp>
        <p:nvSpPr>
          <p:cNvPr id="50" name="ZoneTexte 31">
            <a:extLst>
              <a:ext uri="{FF2B5EF4-FFF2-40B4-BE49-F238E27FC236}">
                <a16:creationId xmlns:a16="http://schemas.microsoft.com/office/drawing/2014/main" id="{D5CCEAC9-20F5-8126-EE4F-1C70BB6A630A}"/>
              </a:ext>
            </a:extLst>
          </p:cNvPr>
          <p:cNvSpPr txBox="1"/>
          <p:nvPr/>
        </p:nvSpPr>
        <p:spPr>
          <a:xfrm>
            <a:off x="6139972" y="5887868"/>
            <a:ext cx="3924442" cy="584775"/>
          </a:xfrm>
          <a:prstGeom prst="rect">
            <a:avLst/>
          </a:prstGeom>
          <a:noFill/>
        </p:spPr>
        <p:txBody>
          <a:bodyPr wrap="square" rtlCol="0">
            <a:spAutoFit/>
          </a:bodyPr>
          <a:lstStyle/>
          <a:p>
            <a:pPr algn="ctr"/>
            <a:r>
              <a:rPr lang="en-US" sz="1600"/>
              <a:t>Functional meaning – The technical expression of performance</a:t>
            </a:r>
            <a:endParaRPr lang="fr-FR" sz="1600" b="1">
              <a:latin typeface="Aptos" panose="020B0004020202020204" pitchFamily="34" charset="0"/>
            </a:endParaRPr>
          </a:p>
        </p:txBody>
      </p:sp>
      <p:sp>
        <p:nvSpPr>
          <p:cNvPr id="51" name="ZoneTexte 31">
            <a:extLst>
              <a:ext uri="{FF2B5EF4-FFF2-40B4-BE49-F238E27FC236}">
                <a16:creationId xmlns:a16="http://schemas.microsoft.com/office/drawing/2014/main" id="{C12F7CEF-07E0-A736-E1B1-6DD1D26A765E}"/>
              </a:ext>
            </a:extLst>
          </p:cNvPr>
          <p:cNvSpPr txBox="1"/>
          <p:nvPr/>
        </p:nvSpPr>
        <p:spPr>
          <a:xfrm>
            <a:off x="10170450" y="5889145"/>
            <a:ext cx="3924442" cy="830997"/>
          </a:xfrm>
          <a:prstGeom prst="rect">
            <a:avLst/>
          </a:prstGeom>
          <a:noFill/>
        </p:spPr>
        <p:txBody>
          <a:bodyPr wrap="square" rtlCol="0">
            <a:spAutoFit/>
          </a:bodyPr>
          <a:lstStyle/>
          <a:p>
            <a:pPr algn="ctr"/>
            <a:r>
              <a:rPr lang="en-US" sz="1600"/>
              <a:t>Emotional meaning - Reflect contemporary British craftsmanship and performance lifestyle.</a:t>
            </a:r>
            <a:endParaRPr lang="fr-FR" sz="1600" b="1">
              <a:latin typeface="Aptos" panose="020B0004020202020204" pitchFamily="34" charset="0"/>
            </a:endParaRPr>
          </a:p>
        </p:txBody>
      </p:sp>
      <p:sp>
        <p:nvSpPr>
          <p:cNvPr id="52" name="ZoneTexte 31">
            <a:extLst>
              <a:ext uri="{FF2B5EF4-FFF2-40B4-BE49-F238E27FC236}">
                <a16:creationId xmlns:a16="http://schemas.microsoft.com/office/drawing/2014/main" id="{DA5A2918-5451-0D43-F4A8-62AAECDF6FFE}"/>
              </a:ext>
            </a:extLst>
          </p:cNvPr>
          <p:cNvSpPr txBox="1"/>
          <p:nvPr/>
        </p:nvSpPr>
        <p:spPr>
          <a:xfrm>
            <a:off x="7152104" y="4593650"/>
            <a:ext cx="2735435" cy="923330"/>
          </a:xfrm>
          <a:prstGeom prst="rect">
            <a:avLst/>
          </a:prstGeom>
          <a:noFill/>
        </p:spPr>
        <p:txBody>
          <a:bodyPr wrap="square" rtlCol="0">
            <a:spAutoFit/>
          </a:bodyPr>
          <a:lstStyle/>
          <a:p>
            <a:pPr algn="ctr"/>
            <a:r>
              <a:rPr lang="en-US"/>
              <a:t>True performance reimagined for the electric age </a:t>
            </a:r>
            <a:endParaRPr lang="fr-FR" b="1">
              <a:latin typeface="Aptos" panose="020B0004020202020204" pitchFamily="34" charset="0"/>
            </a:endParaRPr>
          </a:p>
        </p:txBody>
      </p:sp>
      <p:sp>
        <p:nvSpPr>
          <p:cNvPr id="53" name="ZoneTexte 31">
            <a:extLst>
              <a:ext uri="{FF2B5EF4-FFF2-40B4-BE49-F238E27FC236}">
                <a16:creationId xmlns:a16="http://schemas.microsoft.com/office/drawing/2014/main" id="{7BE8AE87-8726-BC19-F3FC-D63B07535B82}"/>
              </a:ext>
            </a:extLst>
          </p:cNvPr>
          <p:cNvSpPr txBox="1"/>
          <p:nvPr/>
        </p:nvSpPr>
        <p:spPr>
          <a:xfrm>
            <a:off x="9887539" y="4582824"/>
            <a:ext cx="3159233" cy="1200329"/>
          </a:xfrm>
          <a:prstGeom prst="rect">
            <a:avLst/>
          </a:prstGeom>
          <a:noFill/>
        </p:spPr>
        <p:txBody>
          <a:bodyPr wrap="square" rtlCol="0">
            <a:spAutoFit/>
          </a:bodyPr>
          <a:lstStyle/>
          <a:p>
            <a:pPr algn="ctr"/>
            <a:r>
              <a:rPr lang="en-US"/>
              <a:t>Inspire deep emotional connection</a:t>
            </a:r>
            <a:r>
              <a:rPr lang="en-US" i="1"/>
              <a:t>, modern relevance without losing authenticity</a:t>
            </a:r>
            <a:endParaRPr lang="fr-FR" b="1">
              <a:latin typeface="Aptos" panose="020B0004020202020204" pitchFamily="34" charset="0"/>
            </a:endParaRPr>
          </a:p>
        </p:txBody>
      </p:sp>
      <p:sp>
        <p:nvSpPr>
          <p:cNvPr id="54" name="ZoneTexte 31">
            <a:extLst>
              <a:ext uri="{FF2B5EF4-FFF2-40B4-BE49-F238E27FC236}">
                <a16:creationId xmlns:a16="http://schemas.microsoft.com/office/drawing/2014/main" id="{FEC6C2E0-47AD-929C-8164-680A0854829F}"/>
              </a:ext>
            </a:extLst>
          </p:cNvPr>
          <p:cNvSpPr txBox="1"/>
          <p:nvPr/>
        </p:nvSpPr>
        <p:spPr>
          <a:xfrm>
            <a:off x="8560440" y="2866450"/>
            <a:ext cx="3007948" cy="1477328"/>
          </a:xfrm>
          <a:prstGeom prst="rect">
            <a:avLst/>
          </a:prstGeom>
          <a:noFill/>
        </p:spPr>
        <p:txBody>
          <a:bodyPr wrap="square" rtlCol="0">
            <a:spAutoFit/>
          </a:bodyPr>
          <a:lstStyle/>
          <a:p>
            <a:pPr algn="ctr"/>
            <a:r>
              <a:rPr lang="en-US"/>
              <a:t>Brand repositioning (sustainable and emotional), community engagement, customer expansion </a:t>
            </a:r>
            <a:endParaRPr lang="fr-FR" b="1">
              <a:latin typeface="Aptos" panose="020B0004020202020204" pitchFamily="34" charset="0"/>
            </a:endParaRPr>
          </a:p>
        </p:txBody>
      </p:sp>
      <p:sp>
        <p:nvSpPr>
          <p:cNvPr id="61" name="ZoneTexte 31">
            <a:extLst>
              <a:ext uri="{FF2B5EF4-FFF2-40B4-BE49-F238E27FC236}">
                <a16:creationId xmlns:a16="http://schemas.microsoft.com/office/drawing/2014/main" id="{3E02F987-F137-810A-2F7E-DF255172E07F}"/>
              </a:ext>
            </a:extLst>
          </p:cNvPr>
          <p:cNvSpPr txBox="1"/>
          <p:nvPr/>
        </p:nvSpPr>
        <p:spPr>
          <a:xfrm>
            <a:off x="5503344" y="6786172"/>
            <a:ext cx="4522246" cy="1384995"/>
          </a:xfrm>
          <a:prstGeom prst="rect">
            <a:avLst/>
          </a:prstGeom>
          <a:noFill/>
        </p:spPr>
        <p:txBody>
          <a:bodyPr wrap="square" rtlCol="0">
            <a:spAutoFit/>
          </a:bodyPr>
          <a:lstStyle/>
          <a:p>
            <a:pPr marL="285750" indent="-285750" algn="l">
              <a:buFont typeface="Arial" panose="020B0604020202020204" pitchFamily="34" charset="0"/>
              <a:buChar char="•"/>
            </a:pPr>
            <a:r>
              <a:rPr lang="en-US" sz="1400" b="1">
                <a:latin typeface="Aptos" panose="020B0004020202020204" pitchFamily="34" charset="0"/>
              </a:rPr>
              <a:t>Lightweighted, agile architecture </a:t>
            </a:r>
            <a:r>
              <a:rPr lang="en-US" sz="1400">
                <a:latin typeface="Aptos" panose="020B0004020202020204" pitchFamily="34" charset="0"/>
              </a:rPr>
              <a:t>from SB expertise</a:t>
            </a:r>
          </a:p>
          <a:p>
            <a:pPr marL="285750" indent="-285750" algn="l">
              <a:buFont typeface="Arial" panose="020B0604020202020204" pitchFamily="34" charset="0"/>
              <a:buChar char="•"/>
            </a:pPr>
            <a:r>
              <a:rPr lang="fr-FR" sz="1400" b="1">
                <a:latin typeface="Aptos" panose="020B0004020202020204" pitchFamily="34" charset="0"/>
              </a:rPr>
              <a:t>Adaptive </a:t>
            </a:r>
            <a:r>
              <a:rPr lang="fr-FR" sz="1400" b="1" err="1">
                <a:latin typeface="Aptos" panose="020B0004020202020204" pitchFamily="34" charset="0"/>
              </a:rPr>
              <a:t>dynamics</a:t>
            </a:r>
            <a:r>
              <a:rPr lang="fr-FR" sz="1400" b="1">
                <a:latin typeface="Aptos" panose="020B0004020202020204" pitchFamily="34" charset="0"/>
              </a:rPr>
              <a:t> &amp; torque </a:t>
            </a:r>
            <a:r>
              <a:rPr lang="fr-FR" sz="1400" b="1" err="1">
                <a:latin typeface="Aptos" panose="020B0004020202020204" pitchFamily="34" charset="0"/>
              </a:rPr>
              <a:t>vectoring</a:t>
            </a:r>
            <a:r>
              <a:rPr lang="fr-FR" sz="1400" b="1">
                <a:latin typeface="Aptos" panose="020B0004020202020204" pitchFamily="34" charset="0"/>
              </a:rPr>
              <a:t> </a:t>
            </a:r>
            <a:r>
              <a:rPr lang="fr-FR" sz="1400" err="1">
                <a:latin typeface="Aptos" panose="020B0004020202020204" pitchFamily="34" charset="0"/>
              </a:rPr>
              <a:t>derived</a:t>
            </a:r>
            <a:r>
              <a:rPr lang="fr-FR" sz="1400">
                <a:latin typeface="Aptos" panose="020B0004020202020204" pitchFamily="34" charset="0"/>
              </a:rPr>
              <a:t> </a:t>
            </a:r>
            <a:r>
              <a:rPr lang="fr-FR" sz="1400" err="1">
                <a:latin typeface="Aptos" panose="020B0004020202020204" pitchFamily="34" charset="0"/>
              </a:rPr>
              <a:t>from</a:t>
            </a:r>
            <a:r>
              <a:rPr lang="fr-FR" sz="1400">
                <a:latin typeface="Aptos" panose="020B0004020202020204" pitchFamily="34" charset="0"/>
              </a:rPr>
              <a:t> </a:t>
            </a:r>
            <a:r>
              <a:rPr lang="fr-FR" sz="1400" err="1">
                <a:latin typeface="Aptos" panose="020B0004020202020204" pitchFamily="34" charset="0"/>
              </a:rPr>
              <a:t>motorsport</a:t>
            </a:r>
            <a:r>
              <a:rPr lang="fr-FR" sz="1400">
                <a:latin typeface="Aptos" panose="020B0004020202020204" pitchFamily="34" charset="0"/>
              </a:rPr>
              <a:t> </a:t>
            </a:r>
            <a:r>
              <a:rPr lang="fr-FR" sz="1400" err="1">
                <a:latin typeface="Aptos" panose="020B0004020202020204" pitchFamily="34" charset="0"/>
              </a:rPr>
              <a:t>technology</a:t>
            </a:r>
            <a:r>
              <a:rPr lang="fr-FR" sz="1400">
                <a:latin typeface="Aptos" panose="020B0004020202020204" pitchFamily="34" charset="0"/>
              </a:rPr>
              <a:t>, </a:t>
            </a:r>
            <a:r>
              <a:rPr lang="fr-FR" sz="1400" err="1">
                <a:latin typeface="Aptos" panose="020B0004020202020204" pitchFamily="34" charset="0"/>
              </a:rPr>
              <a:t>ensuring</a:t>
            </a:r>
            <a:r>
              <a:rPr lang="fr-FR" sz="1400">
                <a:latin typeface="Aptos" panose="020B0004020202020204" pitchFamily="34" charset="0"/>
              </a:rPr>
              <a:t> </a:t>
            </a:r>
            <a:r>
              <a:rPr lang="fr-FR" sz="1400" err="1">
                <a:latin typeface="Aptos" panose="020B0004020202020204" pitchFamily="34" charset="0"/>
              </a:rPr>
              <a:t>precision</a:t>
            </a:r>
            <a:r>
              <a:rPr lang="fr-FR" sz="1400">
                <a:latin typeface="Aptos" panose="020B0004020202020204" pitchFamily="34" charset="0"/>
              </a:rPr>
              <a:t> and control.</a:t>
            </a:r>
          </a:p>
          <a:p>
            <a:pPr marL="285750" indent="-285750" algn="l">
              <a:buFont typeface="Arial" panose="020B0604020202020204" pitchFamily="34" charset="0"/>
              <a:buChar char="•"/>
            </a:pPr>
            <a:r>
              <a:rPr lang="fr-FR" sz="1400" b="1">
                <a:latin typeface="Aptos" panose="020B0004020202020204" pitchFamily="34" charset="0"/>
              </a:rPr>
              <a:t>High performance and </a:t>
            </a:r>
            <a:r>
              <a:rPr lang="fr-FR" sz="1400" b="1" err="1">
                <a:latin typeface="Aptos" panose="020B0004020202020204" pitchFamily="34" charset="0"/>
              </a:rPr>
              <a:t>durability</a:t>
            </a:r>
            <a:r>
              <a:rPr lang="fr-FR" sz="1400" b="1">
                <a:latin typeface="Aptos" panose="020B0004020202020204" pitchFamily="34" charset="0"/>
              </a:rPr>
              <a:t>: </a:t>
            </a:r>
            <a:r>
              <a:rPr lang="fr-FR" sz="1400">
                <a:latin typeface="Aptos" panose="020B0004020202020204" pitchFamily="34" charset="0"/>
              </a:rPr>
              <a:t>Advanced </a:t>
            </a:r>
            <a:r>
              <a:rPr lang="fr-FR" sz="1400" err="1">
                <a:latin typeface="Aptos" panose="020B0004020202020204" pitchFamily="34" charset="0"/>
              </a:rPr>
              <a:t>battery</a:t>
            </a:r>
            <a:r>
              <a:rPr lang="fr-FR" sz="1400">
                <a:latin typeface="Aptos" panose="020B0004020202020204" pitchFamily="34" charset="0"/>
              </a:rPr>
              <a:t> </a:t>
            </a:r>
            <a:r>
              <a:rPr lang="fr-FR" sz="1400" err="1">
                <a:latin typeface="Aptos" panose="020B0004020202020204" pitchFamily="34" charset="0"/>
              </a:rPr>
              <a:t>cooling</a:t>
            </a:r>
            <a:r>
              <a:rPr lang="fr-FR" sz="1400">
                <a:latin typeface="Aptos" panose="020B0004020202020204" pitchFamily="34" charset="0"/>
              </a:rPr>
              <a:t> </a:t>
            </a:r>
            <a:r>
              <a:rPr lang="fr-FR" sz="1400" err="1">
                <a:latin typeface="Aptos" panose="020B0004020202020204" pitchFamily="34" charset="0"/>
              </a:rPr>
              <a:t>systems</a:t>
            </a:r>
            <a:endParaRPr lang="fr-FR">
              <a:latin typeface="Aptos" panose="020B0004020202020204" pitchFamily="34" charset="0"/>
            </a:endParaRPr>
          </a:p>
        </p:txBody>
      </p:sp>
      <p:sp>
        <p:nvSpPr>
          <p:cNvPr id="62" name="ZoneTexte 31">
            <a:extLst>
              <a:ext uri="{FF2B5EF4-FFF2-40B4-BE49-F238E27FC236}">
                <a16:creationId xmlns:a16="http://schemas.microsoft.com/office/drawing/2014/main" id="{77592723-9E51-F895-10B6-00CA62AF44CD}"/>
              </a:ext>
            </a:extLst>
          </p:cNvPr>
          <p:cNvSpPr txBox="1"/>
          <p:nvPr/>
        </p:nvSpPr>
        <p:spPr>
          <a:xfrm>
            <a:off x="10223371" y="6639479"/>
            <a:ext cx="3924442" cy="1600438"/>
          </a:xfrm>
          <a:prstGeom prst="rect">
            <a:avLst/>
          </a:prstGeom>
          <a:noFill/>
        </p:spPr>
        <p:txBody>
          <a:bodyPr wrap="square" rtlCol="0">
            <a:spAutoFit/>
          </a:bodyPr>
          <a:lstStyle/>
          <a:p>
            <a:pPr marL="285750" indent="-285750" algn="l">
              <a:buFont typeface="Arial" panose="020B0604020202020204" pitchFamily="34" charset="0"/>
              <a:buChar char="•"/>
            </a:pPr>
            <a:r>
              <a:rPr lang="en-US" sz="1400" b="1"/>
              <a:t>Emotional Aesthetic: </a:t>
            </a:r>
            <a:r>
              <a:rPr lang="en-US" sz="1400"/>
              <a:t>Quiet power, timeless elegance, and futuristic design.</a:t>
            </a:r>
          </a:p>
          <a:p>
            <a:pPr marL="285750" indent="-285750" algn="l">
              <a:buFont typeface="Arial" panose="020B0604020202020204" pitchFamily="34" charset="0"/>
              <a:buChar char="•"/>
            </a:pPr>
            <a:r>
              <a:rPr lang="en-US" sz="1400" b="1"/>
              <a:t>Exclusivity and personalization: </a:t>
            </a:r>
            <a:r>
              <a:rPr lang="en-US" sz="1400"/>
              <a:t>customizable interiors, collector pieces</a:t>
            </a:r>
          </a:p>
          <a:p>
            <a:pPr marL="285750" indent="-285750">
              <a:buFont typeface="Arial" panose="020B0604020202020204" pitchFamily="34" charset="0"/>
              <a:buChar char="•"/>
            </a:pPr>
            <a:r>
              <a:rPr lang="fr-FR" sz="1400" b="1"/>
              <a:t>Rebranding focus: </a:t>
            </a:r>
            <a:r>
              <a:rPr lang="fr-FR" sz="1400" err="1"/>
              <a:t>attract</a:t>
            </a:r>
            <a:r>
              <a:rPr lang="fr-FR" sz="1400"/>
              <a:t> </a:t>
            </a:r>
            <a:r>
              <a:rPr lang="fr-FR" sz="1400" err="1"/>
              <a:t>younger</a:t>
            </a:r>
            <a:r>
              <a:rPr lang="fr-FR" sz="1400"/>
              <a:t> and </a:t>
            </a:r>
            <a:r>
              <a:rPr lang="fr-FR" sz="1400" err="1"/>
              <a:t>wealthier</a:t>
            </a:r>
            <a:r>
              <a:rPr lang="fr-FR" sz="1400"/>
              <a:t> </a:t>
            </a:r>
            <a:r>
              <a:rPr lang="fr-FR" sz="1400" err="1"/>
              <a:t>buyers</a:t>
            </a:r>
            <a:r>
              <a:rPr lang="fr-FR" sz="1400"/>
              <a:t> </a:t>
            </a:r>
            <a:r>
              <a:rPr lang="fr-FR" sz="1400" err="1"/>
              <a:t>seeking</a:t>
            </a:r>
            <a:r>
              <a:rPr lang="fr-FR" sz="1400"/>
              <a:t> modern </a:t>
            </a:r>
            <a:r>
              <a:rPr lang="fr-FR" sz="1400" err="1"/>
              <a:t>luxury</a:t>
            </a:r>
            <a:r>
              <a:rPr lang="fr-FR" sz="1400"/>
              <a:t>, </a:t>
            </a:r>
            <a:r>
              <a:rPr lang="fr-FR" sz="1400" err="1"/>
              <a:t>sustainability</a:t>
            </a:r>
            <a:r>
              <a:rPr lang="fr-FR" sz="1400"/>
              <a:t>, and </a:t>
            </a:r>
            <a:r>
              <a:rPr lang="fr-FR" sz="1400" err="1"/>
              <a:t>individuality</a:t>
            </a:r>
            <a:endParaRPr lang="fr-FR" sz="1400"/>
          </a:p>
        </p:txBody>
      </p:sp>
      <p:cxnSp>
        <p:nvCxnSpPr>
          <p:cNvPr id="65" name="Straight Connector 64">
            <a:extLst>
              <a:ext uri="{FF2B5EF4-FFF2-40B4-BE49-F238E27FC236}">
                <a16:creationId xmlns:a16="http://schemas.microsoft.com/office/drawing/2014/main" id="{4F0649A2-9B7E-875A-D27A-D436D9C74E7E}"/>
              </a:ext>
            </a:extLst>
          </p:cNvPr>
          <p:cNvCxnSpPr/>
          <p:nvPr/>
        </p:nvCxnSpPr>
        <p:spPr>
          <a:xfrm>
            <a:off x="15918033" y="8229600"/>
            <a:ext cx="1607967" cy="0"/>
          </a:xfrm>
          <a:prstGeom prst="line">
            <a:avLst/>
          </a:prstGeom>
          <a:ln w="38100">
            <a:solidFill>
              <a:schemeClr val="accent1">
                <a:lumMod val="7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67" name="ZoneTexte 31">
            <a:extLst>
              <a:ext uri="{FF2B5EF4-FFF2-40B4-BE49-F238E27FC236}">
                <a16:creationId xmlns:a16="http://schemas.microsoft.com/office/drawing/2014/main" id="{A2E26E76-3281-C858-9254-E67901A6EE7F}"/>
              </a:ext>
            </a:extLst>
          </p:cNvPr>
          <p:cNvSpPr txBox="1"/>
          <p:nvPr/>
        </p:nvSpPr>
        <p:spPr>
          <a:xfrm>
            <a:off x="17185501" y="8023337"/>
            <a:ext cx="2086567" cy="923330"/>
          </a:xfrm>
          <a:prstGeom prst="rect">
            <a:avLst/>
          </a:prstGeom>
          <a:noFill/>
        </p:spPr>
        <p:txBody>
          <a:bodyPr wrap="square" rtlCol="0">
            <a:spAutoFit/>
          </a:bodyPr>
          <a:lstStyle/>
          <a:p>
            <a:pPr algn="ctr"/>
            <a:r>
              <a:rPr lang="en-US" b="1"/>
              <a:t>Identity</a:t>
            </a:r>
            <a:br>
              <a:rPr lang="en-US"/>
            </a:br>
            <a:r>
              <a:rPr lang="en-US"/>
              <a:t>Who are you?</a:t>
            </a:r>
            <a:br>
              <a:rPr lang="en-US"/>
            </a:br>
            <a:endParaRPr lang="fr-FR" b="1">
              <a:latin typeface="Aptos" panose="020B0004020202020204" pitchFamily="34" charset="0"/>
            </a:endParaRPr>
          </a:p>
        </p:txBody>
      </p:sp>
      <p:cxnSp>
        <p:nvCxnSpPr>
          <p:cNvPr id="68" name="Straight Connector 67">
            <a:extLst>
              <a:ext uri="{FF2B5EF4-FFF2-40B4-BE49-F238E27FC236}">
                <a16:creationId xmlns:a16="http://schemas.microsoft.com/office/drawing/2014/main" id="{3E777D5D-93F1-8730-F95E-E4648B43256A}"/>
              </a:ext>
            </a:extLst>
          </p:cNvPr>
          <p:cNvCxnSpPr/>
          <p:nvPr/>
        </p:nvCxnSpPr>
        <p:spPr>
          <a:xfrm>
            <a:off x="13890416" y="5812370"/>
            <a:ext cx="1607967" cy="0"/>
          </a:xfrm>
          <a:prstGeom prst="line">
            <a:avLst/>
          </a:prstGeom>
          <a:ln w="38100">
            <a:solidFill>
              <a:schemeClr val="accent1">
                <a:lumMod val="7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69" name="ZoneTexte 31">
            <a:extLst>
              <a:ext uri="{FF2B5EF4-FFF2-40B4-BE49-F238E27FC236}">
                <a16:creationId xmlns:a16="http://schemas.microsoft.com/office/drawing/2014/main" id="{DE52B848-EE65-9799-0DE2-5AA0024A9B79}"/>
              </a:ext>
            </a:extLst>
          </p:cNvPr>
          <p:cNvSpPr txBox="1"/>
          <p:nvPr/>
        </p:nvSpPr>
        <p:spPr>
          <a:xfrm>
            <a:off x="15157884" y="5606107"/>
            <a:ext cx="2086567" cy="923330"/>
          </a:xfrm>
          <a:prstGeom prst="rect">
            <a:avLst/>
          </a:prstGeom>
          <a:noFill/>
        </p:spPr>
        <p:txBody>
          <a:bodyPr wrap="square" rtlCol="0">
            <a:spAutoFit/>
          </a:bodyPr>
          <a:lstStyle/>
          <a:p>
            <a:pPr algn="ctr"/>
            <a:r>
              <a:rPr lang="en-US" b="1"/>
              <a:t>Meaning</a:t>
            </a:r>
            <a:br>
              <a:rPr lang="en-US"/>
            </a:br>
            <a:r>
              <a:rPr lang="en-US"/>
              <a:t>What are you?</a:t>
            </a:r>
            <a:br>
              <a:rPr lang="en-US"/>
            </a:br>
            <a:endParaRPr lang="fr-FR" b="1">
              <a:latin typeface="Aptos" panose="020B0004020202020204" pitchFamily="34" charset="0"/>
            </a:endParaRPr>
          </a:p>
        </p:txBody>
      </p:sp>
      <p:cxnSp>
        <p:nvCxnSpPr>
          <p:cNvPr id="72" name="Straight Connector 71">
            <a:extLst>
              <a:ext uri="{FF2B5EF4-FFF2-40B4-BE49-F238E27FC236}">
                <a16:creationId xmlns:a16="http://schemas.microsoft.com/office/drawing/2014/main" id="{124D2AFB-A382-345B-1EEA-3603BDF792C6}"/>
              </a:ext>
            </a:extLst>
          </p:cNvPr>
          <p:cNvCxnSpPr/>
          <p:nvPr/>
        </p:nvCxnSpPr>
        <p:spPr>
          <a:xfrm>
            <a:off x="12518255" y="4397641"/>
            <a:ext cx="1607967" cy="0"/>
          </a:xfrm>
          <a:prstGeom prst="line">
            <a:avLst/>
          </a:prstGeom>
          <a:ln w="38100">
            <a:solidFill>
              <a:schemeClr val="accent1">
                <a:lumMod val="7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73" name="ZoneTexte 31">
            <a:extLst>
              <a:ext uri="{FF2B5EF4-FFF2-40B4-BE49-F238E27FC236}">
                <a16:creationId xmlns:a16="http://schemas.microsoft.com/office/drawing/2014/main" id="{7923C401-6AAC-D5DE-927C-AF5A468F9A27}"/>
              </a:ext>
            </a:extLst>
          </p:cNvPr>
          <p:cNvSpPr txBox="1"/>
          <p:nvPr/>
        </p:nvSpPr>
        <p:spPr>
          <a:xfrm>
            <a:off x="12199702" y="2091378"/>
            <a:ext cx="2086567" cy="923330"/>
          </a:xfrm>
          <a:prstGeom prst="rect">
            <a:avLst/>
          </a:prstGeom>
          <a:noFill/>
        </p:spPr>
        <p:txBody>
          <a:bodyPr wrap="square" rtlCol="0">
            <a:spAutoFit/>
          </a:bodyPr>
          <a:lstStyle/>
          <a:p>
            <a:pPr algn="ctr"/>
            <a:r>
              <a:rPr lang="en-US" b="1"/>
              <a:t>Relationship</a:t>
            </a:r>
            <a:br>
              <a:rPr lang="en-US" b="1"/>
            </a:br>
            <a:r>
              <a:rPr lang="en-US"/>
              <a:t>What about you and me?</a:t>
            </a:r>
            <a:endParaRPr lang="fr-FR">
              <a:latin typeface="Aptos" panose="020B0004020202020204" pitchFamily="34" charset="0"/>
            </a:endParaRPr>
          </a:p>
        </p:txBody>
      </p:sp>
      <p:sp>
        <p:nvSpPr>
          <p:cNvPr id="74" name="ZoneTexte 31">
            <a:extLst>
              <a:ext uri="{FF2B5EF4-FFF2-40B4-BE49-F238E27FC236}">
                <a16:creationId xmlns:a16="http://schemas.microsoft.com/office/drawing/2014/main" id="{414D8006-02C4-AF9B-E886-DE111D1ED345}"/>
              </a:ext>
            </a:extLst>
          </p:cNvPr>
          <p:cNvSpPr txBox="1"/>
          <p:nvPr/>
        </p:nvSpPr>
        <p:spPr>
          <a:xfrm>
            <a:off x="13938123" y="4343778"/>
            <a:ext cx="2086567" cy="923330"/>
          </a:xfrm>
          <a:prstGeom prst="rect">
            <a:avLst/>
          </a:prstGeom>
          <a:noFill/>
        </p:spPr>
        <p:txBody>
          <a:bodyPr wrap="square" rtlCol="0">
            <a:spAutoFit/>
          </a:bodyPr>
          <a:lstStyle/>
          <a:p>
            <a:pPr algn="ctr"/>
            <a:r>
              <a:rPr lang="en-US" b="1"/>
              <a:t>Response</a:t>
            </a:r>
            <a:br>
              <a:rPr lang="en-US"/>
            </a:br>
            <a:r>
              <a:rPr lang="en-US"/>
              <a:t>What about you?</a:t>
            </a:r>
            <a:br>
              <a:rPr lang="en-US"/>
            </a:br>
            <a:endParaRPr lang="fr-FR" b="1">
              <a:latin typeface="Aptos" panose="020B0004020202020204" pitchFamily="34" charset="0"/>
            </a:endParaRPr>
          </a:p>
        </p:txBody>
      </p:sp>
      <p:cxnSp>
        <p:nvCxnSpPr>
          <p:cNvPr id="75" name="Straight Connector 74">
            <a:extLst>
              <a:ext uri="{FF2B5EF4-FFF2-40B4-BE49-F238E27FC236}">
                <a16:creationId xmlns:a16="http://schemas.microsoft.com/office/drawing/2014/main" id="{B25659BA-2AB1-DECF-5918-DC10D50F9857}"/>
              </a:ext>
            </a:extLst>
          </p:cNvPr>
          <p:cNvCxnSpPr/>
          <p:nvPr/>
        </p:nvCxnSpPr>
        <p:spPr>
          <a:xfrm>
            <a:off x="10696328" y="2272483"/>
            <a:ext cx="1607967" cy="0"/>
          </a:xfrm>
          <a:prstGeom prst="line">
            <a:avLst/>
          </a:prstGeom>
          <a:ln w="38100">
            <a:solidFill>
              <a:schemeClr val="accent1">
                <a:lumMod val="7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6" name="ZoneTexte 31">
            <a:extLst>
              <a:ext uri="{FF2B5EF4-FFF2-40B4-BE49-F238E27FC236}">
                <a16:creationId xmlns:a16="http://schemas.microsoft.com/office/drawing/2014/main" id="{CE056049-72B8-278D-91E0-B194D49AA898}"/>
              </a:ext>
            </a:extLst>
          </p:cNvPr>
          <p:cNvSpPr txBox="1"/>
          <p:nvPr/>
        </p:nvSpPr>
        <p:spPr>
          <a:xfrm>
            <a:off x="5898903" y="8751255"/>
            <a:ext cx="10188110" cy="738664"/>
          </a:xfrm>
          <a:prstGeom prst="rect">
            <a:avLst/>
          </a:prstGeom>
          <a:noFill/>
        </p:spPr>
        <p:txBody>
          <a:bodyPr wrap="square" rtlCol="0">
            <a:spAutoFit/>
          </a:bodyPr>
          <a:lstStyle/>
          <a:p>
            <a:pPr marL="285750" indent="-285750">
              <a:buFont typeface="Arial" panose="020B0604020202020204" pitchFamily="34" charset="0"/>
              <a:buChar char="•"/>
            </a:pPr>
            <a:r>
              <a:rPr lang="en-GB" sz="1400"/>
              <a:t>SB expertise in </a:t>
            </a:r>
            <a:r>
              <a:rPr lang="fr-FR" sz="1400" err="1"/>
              <a:t>bespoke</a:t>
            </a:r>
            <a:r>
              <a:rPr lang="fr-FR" sz="1400"/>
              <a:t> </a:t>
            </a:r>
            <a:r>
              <a:rPr lang="fr-FR" sz="1400" err="1"/>
              <a:t>craftsmanship</a:t>
            </a:r>
            <a:r>
              <a:rPr lang="fr-FR" sz="1400"/>
              <a:t>, </a:t>
            </a:r>
            <a:r>
              <a:rPr lang="fr-FR" sz="1400" err="1"/>
              <a:t>defining</a:t>
            </a:r>
            <a:r>
              <a:rPr lang="fr-FR" sz="1400"/>
              <a:t> the « art of performance » of Jaguar </a:t>
            </a:r>
          </a:p>
          <a:p>
            <a:pPr marL="285750" indent="-285750" algn="l">
              <a:buFont typeface="Arial" panose="020B0604020202020204" pitchFamily="34" charset="0"/>
              <a:buChar char="•"/>
            </a:pPr>
            <a:r>
              <a:rPr lang="en-US" sz="1400"/>
              <a:t>Transitioning to a modern, sustainable luxury identity (transition to EVs : </a:t>
            </a:r>
            <a:r>
              <a:rPr lang="en-GB" sz="1400"/>
              <a:t>3 fully electric models in 2026)</a:t>
            </a:r>
            <a:endParaRPr lang="en-US" sz="1400"/>
          </a:p>
          <a:p>
            <a:pPr marL="285750" indent="-285750" algn="l">
              <a:buFont typeface="Arial" panose="020B0604020202020204" pitchFamily="34" charset="0"/>
              <a:buChar char="•"/>
            </a:pPr>
            <a:r>
              <a:rPr lang="en-US" sz="1400"/>
              <a:t>Clear positioning: British design and emotional aesthetic</a:t>
            </a:r>
          </a:p>
        </p:txBody>
      </p:sp>
    </p:spTree>
    <p:extLst>
      <p:ext uri="{BB962C8B-B14F-4D97-AF65-F5344CB8AC3E}">
        <p14:creationId xmlns:p14="http://schemas.microsoft.com/office/powerpoint/2010/main" val="17708233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EC8A9-744E-3CFE-BF4E-DA02C7EC607E}"/>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C9A74E0D-03A0-9716-E5C0-840C1A91873E}"/>
              </a:ext>
            </a:extLst>
          </p:cNvPr>
          <p:cNvSpPr/>
          <p:nvPr/>
        </p:nvSpPr>
        <p:spPr>
          <a:xfrm>
            <a:off x="10823" y="-7924"/>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pic>
        <p:nvPicPr>
          <p:cNvPr id="6" name="Image 5" descr="Une image contenant symbole, noir et blanc&#10;&#10;Le contenu généré par l’IA peut être incorrect.">
            <a:extLst>
              <a:ext uri="{FF2B5EF4-FFF2-40B4-BE49-F238E27FC236}">
                <a16:creationId xmlns:a16="http://schemas.microsoft.com/office/drawing/2014/main" id="{A0FBD708-03E1-F072-F2D5-82E3EF27B26A}"/>
              </a:ext>
            </a:extLst>
          </p:cNvPr>
          <p:cNvPicPr>
            <a:picLocks noChangeAspect="1"/>
          </p:cNvPicPr>
          <p:nvPr/>
        </p:nvPicPr>
        <p:blipFill>
          <a:blip r:embed="rId2"/>
          <a:stretch>
            <a:fillRect/>
          </a:stretch>
        </p:blipFill>
        <p:spPr>
          <a:xfrm>
            <a:off x="4875478" y="2189776"/>
            <a:ext cx="10350750" cy="6913308"/>
          </a:xfrm>
          <a:prstGeom prst="rect">
            <a:avLst/>
          </a:prstGeom>
        </p:spPr>
      </p:pic>
      <p:sp>
        <p:nvSpPr>
          <p:cNvPr id="2" name="Title 1">
            <a:extLst>
              <a:ext uri="{FF2B5EF4-FFF2-40B4-BE49-F238E27FC236}">
                <a16:creationId xmlns:a16="http://schemas.microsoft.com/office/drawing/2014/main" id="{EB6908FF-1C8F-8F18-FEC8-10D9F4BF1406}"/>
              </a:ext>
            </a:extLst>
          </p:cNvPr>
          <p:cNvSpPr>
            <a:spLocks noGrp="1"/>
          </p:cNvSpPr>
          <p:nvPr>
            <p:ph type="title"/>
          </p:nvPr>
        </p:nvSpPr>
        <p:spPr>
          <a:xfrm>
            <a:off x="2650038" y="5266593"/>
            <a:ext cx="14804390" cy="761747"/>
          </a:xfrm>
        </p:spPr>
        <p:txBody>
          <a:bodyPr wrap="square" lIns="0" tIns="0" rIns="0" bIns="0" anchor="t">
            <a:spAutoFit/>
          </a:bodyPr>
          <a:lstStyle/>
          <a:p>
            <a:pPr algn="ctr"/>
            <a:r>
              <a:rPr lang="en-US" b="1">
                <a:solidFill>
                  <a:schemeClr val="accent4"/>
                </a:solidFill>
              </a:rPr>
              <a:t>THANK YOU!</a:t>
            </a:r>
            <a:r>
              <a:rPr lang="en-US"/>
              <a:t> </a:t>
            </a:r>
          </a:p>
        </p:txBody>
      </p:sp>
      <p:pic>
        <p:nvPicPr>
          <p:cNvPr id="8" name="object 4" descr="Une image contenant Police, Graphique, noir, graphisme&#10;&#10;Le contenu généré par l’IA peut être incorrect.">
            <a:extLst>
              <a:ext uri="{FF2B5EF4-FFF2-40B4-BE49-F238E27FC236}">
                <a16:creationId xmlns:a16="http://schemas.microsoft.com/office/drawing/2014/main" id="{AE1545E6-6AE5-2553-8CE3-D14990C4E2B5}"/>
              </a:ext>
            </a:extLst>
          </p:cNvPr>
          <p:cNvPicPr/>
          <p:nvPr/>
        </p:nvPicPr>
        <p:blipFill>
          <a:blip r:embed="rId3" cstate="print"/>
          <a:stretch>
            <a:fillRect/>
          </a:stretch>
        </p:blipFill>
        <p:spPr>
          <a:xfrm>
            <a:off x="17726790" y="399568"/>
            <a:ext cx="1233889" cy="263866"/>
          </a:xfrm>
          <a:prstGeom prst="rect">
            <a:avLst/>
          </a:prstGeom>
        </p:spPr>
      </p:pic>
      <p:sp>
        <p:nvSpPr>
          <p:cNvPr id="4" name="object 2">
            <a:extLst>
              <a:ext uri="{FF2B5EF4-FFF2-40B4-BE49-F238E27FC236}">
                <a16:creationId xmlns:a16="http://schemas.microsoft.com/office/drawing/2014/main" id="{24C65115-3428-62AB-082B-3E93A169EA5B}"/>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9" name="object 2">
            <a:extLst>
              <a:ext uri="{FF2B5EF4-FFF2-40B4-BE49-F238E27FC236}">
                <a16:creationId xmlns:a16="http://schemas.microsoft.com/office/drawing/2014/main" id="{5D96921A-C259-94C9-704E-EC7CF14091F9}"/>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37E88C54-E797-8FFA-1BAD-6EC95E1A37B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13" name="ZoneTexte 12">
            <a:extLst>
              <a:ext uri="{FF2B5EF4-FFF2-40B4-BE49-F238E27FC236}">
                <a16:creationId xmlns:a16="http://schemas.microsoft.com/office/drawing/2014/main" id="{D00AEA6C-D8A3-A78C-273A-51755A46F56C}"/>
              </a:ext>
            </a:extLst>
          </p:cNvPr>
          <p:cNvSpPr txBox="1"/>
          <p:nvPr/>
        </p:nvSpPr>
        <p:spPr>
          <a:xfrm>
            <a:off x="18607032" y="10557746"/>
            <a:ext cx="6940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62626"/>
                </a:solidFill>
                <a:latin typeface="Microsoft Sans Serif"/>
                <a:ea typeface="Microsoft Sans Serif"/>
                <a:cs typeface="Microsoft Sans Serif"/>
              </a:rPr>
              <a:t>15</a:t>
            </a:r>
            <a:endParaRPr lang="fr-FR"/>
          </a:p>
          <a:p>
            <a:pPr algn="ctr"/>
            <a:endParaRPr lang="fr-FR"/>
          </a:p>
        </p:txBody>
      </p:sp>
    </p:spTree>
    <p:extLst>
      <p:ext uri="{BB962C8B-B14F-4D97-AF65-F5344CB8AC3E}">
        <p14:creationId xmlns:p14="http://schemas.microsoft.com/office/powerpoint/2010/main" val="149920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42FE2-F745-D135-F4FA-0F77FAC9654D}"/>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84161B12-F7F5-91F9-F884-69FBBF346907}"/>
              </a:ext>
            </a:extLst>
          </p:cNvPr>
          <p:cNvSpPr txBox="1"/>
          <p:nvPr/>
        </p:nvSpPr>
        <p:spPr>
          <a:xfrm>
            <a:off x="3186480" y="675503"/>
            <a:ext cx="13720009" cy="646331"/>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3600" b="1"/>
              <a:t>Jaguar Land Rover journey: from ford ownership to Tata’s early success</a:t>
            </a:r>
          </a:p>
        </p:txBody>
      </p:sp>
      <p:sp>
        <p:nvSpPr>
          <p:cNvPr id="7" name="ZoneTexte 6">
            <a:extLst>
              <a:ext uri="{FF2B5EF4-FFF2-40B4-BE49-F238E27FC236}">
                <a16:creationId xmlns:a16="http://schemas.microsoft.com/office/drawing/2014/main" id="{295EBF2A-042B-770D-A5BA-C99EED7DC368}"/>
              </a:ext>
            </a:extLst>
          </p:cNvPr>
          <p:cNvSpPr txBox="1"/>
          <p:nvPr/>
        </p:nvSpPr>
        <p:spPr>
          <a:xfrm>
            <a:off x="7574502" y="10456088"/>
            <a:ext cx="4537085" cy="1096006"/>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spcBef>
                <a:spcPct val="0"/>
              </a:spcBef>
            </a:pPr>
            <a:r>
              <a:rPr lang="en-US" sz="1300" spc="118">
                <a:latin typeface="Aptos"/>
                <a:ea typeface="Aptos"/>
                <a:cs typeface="Aptos"/>
                <a:sym typeface="Aptos"/>
              </a:rPr>
              <a:t>Source: </a:t>
            </a:r>
            <a:r>
              <a:rPr lang="en-US" sz="1300" spc="118">
                <a:latin typeface="Aptos"/>
                <a:ea typeface="Aptos"/>
                <a:cs typeface="Aptos"/>
                <a:sym typeface="Aptos"/>
                <a:hlinkClick r:id="rId2">
                  <a:extLst>
                    <a:ext uri="{A12FA001-AC4F-418D-AE19-62706E023703}">
                      <ahyp:hlinkClr xmlns:ahyp="http://schemas.microsoft.com/office/drawing/2018/hyperlinkcolor" val="tx"/>
                    </a:ext>
                  </a:extLst>
                </a:hlinkClick>
              </a:rPr>
              <a:t>Jaguar Land Rover Press Release, 2008</a:t>
            </a:r>
            <a:endParaRPr lang="en-US" sz="1300" spc="118">
              <a:latin typeface="Aptos"/>
              <a:ea typeface="Aptos"/>
              <a:cs typeface="Aptos"/>
            </a:endParaRPr>
          </a:p>
          <a:p>
            <a:pPr algn="ctr">
              <a:spcBef>
                <a:spcPct val="0"/>
              </a:spcBef>
            </a:pPr>
            <a:r>
              <a:rPr lang="en-US" sz="1300" spc="131">
                <a:latin typeface="Aptos"/>
                <a:ea typeface="Aptos"/>
                <a:cs typeface="Aptos"/>
                <a:sym typeface="Aptos"/>
                <a:hlinkClick r:id="rId3">
                  <a:extLst>
                    <a:ext uri="{A12FA001-AC4F-418D-AE19-62706E023703}">
                      <ahyp:hlinkClr xmlns:ahyp="http://schemas.microsoft.com/office/drawing/2018/hyperlinkcolor" val="tx"/>
                    </a:ext>
                  </a:extLst>
                </a:hlinkClick>
              </a:rPr>
              <a:t>Ford sells Jaguar &amp; Land Rover, 2008</a:t>
            </a:r>
            <a:endParaRPr lang="en-US" sz="1300" spc="131">
              <a:latin typeface="Aptos"/>
              <a:ea typeface="Aptos"/>
              <a:cs typeface="Aptos"/>
              <a:hlinkClick r:id="rId4">
                <a:extLst>
                  <a:ext uri="{A12FA001-AC4F-418D-AE19-62706E023703}">
                    <ahyp:hlinkClr xmlns:ahyp="http://schemas.microsoft.com/office/drawing/2018/hyperlinkcolor" val="tx"/>
                  </a:ext>
                </a:extLst>
              </a:hlinkClick>
            </a:endParaRPr>
          </a:p>
          <a:p>
            <a:pPr algn="ctr">
              <a:spcBef>
                <a:spcPct val="0"/>
              </a:spcBef>
            </a:pPr>
            <a:r>
              <a:rPr lang="en-US" sz="1300" spc="131">
                <a:latin typeface="Aptos"/>
                <a:ea typeface="Aptos"/>
                <a:cs typeface="Aptos"/>
                <a:sym typeface="Aptos"/>
                <a:hlinkClick r:id="rId4">
                  <a:extLst>
                    <a:ext uri="{A12FA001-AC4F-418D-AE19-62706E023703}">
                      <ahyp:hlinkClr xmlns:ahyp="http://schemas.microsoft.com/office/drawing/2018/hyperlinkcolor" val="tx"/>
                    </a:ext>
                  </a:extLst>
                </a:hlinkClick>
              </a:rPr>
              <a:t>(Eurofound, 2008)</a:t>
            </a:r>
            <a:endParaRPr lang="en-US" sz="1300" spc="131">
              <a:latin typeface="Aptos"/>
              <a:ea typeface="Aptos"/>
              <a:cs typeface="Aptos"/>
            </a:endParaRPr>
          </a:p>
          <a:p>
            <a:pPr algn="ctr">
              <a:lnSpc>
                <a:spcPts val="1370"/>
              </a:lnSpc>
              <a:spcBef>
                <a:spcPct val="0"/>
              </a:spcBef>
            </a:pPr>
            <a:endParaRPr lang="en-US" sz="1759" spc="118">
              <a:solidFill>
                <a:srgbClr val="EBE2D6"/>
              </a:solidFill>
              <a:latin typeface="Calibri"/>
              <a:ea typeface="Aptos"/>
              <a:cs typeface="Aptos"/>
            </a:endParaRPr>
          </a:p>
          <a:p>
            <a:pPr algn="ctr">
              <a:lnSpc>
                <a:spcPts val="1370"/>
              </a:lnSpc>
              <a:spcBef>
                <a:spcPct val="0"/>
              </a:spcBef>
            </a:pPr>
            <a:endParaRPr lang="en-US" sz="2638" spc="118">
              <a:solidFill>
                <a:srgbClr val="EBE2D6"/>
              </a:solidFill>
              <a:ea typeface="Aptos"/>
              <a:cs typeface="Aptos"/>
            </a:endParaRPr>
          </a:p>
        </p:txBody>
      </p:sp>
      <p:sp>
        <p:nvSpPr>
          <p:cNvPr id="6" name="Ellipse 5">
            <a:extLst>
              <a:ext uri="{FF2B5EF4-FFF2-40B4-BE49-F238E27FC236}">
                <a16:creationId xmlns:a16="http://schemas.microsoft.com/office/drawing/2014/main" id="{E9218A3C-F427-4964-A024-502A31898FFA}"/>
              </a:ext>
            </a:extLst>
          </p:cNvPr>
          <p:cNvSpPr/>
          <p:nvPr/>
        </p:nvSpPr>
        <p:spPr>
          <a:xfrm>
            <a:off x="2671416" y="2918302"/>
            <a:ext cx="2429245" cy="217794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endParaRPr lang="en-US" sz="2176"/>
          </a:p>
        </p:txBody>
      </p:sp>
      <p:pic>
        <p:nvPicPr>
          <p:cNvPr id="9" name="Image 8" descr="Une image contenant Police, symbole, logo, Graphique&#10;&#10;Le contenu généré par l’IA peut être incorrect.">
            <a:extLst>
              <a:ext uri="{FF2B5EF4-FFF2-40B4-BE49-F238E27FC236}">
                <a16:creationId xmlns:a16="http://schemas.microsoft.com/office/drawing/2014/main" id="{F94767BE-2D11-E806-5456-6C2679C390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15406" y="3398461"/>
            <a:ext cx="3141266" cy="1214623"/>
          </a:xfrm>
          <a:prstGeom prst="rect">
            <a:avLst/>
          </a:prstGeom>
        </p:spPr>
      </p:pic>
      <p:sp>
        <p:nvSpPr>
          <p:cNvPr id="11" name="Ellipse 10">
            <a:extLst>
              <a:ext uri="{FF2B5EF4-FFF2-40B4-BE49-F238E27FC236}">
                <a16:creationId xmlns:a16="http://schemas.microsoft.com/office/drawing/2014/main" id="{9217CAD9-B282-0621-85BE-AF9F83677423}"/>
              </a:ext>
            </a:extLst>
          </p:cNvPr>
          <p:cNvSpPr/>
          <p:nvPr/>
        </p:nvSpPr>
        <p:spPr>
          <a:xfrm>
            <a:off x="8628010" y="2899143"/>
            <a:ext cx="2429245" cy="217794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endParaRPr lang="en-US" sz="2176"/>
          </a:p>
        </p:txBody>
      </p:sp>
      <p:pic>
        <p:nvPicPr>
          <p:cNvPr id="13" name="Image 12" descr="Une image contenant symbole, silhouette&#10;&#10;Le contenu généré par l’IA peut être incorrect.">
            <a:extLst>
              <a:ext uri="{FF2B5EF4-FFF2-40B4-BE49-F238E27FC236}">
                <a16:creationId xmlns:a16="http://schemas.microsoft.com/office/drawing/2014/main" id="{A3942620-D0E5-4976-8966-1D39DF9FD255}"/>
              </a:ext>
            </a:extLst>
          </p:cNvPr>
          <p:cNvPicPr>
            <a:picLocks noChangeAspect="1"/>
          </p:cNvPicPr>
          <p:nvPr/>
        </p:nvPicPr>
        <p:blipFill>
          <a:blip r:embed="rId6">
            <a:extLst>
              <a:ext uri="{28A0092B-C50C-407E-A947-70E740481C1C}">
                <a14:useLocalDpi xmlns:a14="http://schemas.microsoft.com/office/drawing/2010/main" val="0"/>
              </a:ext>
            </a:extLst>
          </a:blip>
          <a:srcRect l="10986" t="15854" r="10986"/>
          <a:stretch>
            <a:fillRect/>
          </a:stretch>
        </p:blipFill>
        <p:spPr>
          <a:xfrm>
            <a:off x="8628010" y="3295213"/>
            <a:ext cx="2429245" cy="1444982"/>
          </a:xfrm>
          <a:prstGeom prst="rect">
            <a:avLst/>
          </a:prstGeom>
        </p:spPr>
      </p:pic>
      <p:sp>
        <p:nvSpPr>
          <p:cNvPr id="14" name="Ellipse 13">
            <a:extLst>
              <a:ext uri="{FF2B5EF4-FFF2-40B4-BE49-F238E27FC236}">
                <a16:creationId xmlns:a16="http://schemas.microsoft.com/office/drawing/2014/main" id="{4AD8B5EB-F28E-F37E-5A0D-731AFAE58C6A}"/>
              </a:ext>
            </a:extLst>
          </p:cNvPr>
          <p:cNvSpPr/>
          <p:nvPr/>
        </p:nvSpPr>
        <p:spPr>
          <a:xfrm>
            <a:off x="14209437" y="2821573"/>
            <a:ext cx="2429245" cy="2177944"/>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endParaRPr lang="en-US" sz="2176"/>
          </a:p>
        </p:txBody>
      </p:sp>
      <p:cxnSp>
        <p:nvCxnSpPr>
          <p:cNvPr id="16" name="Connecteur droit 15">
            <a:extLst>
              <a:ext uri="{FF2B5EF4-FFF2-40B4-BE49-F238E27FC236}">
                <a16:creationId xmlns:a16="http://schemas.microsoft.com/office/drawing/2014/main" id="{4F538F7D-DDA8-26C1-73A7-A3CDF48353F9}"/>
              </a:ext>
            </a:extLst>
          </p:cNvPr>
          <p:cNvCxnSpPr>
            <a:cxnSpLocks/>
            <a:stCxn id="9" idx="3"/>
          </p:cNvCxnSpPr>
          <p:nvPr/>
        </p:nvCxnSpPr>
        <p:spPr>
          <a:xfrm>
            <a:off x="5456671" y="4005773"/>
            <a:ext cx="31713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9D9FE79-3408-2456-28C1-D97D6E552675}"/>
              </a:ext>
            </a:extLst>
          </p:cNvPr>
          <p:cNvCxnSpPr>
            <a:cxnSpLocks/>
          </p:cNvCxnSpPr>
          <p:nvPr/>
        </p:nvCxnSpPr>
        <p:spPr>
          <a:xfrm>
            <a:off x="11057255" y="4008708"/>
            <a:ext cx="3171338"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33877D20-894D-F061-6BD4-51F12EB91A39}"/>
              </a:ext>
            </a:extLst>
          </p:cNvPr>
          <p:cNvSpPr txBox="1"/>
          <p:nvPr/>
        </p:nvSpPr>
        <p:spPr>
          <a:xfrm>
            <a:off x="2144589" y="5655725"/>
            <a:ext cx="3482899" cy="2808226"/>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r>
              <a:rPr lang="en-US" sz="1759" b="1"/>
              <a:t>Ford Era (1990-2008)</a:t>
            </a:r>
          </a:p>
          <a:p>
            <a:r>
              <a:rPr lang="en-US" sz="1759"/>
              <a:t>Ford owns Jaguar and Land Rover under the Premier Automotive Group.</a:t>
            </a:r>
            <a:br>
              <a:rPr lang="en-US" sz="1759"/>
            </a:br>
            <a:endParaRPr lang="en-US" sz="1759"/>
          </a:p>
          <a:p>
            <a:r>
              <a:rPr lang="en-US" sz="1759" b="1"/>
              <a:t>Limited success </a:t>
            </a:r>
            <a:r>
              <a:rPr lang="en-US" sz="1759"/>
              <a:t>due to brand overlap and lack of clear direction.</a:t>
            </a:r>
          </a:p>
          <a:p>
            <a:endParaRPr lang="en-US" sz="1759"/>
          </a:p>
          <a:p>
            <a:r>
              <a:rPr lang="en-US" sz="1759" b="1"/>
              <a:t>Financial crisis </a:t>
            </a:r>
            <a:r>
              <a:rPr lang="en-US" sz="1759"/>
              <a:t>pushes Ford to sell premium assets.</a:t>
            </a:r>
          </a:p>
        </p:txBody>
      </p:sp>
      <p:sp>
        <p:nvSpPr>
          <p:cNvPr id="26" name="ZoneTexte 25">
            <a:extLst>
              <a:ext uri="{FF2B5EF4-FFF2-40B4-BE49-F238E27FC236}">
                <a16:creationId xmlns:a16="http://schemas.microsoft.com/office/drawing/2014/main" id="{38909EB9-B61E-5918-92F7-DFA4A7403424}"/>
              </a:ext>
            </a:extLst>
          </p:cNvPr>
          <p:cNvSpPr txBox="1"/>
          <p:nvPr/>
        </p:nvSpPr>
        <p:spPr>
          <a:xfrm>
            <a:off x="7798190" y="5655697"/>
            <a:ext cx="4507718" cy="4161588"/>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r>
              <a:rPr lang="en-US" sz="1759" b="1"/>
              <a:t>TATA ACQUISITION</a:t>
            </a:r>
            <a:endParaRPr lang="en-US" sz="1759"/>
          </a:p>
          <a:p>
            <a:r>
              <a:rPr lang="en-US" sz="1759"/>
              <a:t>Deal: Tata Motors acquired Jaguar &amp; Land Rover from Ford for $2.3B (Ford added ~$600M to pension funds).</a:t>
            </a:r>
          </a:p>
          <a:p>
            <a:endParaRPr lang="en-US" sz="1759"/>
          </a:p>
          <a:p>
            <a:r>
              <a:rPr lang="en-US" sz="1759"/>
              <a:t>Why Tata:</a:t>
            </a:r>
          </a:p>
          <a:p>
            <a:pPr marL="314125" indent="-314125">
              <a:buFont typeface="Arial" panose="020B0604020202020204" pitchFamily="34" charset="0"/>
              <a:buChar char="•"/>
            </a:pPr>
            <a:r>
              <a:rPr lang="en-US" sz="1759"/>
              <a:t>﻿﻿Quick entry into global luxury market with strong British brands.</a:t>
            </a:r>
          </a:p>
          <a:p>
            <a:pPr marL="314125" indent="-314125">
              <a:buFont typeface="Arial" panose="020B0604020202020204" pitchFamily="34" charset="0"/>
              <a:buChar char="•"/>
            </a:pPr>
            <a:r>
              <a:rPr lang="en-US" sz="1759"/>
              <a:t>﻿﻿Diversification beyond India's domestic segment.</a:t>
            </a:r>
          </a:p>
          <a:p>
            <a:pPr marL="314125" indent="-314125">
              <a:buFont typeface="Arial" panose="020B0604020202020204" pitchFamily="34" charset="0"/>
              <a:buChar char="•"/>
            </a:pPr>
            <a:r>
              <a:rPr lang="en-US" sz="1759"/>
              <a:t>﻿﻿Access to advanced design and R&amp;D capabilities.</a:t>
            </a:r>
          </a:p>
          <a:p>
            <a:pPr marL="314125" indent="-314125">
              <a:buFont typeface="Arial" panose="020B0604020202020204" pitchFamily="34" charset="0"/>
              <a:buChar char="•"/>
            </a:pPr>
            <a:r>
              <a:rPr lang="en-US" sz="1759"/>
              <a:t>﻿﻿Opportunity to buy at crisis-level pricing.</a:t>
            </a:r>
          </a:p>
          <a:p>
            <a:pPr marL="314125" indent="-314125">
              <a:buFont typeface="Arial" panose="020B0604020202020204" pitchFamily="34" charset="0"/>
              <a:buChar char="•"/>
            </a:pPr>
            <a:r>
              <a:rPr lang="en-US" sz="1759"/>
              <a:t>﻿﻿Commitment to preserve British heritage and autonomy.</a:t>
            </a:r>
          </a:p>
        </p:txBody>
      </p:sp>
      <p:sp>
        <p:nvSpPr>
          <p:cNvPr id="30" name="ZoneTexte 29">
            <a:extLst>
              <a:ext uri="{FF2B5EF4-FFF2-40B4-BE49-F238E27FC236}">
                <a16:creationId xmlns:a16="http://schemas.microsoft.com/office/drawing/2014/main" id="{239E6E08-DDD1-1AC1-55EF-ED493C6FBF1D}"/>
              </a:ext>
            </a:extLst>
          </p:cNvPr>
          <p:cNvSpPr txBox="1"/>
          <p:nvPr/>
        </p:nvSpPr>
        <p:spPr>
          <a:xfrm>
            <a:off x="13529096" y="5654276"/>
            <a:ext cx="3828240" cy="3078899"/>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r>
              <a:rPr lang="en-US" sz="1759" b="1"/>
              <a:t>EARLY BOOM</a:t>
            </a:r>
          </a:p>
          <a:p>
            <a:r>
              <a:rPr lang="en-US" sz="1759"/>
              <a:t>New models: Range Rover Evoque, Jaguar F-Type → strong global demand.</a:t>
            </a:r>
          </a:p>
          <a:p>
            <a:endParaRPr lang="en-US" sz="1759"/>
          </a:p>
          <a:p>
            <a:r>
              <a:rPr lang="en-US" sz="1759" b="1"/>
              <a:t>Autonomy</a:t>
            </a:r>
            <a:r>
              <a:rPr lang="en-US" sz="1759"/>
              <a:t> under Tata boosted innovation and brand revival.</a:t>
            </a:r>
          </a:p>
          <a:p>
            <a:endParaRPr lang="en-US" sz="1759"/>
          </a:p>
          <a:p>
            <a:r>
              <a:rPr lang="en-US" sz="1759"/>
              <a:t>Sales </a:t>
            </a:r>
            <a:r>
              <a:rPr lang="en-US" sz="1759" b="1"/>
              <a:t>tripled</a:t>
            </a:r>
            <a:r>
              <a:rPr lang="en-US" sz="1759"/>
              <a:t> between 2009-2015, led by China growth.</a:t>
            </a:r>
          </a:p>
          <a:p>
            <a:r>
              <a:rPr lang="en-US" sz="1759"/>
              <a:t>=&gt; JLR became Tata's most profitable unit, restoring global prestige</a:t>
            </a:r>
            <a:r>
              <a:rPr lang="en-US" sz="1759">
                <a:solidFill>
                  <a:srgbClr val="EBE2D6"/>
                </a:solidFill>
              </a:rPr>
              <a:t>.</a:t>
            </a:r>
          </a:p>
        </p:txBody>
      </p:sp>
      <p:pic>
        <p:nvPicPr>
          <p:cNvPr id="34" name="Graphique 33" descr="Étoile avec un remplissage uni">
            <a:extLst>
              <a:ext uri="{FF2B5EF4-FFF2-40B4-BE49-F238E27FC236}">
                <a16:creationId xmlns:a16="http://schemas.microsoft.com/office/drawing/2014/main" id="{57435794-7C3B-729A-22BE-0B689482DB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940613" y="3407942"/>
            <a:ext cx="1005205" cy="1005205"/>
          </a:xfrm>
          <a:prstGeom prst="rect">
            <a:avLst/>
          </a:prstGeom>
        </p:spPr>
      </p:pic>
      <p:sp>
        <p:nvSpPr>
          <p:cNvPr id="35" name="ZoneTexte 34">
            <a:extLst>
              <a:ext uri="{FF2B5EF4-FFF2-40B4-BE49-F238E27FC236}">
                <a16:creationId xmlns:a16="http://schemas.microsoft.com/office/drawing/2014/main" id="{22CC8D97-F857-A32D-C322-EDE8B97F54BC}"/>
              </a:ext>
            </a:extLst>
          </p:cNvPr>
          <p:cNvSpPr txBox="1"/>
          <p:nvPr/>
        </p:nvSpPr>
        <p:spPr>
          <a:xfrm>
            <a:off x="3378492" y="2062256"/>
            <a:ext cx="1022423" cy="507511"/>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2638" b="1"/>
              <a:t>1990s</a:t>
            </a:r>
          </a:p>
        </p:txBody>
      </p:sp>
      <p:sp>
        <p:nvSpPr>
          <p:cNvPr id="36" name="ZoneTexte 35">
            <a:extLst>
              <a:ext uri="{FF2B5EF4-FFF2-40B4-BE49-F238E27FC236}">
                <a16:creationId xmlns:a16="http://schemas.microsoft.com/office/drawing/2014/main" id="{3BB7156F-B044-2C40-28CF-D45A11911F15}"/>
              </a:ext>
            </a:extLst>
          </p:cNvPr>
          <p:cNvSpPr txBox="1"/>
          <p:nvPr/>
        </p:nvSpPr>
        <p:spPr>
          <a:xfrm>
            <a:off x="9406342" y="2033803"/>
            <a:ext cx="886734" cy="507511"/>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2638" b="1"/>
              <a:t>2008</a:t>
            </a:r>
          </a:p>
        </p:txBody>
      </p:sp>
      <p:sp>
        <p:nvSpPr>
          <p:cNvPr id="37" name="ZoneTexte 36">
            <a:extLst>
              <a:ext uri="{FF2B5EF4-FFF2-40B4-BE49-F238E27FC236}">
                <a16:creationId xmlns:a16="http://schemas.microsoft.com/office/drawing/2014/main" id="{F6FE5946-B095-6D04-3F89-6B4DDF130C34}"/>
              </a:ext>
            </a:extLst>
          </p:cNvPr>
          <p:cNvSpPr txBox="1"/>
          <p:nvPr/>
        </p:nvSpPr>
        <p:spPr>
          <a:xfrm>
            <a:off x="14530224" y="2062825"/>
            <a:ext cx="1825982" cy="507511"/>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2638" b="1"/>
              <a:t>2009 - 2015</a:t>
            </a:r>
          </a:p>
        </p:txBody>
      </p:sp>
      <p:sp>
        <p:nvSpPr>
          <p:cNvPr id="3" name="object 2">
            <a:extLst>
              <a:ext uri="{FF2B5EF4-FFF2-40B4-BE49-F238E27FC236}">
                <a16:creationId xmlns:a16="http://schemas.microsoft.com/office/drawing/2014/main" id="{0459F52C-5C3A-D8FE-AA14-59A8A3B3572D}"/>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8" name="object 2">
            <a:extLst>
              <a:ext uri="{FF2B5EF4-FFF2-40B4-BE49-F238E27FC236}">
                <a16:creationId xmlns:a16="http://schemas.microsoft.com/office/drawing/2014/main" id="{C94920D3-D07C-92DE-1AB0-D5A0D1B2659D}"/>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2" name="object 3">
            <a:extLst>
              <a:ext uri="{FF2B5EF4-FFF2-40B4-BE49-F238E27FC236}">
                <a16:creationId xmlns:a16="http://schemas.microsoft.com/office/drawing/2014/main" id="{E2920A5D-1741-9319-7129-5FC5DE7A30C7}"/>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7" name="object 5">
            <a:extLst>
              <a:ext uri="{FF2B5EF4-FFF2-40B4-BE49-F238E27FC236}">
                <a16:creationId xmlns:a16="http://schemas.microsoft.com/office/drawing/2014/main" id="{E34D3E70-DFF1-A404-68C2-17ED79A41991}"/>
              </a:ext>
            </a:extLst>
          </p:cNvPr>
          <p:cNvPicPr/>
          <p:nvPr/>
        </p:nvPicPr>
        <p:blipFill>
          <a:blip r:embed="rId8" cstate="print"/>
          <a:stretch>
            <a:fillRect/>
          </a:stretch>
        </p:blipFill>
        <p:spPr>
          <a:xfrm>
            <a:off x="0" y="816769"/>
            <a:ext cx="2456577" cy="262104"/>
          </a:xfrm>
          <a:prstGeom prst="rect">
            <a:avLst/>
          </a:prstGeom>
        </p:spPr>
      </p:pic>
      <p:pic>
        <p:nvPicPr>
          <p:cNvPr id="15" name="object 4" descr="Une image contenant Police, Graphique, noir, graphisme&#10;&#10;Le contenu généré par l’IA peut être incorrect.">
            <a:extLst>
              <a:ext uri="{FF2B5EF4-FFF2-40B4-BE49-F238E27FC236}">
                <a16:creationId xmlns:a16="http://schemas.microsoft.com/office/drawing/2014/main" id="{65924907-97A3-00B8-F703-AD0F3EB63211}"/>
              </a:ext>
            </a:extLst>
          </p:cNvPr>
          <p:cNvPicPr/>
          <p:nvPr/>
        </p:nvPicPr>
        <p:blipFill>
          <a:blip r:embed="rId9" cstate="print"/>
          <a:stretch>
            <a:fillRect/>
          </a:stretch>
        </p:blipFill>
        <p:spPr>
          <a:xfrm>
            <a:off x="17726790" y="399568"/>
            <a:ext cx="1233889" cy="263866"/>
          </a:xfrm>
          <a:prstGeom prst="rect">
            <a:avLst/>
          </a:prstGeom>
        </p:spPr>
      </p:pic>
    </p:spTree>
    <p:extLst>
      <p:ext uri="{BB962C8B-B14F-4D97-AF65-F5344CB8AC3E}">
        <p14:creationId xmlns:p14="http://schemas.microsoft.com/office/powerpoint/2010/main" val="6165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C98FD5-EA0C-F99D-D0F3-C0B0E2087A43}"/>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6A922D8-88BE-9023-FE6E-D54271F8E9BA}"/>
              </a:ext>
            </a:extLst>
          </p:cNvPr>
          <p:cNvSpPr txBox="1"/>
          <p:nvPr/>
        </p:nvSpPr>
        <p:spPr>
          <a:xfrm>
            <a:off x="1068692" y="2226957"/>
            <a:ext cx="4290942" cy="1928540"/>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5936" b="1"/>
              <a:t>DECLINE OF JAGUAR</a:t>
            </a:r>
          </a:p>
        </p:txBody>
      </p:sp>
      <p:pic>
        <p:nvPicPr>
          <p:cNvPr id="8" name="Image 7" descr="Une image contenant texte, capture d’écran, Police&#10;&#10;Le contenu généré par l’IA peut être incorrect.">
            <a:extLst>
              <a:ext uri="{FF2B5EF4-FFF2-40B4-BE49-F238E27FC236}">
                <a16:creationId xmlns:a16="http://schemas.microsoft.com/office/drawing/2014/main" id="{1803F57B-98A2-326C-8073-AEC32AFC8E50}"/>
              </a:ext>
            </a:extLst>
          </p:cNvPr>
          <p:cNvPicPr>
            <a:picLocks noChangeAspect="1"/>
          </p:cNvPicPr>
          <p:nvPr/>
        </p:nvPicPr>
        <p:blipFill>
          <a:blip r:embed="rId2">
            <a:extLst>
              <a:ext uri="{28A0092B-C50C-407E-A947-70E740481C1C}">
                <a14:useLocalDpi xmlns:a14="http://schemas.microsoft.com/office/drawing/2010/main" val="0"/>
              </a:ext>
            </a:extLst>
          </a:blip>
          <a:srcRect t="12077"/>
          <a:stretch>
            <a:fillRect/>
          </a:stretch>
        </p:blipFill>
        <p:spPr>
          <a:xfrm>
            <a:off x="9235925" y="1592556"/>
            <a:ext cx="9441481" cy="5601616"/>
          </a:xfrm>
          <a:prstGeom prst="rect">
            <a:avLst/>
          </a:prstGeom>
        </p:spPr>
      </p:pic>
      <p:sp>
        <p:nvSpPr>
          <p:cNvPr id="9" name="ZoneTexte 8">
            <a:extLst>
              <a:ext uri="{FF2B5EF4-FFF2-40B4-BE49-F238E27FC236}">
                <a16:creationId xmlns:a16="http://schemas.microsoft.com/office/drawing/2014/main" id="{73701F0E-D4A1-74E2-3226-76E8399A7D70}"/>
              </a:ext>
            </a:extLst>
          </p:cNvPr>
          <p:cNvSpPr txBox="1"/>
          <p:nvPr/>
        </p:nvSpPr>
        <p:spPr>
          <a:xfrm>
            <a:off x="1075411" y="4135947"/>
            <a:ext cx="7426193" cy="507511"/>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2638">
                <a:hlinkClick r:id="rId3">
                  <a:extLst>
                    <a:ext uri="{A12FA001-AC4F-418D-AE19-62706E023703}">
                      <ahyp:hlinkClr xmlns:ahyp="http://schemas.microsoft.com/office/drawing/2018/hyperlinkcolor" val="tx"/>
                    </a:ext>
                  </a:extLst>
                </a:hlinkClick>
              </a:rPr>
              <a:t>Tata Motors Press Release – Q1 FY25 (July 8, 2024</a:t>
            </a:r>
            <a:r>
              <a:rPr lang="en-US" sz="2638"/>
              <a:t>)</a:t>
            </a:r>
          </a:p>
        </p:txBody>
      </p:sp>
      <p:sp>
        <p:nvSpPr>
          <p:cNvPr id="10" name="ZoneTexte 9">
            <a:extLst>
              <a:ext uri="{FF2B5EF4-FFF2-40B4-BE49-F238E27FC236}">
                <a16:creationId xmlns:a16="http://schemas.microsoft.com/office/drawing/2014/main" id="{9A3A960E-C47B-F4E6-C01C-442C86C474D2}"/>
              </a:ext>
            </a:extLst>
          </p:cNvPr>
          <p:cNvSpPr txBox="1"/>
          <p:nvPr/>
        </p:nvSpPr>
        <p:spPr>
          <a:xfrm>
            <a:off x="1066340" y="5648405"/>
            <a:ext cx="7405254" cy="2131545"/>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just">
              <a:buNone/>
            </a:pPr>
            <a:r>
              <a:rPr lang="en-US" sz="2199" b="1"/>
              <a:t>Tata Motors Group’s total global wholesales: 329,847 units</a:t>
            </a:r>
          </a:p>
          <a:p>
            <a:pPr algn="just">
              <a:buNone/>
            </a:pPr>
            <a:r>
              <a:rPr lang="en-US" sz="2199" b="1"/>
              <a:t>Jaguar Land Rover (JLR) sales: 97,755 units</a:t>
            </a:r>
            <a:r>
              <a:rPr lang="en-US" sz="2199"/>
              <a:t> in total, of which:</a:t>
            </a:r>
          </a:p>
          <a:p>
            <a:pPr algn="just"/>
            <a:r>
              <a:rPr lang="en-US" sz="2199"/>
              <a:t>8,227 units for Jaguar=&gt; accounts for only </a:t>
            </a:r>
            <a:r>
              <a:rPr lang="en-US" sz="2199" b="1"/>
              <a:t>~8.4%</a:t>
            </a:r>
            <a:r>
              <a:rPr lang="en-US" sz="2199"/>
              <a:t> of JLR’s total sales.</a:t>
            </a:r>
          </a:p>
          <a:p>
            <a:pPr algn="just">
              <a:buNone/>
            </a:pPr>
            <a:r>
              <a:rPr lang="en-US" sz="2199"/>
              <a:t>This confirms that </a:t>
            </a:r>
            <a:r>
              <a:rPr lang="en-US" sz="2199" b="1"/>
              <a:t>Jaguar is the smallest contributor within Tata Motors’ portfolio</a:t>
            </a:r>
            <a:r>
              <a:rPr lang="en-US" sz="2199"/>
              <a:t>, both in volume and strategic weight</a:t>
            </a:r>
          </a:p>
        </p:txBody>
      </p:sp>
      <p:sp>
        <p:nvSpPr>
          <p:cNvPr id="3" name="object 2">
            <a:extLst>
              <a:ext uri="{FF2B5EF4-FFF2-40B4-BE49-F238E27FC236}">
                <a16:creationId xmlns:a16="http://schemas.microsoft.com/office/drawing/2014/main" id="{7CF9E470-8A22-5D04-0776-67B1E87B68F8}"/>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object 2">
            <a:extLst>
              <a:ext uri="{FF2B5EF4-FFF2-40B4-BE49-F238E27FC236}">
                <a16:creationId xmlns:a16="http://schemas.microsoft.com/office/drawing/2014/main" id="{B7AA9D84-8F89-5A76-DC1A-7E7E0F3CC836}"/>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5A040312-E4A4-5532-A683-491DA624F312}"/>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289537E1-4263-F560-BADC-BCCFDCCBAA42}"/>
              </a:ext>
            </a:extLst>
          </p:cNvPr>
          <p:cNvPicPr/>
          <p:nvPr/>
        </p:nvPicPr>
        <p:blipFill>
          <a:blip r:embed="rId4"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3186AD45-B835-BAD9-BD92-C86027E46E73}"/>
              </a:ext>
            </a:extLst>
          </p:cNvPr>
          <p:cNvPicPr/>
          <p:nvPr/>
        </p:nvPicPr>
        <p:blipFill>
          <a:blip r:embed="rId5" cstate="print"/>
          <a:stretch>
            <a:fillRect/>
          </a:stretch>
        </p:blipFill>
        <p:spPr>
          <a:xfrm>
            <a:off x="17726790" y="399568"/>
            <a:ext cx="1233889" cy="263866"/>
          </a:xfrm>
          <a:prstGeom prst="rect">
            <a:avLst/>
          </a:prstGeom>
        </p:spPr>
      </p:pic>
      <p:pic>
        <p:nvPicPr>
          <p:cNvPr id="14" name="Picture 40" descr="A blue convertible car with black background&#10;&#10;AI-generated content may be incorrect.">
            <a:extLst>
              <a:ext uri="{FF2B5EF4-FFF2-40B4-BE49-F238E27FC236}">
                <a16:creationId xmlns:a16="http://schemas.microsoft.com/office/drawing/2014/main" id="{9D23D5D1-8399-B49B-2714-AEE7C4A6E9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33581" y="6226283"/>
            <a:ext cx="7062795" cy="4237677"/>
          </a:xfrm>
          <a:prstGeom prst="rect">
            <a:avLst/>
          </a:prstGeom>
        </p:spPr>
      </p:pic>
    </p:spTree>
    <p:extLst>
      <p:ext uri="{BB962C8B-B14F-4D97-AF65-F5344CB8AC3E}">
        <p14:creationId xmlns:p14="http://schemas.microsoft.com/office/powerpoint/2010/main" val="3092185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5"/>
          <p:cNvSpPr/>
          <p:nvPr/>
        </p:nvSpPr>
        <p:spPr>
          <a:xfrm>
            <a:off x="1136093" y="2724609"/>
            <a:ext cx="17805739" cy="0"/>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6" name="AutoShape 6"/>
          <p:cNvSpPr/>
          <p:nvPr/>
        </p:nvSpPr>
        <p:spPr>
          <a:xfrm>
            <a:off x="1150397" y="4024357"/>
            <a:ext cx="17817218" cy="0"/>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7" name="AutoShape 7"/>
          <p:cNvSpPr/>
          <p:nvPr/>
        </p:nvSpPr>
        <p:spPr>
          <a:xfrm flipV="1">
            <a:off x="5431202" y="2710294"/>
            <a:ext cx="19556" cy="8551597"/>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11" name="TextBox 11"/>
          <p:cNvSpPr txBox="1"/>
          <p:nvPr/>
        </p:nvSpPr>
        <p:spPr>
          <a:xfrm>
            <a:off x="2237555" y="1042586"/>
            <a:ext cx="15602814" cy="1236402"/>
          </a:xfrm>
          <a:prstGeom prst="rect">
            <a:avLst/>
          </a:prstGeom>
        </p:spPr>
        <p:txBody>
          <a:bodyPr wrap="square" lIns="0" tIns="0" rIns="0" bIns="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algn="ctr">
              <a:lnSpc>
                <a:spcPts val="8865"/>
              </a:lnSpc>
            </a:pPr>
            <a:r>
              <a:rPr lang="en-US" sz="10553" spc="-379">
                <a:ea typeface="Trirong Extra-Light"/>
                <a:cs typeface="Trirong Extra-Light"/>
                <a:sym typeface="Trirong Extra-Light"/>
              </a:rPr>
              <a:t>SWOT ANALYSIS</a:t>
            </a:r>
          </a:p>
        </p:txBody>
      </p:sp>
      <p:sp>
        <p:nvSpPr>
          <p:cNvPr id="13" name="TextBox 13"/>
          <p:cNvSpPr txBox="1"/>
          <p:nvPr/>
        </p:nvSpPr>
        <p:spPr>
          <a:xfrm>
            <a:off x="1543330" y="3258266"/>
            <a:ext cx="3636958" cy="321107"/>
          </a:xfrm>
          <a:prstGeom prst="rect">
            <a:avLst/>
          </a:prstGeom>
        </p:spPr>
        <p:txBody>
          <a:bodyPr wrap="square" lIns="0" tIns="0" rIns="0" bIns="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0" lvl="0" indent="0" algn="ctr">
              <a:lnSpc>
                <a:spcPts val="2418"/>
              </a:lnSpc>
              <a:spcBef>
                <a:spcPct val="0"/>
              </a:spcBef>
            </a:pPr>
            <a:r>
              <a:rPr lang="en-US" sz="2199" spc="-121">
                <a:latin typeface="Aptos"/>
                <a:ea typeface="Aptos"/>
                <a:cs typeface="Aptos"/>
                <a:sym typeface="Aptos"/>
              </a:rPr>
              <a:t>STRENGTHS</a:t>
            </a:r>
          </a:p>
        </p:txBody>
      </p:sp>
      <p:sp>
        <p:nvSpPr>
          <p:cNvPr id="15" name="TextBox 15"/>
          <p:cNvSpPr txBox="1"/>
          <p:nvPr/>
        </p:nvSpPr>
        <p:spPr>
          <a:xfrm>
            <a:off x="5990656" y="3258266"/>
            <a:ext cx="3636958" cy="321107"/>
          </a:xfrm>
          <a:prstGeom prst="rect">
            <a:avLst/>
          </a:prstGeom>
        </p:spPr>
        <p:txBody>
          <a:bodyPr wrap="square" lIns="0" tIns="0" rIns="0" bIns="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0" lvl="0" indent="0" algn="ctr">
              <a:lnSpc>
                <a:spcPts val="2418"/>
              </a:lnSpc>
              <a:spcBef>
                <a:spcPct val="0"/>
              </a:spcBef>
            </a:pPr>
            <a:r>
              <a:rPr lang="en-US" sz="2199" spc="-121">
                <a:latin typeface="Aptos"/>
                <a:ea typeface="Aptos"/>
                <a:cs typeface="Aptos"/>
                <a:sym typeface="Aptos"/>
              </a:rPr>
              <a:t>WEAKNESSES</a:t>
            </a:r>
          </a:p>
        </p:txBody>
      </p:sp>
      <p:sp>
        <p:nvSpPr>
          <p:cNvPr id="16" name="TextBox 16"/>
          <p:cNvSpPr txBox="1"/>
          <p:nvPr/>
        </p:nvSpPr>
        <p:spPr>
          <a:xfrm>
            <a:off x="10437981" y="3277816"/>
            <a:ext cx="3636958" cy="321107"/>
          </a:xfrm>
          <a:prstGeom prst="rect">
            <a:avLst/>
          </a:prstGeom>
        </p:spPr>
        <p:txBody>
          <a:bodyPr wrap="square" lIns="0" tIns="0" rIns="0" bIns="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0" lvl="0" indent="0" algn="ctr">
              <a:lnSpc>
                <a:spcPts val="2418"/>
              </a:lnSpc>
              <a:spcBef>
                <a:spcPct val="0"/>
              </a:spcBef>
            </a:pPr>
            <a:r>
              <a:rPr lang="en-US" sz="2199" spc="-121">
                <a:latin typeface="Aptos"/>
                <a:ea typeface="Aptos"/>
                <a:cs typeface="Aptos"/>
                <a:sym typeface="Aptos"/>
              </a:rPr>
              <a:t>OPPORTUNITIES</a:t>
            </a:r>
          </a:p>
        </p:txBody>
      </p:sp>
      <p:sp>
        <p:nvSpPr>
          <p:cNvPr id="17" name="TextBox 17"/>
          <p:cNvSpPr txBox="1"/>
          <p:nvPr/>
        </p:nvSpPr>
        <p:spPr>
          <a:xfrm>
            <a:off x="14983009" y="3297366"/>
            <a:ext cx="3636958" cy="321107"/>
          </a:xfrm>
          <a:prstGeom prst="rect">
            <a:avLst/>
          </a:prstGeom>
        </p:spPr>
        <p:txBody>
          <a:bodyPr wrap="square" lIns="0" tIns="0" rIns="0" bIns="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0" lvl="0" indent="0" algn="ctr">
              <a:lnSpc>
                <a:spcPts val="2418"/>
              </a:lnSpc>
              <a:spcBef>
                <a:spcPct val="0"/>
              </a:spcBef>
            </a:pPr>
            <a:r>
              <a:rPr lang="en-US" sz="2199" spc="-121">
                <a:latin typeface="Aptos"/>
                <a:ea typeface="Aptos"/>
                <a:cs typeface="Aptos"/>
                <a:sym typeface="Aptos"/>
              </a:rPr>
              <a:t>THREATS</a:t>
            </a:r>
          </a:p>
        </p:txBody>
      </p:sp>
      <p:sp>
        <p:nvSpPr>
          <p:cNvPr id="10" name="ZoneTexte 9">
            <a:extLst>
              <a:ext uri="{FF2B5EF4-FFF2-40B4-BE49-F238E27FC236}">
                <a16:creationId xmlns:a16="http://schemas.microsoft.com/office/drawing/2014/main" id="{B474A83D-9334-6360-383F-176E4B61BD42}"/>
              </a:ext>
            </a:extLst>
          </p:cNvPr>
          <p:cNvSpPr txBox="1"/>
          <p:nvPr/>
        </p:nvSpPr>
        <p:spPr>
          <a:xfrm>
            <a:off x="1373429" y="4606830"/>
            <a:ext cx="3966292" cy="5114862"/>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314125" indent="-314125">
              <a:buFont typeface="Arial" panose="020B0604020202020204" pitchFamily="34" charset="0"/>
              <a:buChar char="•"/>
            </a:pPr>
            <a:r>
              <a:rPr lang="en-US" sz="2176"/>
              <a:t>Backing from Tata Motors, ensuring financial </a:t>
            </a:r>
            <a:r>
              <a:rPr lang="en-US" sz="2176" b="1"/>
              <a:t>stability</a:t>
            </a:r>
            <a:r>
              <a:rPr lang="en-US" sz="2176"/>
              <a:t> and access to </a:t>
            </a:r>
            <a:r>
              <a:rPr lang="en-US" sz="2176" b="1"/>
              <a:t>advanced R&amp;D</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a:t>Established </a:t>
            </a:r>
            <a:r>
              <a:rPr lang="en-US" sz="2176" b="1"/>
              <a:t>global network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b="1"/>
              <a:t>Flexibility to reposition </a:t>
            </a:r>
            <a:r>
              <a:rPr lang="en-US" sz="2176"/>
              <a:t>: Jaguar has existing credibility in both luxury and performance, making brand split feasible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a:t>Strong </a:t>
            </a:r>
            <a:r>
              <a:rPr lang="en-US" sz="2176" b="1"/>
              <a:t>design identity </a:t>
            </a:r>
            <a:r>
              <a:rPr lang="en-US" sz="2176"/>
              <a:t>and craftsmanship associated with British luxury </a:t>
            </a:r>
          </a:p>
        </p:txBody>
      </p:sp>
      <p:sp>
        <p:nvSpPr>
          <p:cNvPr id="12" name="ZoneTexte 11">
            <a:extLst>
              <a:ext uri="{FF2B5EF4-FFF2-40B4-BE49-F238E27FC236}">
                <a16:creationId xmlns:a16="http://schemas.microsoft.com/office/drawing/2014/main" id="{4A71752C-429A-F615-AE47-7909CB117D60}"/>
              </a:ext>
            </a:extLst>
          </p:cNvPr>
          <p:cNvSpPr txBox="1"/>
          <p:nvPr/>
        </p:nvSpPr>
        <p:spPr>
          <a:xfrm>
            <a:off x="5845263" y="4611689"/>
            <a:ext cx="3927744" cy="4780026"/>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314125" indent="-314125">
              <a:buFont typeface="Arial" panose="020B0604020202020204" pitchFamily="34" charset="0"/>
              <a:buChar char="•"/>
            </a:pPr>
            <a:r>
              <a:rPr lang="en-US" sz="2176" b="1"/>
              <a:t>Blurred brand identity: </a:t>
            </a:r>
            <a:r>
              <a:rPr lang="en-US" sz="2176"/>
              <a:t>unclear market position (neither pure luxury nor performance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b="1"/>
              <a:t>Limited EV portfolio </a:t>
            </a:r>
            <a:r>
              <a:rPr lang="en-US" sz="2176"/>
              <a:t>: lagging competitors in electrification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b="1"/>
              <a:t>Low profitability </a:t>
            </a:r>
            <a:r>
              <a:rPr lang="en-US" sz="2176"/>
              <a:t>within Tata’s portfolio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a:t>Aging lineup and </a:t>
            </a:r>
            <a:r>
              <a:rPr lang="en-US" sz="2176" b="1"/>
              <a:t>lack of product differentiation across models </a:t>
            </a:r>
          </a:p>
        </p:txBody>
      </p:sp>
      <p:sp>
        <p:nvSpPr>
          <p:cNvPr id="18" name="ZoneTexte 17">
            <a:extLst>
              <a:ext uri="{FF2B5EF4-FFF2-40B4-BE49-F238E27FC236}">
                <a16:creationId xmlns:a16="http://schemas.microsoft.com/office/drawing/2014/main" id="{3157DB30-CAB2-2C8A-5150-221A4D609D56}"/>
              </a:ext>
            </a:extLst>
          </p:cNvPr>
          <p:cNvSpPr txBox="1"/>
          <p:nvPr/>
        </p:nvSpPr>
        <p:spPr>
          <a:xfrm>
            <a:off x="10309213" y="4117435"/>
            <a:ext cx="3895687" cy="7123873"/>
          </a:xfrm>
          <a:prstGeom prst="rect">
            <a:avLst/>
          </a:prstGeom>
          <a:noFill/>
        </p:spPr>
        <p:txBody>
          <a:bodyPr wrap="square" rtlCol="0">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314125" indent="-314125">
              <a:buFont typeface="Arial" panose="020B0604020202020204" pitchFamily="34" charset="0"/>
              <a:buChar char="•"/>
            </a:pPr>
            <a:r>
              <a:rPr lang="en-US" sz="2176"/>
              <a:t>Brand restructuring into Luxury and Performance lines -&gt; </a:t>
            </a:r>
            <a:r>
              <a:rPr lang="en-US" sz="2176" b="1"/>
              <a:t>clear positioning and market segmentation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a:t>Luxury division can capture the ultra-premium market (Bentley, Rolls-Royce) </a:t>
            </a:r>
            <a:r>
              <a:rPr lang="en-US" sz="2176" b="1"/>
              <a:t>-&gt; higher margins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b="1"/>
              <a:t>Performance division </a:t>
            </a:r>
            <a:r>
              <a:rPr lang="en-US" sz="2176"/>
              <a:t>can reconnect with Jaguar’s heritage and compete with Porshe, Aston Martin </a:t>
            </a:r>
          </a:p>
          <a:p>
            <a:pPr marL="314125" indent="-314125">
              <a:buFont typeface="Arial" panose="020B0604020202020204" pitchFamily="34" charset="0"/>
              <a:buChar char="•"/>
            </a:pPr>
            <a:endParaRPr lang="en-US" sz="2176"/>
          </a:p>
          <a:p>
            <a:pPr marL="314125" indent="-314125">
              <a:buFont typeface="Arial" panose="020B0604020202020204" pitchFamily="34" charset="0"/>
              <a:buChar char="•"/>
            </a:pPr>
            <a:r>
              <a:rPr lang="en-US" sz="2176" b="1"/>
              <a:t>EV expansion: </a:t>
            </a:r>
            <a:r>
              <a:rPr lang="en-US" sz="2176"/>
              <a:t>new electric models under both sub-brands could leverage Tata’s EV expertise + Growing global demand for sustainable premium vehicles</a:t>
            </a:r>
          </a:p>
        </p:txBody>
      </p:sp>
      <p:sp>
        <p:nvSpPr>
          <p:cNvPr id="19" name="ZoneTexte 18">
            <a:extLst>
              <a:ext uri="{FF2B5EF4-FFF2-40B4-BE49-F238E27FC236}">
                <a16:creationId xmlns:a16="http://schemas.microsoft.com/office/drawing/2014/main" id="{72059D0D-A076-F6FF-D363-51DAC56E11E0}"/>
              </a:ext>
            </a:extLst>
          </p:cNvPr>
          <p:cNvSpPr txBox="1"/>
          <p:nvPr/>
        </p:nvSpPr>
        <p:spPr>
          <a:xfrm>
            <a:off x="14818950" y="4610630"/>
            <a:ext cx="3960315" cy="4110356"/>
          </a:xfrm>
          <a:prstGeom prst="rect">
            <a:avLst/>
          </a:prstGeom>
          <a:noFill/>
        </p:spPr>
        <p:txBody>
          <a:bodyPr wrap="square" lIns="91440" tIns="45720" rIns="91440" bIns="45720" rtlCol="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pPr marL="313690" indent="-313690">
              <a:buFont typeface="Arial" panose="020B0604020202020204" pitchFamily="34" charset="0"/>
              <a:buChar char="•"/>
            </a:pPr>
            <a:r>
              <a:rPr lang="en-US" sz="2176" b="1"/>
              <a:t>Intense competition </a:t>
            </a:r>
            <a:r>
              <a:rPr lang="en-US" sz="2176"/>
              <a:t>in both luxury (Rolls-Royce, Bentley) and performance (Porsche, BMW M, Tesla) </a:t>
            </a:r>
            <a:endParaRPr lang="fr-FR"/>
          </a:p>
          <a:p>
            <a:pPr marL="313690" indent="-313690">
              <a:buFont typeface="Arial" panose="020B0604020202020204" pitchFamily="34" charset="0"/>
              <a:buChar char="•"/>
            </a:pPr>
            <a:endParaRPr lang="en-US" sz="2176">
              <a:ea typeface="Calibri"/>
              <a:cs typeface="Calibri"/>
            </a:endParaRPr>
          </a:p>
          <a:p>
            <a:pPr marL="313690" indent="-313690">
              <a:buFont typeface="Arial" panose="020B0604020202020204" pitchFamily="34" charset="0"/>
              <a:buChar char="•"/>
            </a:pPr>
            <a:r>
              <a:rPr lang="en-US" sz="2176" b="1"/>
              <a:t>High R&amp;D and marketing costs </a:t>
            </a:r>
            <a:r>
              <a:rPr lang="en-US" sz="2176"/>
              <a:t>to launch two distinct brand identities </a:t>
            </a:r>
            <a:endParaRPr lang="en-US" sz="2176">
              <a:ea typeface="Calibri"/>
              <a:cs typeface="Calibri"/>
            </a:endParaRPr>
          </a:p>
          <a:p>
            <a:pPr marL="313690" indent="-313690">
              <a:buFont typeface="Arial" panose="020B0604020202020204" pitchFamily="34" charset="0"/>
              <a:buChar char="•"/>
            </a:pPr>
            <a:endParaRPr lang="en-US" sz="2176">
              <a:ea typeface="Calibri"/>
              <a:cs typeface="Calibri"/>
            </a:endParaRPr>
          </a:p>
          <a:p>
            <a:pPr marL="313690" indent="-313690">
              <a:buFont typeface="Arial" panose="020B0604020202020204" pitchFamily="34" charset="0"/>
              <a:buChar char="•"/>
            </a:pPr>
            <a:r>
              <a:rPr lang="en-US" sz="2176" noProof="0"/>
              <a:t>EV transition pressure </a:t>
            </a:r>
            <a:r>
              <a:rPr lang="en-US" sz="2176"/>
              <a:t>from regulations and market expectation segments  </a:t>
            </a:r>
            <a:endParaRPr lang="en-US" sz="2176">
              <a:ea typeface="Calibri"/>
              <a:cs typeface="Calibri"/>
            </a:endParaRPr>
          </a:p>
        </p:txBody>
      </p:sp>
      <p:sp>
        <p:nvSpPr>
          <p:cNvPr id="2" name="AutoShape 7">
            <a:extLst>
              <a:ext uri="{FF2B5EF4-FFF2-40B4-BE49-F238E27FC236}">
                <a16:creationId xmlns:a16="http://schemas.microsoft.com/office/drawing/2014/main" id="{A547E641-F6B4-708F-B01D-1B3BA5DB9ABF}"/>
              </a:ext>
            </a:extLst>
          </p:cNvPr>
          <p:cNvSpPr/>
          <p:nvPr/>
        </p:nvSpPr>
        <p:spPr>
          <a:xfrm flipV="1">
            <a:off x="1135160" y="2710366"/>
            <a:ext cx="19556" cy="8551597"/>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9" name="AutoShape 7">
            <a:extLst>
              <a:ext uri="{FF2B5EF4-FFF2-40B4-BE49-F238E27FC236}">
                <a16:creationId xmlns:a16="http://schemas.microsoft.com/office/drawing/2014/main" id="{C09B9F41-ADD5-DB19-8A11-0D1178246D7F}"/>
              </a:ext>
            </a:extLst>
          </p:cNvPr>
          <p:cNvSpPr/>
          <p:nvPr/>
        </p:nvSpPr>
        <p:spPr>
          <a:xfrm flipV="1">
            <a:off x="10045779" y="2710440"/>
            <a:ext cx="19556" cy="8551597"/>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20" name="AutoShape 7">
            <a:extLst>
              <a:ext uri="{FF2B5EF4-FFF2-40B4-BE49-F238E27FC236}">
                <a16:creationId xmlns:a16="http://schemas.microsoft.com/office/drawing/2014/main" id="{BB286617-4F45-EB0B-106D-4E123F266EB5}"/>
              </a:ext>
            </a:extLst>
          </p:cNvPr>
          <p:cNvSpPr/>
          <p:nvPr/>
        </p:nvSpPr>
        <p:spPr>
          <a:xfrm flipV="1">
            <a:off x="14696564" y="2749615"/>
            <a:ext cx="19556" cy="8551597"/>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21" name="AutoShape 7">
            <a:extLst>
              <a:ext uri="{FF2B5EF4-FFF2-40B4-BE49-F238E27FC236}">
                <a16:creationId xmlns:a16="http://schemas.microsoft.com/office/drawing/2014/main" id="{BF91278B-7422-E5CC-6901-12391A9B6EF3}"/>
              </a:ext>
            </a:extLst>
          </p:cNvPr>
          <p:cNvSpPr/>
          <p:nvPr/>
        </p:nvSpPr>
        <p:spPr>
          <a:xfrm flipV="1">
            <a:off x="18936999" y="2710587"/>
            <a:ext cx="19556" cy="8551597"/>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endParaRPr lang="en-US" sz="2176"/>
          </a:p>
        </p:txBody>
      </p:sp>
      <p:sp>
        <p:nvSpPr>
          <p:cNvPr id="23" name="object 2">
            <a:extLst>
              <a:ext uri="{FF2B5EF4-FFF2-40B4-BE49-F238E27FC236}">
                <a16:creationId xmlns:a16="http://schemas.microsoft.com/office/drawing/2014/main" id="{A45A0A5D-3DF7-6190-CEDC-8C195AFA5035}"/>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25" name="object 2">
            <a:extLst>
              <a:ext uri="{FF2B5EF4-FFF2-40B4-BE49-F238E27FC236}">
                <a16:creationId xmlns:a16="http://schemas.microsoft.com/office/drawing/2014/main" id="{6A0DB549-D05C-12EB-AC21-0CFE5D21C779}"/>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pic>
        <p:nvPicPr>
          <p:cNvPr id="4" name="object 4" descr="Une image contenant Police, Graphique, noir, graphisme&#10;&#10;Le contenu généré par l’IA peut être incorrect.">
            <a:extLst>
              <a:ext uri="{FF2B5EF4-FFF2-40B4-BE49-F238E27FC236}">
                <a16:creationId xmlns:a16="http://schemas.microsoft.com/office/drawing/2014/main" id="{432BE3AB-E4F6-3F74-D773-6BA3BD1B9ADC}"/>
              </a:ext>
            </a:extLst>
          </p:cNvPr>
          <p:cNvPicPr/>
          <p:nvPr/>
        </p:nvPicPr>
        <p:blipFill>
          <a:blip r:embed="rId2" cstate="print"/>
          <a:stretch>
            <a:fillRect/>
          </a:stretch>
        </p:blipFill>
        <p:spPr>
          <a:xfrm>
            <a:off x="17726790" y="399568"/>
            <a:ext cx="1233889" cy="263866"/>
          </a:xfrm>
          <a:prstGeom prst="rect">
            <a:avLst/>
          </a:prstGeom>
        </p:spPr>
      </p:pic>
      <p:sp>
        <p:nvSpPr>
          <p:cNvPr id="14" name="object 3">
            <a:extLst>
              <a:ext uri="{FF2B5EF4-FFF2-40B4-BE49-F238E27FC236}">
                <a16:creationId xmlns:a16="http://schemas.microsoft.com/office/drawing/2014/main" id="{859CF1DB-1CEA-144B-38DA-8254DBBD90F1}"/>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24" name="object 5">
            <a:extLst>
              <a:ext uri="{FF2B5EF4-FFF2-40B4-BE49-F238E27FC236}">
                <a16:creationId xmlns:a16="http://schemas.microsoft.com/office/drawing/2014/main" id="{C7754778-6A5E-A582-2364-E70CA78010C6}"/>
              </a:ext>
            </a:extLst>
          </p:cNvPr>
          <p:cNvPicPr/>
          <p:nvPr/>
        </p:nvPicPr>
        <p:blipFill>
          <a:blip r:embed="rId3" cstate="print"/>
          <a:stretch>
            <a:fillRect/>
          </a:stretch>
        </p:blipFill>
        <p:spPr>
          <a:xfrm>
            <a:off x="0" y="816769"/>
            <a:ext cx="2456577" cy="262104"/>
          </a:xfrm>
          <a:prstGeom prst="rect">
            <a:avLst/>
          </a:prstGeom>
        </p:spPr>
      </p:pic>
      <p:pic>
        <p:nvPicPr>
          <p:cNvPr id="27" name="object 18" descr="Une image contenant roue, véhicule, Véhicule de luxe, transport&#10;&#10;Le contenu généré par l’IA peut être incorrect.">
            <a:extLst>
              <a:ext uri="{FF2B5EF4-FFF2-40B4-BE49-F238E27FC236}">
                <a16:creationId xmlns:a16="http://schemas.microsoft.com/office/drawing/2014/main" id="{38D61776-3830-34CF-0F81-25C7AB226F1D}"/>
              </a:ext>
            </a:extLst>
          </p:cNvPr>
          <p:cNvPicPr/>
          <p:nvPr/>
        </p:nvPicPr>
        <p:blipFill>
          <a:blip r:embed="rId4" cstate="print"/>
          <a:stretch>
            <a:fillRect/>
          </a:stretch>
        </p:blipFill>
        <p:spPr>
          <a:xfrm>
            <a:off x="14480869" y="364389"/>
            <a:ext cx="4629628" cy="25908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D7DFCE-9601-1E02-4766-745564874B5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60D78F28-A4B0-5F44-E2CA-A08716C06314}"/>
              </a:ext>
            </a:extLst>
          </p:cNvPr>
          <p:cNvSpPr txBox="1"/>
          <p:nvPr/>
        </p:nvSpPr>
        <p:spPr>
          <a:xfrm>
            <a:off x="961814" y="1392850"/>
            <a:ext cx="11407779" cy="1000274"/>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5900" b="1" dirty="0"/>
              <a:t> </a:t>
            </a:r>
            <a:r>
              <a:rPr lang="en-US" sz="5900" b="1" dirty="0">
                <a:solidFill>
                  <a:srgbClr val="000000"/>
                </a:solidFill>
              </a:rPr>
              <a:t>SUPPORTING MARKET DATA</a:t>
            </a:r>
            <a:endParaRPr lang="en-US" sz="5900" b="1" dirty="0">
              <a:solidFill>
                <a:srgbClr val="000000"/>
              </a:solidFill>
              <a:ea typeface="Calibri"/>
              <a:cs typeface="Calibri"/>
            </a:endParaRPr>
          </a:p>
        </p:txBody>
      </p:sp>
      <p:sp>
        <p:nvSpPr>
          <p:cNvPr id="3" name="object 2">
            <a:extLst>
              <a:ext uri="{FF2B5EF4-FFF2-40B4-BE49-F238E27FC236}">
                <a16:creationId xmlns:a16="http://schemas.microsoft.com/office/drawing/2014/main" id="{96312209-4914-E088-FD7D-DF32182E8614}"/>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object 2">
            <a:extLst>
              <a:ext uri="{FF2B5EF4-FFF2-40B4-BE49-F238E27FC236}">
                <a16:creationId xmlns:a16="http://schemas.microsoft.com/office/drawing/2014/main" id="{6C6E2587-EBAA-8F42-D0D5-D97FB7614960}"/>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D85785BB-31F7-6C48-8266-F106010773EE}"/>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0E16011D-AFDC-FDB3-7747-3F27F46E8DF3}"/>
              </a:ext>
            </a:extLst>
          </p:cNvPr>
          <p:cNvPicPr/>
          <p:nvPr/>
        </p:nvPicPr>
        <p:blipFill>
          <a:blip r:embed="rId2"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9761F9A8-BA62-B26C-3DD9-CB8F7D699E88}"/>
              </a:ext>
            </a:extLst>
          </p:cNvPr>
          <p:cNvPicPr/>
          <p:nvPr/>
        </p:nvPicPr>
        <p:blipFill>
          <a:blip r:embed="rId3" cstate="print"/>
          <a:stretch>
            <a:fillRect/>
          </a:stretch>
        </p:blipFill>
        <p:spPr>
          <a:xfrm>
            <a:off x="17726790" y="399568"/>
            <a:ext cx="1233889" cy="263866"/>
          </a:xfrm>
          <a:prstGeom prst="rect">
            <a:avLst/>
          </a:prstGeom>
        </p:spPr>
      </p:pic>
      <p:sp>
        <p:nvSpPr>
          <p:cNvPr id="9" name="TextBox 9">
            <a:extLst>
              <a:ext uri="{FF2B5EF4-FFF2-40B4-BE49-F238E27FC236}">
                <a16:creationId xmlns:a16="http://schemas.microsoft.com/office/drawing/2014/main" id="{3E9B5487-A17F-F682-695B-08889E13551A}"/>
              </a:ext>
            </a:extLst>
          </p:cNvPr>
          <p:cNvSpPr txBox="1"/>
          <p:nvPr/>
        </p:nvSpPr>
        <p:spPr>
          <a:xfrm>
            <a:off x="1658853" y="2650494"/>
            <a:ext cx="3759945" cy="37189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60"/>
              </a:lnSpc>
              <a:spcBef>
                <a:spcPct val="0"/>
              </a:spcBef>
            </a:pPr>
            <a:r>
              <a:rPr lang="en-US" sz="2600" b="1" spc="-143">
                <a:solidFill>
                  <a:srgbClr val="000000"/>
                </a:solidFill>
                <a:latin typeface="Aptos"/>
              </a:rPr>
              <a:t>The Market Today :</a:t>
            </a:r>
          </a:p>
        </p:txBody>
      </p:sp>
      <p:sp>
        <p:nvSpPr>
          <p:cNvPr id="10" name="TextBox 9">
            <a:extLst>
              <a:ext uri="{FF2B5EF4-FFF2-40B4-BE49-F238E27FC236}">
                <a16:creationId xmlns:a16="http://schemas.microsoft.com/office/drawing/2014/main" id="{5355D3BA-4BA9-9A5E-E64D-C8AA259A8A32}"/>
              </a:ext>
            </a:extLst>
          </p:cNvPr>
          <p:cNvSpPr txBox="1"/>
          <p:nvPr/>
        </p:nvSpPr>
        <p:spPr>
          <a:xfrm>
            <a:off x="1658852" y="4837384"/>
            <a:ext cx="3759945" cy="37189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60"/>
              </a:lnSpc>
              <a:spcBef>
                <a:spcPct val="0"/>
              </a:spcBef>
            </a:pPr>
            <a:r>
              <a:rPr lang="en-US" sz="2600" b="1" spc="-143">
                <a:solidFill>
                  <a:srgbClr val="000000"/>
                </a:solidFill>
                <a:latin typeface="Aptos"/>
              </a:rPr>
              <a:t>The Market Tomorrow :</a:t>
            </a:r>
          </a:p>
        </p:txBody>
      </p:sp>
      <p:sp>
        <p:nvSpPr>
          <p:cNvPr id="12" name="TextBox 9">
            <a:extLst>
              <a:ext uri="{FF2B5EF4-FFF2-40B4-BE49-F238E27FC236}">
                <a16:creationId xmlns:a16="http://schemas.microsoft.com/office/drawing/2014/main" id="{7633C5BC-FBB3-176E-1C70-6274BC8E4AEB}"/>
              </a:ext>
            </a:extLst>
          </p:cNvPr>
          <p:cNvSpPr txBox="1"/>
          <p:nvPr/>
        </p:nvSpPr>
        <p:spPr>
          <a:xfrm>
            <a:off x="1658852" y="6938717"/>
            <a:ext cx="3759945" cy="37189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60"/>
              </a:lnSpc>
              <a:spcBef>
                <a:spcPct val="0"/>
              </a:spcBef>
            </a:pPr>
            <a:r>
              <a:rPr lang="en-US" sz="2600" b="1" spc="-143">
                <a:solidFill>
                  <a:srgbClr val="000000"/>
                </a:solidFill>
                <a:latin typeface="Aptos"/>
              </a:rPr>
              <a:t>References : </a:t>
            </a:r>
            <a:endParaRPr lang="fr-FR" b="1">
              <a:solidFill>
                <a:srgbClr val="000000"/>
              </a:solidFill>
            </a:endParaRPr>
          </a:p>
        </p:txBody>
      </p:sp>
      <p:sp>
        <p:nvSpPr>
          <p:cNvPr id="14" name="TextBox 10">
            <a:extLst>
              <a:ext uri="{FF2B5EF4-FFF2-40B4-BE49-F238E27FC236}">
                <a16:creationId xmlns:a16="http://schemas.microsoft.com/office/drawing/2014/main" id="{1B077415-9BFE-76E1-DA8B-048EA3163620}"/>
              </a:ext>
            </a:extLst>
          </p:cNvPr>
          <p:cNvSpPr txBox="1"/>
          <p:nvPr/>
        </p:nvSpPr>
        <p:spPr>
          <a:xfrm>
            <a:off x="1658853" y="7317582"/>
            <a:ext cx="8807027" cy="197490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spcBef>
                <a:spcPct val="0"/>
              </a:spcBef>
            </a:pPr>
            <a:r>
              <a:rPr lang="en-US" sz="2000" spc="-110">
                <a:latin typeface="Aptos"/>
                <a:ea typeface="Aptos"/>
                <a:cs typeface="Aptos"/>
                <a:hlinkClick r:id="rId4">
                  <a:extLst>
                    <a:ext uri="{A12FA001-AC4F-418D-AE19-62706E023703}">
                      <ahyp:hlinkClr xmlns:ahyp="http://schemas.microsoft.com/office/drawing/2018/hyperlinkcolor" val="tx"/>
                    </a:ext>
                  </a:extLst>
                </a:hlinkClick>
              </a:rPr>
              <a:t>MarketLine. (2023, August 31). </a:t>
            </a:r>
            <a:r>
              <a:rPr lang="en-US" sz="2000" i="1" spc="-110">
                <a:latin typeface="Aptos"/>
                <a:ea typeface="Aptos"/>
                <a:cs typeface="Aptos"/>
                <a:hlinkClick r:id="rId4">
                  <a:extLst>
                    <a:ext uri="{A12FA001-AC4F-418D-AE19-62706E023703}">
                      <ahyp:hlinkClr xmlns:ahyp="http://schemas.microsoft.com/office/drawing/2018/hyperlinkcolor" val="tx"/>
                    </a:ext>
                  </a:extLst>
                </a:hlinkClick>
              </a:rPr>
              <a:t>Jaguar Land Rover Automotive Plc – Strategy, SWOT and Corporat</a:t>
            </a:r>
            <a:r>
              <a:rPr lang="en-US" sz="2000" i="1" spc="-110">
                <a:solidFill>
                  <a:srgbClr val="FFFFFF"/>
                </a:solidFill>
                <a:latin typeface="Aptos"/>
                <a:ea typeface="Aptos"/>
                <a:cs typeface="Aptos"/>
                <a:hlinkClick r:id="rId4">
                  <a:extLst>
                    <a:ext uri="{A12FA001-AC4F-418D-AE19-62706E023703}">
                      <ahyp:hlinkClr xmlns:ahyp="http://schemas.microsoft.com/office/drawing/2018/hyperlinkcolor" val="tx"/>
                    </a:ext>
                  </a:extLst>
                </a:hlinkClick>
              </a:rPr>
              <a:t>e</a:t>
            </a:r>
            <a:r>
              <a:rPr lang="en-US" sz="2000" i="1" spc="-110">
                <a:solidFill>
                  <a:srgbClr val="000000"/>
                </a:solidFill>
                <a:latin typeface="Aptos"/>
                <a:ea typeface="Aptos"/>
                <a:cs typeface="Aptos"/>
              </a:rPr>
              <a:t> </a:t>
            </a:r>
            <a:endParaRPr lang="en-US" sz="2000" i="1" spc="-110">
              <a:solidFill>
                <a:srgbClr val="000000"/>
              </a:solidFill>
              <a:latin typeface="Calibri"/>
              <a:ea typeface="Calibri"/>
              <a:cs typeface="Calibri"/>
            </a:endParaRPr>
          </a:p>
          <a:p>
            <a:pPr>
              <a:lnSpc>
                <a:spcPts val="2200"/>
              </a:lnSpc>
              <a:spcBef>
                <a:spcPct val="0"/>
              </a:spcBef>
            </a:pPr>
            <a:endParaRPr lang="en-US" sz="2000" i="1" spc="-110">
              <a:solidFill>
                <a:srgbClr val="000000"/>
              </a:solidFill>
              <a:latin typeface="Aptos"/>
              <a:ea typeface="Aptos"/>
              <a:cs typeface="Aptos"/>
            </a:endParaRPr>
          </a:p>
          <a:p>
            <a:pPr>
              <a:lnSpc>
                <a:spcPts val="2200"/>
              </a:lnSpc>
              <a:spcBef>
                <a:spcPct val="0"/>
              </a:spcBef>
            </a:pPr>
            <a:r>
              <a:rPr lang="en-US" sz="2000" i="1" spc="-110">
                <a:latin typeface="Aptos"/>
                <a:ea typeface="Aptos"/>
                <a:cs typeface="Aptos"/>
                <a:hlinkClick r:id="rId5">
                  <a:extLst>
                    <a:ext uri="{A12FA001-AC4F-418D-AE19-62706E023703}">
                      <ahyp:hlinkClr xmlns:ahyp="http://schemas.microsoft.com/office/drawing/2018/hyperlinkcolor" val="tx"/>
                    </a:ext>
                  </a:extLst>
                </a:hlinkClick>
              </a:rPr>
              <a:t>Finance Report. </a:t>
            </a:r>
            <a:r>
              <a:rPr lang="en-US" sz="2000" i="1" spc="-110">
                <a:latin typeface="Aptos"/>
                <a:ea typeface="+mn-lt"/>
                <a:cs typeface="+mn-lt"/>
                <a:hlinkClick r:id="rId5">
                  <a:extLst>
                    <a:ext uri="{A12FA001-AC4F-418D-AE19-62706E023703}">
                      <ahyp:hlinkClr xmlns:ahyp="http://schemas.microsoft.com/office/drawing/2018/hyperlinkcolor" val="tx"/>
                    </a:ext>
                  </a:extLst>
                </a:hlinkClick>
              </a:rPr>
              <a:t>Xerfi (2025, November) Group Report : Tata Motors.</a:t>
            </a:r>
            <a:r>
              <a:rPr lang="en-US" sz="2000" i="1" spc="-110">
                <a:ea typeface="+mn-lt"/>
                <a:cs typeface="+mn-lt"/>
              </a:rPr>
              <a:t> </a:t>
            </a:r>
            <a:endParaRPr lang="en-US" sz="2000" spc="-110">
              <a:ea typeface="+mn-lt"/>
              <a:cs typeface="+mn-lt"/>
            </a:endParaRPr>
          </a:p>
          <a:p>
            <a:pPr>
              <a:lnSpc>
                <a:spcPts val="2200"/>
              </a:lnSpc>
              <a:spcBef>
                <a:spcPct val="0"/>
              </a:spcBef>
            </a:pPr>
            <a:br>
              <a:rPr lang="en-US" sz="2000" spc="-110">
                <a:ea typeface="+mn-lt"/>
                <a:cs typeface="+mn-lt"/>
              </a:rPr>
            </a:br>
            <a:r>
              <a:rPr lang="en-US" sz="2000" spc="-110">
                <a:ea typeface="+mn-lt"/>
                <a:cs typeface="+mn-lt"/>
                <a:hlinkClick r:id="rId6">
                  <a:extLst>
                    <a:ext uri="{A12FA001-AC4F-418D-AE19-62706E023703}">
                      <ahyp:hlinkClr xmlns:ahyp="http://schemas.microsoft.com/office/drawing/2018/hyperlinkcolor" val="tx"/>
                    </a:ext>
                  </a:extLst>
                </a:hlinkClick>
              </a:rPr>
              <a:t>Deloitte  (2025, January). 2025 Global Automotive Consumer Study. Deloitte Insights.</a:t>
            </a:r>
            <a:r>
              <a:rPr lang="en-US" sz="2000" i="1" spc="-110">
                <a:ea typeface="+mn-lt"/>
                <a:cs typeface="+mn-lt"/>
              </a:rPr>
              <a:t> </a:t>
            </a:r>
            <a:endParaRPr lang="en-US" sz="2000" spc="-110">
              <a:ea typeface="+mn-lt"/>
              <a:cs typeface="+mn-lt"/>
            </a:endParaRPr>
          </a:p>
          <a:p>
            <a:pPr>
              <a:lnSpc>
                <a:spcPts val="2200"/>
              </a:lnSpc>
              <a:spcBef>
                <a:spcPct val="0"/>
              </a:spcBef>
            </a:pPr>
            <a:endParaRPr lang="en-US" sz="2000" spc="-110">
              <a:solidFill>
                <a:srgbClr val="000000"/>
              </a:solidFill>
              <a:ea typeface="+mn-lt"/>
              <a:cs typeface="+mn-lt"/>
            </a:endParaRPr>
          </a:p>
        </p:txBody>
      </p:sp>
      <p:sp>
        <p:nvSpPr>
          <p:cNvPr id="15" name="TextBox 10">
            <a:extLst>
              <a:ext uri="{FF2B5EF4-FFF2-40B4-BE49-F238E27FC236}">
                <a16:creationId xmlns:a16="http://schemas.microsoft.com/office/drawing/2014/main" id="{C58D1CE5-5EEF-07BD-2943-AFABDE9FEA6C}"/>
              </a:ext>
            </a:extLst>
          </p:cNvPr>
          <p:cNvSpPr txBox="1"/>
          <p:nvPr/>
        </p:nvSpPr>
        <p:spPr>
          <a:xfrm>
            <a:off x="1658853" y="3223799"/>
            <a:ext cx="8807027" cy="112851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ts val="2200"/>
              </a:lnSpc>
              <a:spcBef>
                <a:spcPct val="0"/>
              </a:spcBef>
              <a:buFont typeface="Wingdings"/>
              <a:buChar char="Ø"/>
            </a:pPr>
            <a:r>
              <a:rPr lang="en-US" sz="2000" spc="-110" err="1">
                <a:solidFill>
                  <a:srgbClr val="000000"/>
                </a:solidFill>
                <a:ea typeface="+mn-lt"/>
                <a:cs typeface="+mn-lt"/>
              </a:rPr>
              <a:t>Splited</a:t>
            </a:r>
            <a:r>
              <a:rPr lang="en-US" sz="2000" spc="-110">
                <a:solidFill>
                  <a:srgbClr val="000000"/>
                </a:solidFill>
                <a:ea typeface="+mn-lt"/>
                <a:cs typeface="+mn-lt"/>
              </a:rPr>
              <a:t> in 3 parts : Premium / Luxury / Ultra Luxury</a:t>
            </a:r>
          </a:p>
          <a:p>
            <a:pPr marL="342900" indent="-342900" algn="just">
              <a:lnSpc>
                <a:spcPts val="2200"/>
              </a:lnSpc>
              <a:spcBef>
                <a:spcPct val="0"/>
              </a:spcBef>
              <a:buFont typeface="Wingdings"/>
              <a:buChar char="Ø"/>
            </a:pPr>
            <a:r>
              <a:rPr lang="en-US" sz="2000" spc="-110">
                <a:solidFill>
                  <a:srgbClr val="000000"/>
                </a:solidFill>
                <a:ea typeface="+mn-lt"/>
                <a:cs typeface="+mn-lt"/>
              </a:rPr>
              <a:t>Multiple options : sportiness, luxurious,  both...</a:t>
            </a:r>
          </a:p>
          <a:p>
            <a:pPr marL="342900" indent="-342900" algn="just">
              <a:lnSpc>
                <a:spcPts val="2200"/>
              </a:lnSpc>
              <a:spcBef>
                <a:spcPct val="0"/>
              </a:spcBef>
              <a:buFont typeface="Wingdings"/>
              <a:buChar char="Ø"/>
            </a:pPr>
            <a:r>
              <a:rPr lang="en-US" sz="2000" spc="-110">
                <a:solidFill>
                  <a:srgbClr val="000000"/>
                </a:solidFill>
                <a:ea typeface="+mn-lt"/>
                <a:cs typeface="+mn-lt"/>
              </a:rPr>
              <a:t>Very wide price range</a:t>
            </a:r>
          </a:p>
          <a:p>
            <a:pPr marL="342900" indent="-342900" algn="just">
              <a:lnSpc>
                <a:spcPts val="2200"/>
              </a:lnSpc>
              <a:spcBef>
                <a:spcPct val="0"/>
              </a:spcBef>
              <a:buFont typeface="Wingdings"/>
              <a:buChar char="Ø"/>
            </a:pPr>
            <a:r>
              <a:rPr lang="en-US" sz="2000" spc="-110">
                <a:solidFill>
                  <a:srgbClr val="000000"/>
                </a:solidFill>
                <a:ea typeface="+mn-lt"/>
                <a:cs typeface="+mn-lt"/>
              </a:rPr>
              <a:t>Big group of brands (Audi, BMW, Mercedes...) with the same proposition / target customers</a:t>
            </a:r>
          </a:p>
        </p:txBody>
      </p:sp>
      <p:sp>
        <p:nvSpPr>
          <p:cNvPr id="16" name="TextBox 10">
            <a:extLst>
              <a:ext uri="{FF2B5EF4-FFF2-40B4-BE49-F238E27FC236}">
                <a16:creationId xmlns:a16="http://schemas.microsoft.com/office/drawing/2014/main" id="{19E61252-5DC3-13FA-3E63-F90AA5D79121}"/>
              </a:ext>
            </a:extLst>
          </p:cNvPr>
          <p:cNvSpPr txBox="1"/>
          <p:nvPr/>
        </p:nvSpPr>
        <p:spPr>
          <a:xfrm>
            <a:off x="1658853" y="5360263"/>
            <a:ext cx="8807027" cy="84638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ts val="2200"/>
              </a:lnSpc>
              <a:spcBef>
                <a:spcPct val="0"/>
              </a:spcBef>
              <a:buFont typeface="Wingdings"/>
              <a:buChar char="Ø"/>
            </a:pPr>
            <a:r>
              <a:rPr lang="en-US" sz="2000" spc="-110">
                <a:solidFill>
                  <a:srgbClr val="000000"/>
                </a:solidFill>
                <a:ea typeface="+mn-lt"/>
                <a:cs typeface="+mn-lt"/>
              </a:rPr>
              <a:t>Becoming more and more electric : Customers will</a:t>
            </a:r>
            <a:r>
              <a:rPr lang="en-US" sz="2000" spc="-110">
                <a:solidFill>
                  <a:srgbClr val="000000"/>
                </a:solidFill>
                <a:ea typeface="Calibri"/>
                <a:cs typeface="Calibri"/>
              </a:rPr>
              <a:t> buy even more electrified cars tomorrow</a:t>
            </a:r>
          </a:p>
          <a:p>
            <a:pPr marL="342900" indent="-342900" algn="just">
              <a:lnSpc>
                <a:spcPts val="2200"/>
              </a:lnSpc>
              <a:spcBef>
                <a:spcPct val="0"/>
              </a:spcBef>
              <a:buFont typeface="Wingdings"/>
              <a:buChar char="Ø"/>
            </a:pPr>
            <a:r>
              <a:rPr lang="en-US" sz="2000" spc="-110">
                <a:solidFill>
                  <a:srgbClr val="000000"/>
                </a:solidFill>
                <a:ea typeface="+mn-lt"/>
                <a:cs typeface="+mn-lt"/>
              </a:rPr>
              <a:t>Two very important things for customers: sportiness and luxury at this price point.</a:t>
            </a:r>
          </a:p>
          <a:p>
            <a:pPr marL="342900" indent="-342900" algn="just">
              <a:lnSpc>
                <a:spcPts val="2200"/>
              </a:lnSpc>
              <a:spcBef>
                <a:spcPct val="0"/>
              </a:spcBef>
              <a:buFont typeface="Wingdings"/>
              <a:buChar char="Ø"/>
            </a:pPr>
            <a:endParaRPr lang="en-US" sz="2000" spc="-110">
              <a:solidFill>
                <a:srgbClr val="000000"/>
              </a:solidFill>
              <a:ea typeface="Calibri"/>
              <a:cs typeface="Calibri"/>
            </a:endParaRPr>
          </a:p>
        </p:txBody>
      </p:sp>
      <p:pic>
        <p:nvPicPr>
          <p:cNvPr id="18" name="Image 17">
            <a:extLst>
              <a:ext uri="{FF2B5EF4-FFF2-40B4-BE49-F238E27FC236}">
                <a16:creationId xmlns:a16="http://schemas.microsoft.com/office/drawing/2014/main" id="{DF12C36B-361C-8C1C-3C6E-6F4BC48D36D9}"/>
              </a:ext>
            </a:extLst>
          </p:cNvPr>
          <p:cNvPicPr>
            <a:picLocks noChangeAspect="1"/>
          </p:cNvPicPr>
          <p:nvPr/>
        </p:nvPicPr>
        <p:blipFill>
          <a:blip r:embed="rId7"/>
          <a:stretch>
            <a:fillRect/>
          </a:stretch>
        </p:blipFill>
        <p:spPr>
          <a:xfrm>
            <a:off x="11937915" y="1098560"/>
            <a:ext cx="7132270" cy="4276725"/>
          </a:xfrm>
          <a:prstGeom prst="rect">
            <a:avLst/>
          </a:prstGeom>
        </p:spPr>
      </p:pic>
      <p:pic>
        <p:nvPicPr>
          <p:cNvPr id="19" name="Image 18">
            <a:extLst>
              <a:ext uri="{FF2B5EF4-FFF2-40B4-BE49-F238E27FC236}">
                <a16:creationId xmlns:a16="http://schemas.microsoft.com/office/drawing/2014/main" id="{BE08591E-FFDC-3186-1654-1CE73FC39045}"/>
              </a:ext>
            </a:extLst>
          </p:cNvPr>
          <p:cNvPicPr>
            <a:picLocks noChangeAspect="1"/>
          </p:cNvPicPr>
          <p:nvPr/>
        </p:nvPicPr>
        <p:blipFill>
          <a:blip r:embed="rId8"/>
          <a:stretch>
            <a:fillRect/>
          </a:stretch>
        </p:blipFill>
        <p:spPr>
          <a:xfrm>
            <a:off x="11942071" y="5713718"/>
            <a:ext cx="7160837" cy="4305300"/>
          </a:xfrm>
          <a:prstGeom prst="rect">
            <a:avLst/>
          </a:prstGeom>
        </p:spPr>
      </p:pic>
    </p:spTree>
    <p:extLst>
      <p:ext uri="{BB962C8B-B14F-4D97-AF65-F5344CB8AC3E}">
        <p14:creationId xmlns:p14="http://schemas.microsoft.com/office/powerpoint/2010/main" val="1134141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66C336-6C2F-1F7B-F7F8-2407E23CEA54}"/>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1E1A1B7C-A77B-9501-4CBC-BFEE0B1EE466}"/>
              </a:ext>
            </a:extLst>
          </p:cNvPr>
          <p:cNvSpPr txBox="1"/>
          <p:nvPr/>
        </p:nvSpPr>
        <p:spPr>
          <a:xfrm>
            <a:off x="700404" y="1262660"/>
            <a:ext cx="18691019" cy="707886"/>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4000" b="1"/>
              <a:t>FOCUS : GLOBAL LUXURY AND ULTRA-LUXURY VEHICLE SALES</a:t>
            </a:r>
            <a:r>
              <a:rPr lang="en-US" sz="4000" b="1">
                <a:solidFill>
                  <a:srgbClr val="000000"/>
                </a:solidFill>
              </a:rPr>
              <a:t> VOLUME BY PRICE BAND</a:t>
            </a:r>
            <a:endParaRPr lang="fr-FR" sz="4000"/>
          </a:p>
        </p:txBody>
      </p:sp>
      <p:sp>
        <p:nvSpPr>
          <p:cNvPr id="3" name="object 2">
            <a:extLst>
              <a:ext uri="{FF2B5EF4-FFF2-40B4-BE49-F238E27FC236}">
                <a16:creationId xmlns:a16="http://schemas.microsoft.com/office/drawing/2014/main" id="{72EDD4FE-B713-014E-2AB3-AC4016DBD681}"/>
              </a:ext>
            </a:extLst>
          </p:cNvPr>
          <p:cNvSpPr txBox="1"/>
          <p:nvPr/>
        </p:nvSpPr>
        <p:spPr>
          <a:xfrm>
            <a:off x="0" y="10460280"/>
            <a:ext cx="4802080" cy="196849"/>
          </a:xfrm>
          <a:prstGeom prst="rect">
            <a:avLst/>
          </a:prstGeom>
        </p:spPr>
        <p:txBody>
          <a:bodyPr vert="horz" wrap="square" lIns="0" tIns="12065" rIns="0" bIns="0" rtlCol="0" anchor="t">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lang="fr-FR" sz="1200" spc="-20">
                <a:solidFill>
                  <a:srgbClr val="262626"/>
                </a:solidFill>
                <a:latin typeface="Microsoft Sans Serif"/>
                <a:cs typeface="Microsoft Sans Serif"/>
              </a:rPr>
              <a:t>202</a:t>
            </a:r>
            <a:endParaRPr sz="1200">
              <a:latin typeface="Microsoft Sans Serif"/>
              <a:cs typeface="Microsoft Sans Serif"/>
            </a:endParaRPr>
          </a:p>
        </p:txBody>
      </p:sp>
      <p:sp>
        <p:nvSpPr>
          <p:cNvPr id="6" name="object 2">
            <a:extLst>
              <a:ext uri="{FF2B5EF4-FFF2-40B4-BE49-F238E27FC236}">
                <a16:creationId xmlns:a16="http://schemas.microsoft.com/office/drawing/2014/main" id="{229266C7-BCD2-5C9C-3F99-0B5F2A85E82E}"/>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BE58F8BA-D9E5-E0BC-0DA1-C9D72ACF6F11}"/>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81E4606F-E89E-CE89-4476-37B98F5E3470}"/>
              </a:ext>
            </a:extLst>
          </p:cNvPr>
          <p:cNvPicPr/>
          <p:nvPr/>
        </p:nvPicPr>
        <p:blipFill>
          <a:blip r:embed="rId2"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CA93CCDB-CDFA-807D-79E8-B6CF8D0A95CB}"/>
              </a:ext>
            </a:extLst>
          </p:cNvPr>
          <p:cNvPicPr/>
          <p:nvPr/>
        </p:nvPicPr>
        <p:blipFill>
          <a:blip r:embed="rId3" cstate="print"/>
          <a:stretch>
            <a:fillRect/>
          </a:stretch>
        </p:blipFill>
        <p:spPr>
          <a:xfrm>
            <a:off x="17726790" y="399568"/>
            <a:ext cx="1233889" cy="263866"/>
          </a:xfrm>
          <a:prstGeom prst="rect">
            <a:avLst/>
          </a:prstGeom>
        </p:spPr>
      </p:pic>
      <p:pic>
        <p:nvPicPr>
          <p:cNvPr id="7" name="Picture 4" descr="A screenshot of a computer&#10;&#10;AI-generated content may be incorrect.">
            <a:extLst>
              <a:ext uri="{FF2B5EF4-FFF2-40B4-BE49-F238E27FC236}">
                <a16:creationId xmlns:a16="http://schemas.microsoft.com/office/drawing/2014/main" id="{7B5D9D04-23E4-4075-BA81-EA11EFDE84D9}"/>
              </a:ext>
            </a:extLst>
          </p:cNvPr>
          <p:cNvPicPr>
            <a:picLocks noChangeAspect="1"/>
          </p:cNvPicPr>
          <p:nvPr/>
        </p:nvPicPr>
        <p:blipFill>
          <a:blip r:embed="rId4">
            <a:extLst>
              <a:ext uri="{28A0092B-C50C-407E-A947-70E740481C1C}">
                <a14:useLocalDpi xmlns:a14="http://schemas.microsoft.com/office/drawing/2010/main" val="0"/>
              </a:ext>
            </a:extLst>
          </a:blip>
          <a:srcRect l="21638" t="48276" r="15603" b="23678"/>
          <a:stretch>
            <a:fillRect/>
          </a:stretch>
        </p:blipFill>
        <p:spPr>
          <a:xfrm>
            <a:off x="587664" y="2650873"/>
            <a:ext cx="8509039" cy="2736400"/>
          </a:xfrm>
          <a:prstGeom prst="rect">
            <a:avLst/>
          </a:prstGeom>
          <a:ln w="57150">
            <a:solidFill>
              <a:schemeClr val="tx2">
                <a:lumMod val="90000"/>
              </a:schemeClr>
            </a:solidFill>
          </a:ln>
        </p:spPr>
      </p:pic>
      <p:sp>
        <p:nvSpPr>
          <p:cNvPr id="9" name="TextBox 9">
            <a:extLst>
              <a:ext uri="{FF2B5EF4-FFF2-40B4-BE49-F238E27FC236}">
                <a16:creationId xmlns:a16="http://schemas.microsoft.com/office/drawing/2014/main" id="{ADA3E56D-089C-EDD3-BFD9-395C1D3F29F3}"/>
              </a:ext>
            </a:extLst>
          </p:cNvPr>
          <p:cNvSpPr txBox="1"/>
          <p:nvPr/>
        </p:nvSpPr>
        <p:spPr>
          <a:xfrm>
            <a:off x="487408" y="5574143"/>
            <a:ext cx="10052052" cy="3471110"/>
          </a:xfrm>
          <a:prstGeom prst="rect">
            <a:avLst/>
          </a:prstGeom>
          <a:noFill/>
        </p:spPr>
        <p:txBody>
          <a:bodyPr wrap="square" lIns="150781" tIns="75390" rIns="150781" bIns="75390" anchor="t">
            <a:spAutoFit/>
          </a:bodyPr>
          <a:lstStyle/>
          <a:p>
            <a:r>
              <a:rPr lang="en-GB" sz="1950" b="1" u="sng"/>
              <a:t>Key Supporting Facts</a:t>
            </a:r>
          </a:p>
          <a:p>
            <a:endParaRPr lang="en-GB" sz="1979" b="1"/>
          </a:p>
          <a:p>
            <a:pPr marL="471170" indent="-471170">
              <a:buFont typeface="Arial" panose="020B0604020202020204" pitchFamily="34" charset="0"/>
              <a:buChar char="•"/>
            </a:pPr>
            <a:r>
              <a:rPr lang="en-GB" sz="1950" b="1"/>
              <a:t>Sales collapse:</a:t>
            </a:r>
            <a:r>
              <a:rPr lang="en-GB" sz="1950"/>
              <a:t> –77.6 % (Jan–May 2025) to only 2 776 cars sold; production paused.</a:t>
            </a:r>
          </a:p>
          <a:p>
            <a:pPr marL="471170" indent="-471170">
              <a:buFont typeface="Arial" panose="020B0604020202020204" pitchFamily="34" charset="0"/>
              <a:buChar char="•"/>
            </a:pPr>
            <a:r>
              <a:rPr lang="en-GB" sz="1950" b="1"/>
              <a:t>Market shift:</a:t>
            </a:r>
            <a:r>
              <a:rPr lang="en-GB" sz="1950"/>
              <a:t> Luxury EV segment = $35 bn (+10 % CAG).</a:t>
            </a:r>
          </a:p>
          <a:p>
            <a:pPr marL="471170" indent="-471170">
              <a:buFont typeface="Arial" panose="020B0604020202020204" pitchFamily="34" charset="0"/>
              <a:buChar char="•"/>
            </a:pPr>
            <a:r>
              <a:rPr lang="en-GB" sz="1950" b="1"/>
              <a:t>Trade deal (US–UK 2025):</a:t>
            </a:r>
            <a:r>
              <a:rPr lang="en-GB" sz="1950"/>
              <a:t> tariffs cut from 27.5 % to 10 %, quota 100 000 cars/year.</a:t>
            </a:r>
          </a:p>
          <a:p>
            <a:pPr marL="471170" indent="-471170">
              <a:buFont typeface="Arial" panose="020B0604020202020204" pitchFamily="34" charset="0"/>
              <a:buChar char="•"/>
            </a:pPr>
            <a:r>
              <a:rPr lang="en-GB" sz="1950" b="1"/>
              <a:t>Strategic logic:</a:t>
            </a:r>
            <a:r>
              <a:rPr lang="en-GB" sz="1950"/>
              <a:t> Differentiation → exclusivity over volume + “Electric British Elegance.”</a:t>
            </a:r>
          </a:p>
          <a:p>
            <a:endParaRPr lang="en-GB" sz="1979"/>
          </a:p>
          <a:p>
            <a:pPr marL="342900" indent="-342900">
              <a:buFont typeface="Arial" panose="020B0604020202020204" pitchFamily="34" charset="0"/>
              <a:buChar char="•"/>
            </a:pPr>
            <a:endParaRPr lang="en-GB" sz="1979" b="1" u="sng"/>
          </a:p>
          <a:p>
            <a:endParaRPr lang="en-GB" sz="1979"/>
          </a:p>
        </p:txBody>
      </p:sp>
      <p:pic>
        <p:nvPicPr>
          <p:cNvPr id="12" name="Picture 7" descr="Une image contenant texte, capture d’écran, Police, logiciel&#10;&#10;Le contenu généré par l’IA peut être incorrect.">
            <a:extLst>
              <a:ext uri="{FF2B5EF4-FFF2-40B4-BE49-F238E27FC236}">
                <a16:creationId xmlns:a16="http://schemas.microsoft.com/office/drawing/2014/main" id="{A4A1F28C-A750-4F09-133F-973C1BEB76B6}"/>
              </a:ext>
            </a:extLst>
          </p:cNvPr>
          <p:cNvPicPr>
            <a:picLocks noChangeAspect="1"/>
          </p:cNvPicPr>
          <p:nvPr/>
        </p:nvPicPr>
        <p:blipFill>
          <a:blip r:embed="rId5"/>
          <a:stretch>
            <a:fillRect/>
          </a:stretch>
        </p:blipFill>
        <p:spPr>
          <a:xfrm>
            <a:off x="10738800" y="5656846"/>
            <a:ext cx="7615003" cy="4049855"/>
          </a:xfrm>
          <a:prstGeom prst="rect">
            <a:avLst/>
          </a:prstGeom>
          <a:ln>
            <a:noFill/>
          </a:ln>
        </p:spPr>
      </p:pic>
      <p:sp>
        <p:nvSpPr>
          <p:cNvPr id="15" name="TextBox 1">
            <a:extLst>
              <a:ext uri="{FF2B5EF4-FFF2-40B4-BE49-F238E27FC236}">
                <a16:creationId xmlns:a16="http://schemas.microsoft.com/office/drawing/2014/main" id="{B58A6B12-E87E-F551-A648-61A3DEE3FB87}"/>
              </a:ext>
            </a:extLst>
          </p:cNvPr>
          <p:cNvSpPr txBox="1"/>
          <p:nvPr/>
        </p:nvSpPr>
        <p:spPr>
          <a:xfrm>
            <a:off x="10632941" y="2403590"/>
            <a:ext cx="8951540" cy="3570208"/>
          </a:xfrm>
          <a:prstGeom prst="rect">
            <a:avLst/>
          </a:prstGeom>
          <a:noFill/>
        </p:spPr>
        <p:txBody>
          <a:bodyPr wrap="square" lIns="91440" tIns="45720" rIns="91440" bIns="45720" rtlCol="0" anchor="t">
            <a:spAutoFit/>
          </a:bodyPr>
          <a:lstStyle/>
          <a:p>
            <a:r>
              <a:rPr lang="en-GB"/>
              <a:t>Jaguar’s fearless strategy comes with significant challenges:</a:t>
            </a:r>
            <a:endParaRPr lang="en-GB">
              <a:solidFill>
                <a:srgbClr val="000000"/>
              </a:solidFill>
            </a:endParaRPr>
          </a:p>
          <a:p>
            <a:endParaRPr lang="en-GB"/>
          </a:p>
          <a:p>
            <a:pPr marL="471170" indent="-471170" algn="just">
              <a:buFont typeface="Arial" panose="020B0604020202020204" pitchFamily="34" charset="0"/>
              <a:buChar char="•"/>
            </a:pPr>
            <a:r>
              <a:rPr lang="en-GB"/>
              <a:t>Customer retention: Jaguar predicts retaining only 15% of its current customer base, a dramatic shift from its traditional loyalists.</a:t>
            </a:r>
          </a:p>
          <a:p>
            <a:pPr marL="471170" indent="-471170" algn="just">
              <a:buFont typeface="Arial" panose="020B0604020202020204" pitchFamily="34" charset="0"/>
              <a:buChar char="•"/>
            </a:pPr>
            <a:r>
              <a:rPr lang="en-GB"/>
              <a:t>Market demand: Questions remain about whether the ultra-luxury EV segment can sustain the aggressive pricing strategy.</a:t>
            </a:r>
          </a:p>
          <a:p>
            <a:pPr marL="471170" indent="-471170" algn="just">
              <a:buFont typeface="Arial" panose="020B0604020202020204" pitchFamily="34" charset="0"/>
              <a:buChar char="•"/>
            </a:pPr>
            <a:r>
              <a:rPr lang="en-GB"/>
              <a:t>Production gap: The company will have no new luxury vehicles until the electric lineup launches in late 2025 or early 2026, risking a loss of market relevance.</a:t>
            </a:r>
          </a:p>
          <a:p>
            <a:pPr marL="471170" indent="-471170" algn="just">
              <a:buFont typeface="Arial" panose="020B0604020202020204" pitchFamily="34" charset="0"/>
              <a:buChar char="•"/>
            </a:pPr>
            <a:r>
              <a:rPr lang="en-GB"/>
              <a:t>Brand identity: Alienating long-time enthusiasts in favour of a new, younger demographic may come at a cost.</a:t>
            </a:r>
          </a:p>
          <a:p>
            <a:br>
              <a:rPr lang="en-GB" sz="2300"/>
            </a:br>
            <a:endParaRPr lang="en-US" sz="2300"/>
          </a:p>
        </p:txBody>
      </p:sp>
      <p:sp>
        <p:nvSpPr>
          <p:cNvPr id="18" name="ZoneTexte 17">
            <a:extLst>
              <a:ext uri="{FF2B5EF4-FFF2-40B4-BE49-F238E27FC236}">
                <a16:creationId xmlns:a16="http://schemas.microsoft.com/office/drawing/2014/main" id="{40C5853D-7980-B237-FE5D-80C312BC855E}"/>
              </a:ext>
            </a:extLst>
          </p:cNvPr>
          <p:cNvSpPr txBox="1"/>
          <p:nvPr/>
        </p:nvSpPr>
        <p:spPr>
          <a:xfrm>
            <a:off x="592872" y="8390729"/>
            <a:ext cx="10052050" cy="1310359"/>
          </a:xfrm>
          <a:prstGeom prst="rect">
            <a:avLst/>
          </a:prstGeom>
          <a:noFill/>
          <a:ln>
            <a:noFill/>
          </a:ln>
        </p:spPr>
        <p:txBody>
          <a:bodyPr wrap="square">
            <a:spAutoFit/>
          </a:bodyPr>
          <a:lstStyle/>
          <a:p>
            <a:r>
              <a:rPr lang="en-GB" sz="1319" u="sng">
                <a:cs typeface="Times New Roman"/>
                <a:hlinkClick r:id="rId6">
                  <a:extLst>
                    <a:ext uri="{A12FA001-AC4F-418D-AE19-62706E023703}">
                      <ahyp:hlinkClr xmlns:ahyp="http://schemas.microsoft.com/office/drawing/2018/hyperlinkcolor" val="tx"/>
                    </a:ext>
                  </a:extLst>
                </a:hlinkClick>
              </a:rPr>
              <a:t>SOURCES</a:t>
            </a:r>
          </a:p>
          <a:p>
            <a:pPr marL="282721" indent="-282721">
              <a:buFont typeface="Arial"/>
              <a:buChar char="•"/>
            </a:pPr>
            <a:r>
              <a:rPr lang="en-GB" sz="1319">
                <a:cs typeface="Times New Roman"/>
                <a:hlinkClick r:id="rId6">
                  <a:extLst>
                    <a:ext uri="{A12FA001-AC4F-418D-AE19-62706E023703}">
                      <ahyp:hlinkClr xmlns:ahyp="http://schemas.microsoft.com/office/drawing/2018/hyperlinkcolor" val="tx"/>
                    </a:ext>
                  </a:extLst>
                </a:hlinkClick>
              </a:rPr>
              <a:t>Mikulic, M. (2025, 28 </a:t>
            </a:r>
            <a:r>
              <a:rPr lang="en-GB" sz="1319" err="1">
                <a:cs typeface="Times New Roman"/>
                <a:hlinkClick r:id="rId6">
                  <a:extLst>
                    <a:ext uri="{A12FA001-AC4F-418D-AE19-62706E023703}">
                      <ahyp:hlinkClr xmlns:ahyp="http://schemas.microsoft.com/office/drawing/2018/hyperlinkcolor" val="tx"/>
                    </a:ext>
                  </a:extLst>
                </a:hlinkClick>
              </a:rPr>
              <a:t>octobre</a:t>
            </a:r>
            <a:r>
              <a:rPr lang="en-GB" sz="1319">
                <a:cs typeface="Times New Roman"/>
                <a:hlinkClick r:id="rId6">
                  <a:extLst>
                    <a:ext uri="{A12FA001-AC4F-418D-AE19-62706E023703}">
                      <ahyp:hlinkClr xmlns:ahyp="http://schemas.microsoft.com/office/drawing/2018/hyperlinkcolor" val="tx"/>
                    </a:ext>
                  </a:extLst>
                </a:hlinkClick>
              </a:rPr>
              <a:t>). </a:t>
            </a:r>
            <a:r>
              <a:rPr lang="en-GB" sz="1319" i="1">
                <a:cs typeface="Times New Roman"/>
                <a:hlinkClick r:id="rId6">
                  <a:extLst>
                    <a:ext uri="{A12FA001-AC4F-418D-AE19-62706E023703}">
                      <ahyp:hlinkClr xmlns:ahyp="http://schemas.microsoft.com/office/drawing/2018/hyperlinkcolor" val="tx"/>
                    </a:ext>
                  </a:extLst>
                </a:hlinkClick>
              </a:rPr>
              <a:t>The most profitable luxury car brand isn’t Porsche or BMW</a:t>
            </a:r>
            <a:r>
              <a:rPr lang="en-GB" sz="1319">
                <a:cs typeface="Times New Roman"/>
                <a:hlinkClick r:id="rId6">
                  <a:extLst>
                    <a:ext uri="{A12FA001-AC4F-418D-AE19-62706E023703}">
                      <ahyp:hlinkClr xmlns:ahyp="http://schemas.microsoft.com/office/drawing/2018/hyperlinkcolor" val="tx"/>
                    </a:ext>
                  </a:extLst>
                </a:hlinkClick>
              </a:rPr>
              <a:t>. </a:t>
            </a:r>
            <a:r>
              <a:rPr lang="en-GB" sz="1319" err="1">
                <a:cs typeface="Times New Roman"/>
                <a:hlinkClick r:id="rId6">
                  <a:extLst>
                    <a:ext uri="{A12FA001-AC4F-418D-AE19-62706E023703}">
                      <ahyp:hlinkClr xmlns:ahyp="http://schemas.microsoft.com/office/drawing/2018/hyperlinkcolor" val="tx"/>
                    </a:ext>
                  </a:extLst>
                </a:hlinkClick>
              </a:rPr>
              <a:t>SlashGear</a:t>
            </a:r>
            <a:r>
              <a:rPr lang="en-GB" sz="1319">
                <a:cs typeface="Times New Roman"/>
                <a:hlinkClick r:id="rId6">
                  <a:extLst>
                    <a:ext uri="{A12FA001-AC4F-418D-AE19-62706E023703}">
                      <ahyp:hlinkClr xmlns:ahyp="http://schemas.microsoft.com/office/drawing/2018/hyperlinkcolor" val="tx"/>
                    </a:ext>
                  </a:extLst>
                </a:hlinkClick>
              </a:rPr>
              <a:t>.</a:t>
            </a:r>
            <a:r>
              <a:rPr lang="en-GB" sz="1319">
                <a:cs typeface="Times New Roman"/>
              </a:rPr>
              <a:t> </a:t>
            </a:r>
            <a:endParaRPr lang="en-GB" sz="1319"/>
          </a:p>
          <a:p>
            <a:pPr marL="282721" indent="-282721">
              <a:buFont typeface="Arial"/>
              <a:buChar char="•"/>
            </a:pPr>
            <a:r>
              <a:rPr lang="en-US" sz="1319">
                <a:ea typeface="+mn-lt"/>
                <a:cs typeface="+mn-lt"/>
                <a:hlinkClick r:id="rId7">
                  <a:extLst>
                    <a:ext uri="{A12FA001-AC4F-418D-AE19-62706E023703}">
                      <ahyp:hlinkClr xmlns:ahyp="http://schemas.microsoft.com/office/drawing/2018/hyperlinkcolor" val="tx"/>
                    </a:ext>
                  </a:extLst>
                </a:hlinkClick>
              </a:rPr>
              <a:t>Fiches-Auto. (n.d.). </a:t>
            </a:r>
            <a:r>
              <a:rPr lang="en-US" sz="1319" i="1">
                <a:ea typeface="+mn-lt"/>
                <a:cs typeface="+mn-lt"/>
                <a:hlinkClick r:id="rId7">
                  <a:extLst>
                    <a:ext uri="{A12FA001-AC4F-418D-AE19-62706E023703}">
                      <ahyp:hlinkClr xmlns:ahyp="http://schemas.microsoft.com/office/drawing/2018/hyperlinkcolor" val="tx"/>
                    </a:ext>
                  </a:extLst>
                </a:hlinkClick>
              </a:rPr>
              <a:t>Nombre de ventes dans le monde – Jaguar</a:t>
            </a:r>
            <a:r>
              <a:rPr lang="en-US" sz="1319">
                <a:ea typeface="+mn-lt"/>
                <a:cs typeface="+mn-lt"/>
                <a:hlinkClick r:id="rId7">
                  <a:extLst>
                    <a:ext uri="{A12FA001-AC4F-418D-AE19-62706E023703}">
                      <ahyp:hlinkClr xmlns:ahyp="http://schemas.microsoft.com/office/drawing/2018/hyperlinkcolor" val="tx"/>
                    </a:ext>
                  </a:extLst>
                </a:hlinkClick>
              </a:rPr>
              <a:t>. Retrieved [date you accessed the site], </a:t>
            </a:r>
            <a:endParaRPr lang="en-US" sz="1319"/>
          </a:p>
          <a:p>
            <a:pPr marL="282721" indent="-282721">
              <a:buFont typeface="Arial"/>
              <a:buChar char="•"/>
            </a:pPr>
            <a:r>
              <a:rPr lang="en-US" sz="1319" err="1">
                <a:cs typeface="Times New Roman"/>
                <a:hlinkClick r:id="rId8">
                  <a:extLst>
                    <a:ext uri="{A12FA001-AC4F-418D-AE19-62706E023703}">
                      <ahyp:hlinkClr xmlns:ahyp="http://schemas.microsoft.com/office/drawing/2018/hyperlinkcolor" val="tx"/>
                    </a:ext>
                  </a:extLst>
                </a:hlinkClick>
              </a:rPr>
              <a:t>Pannaud</a:t>
            </a:r>
            <a:r>
              <a:rPr lang="en-US" sz="1319">
                <a:cs typeface="Times New Roman"/>
                <a:hlinkClick r:id="rId8">
                  <a:extLst>
                    <a:ext uri="{A12FA001-AC4F-418D-AE19-62706E023703}">
                      <ahyp:hlinkClr xmlns:ahyp="http://schemas.microsoft.com/office/drawing/2018/hyperlinkcolor" val="tx"/>
                    </a:ext>
                  </a:extLst>
                </a:hlinkClick>
              </a:rPr>
              <a:t>, Q. (2025, 4 </a:t>
            </a:r>
            <a:r>
              <a:rPr lang="en-US" sz="1319" err="1">
                <a:cs typeface="Times New Roman"/>
                <a:hlinkClick r:id="rId8">
                  <a:extLst>
                    <a:ext uri="{A12FA001-AC4F-418D-AE19-62706E023703}">
                      <ahyp:hlinkClr xmlns:ahyp="http://schemas.microsoft.com/office/drawing/2018/hyperlinkcolor" val="tx"/>
                    </a:ext>
                  </a:extLst>
                </a:hlinkClick>
              </a:rPr>
              <a:t>juillet</a:t>
            </a:r>
            <a:r>
              <a:rPr lang="en-US" sz="1319">
                <a:cs typeface="Times New Roman"/>
                <a:hlinkClick r:id="rId8">
                  <a:extLst>
                    <a:ext uri="{A12FA001-AC4F-418D-AE19-62706E023703}">
                      <ahyp:hlinkClr xmlns:ahyp="http://schemas.microsoft.com/office/drawing/2018/hyperlinkcolor" val="tx"/>
                    </a:ext>
                  </a:extLst>
                </a:hlinkClick>
              </a:rPr>
              <a:t>). Jaguar : comment le </a:t>
            </a:r>
            <a:r>
              <a:rPr lang="en-US" sz="1319" err="1">
                <a:cs typeface="Times New Roman"/>
                <a:hlinkClick r:id="rId8">
                  <a:extLst>
                    <a:ext uri="{A12FA001-AC4F-418D-AE19-62706E023703}">
                      <ahyp:hlinkClr xmlns:ahyp="http://schemas.microsoft.com/office/drawing/2018/hyperlinkcolor" val="tx"/>
                    </a:ext>
                  </a:extLst>
                </a:hlinkClick>
              </a:rPr>
              <a:t>géant</a:t>
            </a:r>
            <a:r>
              <a:rPr lang="en-US" sz="1319">
                <a:cs typeface="Times New Roman"/>
                <a:hlinkClick r:id="rId8">
                  <a:extLst>
                    <a:ext uri="{A12FA001-AC4F-418D-AE19-62706E023703}">
                      <ahyp:hlinkClr xmlns:ahyp="http://schemas.microsoft.com/office/drawing/2018/hyperlinkcolor" val="tx"/>
                    </a:ext>
                  </a:extLst>
                </a:hlinkClick>
              </a:rPr>
              <a:t> anglais du luxe est </a:t>
            </a:r>
            <a:r>
              <a:rPr lang="en-US" sz="1319" err="1">
                <a:cs typeface="Times New Roman"/>
                <a:hlinkClick r:id="rId8">
                  <a:extLst>
                    <a:ext uri="{A12FA001-AC4F-418D-AE19-62706E023703}">
                      <ahyp:hlinkClr xmlns:ahyp="http://schemas.microsoft.com/office/drawing/2018/hyperlinkcolor" val="tx"/>
                    </a:ext>
                  </a:extLst>
                </a:hlinkClick>
              </a:rPr>
              <a:t>devenu</a:t>
            </a:r>
            <a:r>
              <a:rPr lang="en-US" sz="1319">
                <a:cs typeface="Times New Roman"/>
                <a:hlinkClick r:id="rId8">
                  <a:extLst>
                    <a:ext uri="{A12FA001-AC4F-418D-AE19-62706E023703}">
                      <ahyp:hlinkClr xmlns:ahyp="http://schemas.microsoft.com/office/drawing/2018/hyperlinkcolor" val="tx"/>
                    </a:ext>
                  </a:extLst>
                </a:hlinkClick>
              </a:rPr>
              <a:t> un </a:t>
            </a:r>
            <a:r>
              <a:rPr lang="en-US" sz="1319" err="1">
                <a:cs typeface="Times New Roman"/>
                <a:hlinkClick r:id="rId8">
                  <a:extLst>
                    <a:ext uri="{A12FA001-AC4F-418D-AE19-62706E023703}">
                      <ahyp:hlinkClr xmlns:ahyp="http://schemas.microsoft.com/office/drawing/2018/hyperlinkcolor" val="tx"/>
                    </a:ext>
                  </a:extLst>
                </a:hlinkClick>
              </a:rPr>
              <a:t>nain</a:t>
            </a:r>
            <a:r>
              <a:rPr lang="en-US" sz="1319">
                <a:cs typeface="Times New Roman"/>
                <a:hlinkClick r:id="rId8">
                  <a:extLst>
                    <a:ext uri="{A12FA001-AC4F-418D-AE19-62706E023703}">
                      <ahyp:hlinkClr xmlns:ahyp="http://schemas.microsoft.com/office/drawing/2018/hyperlinkcolor" val="tx"/>
                    </a:ext>
                  </a:extLst>
                </a:hlinkClick>
              </a:rPr>
              <a:t> </a:t>
            </a:r>
            <a:r>
              <a:rPr lang="en-US" sz="1319" err="1">
                <a:cs typeface="Times New Roman"/>
                <a:hlinkClick r:id="rId8">
                  <a:extLst>
                    <a:ext uri="{A12FA001-AC4F-418D-AE19-62706E023703}">
                      <ahyp:hlinkClr xmlns:ahyp="http://schemas.microsoft.com/office/drawing/2018/hyperlinkcolor" val="tx"/>
                    </a:ext>
                  </a:extLst>
                </a:hlinkClick>
              </a:rPr>
              <a:t>européen</a:t>
            </a:r>
            <a:r>
              <a:rPr lang="en-US" sz="1319">
                <a:cs typeface="Times New Roman"/>
                <a:hlinkClick r:id="rId8">
                  <a:extLst>
                    <a:ext uri="{A12FA001-AC4F-418D-AE19-62706E023703}">
                      <ahyp:hlinkClr xmlns:ahyp="http://schemas.microsoft.com/office/drawing/2018/hyperlinkcolor" val="tx"/>
                    </a:ext>
                  </a:extLst>
                </a:hlinkClick>
              </a:rPr>
              <a:t>. </a:t>
            </a:r>
            <a:r>
              <a:rPr lang="en-US" sz="1319" i="1">
                <a:cs typeface="Times New Roman"/>
                <a:hlinkClick r:id="rId8">
                  <a:extLst>
                    <a:ext uri="{A12FA001-AC4F-418D-AE19-62706E023703}">
                      <ahyp:hlinkClr xmlns:ahyp="http://schemas.microsoft.com/office/drawing/2018/hyperlinkcolor" val="tx"/>
                    </a:ext>
                  </a:extLst>
                </a:hlinkClick>
              </a:rPr>
              <a:t>Auto Journal</a:t>
            </a:r>
            <a:r>
              <a:rPr lang="en-US" sz="1319">
                <a:cs typeface="Times New Roman"/>
                <a:hlinkClick r:id="rId8">
                  <a:extLst>
                    <a:ext uri="{A12FA001-AC4F-418D-AE19-62706E023703}">
                      <ahyp:hlinkClr xmlns:ahyp="http://schemas.microsoft.com/office/drawing/2018/hyperlinkcolor" val="tx"/>
                    </a:ext>
                  </a:extLst>
                </a:hlinkClick>
              </a:rPr>
              <a:t>. </a:t>
            </a:r>
            <a:endParaRPr lang="en-US" sz="1319">
              <a:ea typeface="+mn-lt"/>
              <a:cs typeface="Times New Roman"/>
            </a:endParaRPr>
          </a:p>
          <a:p>
            <a:pPr marL="282721" indent="-282721">
              <a:buFont typeface="Arial"/>
              <a:buChar char="•"/>
            </a:pPr>
            <a:r>
              <a:rPr lang="en-US" sz="1319">
                <a:ea typeface="+mn-lt"/>
                <a:cs typeface="+mn-lt"/>
                <a:hlinkClick r:id="rId9">
                  <a:extLst>
                    <a:ext uri="{A12FA001-AC4F-418D-AE19-62706E023703}">
                      <ahyp:hlinkClr xmlns:ahyp="http://schemas.microsoft.com/office/drawing/2018/hyperlinkcolor" val="tx"/>
                    </a:ext>
                  </a:extLst>
                </a:hlinkClick>
              </a:rPr>
              <a:t>Le Monde. (2025, May 8). </a:t>
            </a:r>
            <a:r>
              <a:rPr lang="en-US" sz="1319" i="1">
                <a:ea typeface="+mn-lt"/>
                <a:cs typeface="+mn-lt"/>
                <a:hlinkClick r:id="rId9">
                  <a:extLst>
                    <a:ext uri="{A12FA001-AC4F-418D-AE19-62706E023703}">
                      <ahyp:hlinkClr xmlns:ahyp="http://schemas.microsoft.com/office/drawing/2018/hyperlinkcolor" val="tx"/>
                    </a:ext>
                  </a:extLst>
                </a:hlinkClick>
              </a:rPr>
              <a:t>Trump, Starmer announce US-UK trade agreement</a:t>
            </a:r>
            <a:r>
              <a:rPr lang="en-US" sz="1319">
                <a:ea typeface="+mn-lt"/>
                <a:cs typeface="+mn-lt"/>
                <a:hlinkClick r:id="rId9">
                  <a:extLst>
                    <a:ext uri="{A12FA001-AC4F-418D-AE19-62706E023703}">
                      <ahyp:hlinkClr xmlns:ahyp="http://schemas.microsoft.com/office/drawing/2018/hyperlinkcolor" val="tx"/>
                    </a:ext>
                  </a:extLst>
                </a:hlinkClick>
              </a:rPr>
              <a:t>. Le Monde</a:t>
            </a:r>
            <a:r>
              <a:rPr lang="en-US" sz="1319">
                <a:ea typeface="+mn-lt"/>
                <a:cs typeface="+mn-lt"/>
              </a:rPr>
              <a:t>. </a:t>
            </a:r>
            <a:endParaRPr lang="en-US" sz="1319">
              <a:cs typeface="Times New Roman"/>
            </a:endParaRPr>
          </a:p>
          <a:p>
            <a:pPr marL="282721" indent="-282721">
              <a:buFont typeface="Arial"/>
              <a:buChar char="•"/>
            </a:pPr>
            <a:r>
              <a:rPr lang="en-GB" sz="1319">
                <a:cs typeface="Times New Roman"/>
                <a:hlinkClick r:id="rId10">
                  <a:extLst>
                    <a:ext uri="{A12FA001-AC4F-418D-AE19-62706E023703}">
                      <ahyp:hlinkClr xmlns:ahyp="http://schemas.microsoft.com/office/drawing/2018/hyperlinkcolor" val="tx"/>
                    </a:ext>
                  </a:extLst>
                </a:hlinkClick>
              </a:rPr>
              <a:t>Laia. (2025, 3 </a:t>
            </a:r>
            <a:r>
              <a:rPr lang="en-GB" sz="1319" err="1">
                <a:cs typeface="Times New Roman"/>
                <a:hlinkClick r:id="rId10">
                  <a:extLst>
                    <a:ext uri="{A12FA001-AC4F-418D-AE19-62706E023703}">
                      <ahyp:hlinkClr xmlns:ahyp="http://schemas.microsoft.com/office/drawing/2018/hyperlinkcolor" val="tx"/>
                    </a:ext>
                  </a:extLst>
                </a:hlinkClick>
              </a:rPr>
              <a:t>octobre</a:t>
            </a:r>
            <a:r>
              <a:rPr lang="en-GB" sz="1319">
                <a:cs typeface="Times New Roman"/>
                <a:hlinkClick r:id="rId10">
                  <a:extLst>
                    <a:ext uri="{A12FA001-AC4F-418D-AE19-62706E023703}">
                      <ahyp:hlinkClr xmlns:ahyp="http://schemas.microsoft.com/office/drawing/2018/hyperlinkcolor" val="tx"/>
                    </a:ext>
                  </a:extLst>
                </a:hlinkClick>
              </a:rPr>
              <a:t>). </a:t>
            </a:r>
            <a:r>
              <a:rPr lang="en-GB" sz="1319" i="1">
                <a:cs typeface="Times New Roman"/>
                <a:hlinkClick r:id="rId10">
                  <a:extLst>
                    <a:ext uri="{A12FA001-AC4F-418D-AE19-62706E023703}">
                      <ahyp:hlinkClr xmlns:ahyp="http://schemas.microsoft.com/office/drawing/2018/hyperlinkcolor" val="tx"/>
                    </a:ext>
                  </a:extLst>
                </a:hlinkClick>
              </a:rPr>
              <a:t>Luxury Car Market Projections 2025-2034 by Global Market Insights</a:t>
            </a:r>
            <a:r>
              <a:rPr lang="en-GB" sz="1319">
                <a:cs typeface="Times New Roman"/>
                <a:hlinkClick r:id="rId10">
                  <a:extLst>
                    <a:ext uri="{A12FA001-AC4F-418D-AE19-62706E023703}">
                      <ahyp:hlinkClr xmlns:ahyp="http://schemas.microsoft.com/office/drawing/2018/hyperlinkcolor" val="tx"/>
                    </a:ext>
                  </a:extLst>
                </a:hlinkClick>
              </a:rPr>
              <a:t>. WLCC</a:t>
            </a:r>
            <a:endParaRPr lang="en-GB" sz="1319">
              <a:cs typeface="Times New Roman"/>
            </a:endParaRPr>
          </a:p>
        </p:txBody>
      </p:sp>
    </p:spTree>
    <p:extLst>
      <p:ext uri="{BB962C8B-B14F-4D97-AF65-F5344CB8AC3E}">
        <p14:creationId xmlns:p14="http://schemas.microsoft.com/office/powerpoint/2010/main" val="2357684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4E1920-C213-BE56-07F9-2F8703040845}"/>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F647E8DD-865E-2E6E-CDF2-E0FC9D63909B}"/>
              </a:ext>
            </a:extLst>
          </p:cNvPr>
          <p:cNvSpPr txBox="1"/>
          <p:nvPr/>
        </p:nvSpPr>
        <p:spPr>
          <a:xfrm>
            <a:off x="4058522" y="727319"/>
            <a:ext cx="11970000" cy="707886"/>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4000" b="1">
                <a:solidFill>
                  <a:srgbClr val="000000"/>
                </a:solidFill>
              </a:rPr>
              <a:t>HOW TO LEAD IN THE LUXURY AUTOMOTIVE FUTURE</a:t>
            </a:r>
            <a:endParaRPr lang="fr-FR"/>
          </a:p>
        </p:txBody>
      </p:sp>
      <p:sp>
        <p:nvSpPr>
          <p:cNvPr id="3" name="object 2">
            <a:extLst>
              <a:ext uri="{FF2B5EF4-FFF2-40B4-BE49-F238E27FC236}">
                <a16:creationId xmlns:a16="http://schemas.microsoft.com/office/drawing/2014/main" id="{59F2FF37-4799-B302-943C-5AED52B8F78F}"/>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object 2">
            <a:extLst>
              <a:ext uri="{FF2B5EF4-FFF2-40B4-BE49-F238E27FC236}">
                <a16:creationId xmlns:a16="http://schemas.microsoft.com/office/drawing/2014/main" id="{B057E36B-C429-1052-3E13-D302F4515F99}"/>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1FBDEBFF-7654-E6E9-BB9A-36EB85D965D8}"/>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B0DDBA34-4825-40FF-0494-8820C8CE73A8}"/>
              </a:ext>
            </a:extLst>
          </p:cNvPr>
          <p:cNvPicPr/>
          <p:nvPr/>
        </p:nvPicPr>
        <p:blipFill>
          <a:blip r:embed="rId2"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D3FB6488-5CB9-EA55-012B-4CE902259D29}"/>
              </a:ext>
            </a:extLst>
          </p:cNvPr>
          <p:cNvPicPr/>
          <p:nvPr/>
        </p:nvPicPr>
        <p:blipFill>
          <a:blip r:embed="rId3" cstate="print"/>
          <a:stretch>
            <a:fillRect/>
          </a:stretch>
        </p:blipFill>
        <p:spPr>
          <a:xfrm>
            <a:off x="17726790" y="399568"/>
            <a:ext cx="1233889" cy="263866"/>
          </a:xfrm>
          <a:prstGeom prst="rect">
            <a:avLst/>
          </a:prstGeom>
        </p:spPr>
      </p:pic>
      <p:sp>
        <p:nvSpPr>
          <p:cNvPr id="12" name="TextBox 4">
            <a:extLst>
              <a:ext uri="{FF2B5EF4-FFF2-40B4-BE49-F238E27FC236}">
                <a16:creationId xmlns:a16="http://schemas.microsoft.com/office/drawing/2014/main" id="{BA20F68D-3037-89CD-19CE-0ADC99F37F95}"/>
              </a:ext>
            </a:extLst>
          </p:cNvPr>
          <p:cNvSpPr txBox="1"/>
          <p:nvPr/>
        </p:nvSpPr>
        <p:spPr>
          <a:xfrm>
            <a:off x="1958943" y="1723082"/>
            <a:ext cx="16168363" cy="8458252"/>
          </a:xfrm>
          <a:prstGeom prst="rect">
            <a:avLst/>
          </a:prstGeom>
          <a:ln>
            <a:solidFill>
              <a:schemeClr val="tx2"/>
            </a:solidFill>
          </a:ln>
        </p:spPr>
        <p:txBody>
          <a:bodyPr vert="horz" lIns="150781" tIns="75390" rIns="150781" bIns="75390" rtlCol="0" anchor="ctr">
            <a:noAutofit/>
          </a:bodyPr>
          <a:lstStyle/>
          <a:p>
            <a:pPr algn="ctr">
              <a:lnSpc>
                <a:spcPct val="90000"/>
              </a:lnSpc>
              <a:spcAft>
                <a:spcPts val="1319"/>
              </a:spcAft>
            </a:pPr>
            <a:r>
              <a:rPr lang="en-US" sz="2300" b="1">
                <a:solidFill>
                  <a:schemeClr val="tx2"/>
                </a:solidFill>
              </a:rPr>
              <a:t>5 Strategies to Get Ahead in the Luxury Vehicle Market (by </a:t>
            </a:r>
            <a:r>
              <a:rPr lang="en-US" sz="2300" b="1" err="1">
                <a:solidFill>
                  <a:schemeClr val="tx2"/>
                </a:solidFill>
              </a:rPr>
              <a:t>OliverWyman</a:t>
            </a:r>
            <a:r>
              <a:rPr lang="en-US" sz="2300" b="1">
                <a:solidFill>
                  <a:schemeClr val="tx2"/>
                </a:solidFill>
              </a:rPr>
              <a:t>)</a:t>
            </a:r>
          </a:p>
          <a:p>
            <a:pPr marL="376555" indent="-376555">
              <a:lnSpc>
                <a:spcPct val="90000"/>
              </a:lnSpc>
              <a:spcAft>
                <a:spcPts val="1319"/>
              </a:spcAft>
              <a:buAutoNum type="arabicPeriod"/>
            </a:pPr>
            <a:r>
              <a:rPr lang="en-US" sz="2300" b="1">
                <a:solidFill>
                  <a:schemeClr val="tx2"/>
                </a:solidFill>
              </a:rPr>
              <a:t>Accelerate portfolio upgrade</a:t>
            </a:r>
            <a:br>
              <a:rPr lang="en-US" sz="2300"/>
            </a:br>
            <a:r>
              <a:rPr lang="en-US" sz="2300"/>
              <a:t>Transition rapidly from internal combustion engines (ICE) to electric vehicles (EVs). Go beyond the product itself and build new mobility services and experiences, shifting from a </a:t>
            </a:r>
            <a:r>
              <a:rPr lang="en-US" sz="2300" i="1"/>
              <a:t>manufacturer</a:t>
            </a:r>
            <a:r>
              <a:rPr lang="en-US" sz="2300"/>
              <a:t> to a </a:t>
            </a:r>
            <a:r>
              <a:rPr lang="en-US" sz="2300" i="1"/>
              <a:t>service provider</a:t>
            </a:r>
            <a:r>
              <a:rPr lang="en-US" sz="2300"/>
              <a:t> mindset.</a:t>
            </a:r>
          </a:p>
          <a:p>
            <a:pPr marL="376555" indent="-376555">
              <a:lnSpc>
                <a:spcPct val="90000"/>
              </a:lnSpc>
              <a:spcAft>
                <a:spcPts val="1319"/>
              </a:spcAft>
              <a:buAutoNum type="arabicPeriod"/>
            </a:pPr>
            <a:endParaRPr lang="en-US" sz="2309"/>
          </a:p>
          <a:p>
            <a:pPr marL="376555" indent="-376555">
              <a:lnSpc>
                <a:spcPct val="90000"/>
              </a:lnSpc>
              <a:spcAft>
                <a:spcPts val="1319"/>
              </a:spcAft>
              <a:buAutoNum type="arabicPeriod"/>
            </a:pPr>
            <a:r>
              <a:rPr lang="en-US" sz="2300" b="1">
                <a:solidFill>
                  <a:schemeClr val="tx2"/>
                </a:solidFill>
              </a:rPr>
              <a:t>Play as technology pioneers</a:t>
            </a:r>
            <a:br>
              <a:rPr lang="en-US" sz="2300"/>
            </a:br>
            <a:r>
              <a:rPr lang="en-US" sz="2300"/>
              <a:t>Lead innovation through R&amp;D and strategic partnerships. Balance technological advancement (AI, connectivity, battery systems) with cost control to sustain profitability.</a:t>
            </a:r>
          </a:p>
          <a:p>
            <a:pPr marL="376555" indent="-376555">
              <a:lnSpc>
                <a:spcPct val="90000"/>
              </a:lnSpc>
              <a:spcAft>
                <a:spcPts val="1319"/>
              </a:spcAft>
              <a:buAutoNum type="arabicPeriod"/>
            </a:pPr>
            <a:endParaRPr lang="en-US" sz="2309"/>
          </a:p>
          <a:p>
            <a:pPr marL="376555" indent="-376555">
              <a:lnSpc>
                <a:spcPct val="90000"/>
              </a:lnSpc>
              <a:spcAft>
                <a:spcPts val="1319"/>
              </a:spcAft>
              <a:buAutoNum type="arabicPeriod"/>
            </a:pPr>
            <a:r>
              <a:rPr lang="en-US" sz="2300" b="1">
                <a:solidFill>
                  <a:schemeClr val="tx2"/>
                </a:solidFill>
              </a:rPr>
              <a:t> Build organizational competencies</a:t>
            </a:r>
            <a:br>
              <a:rPr lang="en-US" sz="2300"/>
            </a:br>
            <a:r>
              <a:rPr lang="en-US" sz="2300"/>
              <a:t>Foster a culture of innovation, agility, and openness. Invest in digital transformation, customer experience, and cross-border collaboration to strengthen competitiveness.</a:t>
            </a:r>
          </a:p>
          <a:p>
            <a:pPr marL="376555" indent="-376555">
              <a:lnSpc>
                <a:spcPct val="90000"/>
              </a:lnSpc>
              <a:spcAft>
                <a:spcPts val="1319"/>
              </a:spcAft>
              <a:buAutoNum type="arabicPeriod"/>
            </a:pPr>
            <a:endParaRPr lang="en-US" sz="2309"/>
          </a:p>
          <a:p>
            <a:pPr marL="376555" indent="-376555">
              <a:lnSpc>
                <a:spcPct val="90000"/>
              </a:lnSpc>
              <a:spcAft>
                <a:spcPts val="1319"/>
              </a:spcAft>
              <a:buAutoNum type="arabicPeriod"/>
            </a:pPr>
            <a:r>
              <a:rPr lang="en-US" sz="2300" b="1">
                <a:solidFill>
                  <a:schemeClr val="tx2"/>
                </a:solidFill>
              </a:rPr>
              <a:t>Go to market with direct-to-consumer (DTC)</a:t>
            </a:r>
            <a:br>
              <a:rPr lang="en-US" sz="2300"/>
            </a:br>
            <a:r>
              <a:rPr lang="en-US" sz="2300"/>
              <a:t>Deliver personalized, high-end buying experiences. Combine direct sales with reimagined dealership roles (agency or hybrid models) to maintain exclusivity and customer intimacy.</a:t>
            </a:r>
          </a:p>
          <a:p>
            <a:pPr marL="376555" indent="-376555">
              <a:lnSpc>
                <a:spcPct val="90000"/>
              </a:lnSpc>
              <a:spcAft>
                <a:spcPts val="1319"/>
              </a:spcAft>
              <a:buAutoNum type="arabicPeriod"/>
            </a:pPr>
            <a:endParaRPr lang="en-US" sz="2309"/>
          </a:p>
          <a:p>
            <a:pPr marL="376555" indent="-376555">
              <a:lnSpc>
                <a:spcPct val="90000"/>
              </a:lnSpc>
              <a:spcAft>
                <a:spcPts val="1319"/>
              </a:spcAft>
              <a:buAutoNum type="arabicPeriod"/>
            </a:pPr>
            <a:r>
              <a:rPr lang="en-US" sz="2300" b="1">
                <a:solidFill>
                  <a:schemeClr val="tx2"/>
                </a:solidFill>
              </a:rPr>
              <a:t>Reposition the luxury brand</a:t>
            </a:r>
            <a:br>
              <a:rPr lang="en-US" sz="2300"/>
            </a:br>
            <a:r>
              <a:rPr lang="en-US" sz="2300"/>
              <a:t>Refresh brand identity by blending heritage with modern values, sustainability, innovation, and digital lifestyle, to appeal to younger, tech-savvy, and environmentally conscious luxury buyers.</a:t>
            </a:r>
          </a:p>
        </p:txBody>
      </p:sp>
      <p:sp>
        <p:nvSpPr>
          <p:cNvPr id="15" name="ZoneTexte 14">
            <a:extLst>
              <a:ext uri="{FF2B5EF4-FFF2-40B4-BE49-F238E27FC236}">
                <a16:creationId xmlns:a16="http://schemas.microsoft.com/office/drawing/2014/main" id="{41DFB467-A102-1FB5-C378-15BF3423D911}"/>
              </a:ext>
            </a:extLst>
          </p:cNvPr>
          <p:cNvSpPr txBox="1"/>
          <p:nvPr/>
        </p:nvSpPr>
        <p:spPr>
          <a:xfrm>
            <a:off x="6159651" y="10559663"/>
            <a:ext cx="7779817" cy="599908"/>
          </a:xfrm>
          <a:prstGeom prst="rect">
            <a:avLst/>
          </a:prstGeom>
          <a:noFill/>
        </p:spPr>
        <p:txBody>
          <a:bodyPr wrap="square" lIns="91440" tIns="45720" rIns="91440" bIns="45720" anchor="t">
            <a:spAutoFit/>
          </a:bodyPr>
          <a:lstStyle/>
          <a:p>
            <a:pPr algn="l" defTabSz="1507846" rtl="0">
              <a:defRPr/>
            </a:pPr>
            <a:r>
              <a:rPr lang="en-GB" sz="1600">
                <a:solidFill>
                  <a:schemeClr val="tx2"/>
                </a:solidFill>
                <a:hlinkClick r:id="rId4">
                  <a:extLst>
                    <a:ext uri="{A12FA001-AC4F-418D-AE19-62706E023703}">
                      <ahyp:hlinkClr xmlns:ahyp="http://schemas.microsoft.com/office/drawing/2018/hyperlinkcolor" val="tx"/>
                    </a:ext>
                  </a:extLst>
                </a:hlinkClick>
              </a:rPr>
              <a:t>Schnurrer, S. (s. d.). </a:t>
            </a:r>
            <a:r>
              <a:rPr lang="en-GB" sz="1600" i="1">
                <a:solidFill>
                  <a:schemeClr val="tx2"/>
                </a:solidFill>
                <a:hlinkClick r:id="rId4">
                  <a:extLst>
                    <a:ext uri="{A12FA001-AC4F-418D-AE19-62706E023703}">
                      <ahyp:hlinkClr xmlns:ahyp="http://schemas.microsoft.com/office/drawing/2018/hyperlinkcolor" val="tx"/>
                    </a:ext>
                  </a:extLst>
                </a:hlinkClick>
              </a:rPr>
              <a:t>Luxury Vehicle market : 5 Key Strategies to Get ahead</a:t>
            </a:r>
            <a:r>
              <a:rPr lang="en-GB" sz="1600">
                <a:solidFill>
                  <a:schemeClr val="tx2"/>
                </a:solidFill>
                <a:hlinkClick r:id="rId4">
                  <a:extLst>
                    <a:ext uri="{A12FA001-AC4F-418D-AE19-62706E023703}">
                      <ahyp:hlinkClr xmlns:ahyp="http://schemas.microsoft.com/office/drawing/2018/hyperlinkcolor" val="tx"/>
                    </a:ext>
                  </a:extLst>
                </a:hlinkClick>
              </a:rPr>
              <a:t>. Oliver Wyman. </a:t>
            </a:r>
            <a:endParaRPr lang="en-US" sz="1600">
              <a:solidFill>
                <a:schemeClr val="tx2"/>
              </a:solidFill>
              <a:ea typeface="Calibri" panose="020F0502020204030204"/>
              <a:cs typeface="Calibri" panose="020F0502020204030204"/>
            </a:endParaRPr>
          </a:p>
        </p:txBody>
      </p:sp>
    </p:spTree>
    <p:extLst>
      <p:ext uri="{BB962C8B-B14F-4D97-AF65-F5344CB8AC3E}">
        <p14:creationId xmlns:p14="http://schemas.microsoft.com/office/powerpoint/2010/main" val="530665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60803B-8EBB-EB78-4D42-85E94B02A661}"/>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529308A6-DDDB-6437-E621-2D8433660E94}"/>
              </a:ext>
            </a:extLst>
          </p:cNvPr>
          <p:cNvSpPr txBox="1"/>
          <p:nvPr/>
        </p:nvSpPr>
        <p:spPr>
          <a:xfrm>
            <a:off x="7448282" y="727311"/>
            <a:ext cx="5212723" cy="707886"/>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4000" b="1">
                <a:solidFill>
                  <a:srgbClr val="000000"/>
                </a:solidFill>
              </a:rPr>
              <a:t>FOCUS </a:t>
            </a:r>
            <a:r>
              <a:rPr lang="en-US" sz="4000" b="1">
                <a:solidFill>
                  <a:srgbClr val="000000"/>
                </a:solidFill>
                <a:latin typeface="Calibri"/>
                <a:ea typeface="Calibri"/>
                <a:cs typeface="Calibri"/>
              </a:rPr>
              <a:t>- Keller’s model</a:t>
            </a:r>
            <a:endParaRPr lang="fr-FR">
              <a:solidFill>
                <a:srgbClr val="000000"/>
              </a:solidFill>
              <a:latin typeface="Calibri"/>
              <a:ea typeface="Calibri"/>
              <a:cs typeface="Calibri"/>
            </a:endParaRPr>
          </a:p>
        </p:txBody>
      </p:sp>
      <p:sp>
        <p:nvSpPr>
          <p:cNvPr id="3" name="object 2">
            <a:extLst>
              <a:ext uri="{FF2B5EF4-FFF2-40B4-BE49-F238E27FC236}">
                <a16:creationId xmlns:a16="http://schemas.microsoft.com/office/drawing/2014/main" id="{018F576D-726E-D92B-797D-485F82EE2581}"/>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object 2">
            <a:extLst>
              <a:ext uri="{FF2B5EF4-FFF2-40B4-BE49-F238E27FC236}">
                <a16:creationId xmlns:a16="http://schemas.microsoft.com/office/drawing/2014/main" id="{CA1DCEE0-B494-363B-C556-7A3CADD65D67}"/>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B3EE4A4F-EC57-EE11-97BA-404C26E6A90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0B497EFA-36F9-6BD7-3285-2AB93168D4B7}"/>
              </a:ext>
            </a:extLst>
          </p:cNvPr>
          <p:cNvPicPr/>
          <p:nvPr/>
        </p:nvPicPr>
        <p:blipFill>
          <a:blip r:embed="rId2"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5897BDA8-E96F-812E-4670-24422E09349D}"/>
              </a:ext>
            </a:extLst>
          </p:cNvPr>
          <p:cNvPicPr/>
          <p:nvPr/>
        </p:nvPicPr>
        <p:blipFill>
          <a:blip r:embed="rId3" cstate="print"/>
          <a:stretch>
            <a:fillRect/>
          </a:stretch>
        </p:blipFill>
        <p:spPr>
          <a:xfrm>
            <a:off x="17726790" y="399568"/>
            <a:ext cx="1233889" cy="263866"/>
          </a:xfrm>
          <a:prstGeom prst="rect">
            <a:avLst/>
          </a:prstGeom>
        </p:spPr>
      </p:pic>
      <p:sp>
        <p:nvSpPr>
          <p:cNvPr id="2" name="TextBox 4">
            <a:extLst>
              <a:ext uri="{FF2B5EF4-FFF2-40B4-BE49-F238E27FC236}">
                <a16:creationId xmlns:a16="http://schemas.microsoft.com/office/drawing/2014/main" id="{A42A09DC-C0D2-4DE7-2C23-3BFDB980A04A}"/>
              </a:ext>
            </a:extLst>
          </p:cNvPr>
          <p:cNvSpPr txBox="1"/>
          <p:nvPr/>
        </p:nvSpPr>
        <p:spPr>
          <a:xfrm>
            <a:off x="1958943" y="1723082"/>
            <a:ext cx="16168363" cy="8458252"/>
          </a:xfrm>
          <a:prstGeom prst="rect">
            <a:avLst/>
          </a:prstGeom>
          <a:ln>
            <a:solidFill>
              <a:schemeClr val="tx2"/>
            </a:solidFill>
          </a:ln>
        </p:spPr>
        <p:txBody>
          <a:bodyPr vert="horz" lIns="150781" tIns="75390" rIns="150781" bIns="75390" rtlCol="0" anchor="ctr">
            <a:noAutofit/>
          </a:bodyPr>
          <a:lstStyle/>
          <a:p>
            <a:pPr algn="ctr">
              <a:lnSpc>
                <a:spcPct val="90000"/>
              </a:lnSpc>
              <a:spcAft>
                <a:spcPts val="1319"/>
              </a:spcAft>
            </a:pPr>
            <a:endParaRPr lang="en-US" sz="2300"/>
          </a:p>
        </p:txBody>
      </p:sp>
      <p:sp>
        <p:nvSpPr>
          <p:cNvPr id="8" name="TextBox 7">
            <a:extLst>
              <a:ext uri="{FF2B5EF4-FFF2-40B4-BE49-F238E27FC236}">
                <a16:creationId xmlns:a16="http://schemas.microsoft.com/office/drawing/2014/main" id="{87994B3C-3407-154C-DF0A-6B6A9ED226E0}"/>
              </a:ext>
            </a:extLst>
          </p:cNvPr>
          <p:cNvSpPr txBox="1"/>
          <p:nvPr/>
        </p:nvSpPr>
        <p:spPr>
          <a:xfrm>
            <a:off x="1976794" y="1879938"/>
            <a:ext cx="15749996" cy="1384995"/>
          </a:xfrm>
          <a:prstGeom prst="rect">
            <a:avLst/>
          </a:prstGeom>
          <a:noFill/>
        </p:spPr>
        <p:txBody>
          <a:bodyPr wrap="square">
            <a:spAutoFit/>
          </a:bodyPr>
          <a:lstStyle/>
          <a:p>
            <a:pPr algn="ctr">
              <a:buNone/>
            </a:pP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Brand Salience (Who are you?)</a:t>
            </a:r>
          </a:p>
          <a:p>
            <a:pPr algn="ctr">
              <a:buNone/>
            </a:pP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Objective: Make Jaguar instantly recognized as the world’s most refined high-performance electric marque.</a:t>
            </a:r>
          </a:p>
          <a:p>
            <a:pPr algn="ctr">
              <a:buFont typeface="Arial" panose="020B0604020202020204" pitchFamily="34" charset="0"/>
              <a:buChar char="•"/>
            </a:pP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Core Identity: Ultra-luxury electric performance brand with British soul.</a:t>
            </a:r>
          </a:p>
          <a:p>
            <a:pPr algn="ctr">
              <a:buFont typeface="Arial" panose="020B0604020202020204" pitchFamily="34" charset="0"/>
              <a:buChar char="•"/>
            </a:pP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Tagline Essence: “Power. Poise. Pure Electricity.”</a:t>
            </a:r>
          </a:p>
          <a:p>
            <a:pPr algn="ctr">
              <a:buFont typeface="Arial" panose="020B0604020202020204" pitchFamily="34" charset="0"/>
              <a:buChar char="•"/>
            </a:pP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Distinctive Elements: Leaping cat emblem, sleek silhouette design, illuminated signature grill, cutting-edge EV acoustics.</a:t>
            </a:r>
            <a:b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5C7126D5-7574-646B-F12E-D90A1C9A5808}"/>
              </a:ext>
            </a:extLst>
          </p:cNvPr>
          <p:cNvSpPr txBox="1"/>
          <p:nvPr/>
        </p:nvSpPr>
        <p:spPr>
          <a:xfrm>
            <a:off x="2177525" y="4188262"/>
            <a:ext cx="6783595" cy="2246769"/>
          </a:xfrm>
          <a:prstGeom prst="rect">
            <a:avLst/>
          </a:prstGeom>
          <a:noFill/>
        </p:spPr>
        <p:txBody>
          <a:bodyPr wrap="square">
            <a:spAutoFit/>
          </a:bodyPr>
          <a:lstStyle/>
          <a:p>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Brand Performance (What are you?)</a:t>
            </a:r>
          </a:p>
          <a:p>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Objective: Deliver uncompromising performance through electrified innovation.</a:t>
            </a:r>
          </a:p>
          <a:p>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Functional Drivers:</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0–100 km/h under 3 seconds benchmark.</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Advanced battery technology with high torque and long range.</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Lightweight aluminum and sustainable luxury materials.</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Intelligent drive systems emphasizing agility, silence, and control.</a:t>
            </a:r>
          </a:p>
          <a:p>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Benchmark: Rivals Porsche Taycan, Aston Martin Valhalla EV, and Lucid Air Sapphire</a:t>
            </a:r>
          </a:p>
        </p:txBody>
      </p:sp>
      <p:sp>
        <p:nvSpPr>
          <p:cNvPr id="14" name="TextBox 13">
            <a:extLst>
              <a:ext uri="{FF2B5EF4-FFF2-40B4-BE49-F238E27FC236}">
                <a16:creationId xmlns:a16="http://schemas.microsoft.com/office/drawing/2014/main" id="{0B3A32BA-907A-B397-4BC9-7F0668CCBAA0}"/>
              </a:ext>
            </a:extLst>
          </p:cNvPr>
          <p:cNvSpPr txBox="1"/>
          <p:nvPr/>
        </p:nvSpPr>
        <p:spPr>
          <a:xfrm>
            <a:off x="10154324" y="4005382"/>
            <a:ext cx="6657340" cy="2308324"/>
          </a:xfrm>
          <a:prstGeom prst="rect">
            <a:avLst/>
          </a:prstGeom>
          <a:noFill/>
        </p:spPr>
        <p:txBody>
          <a:bodyPr wrap="square">
            <a:spAutoFit/>
          </a:bodyPr>
          <a:lstStyle/>
          <a:p>
            <a:pPr lvl="1"/>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Brand Imagery (How do you look and feel?)</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Objective: Reflect contemporary British craftsmanship and performance lifestyle.</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Emotional Aesthetic: Quiet power, timeless elegance, and futuristic design.</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Target Persona: The “modern connoisseur” — affluent, sustainability-minded, driven by taste and individuality, not status.</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Design Codes: Sleek minimal interiors, ambient lighting, sustainable leathers, artisan detailing.</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Brand Universe: Exclusive lounges, curated experiences, and high-end design partnerships (e.g., with Burberry or Bang &amp; Olufsen).</a:t>
            </a:r>
          </a:p>
        </p:txBody>
      </p:sp>
      <p:sp>
        <p:nvSpPr>
          <p:cNvPr id="16" name="TextBox 15">
            <a:extLst>
              <a:ext uri="{FF2B5EF4-FFF2-40B4-BE49-F238E27FC236}">
                <a16:creationId xmlns:a16="http://schemas.microsoft.com/office/drawing/2014/main" id="{8ED5CEB3-8FEE-66C6-CCA2-E984B8AB0AD8}"/>
              </a:ext>
            </a:extLst>
          </p:cNvPr>
          <p:cNvSpPr txBox="1"/>
          <p:nvPr/>
        </p:nvSpPr>
        <p:spPr>
          <a:xfrm>
            <a:off x="2177525" y="7109366"/>
            <a:ext cx="6783595" cy="2062103"/>
          </a:xfrm>
          <a:prstGeom prst="rect">
            <a:avLst/>
          </a:prstGeom>
          <a:noFill/>
        </p:spPr>
        <p:txBody>
          <a:bodyPr wrap="square">
            <a:spAutoFit/>
          </a:bodyPr>
          <a:lstStyle/>
          <a:p>
            <a:pPr lvl="1"/>
            <a:r>
              <a:rPr lang="en-US" sz="16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rand Judgments (What do consumers think?)</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Objective: Reestablish credibility as a performance pioneer and luxury innovator.</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Perceived Quality: Cutting-edge tech meets handcrafted artistry.</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Credibility Pillars:</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Proven EV performance through motorsport innovation.</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World-class design and build integrity.</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Seamless digital and ownership experience.</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Superiority Perception: “The art of performance, electrified and elevated</a:t>
            </a:r>
          </a:p>
        </p:txBody>
      </p:sp>
      <p:sp>
        <p:nvSpPr>
          <p:cNvPr id="17" name="TextBox 16">
            <a:extLst>
              <a:ext uri="{FF2B5EF4-FFF2-40B4-BE49-F238E27FC236}">
                <a16:creationId xmlns:a16="http://schemas.microsoft.com/office/drawing/2014/main" id="{5513FBA8-9D36-BE07-C765-50861B456C07}"/>
              </a:ext>
            </a:extLst>
          </p:cNvPr>
          <p:cNvSpPr txBox="1"/>
          <p:nvPr/>
        </p:nvSpPr>
        <p:spPr>
          <a:xfrm>
            <a:off x="10154324" y="7276914"/>
            <a:ext cx="6783595" cy="1631216"/>
          </a:xfrm>
          <a:prstGeom prst="rect">
            <a:avLst/>
          </a:prstGeom>
          <a:noFill/>
        </p:spPr>
        <p:txBody>
          <a:bodyPr wrap="square">
            <a:spAutoFit/>
          </a:bodyPr>
          <a:lstStyle/>
          <a:p>
            <a:pPr lvl="1"/>
            <a:r>
              <a:rPr lang="en-US" sz="1400" b="1">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Brand Feelings (How do consumers feel?)</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Objective: Inspire deep emotional connection built on exhilaration and prestige.</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Key Feelings:</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Thrill: instant electric acceleration.</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Pride: owning a symbol of rare craftsmanship.</a:t>
            </a:r>
          </a:p>
          <a:p>
            <a:pPr lvl="1"/>
            <a:r>
              <a:rPr lang="en-US" sz="1400">
                <a:solidFill>
                  <a:schemeClr val="tx2"/>
                </a:solidFill>
                <a:latin typeface="Sans Serif Collection" panose="020B0502040504020204" pitchFamily="34" charset="0"/>
                <a:ea typeface="Sans Serif Collection" panose="020B0502040504020204" pitchFamily="34" charset="0"/>
                <a:cs typeface="Sans Serif Collection" panose="020B0502040504020204" pitchFamily="34" charset="0"/>
              </a:rPr>
              <a:t>Serenity: silent, immersive drive experience</a:t>
            </a:r>
            <a:r>
              <a:rPr lang="en-US" sz="160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cxnSp>
        <p:nvCxnSpPr>
          <p:cNvPr id="19" name="Straight Connector 18">
            <a:extLst>
              <a:ext uri="{FF2B5EF4-FFF2-40B4-BE49-F238E27FC236}">
                <a16:creationId xmlns:a16="http://schemas.microsoft.com/office/drawing/2014/main" id="{F17B74D9-C62C-B800-740F-DF067A25B7CF}"/>
              </a:ext>
            </a:extLst>
          </p:cNvPr>
          <p:cNvCxnSpPr/>
          <p:nvPr/>
        </p:nvCxnSpPr>
        <p:spPr>
          <a:xfrm>
            <a:off x="9174480" y="3733800"/>
            <a:ext cx="0" cy="6065520"/>
          </a:xfrm>
          <a:prstGeom prst="line">
            <a:avLst/>
          </a:prstGeom>
          <a:ln w="38100">
            <a:solidFill>
              <a:srgbClr val="43669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4CC1A54-BEB3-F271-1D02-1667C8F07B53}"/>
              </a:ext>
            </a:extLst>
          </p:cNvPr>
          <p:cNvCxnSpPr>
            <a:cxnSpLocks/>
          </p:cNvCxnSpPr>
          <p:nvPr/>
        </p:nvCxnSpPr>
        <p:spPr>
          <a:xfrm flipH="1">
            <a:off x="2401040" y="6918960"/>
            <a:ext cx="15325750" cy="0"/>
          </a:xfrm>
          <a:prstGeom prst="line">
            <a:avLst/>
          </a:prstGeom>
          <a:ln w="38100">
            <a:solidFill>
              <a:srgbClr val="43669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139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C333BE-219F-4E2A-94F4-F6C3F8079C1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E2D1B53-9EBD-6ADD-0C70-0BD26356A038}"/>
              </a:ext>
            </a:extLst>
          </p:cNvPr>
          <p:cNvSpPr txBox="1"/>
          <p:nvPr/>
        </p:nvSpPr>
        <p:spPr>
          <a:xfrm>
            <a:off x="3383280" y="1236357"/>
            <a:ext cx="16093440" cy="854080"/>
          </a:xfrm>
          <a:prstGeom prst="rect">
            <a:avLst/>
          </a:prstGeom>
          <a:noFill/>
        </p:spPr>
        <p:txBody>
          <a:bodyPr wrap="square">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4950" b="1" dirty="0">
                <a:solidFill>
                  <a:schemeClr val="tx2"/>
                </a:solidFill>
              </a:rPr>
              <a:t>Why Do I Think The Strategy Will Work</a:t>
            </a:r>
          </a:p>
        </p:txBody>
      </p:sp>
      <p:sp>
        <p:nvSpPr>
          <p:cNvPr id="10" name="ZoneTexte 9">
            <a:extLst>
              <a:ext uri="{FF2B5EF4-FFF2-40B4-BE49-F238E27FC236}">
                <a16:creationId xmlns:a16="http://schemas.microsoft.com/office/drawing/2014/main" id="{C3B8E3C0-35D4-9459-A917-59F0332E8DEE}"/>
              </a:ext>
            </a:extLst>
          </p:cNvPr>
          <p:cNvSpPr txBox="1"/>
          <p:nvPr/>
        </p:nvSpPr>
        <p:spPr>
          <a:xfrm>
            <a:off x="482282" y="2570183"/>
            <a:ext cx="19385741" cy="7478970"/>
          </a:xfrm>
          <a:prstGeom prst="rect">
            <a:avLst/>
          </a:prstGeom>
          <a:noFill/>
        </p:spPr>
        <p:txBody>
          <a:bodyPr wrap="square" lIns="91440" tIns="45720" rIns="91440" bIns="45720" anchor="t">
            <a:spAutoFit/>
          </a:bodyPr>
          <a:lstStyle>
            <a:defPPr>
              <a:defRPr lang="en-US"/>
            </a:defPPr>
            <a:lvl1pPr marL="0" algn="l" defTabSz="1005200" rtl="0" eaLnBrk="1" latinLnBrk="0" hangingPunct="1">
              <a:defRPr sz="1979" kern="1200">
                <a:solidFill>
                  <a:schemeClr val="tx1"/>
                </a:solidFill>
                <a:latin typeface="+mn-lt"/>
                <a:ea typeface="+mn-ea"/>
                <a:cs typeface="+mn-cs"/>
              </a:defRPr>
            </a:lvl1pPr>
            <a:lvl2pPr marL="502600" algn="l" defTabSz="1005200" rtl="0" eaLnBrk="1" latinLnBrk="0" hangingPunct="1">
              <a:defRPr sz="1979" kern="1200">
                <a:solidFill>
                  <a:schemeClr val="tx1"/>
                </a:solidFill>
                <a:latin typeface="+mn-lt"/>
                <a:ea typeface="+mn-ea"/>
                <a:cs typeface="+mn-cs"/>
              </a:defRPr>
            </a:lvl2pPr>
            <a:lvl3pPr marL="1005200" algn="l" defTabSz="1005200" rtl="0" eaLnBrk="1" latinLnBrk="0" hangingPunct="1">
              <a:defRPr sz="1979" kern="1200">
                <a:solidFill>
                  <a:schemeClr val="tx1"/>
                </a:solidFill>
                <a:latin typeface="+mn-lt"/>
                <a:ea typeface="+mn-ea"/>
                <a:cs typeface="+mn-cs"/>
              </a:defRPr>
            </a:lvl3pPr>
            <a:lvl4pPr marL="1507800" algn="l" defTabSz="1005200" rtl="0" eaLnBrk="1" latinLnBrk="0" hangingPunct="1">
              <a:defRPr sz="1979" kern="1200">
                <a:solidFill>
                  <a:schemeClr val="tx1"/>
                </a:solidFill>
                <a:latin typeface="+mn-lt"/>
                <a:ea typeface="+mn-ea"/>
                <a:cs typeface="+mn-cs"/>
              </a:defRPr>
            </a:lvl4pPr>
            <a:lvl5pPr marL="2010400" algn="l" defTabSz="1005200" rtl="0" eaLnBrk="1" latinLnBrk="0" hangingPunct="1">
              <a:defRPr sz="1979" kern="1200">
                <a:solidFill>
                  <a:schemeClr val="tx1"/>
                </a:solidFill>
                <a:latin typeface="+mn-lt"/>
                <a:ea typeface="+mn-ea"/>
                <a:cs typeface="+mn-cs"/>
              </a:defRPr>
            </a:lvl5pPr>
            <a:lvl6pPr marL="2513000" algn="l" defTabSz="1005200" rtl="0" eaLnBrk="1" latinLnBrk="0" hangingPunct="1">
              <a:defRPr sz="1979" kern="1200">
                <a:solidFill>
                  <a:schemeClr val="tx1"/>
                </a:solidFill>
                <a:latin typeface="+mn-lt"/>
                <a:ea typeface="+mn-ea"/>
                <a:cs typeface="+mn-cs"/>
              </a:defRPr>
            </a:lvl6pPr>
            <a:lvl7pPr marL="3015600" algn="l" defTabSz="1005200" rtl="0" eaLnBrk="1" latinLnBrk="0" hangingPunct="1">
              <a:defRPr sz="1979" kern="1200">
                <a:solidFill>
                  <a:schemeClr val="tx1"/>
                </a:solidFill>
                <a:latin typeface="+mn-lt"/>
                <a:ea typeface="+mn-ea"/>
                <a:cs typeface="+mn-cs"/>
              </a:defRPr>
            </a:lvl7pPr>
            <a:lvl8pPr marL="3518200" algn="l" defTabSz="1005200" rtl="0" eaLnBrk="1" latinLnBrk="0" hangingPunct="1">
              <a:defRPr sz="1979" kern="1200">
                <a:solidFill>
                  <a:schemeClr val="tx1"/>
                </a:solidFill>
                <a:latin typeface="+mn-lt"/>
                <a:ea typeface="+mn-ea"/>
                <a:cs typeface="+mn-cs"/>
              </a:defRPr>
            </a:lvl8pPr>
            <a:lvl9pPr marL="4020800" algn="l" defTabSz="1005200" rtl="0" eaLnBrk="1" latinLnBrk="0" hangingPunct="1">
              <a:defRPr sz="1979" kern="1200">
                <a:solidFill>
                  <a:schemeClr val="tx1"/>
                </a:solidFill>
                <a:latin typeface="+mn-lt"/>
                <a:ea typeface="+mn-ea"/>
                <a:cs typeface="+mn-cs"/>
              </a:defRPr>
            </a:lvl9pPr>
          </a:lstStyle>
          <a:p>
            <a:r>
              <a:rPr lang="en-US" sz="2400" b="1">
                <a:solidFill>
                  <a:schemeClr val="tx2"/>
                </a:solidFill>
              </a:rPr>
              <a:t>Splitting Jaguar </a:t>
            </a:r>
            <a:r>
              <a:rPr lang="en-US" sz="2400"/>
              <a:t>into two distinct sub-brands—one dedicated to </a:t>
            </a:r>
            <a:r>
              <a:rPr lang="en-US" sz="2400" i="1"/>
              <a:t>ultra-luxury electric vehicles</a:t>
            </a:r>
            <a:r>
              <a:rPr lang="en-US" sz="2400"/>
              <a:t> and the other focused on </a:t>
            </a:r>
            <a:r>
              <a:rPr lang="en-US" sz="2400" i="1"/>
              <a:t>high-performance models</a:t>
            </a:r>
            <a:r>
              <a:rPr lang="en-US" sz="2400"/>
              <a:t>—offers both strategic and practical merit.</a:t>
            </a:r>
            <a:br>
              <a:rPr lang="en-US" sz="2400"/>
            </a:br>
            <a:endParaRPr lang="en-US" sz="2400"/>
          </a:p>
          <a:p>
            <a:r>
              <a:rPr lang="en-US" sz="2400" b="1">
                <a:solidFill>
                  <a:schemeClr val="tx2"/>
                </a:solidFill>
              </a:rPr>
              <a:t>This dual-brand </a:t>
            </a:r>
            <a:r>
              <a:rPr lang="en-US" sz="2400"/>
              <a:t>architecture would allow Jaguar to </a:t>
            </a:r>
            <a:r>
              <a:rPr lang="en-US" sz="2400" b="1"/>
              <a:t>preserve and amplify its performance DNA</a:t>
            </a:r>
            <a:r>
              <a:rPr lang="en-US" sz="2400"/>
              <a:t>, while simultaneously </a:t>
            </a:r>
            <a:r>
              <a:rPr lang="en-US" sz="2400" b="1"/>
              <a:t>ascending into the ultra-luxury EV segment</a:t>
            </a:r>
            <a:r>
              <a:rPr lang="en-US" sz="2400"/>
              <a:t>, positioning itself as a true competitor to marques like Bentley, Aston Martin, and Porsche.</a:t>
            </a:r>
          </a:p>
          <a:p>
            <a:r>
              <a:rPr lang="en-US" sz="2400"/>
              <a:t>The approach is not merely theoretical; it has proven feasibility within the group itself. </a:t>
            </a:r>
            <a:br>
              <a:rPr lang="en-US" sz="2400"/>
            </a:br>
            <a:br>
              <a:rPr lang="en-US" sz="2400"/>
            </a:br>
            <a:r>
              <a:rPr lang="en-US" sz="2400" b="1">
                <a:solidFill>
                  <a:schemeClr val="tx2"/>
                </a:solidFill>
              </a:rPr>
              <a:t>Land Rover’s successful multi-brand strategy</a:t>
            </a:r>
            <a:r>
              <a:rPr lang="en-US" sz="2400"/>
              <a:t>—operating </a:t>
            </a:r>
            <a:r>
              <a:rPr lang="en-US" sz="2400" b="1"/>
              <a:t>Range Rover, Discovery, and Defender</a:t>
            </a:r>
            <a:r>
              <a:rPr lang="en-US" sz="2400"/>
              <a:t> as differentiated sub-brands under one umbrella—demonstrates JLR’s capability to manage diverse brand identities that serve distinct customer bases without diluting parent equity.</a:t>
            </a:r>
          </a:p>
          <a:p>
            <a:r>
              <a:rPr lang="en-US" sz="2400"/>
              <a:t>By leveraging this internal precedent, Jaguar can:</a:t>
            </a:r>
            <a:br>
              <a:rPr lang="en-US" sz="2400"/>
            </a:br>
            <a:endParaRPr lang="en-US" sz="2400"/>
          </a:p>
          <a:p>
            <a:r>
              <a:rPr lang="en-US" sz="2400" b="1">
                <a:solidFill>
                  <a:schemeClr val="tx2"/>
                </a:solidFill>
              </a:rPr>
              <a:t>Differentiate Target Segments: </a:t>
            </a:r>
            <a:r>
              <a:rPr lang="en-US" sz="2400"/>
              <a:t>Position one line as a high-performance electric sports range (reviving the spirit of F-Type and racing heritage) and the other as a pure ultra-luxury electric portfolio (representing sophistication, craftsmanship, and serenity).</a:t>
            </a:r>
            <a:br>
              <a:rPr lang="en-US" sz="2400"/>
            </a:br>
            <a:endParaRPr lang="en-US" sz="2400"/>
          </a:p>
          <a:p>
            <a:r>
              <a:rPr lang="en-US" sz="2400" b="1">
                <a:solidFill>
                  <a:schemeClr val="tx2"/>
                </a:solidFill>
              </a:rPr>
              <a:t>Optimize Brand Architecture: </a:t>
            </a:r>
            <a:r>
              <a:rPr lang="en-US" sz="2400"/>
              <a:t>Maintain a unified master brand identity (“Jaguar”) while developing strong emotional sub-brand narratives.</a:t>
            </a:r>
            <a:br>
              <a:rPr lang="en-US" sz="2400"/>
            </a:br>
            <a:endParaRPr lang="en-US" sz="2400"/>
          </a:p>
          <a:p>
            <a:r>
              <a:rPr lang="en-US" sz="2400" b="1">
                <a:solidFill>
                  <a:schemeClr val="tx2"/>
                </a:solidFill>
              </a:rPr>
              <a:t>Capitalize on Shared Expertise: </a:t>
            </a:r>
            <a:r>
              <a:rPr lang="en-US" sz="2400"/>
              <a:t>Use common technological platforms, R&amp;D infrastructure, and sustainability goals to ensure efficiency without compromising brand individuality.</a:t>
            </a:r>
          </a:p>
          <a:p>
            <a:r>
              <a:rPr lang="en-US" sz="2400"/>
              <a:t>Ultimately, this strategic bifurcation would enable Jaguar to </a:t>
            </a:r>
            <a:r>
              <a:rPr lang="en-US" sz="2400" b="1"/>
              <a:t>become the best of both worlds</a:t>
            </a:r>
            <a:r>
              <a:rPr lang="en-US" sz="2400"/>
              <a:t>—</a:t>
            </a:r>
            <a:r>
              <a:rPr lang="en-US" sz="2400" b="1"/>
              <a:t>a symbol of performance purity and electric luxury excellence</a:t>
            </a:r>
            <a:r>
              <a:rPr lang="en-US" sz="2400"/>
              <a:t>, aligned with evolving consumer expectations and JLR’s long-term electrification vision.</a:t>
            </a:r>
          </a:p>
        </p:txBody>
      </p:sp>
      <p:sp>
        <p:nvSpPr>
          <p:cNvPr id="3" name="object 2">
            <a:extLst>
              <a:ext uri="{FF2B5EF4-FFF2-40B4-BE49-F238E27FC236}">
                <a16:creationId xmlns:a16="http://schemas.microsoft.com/office/drawing/2014/main" id="{FA7E7058-199B-C6A6-FA60-2D250D1D3FAA}"/>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sp>
        <p:nvSpPr>
          <p:cNvPr id="6" name="object 2">
            <a:extLst>
              <a:ext uri="{FF2B5EF4-FFF2-40B4-BE49-F238E27FC236}">
                <a16:creationId xmlns:a16="http://schemas.microsoft.com/office/drawing/2014/main" id="{452AD5A8-0162-B224-16C1-81802717071D}"/>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11" name="object 3">
            <a:extLst>
              <a:ext uri="{FF2B5EF4-FFF2-40B4-BE49-F238E27FC236}">
                <a16:creationId xmlns:a16="http://schemas.microsoft.com/office/drawing/2014/main" id="{E7AF9F76-A206-2AB6-CFEA-035F4D7B277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pic>
        <p:nvPicPr>
          <p:cNvPr id="13" name="object 5">
            <a:extLst>
              <a:ext uri="{FF2B5EF4-FFF2-40B4-BE49-F238E27FC236}">
                <a16:creationId xmlns:a16="http://schemas.microsoft.com/office/drawing/2014/main" id="{CE3DFF4D-9651-9F76-A45B-0EB726C295CA}"/>
              </a:ext>
            </a:extLst>
          </p:cNvPr>
          <p:cNvPicPr/>
          <p:nvPr/>
        </p:nvPicPr>
        <p:blipFill>
          <a:blip r:embed="rId2" cstate="print"/>
          <a:stretch>
            <a:fillRect/>
          </a:stretch>
        </p:blipFill>
        <p:spPr>
          <a:xfrm>
            <a:off x="0" y="816769"/>
            <a:ext cx="2456577" cy="262104"/>
          </a:xfrm>
          <a:prstGeom prst="rect">
            <a:avLst/>
          </a:prstGeom>
        </p:spPr>
      </p:pic>
      <p:pic>
        <p:nvPicPr>
          <p:cNvPr id="4" name="object 4" descr="Une image contenant Police, Graphique, noir, graphisme&#10;&#10;Le contenu généré par l’IA peut être incorrect.">
            <a:extLst>
              <a:ext uri="{FF2B5EF4-FFF2-40B4-BE49-F238E27FC236}">
                <a16:creationId xmlns:a16="http://schemas.microsoft.com/office/drawing/2014/main" id="{3947785B-91B0-FA45-452E-03A7DF1BF178}"/>
              </a:ext>
            </a:extLst>
          </p:cNvPr>
          <p:cNvPicPr/>
          <p:nvPr/>
        </p:nvPicPr>
        <p:blipFill>
          <a:blip r:embed="rId3" cstate="print"/>
          <a:stretch>
            <a:fillRect/>
          </a:stretch>
        </p:blipFill>
        <p:spPr>
          <a:xfrm>
            <a:off x="17726790" y="399568"/>
            <a:ext cx="1233889" cy="263866"/>
          </a:xfrm>
          <a:prstGeom prst="rect">
            <a:avLst/>
          </a:prstGeom>
        </p:spPr>
      </p:pic>
    </p:spTree>
    <p:extLst>
      <p:ext uri="{BB962C8B-B14F-4D97-AF65-F5344CB8AC3E}">
        <p14:creationId xmlns:p14="http://schemas.microsoft.com/office/powerpoint/2010/main" val="1949170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A2317-C5F5-A923-6DFC-60411BA9A810}"/>
            </a:ext>
          </a:extLst>
        </p:cNvPr>
        <p:cNvGrpSpPr/>
        <p:nvPr/>
      </p:nvGrpSpPr>
      <p:grpSpPr>
        <a:xfrm>
          <a:off x="0" y="0"/>
          <a:ext cx="0" cy="0"/>
          <a:chOff x="0" y="0"/>
          <a:chExt cx="0" cy="0"/>
        </a:xfrm>
      </p:grpSpPr>
      <p:sp>
        <p:nvSpPr>
          <p:cNvPr id="13" name="object 2">
            <a:extLst>
              <a:ext uri="{FF2B5EF4-FFF2-40B4-BE49-F238E27FC236}">
                <a16:creationId xmlns:a16="http://schemas.microsoft.com/office/drawing/2014/main" id="{030463DA-F6D1-6A51-60E5-32177FFF2F89}"/>
              </a:ext>
            </a:extLst>
          </p:cNvPr>
          <p:cNvSpPr/>
          <p:nvPr/>
        </p:nvSpPr>
        <p:spPr>
          <a:xfrm>
            <a:off x="10823" y="-7924"/>
            <a:ext cx="20104100" cy="11308715"/>
          </a:xfrm>
          <a:custGeom>
            <a:avLst/>
            <a:gdLst/>
            <a:ahLst/>
            <a:cxnLst/>
            <a:rect l="l" t="t" r="r" b="b"/>
            <a:pathLst>
              <a:path w="20104100" h="11308715">
                <a:moveTo>
                  <a:pt x="20104100" y="0"/>
                </a:moveTo>
                <a:lnTo>
                  <a:pt x="0" y="0"/>
                </a:lnTo>
                <a:lnTo>
                  <a:pt x="0" y="11308556"/>
                </a:lnTo>
                <a:lnTo>
                  <a:pt x="20104100" y="11308556"/>
                </a:lnTo>
                <a:lnTo>
                  <a:pt x="20104100" y="0"/>
                </a:lnTo>
                <a:close/>
              </a:path>
            </a:pathLst>
          </a:custGeom>
          <a:solidFill>
            <a:srgbClr val="065088">
              <a:alpha val="10198"/>
            </a:srgbClr>
          </a:solidFill>
        </p:spPr>
        <p:txBody>
          <a:bodyPr wrap="square" lIns="0" tIns="0" rIns="0" bIns="0" rtlCol="0"/>
          <a:lstStyle/>
          <a:p>
            <a:endParaRPr/>
          </a:p>
        </p:txBody>
      </p:sp>
      <p:pic>
        <p:nvPicPr>
          <p:cNvPr id="131" name="Picture 130" descr="A blue car with a door open&#10;&#10;AI-generated content may be incorrect.">
            <a:extLst>
              <a:ext uri="{FF2B5EF4-FFF2-40B4-BE49-F238E27FC236}">
                <a16:creationId xmlns:a16="http://schemas.microsoft.com/office/drawing/2014/main" id="{C451218B-CB6A-271C-7B21-2FCA2860E3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6572" y="6955287"/>
            <a:ext cx="8821704" cy="5881136"/>
          </a:xfrm>
          <a:prstGeom prst="rect">
            <a:avLst/>
          </a:prstGeom>
        </p:spPr>
      </p:pic>
      <p:sp>
        <p:nvSpPr>
          <p:cNvPr id="2" name="object 2">
            <a:extLst>
              <a:ext uri="{FF2B5EF4-FFF2-40B4-BE49-F238E27FC236}">
                <a16:creationId xmlns:a16="http://schemas.microsoft.com/office/drawing/2014/main" id="{74EDFB1D-1308-780E-19C3-074403A842D6}"/>
              </a:ext>
            </a:extLst>
          </p:cNvPr>
          <p:cNvSpPr/>
          <p:nvPr/>
        </p:nvSpPr>
        <p:spPr>
          <a:xfrm>
            <a:off x="0" y="10699501"/>
            <a:ext cx="964565" cy="0"/>
          </a:xfrm>
          <a:custGeom>
            <a:avLst/>
            <a:gdLst/>
            <a:ahLst/>
            <a:cxnLst/>
            <a:rect l="l" t="t" r="r" b="b"/>
            <a:pathLst>
              <a:path w="964565">
                <a:moveTo>
                  <a:pt x="0" y="0"/>
                </a:moveTo>
                <a:lnTo>
                  <a:pt x="964148" y="0"/>
                </a:lnTo>
              </a:path>
            </a:pathLst>
          </a:custGeom>
          <a:ln w="10465">
            <a:solidFill>
              <a:srgbClr val="086BB5"/>
            </a:solidFill>
          </a:ln>
        </p:spPr>
        <p:txBody>
          <a:bodyPr wrap="square" lIns="0" tIns="0" rIns="0" bIns="0" rtlCol="0"/>
          <a:lstStyle/>
          <a:p>
            <a:endParaRPr/>
          </a:p>
        </p:txBody>
      </p:sp>
      <p:sp>
        <p:nvSpPr>
          <p:cNvPr id="3" name="object 3">
            <a:extLst>
              <a:ext uri="{FF2B5EF4-FFF2-40B4-BE49-F238E27FC236}">
                <a16:creationId xmlns:a16="http://schemas.microsoft.com/office/drawing/2014/main" id="{EC806DB9-25F1-2D47-247D-83DA7449631C}"/>
              </a:ext>
            </a:extLst>
          </p:cNvPr>
          <p:cNvSpPr/>
          <p:nvPr/>
        </p:nvSpPr>
        <p:spPr>
          <a:xfrm>
            <a:off x="19066330" y="10699500"/>
            <a:ext cx="1040130" cy="0"/>
          </a:xfrm>
          <a:custGeom>
            <a:avLst/>
            <a:gdLst/>
            <a:ahLst/>
            <a:cxnLst/>
            <a:rect l="l" t="t" r="r" b="b"/>
            <a:pathLst>
              <a:path w="1040130">
                <a:moveTo>
                  <a:pt x="0" y="0"/>
                </a:moveTo>
                <a:lnTo>
                  <a:pt x="1039903" y="0"/>
                </a:lnTo>
              </a:path>
            </a:pathLst>
          </a:custGeom>
          <a:ln w="10465">
            <a:solidFill>
              <a:srgbClr val="086BB5"/>
            </a:solidFill>
          </a:ln>
        </p:spPr>
        <p:txBody>
          <a:bodyPr wrap="square" lIns="0" tIns="0" rIns="0" bIns="0" rtlCol="0"/>
          <a:lstStyle/>
          <a:p>
            <a:endParaRPr/>
          </a:p>
        </p:txBody>
      </p:sp>
      <p:sp>
        <p:nvSpPr>
          <p:cNvPr id="4" name="object 2">
            <a:extLst>
              <a:ext uri="{FF2B5EF4-FFF2-40B4-BE49-F238E27FC236}">
                <a16:creationId xmlns:a16="http://schemas.microsoft.com/office/drawing/2014/main" id="{A02D9AA8-B634-7F22-50D6-BBDB3780D111}"/>
              </a:ext>
            </a:extLst>
          </p:cNvPr>
          <p:cNvSpPr txBox="1"/>
          <p:nvPr/>
        </p:nvSpPr>
        <p:spPr>
          <a:xfrm>
            <a:off x="0" y="10460280"/>
            <a:ext cx="4802080" cy="196849"/>
          </a:xfrm>
          <a:prstGeom prst="rect">
            <a:avLst/>
          </a:prstGeom>
        </p:spPr>
        <p:txBody>
          <a:bodyPr vert="horz" wrap="square" lIns="0" tIns="12065" rIns="0" bIns="0" rtlCol="0">
            <a:spAutoFit/>
          </a:bodyPr>
          <a:lstStyle/>
          <a:p>
            <a:pPr marL="12700">
              <a:lnSpc>
                <a:spcPct val="100000"/>
              </a:lnSpc>
              <a:spcBef>
                <a:spcPts val="95"/>
              </a:spcBef>
            </a:pPr>
            <a:r>
              <a:rPr lang="en-US" sz="1200" spc="-40">
                <a:solidFill>
                  <a:srgbClr val="262626"/>
                </a:solidFill>
                <a:latin typeface="Microsoft Sans Serif"/>
                <a:cs typeface="Microsoft Sans Serif"/>
              </a:rPr>
              <a:t>Strategy &amp; Business Modeling </a:t>
            </a:r>
            <a:r>
              <a:rPr sz="1200" spc="-30">
                <a:solidFill>
                  <a:srgbClr val="262626"/>
                </a:solidFill>
                <a:latin typeface="Microsoft Sans Serif"/>
                <a:cs typeface="Microsoft Sans Serif"/>
              </a:rPr>
              <a:t> Presentation</a:t>
            </a:r>
            <a:r>
              <a:rPr sz="1200" spc="-25">
                <a:solidFill>
                  <a:srgbClr val="262626"/>
                </a:solidFill>
                <a:latin typeface="Microsoft Sans Serif"/>
                <a:cs typeface="Microsoft Sans Serif"/>
              </a:rPr>
              <a:t> </a:t>
            </a:r>
            <a:r>
              <a:rPr sz="1200" spc="-20">
                <a:solidFill>
                  <a:srgbClr val="262626"/>
                </a:solidFill>
                <a:latin typeface="Microsoft Sans Serif"/>
                <a:cs typeface="Microsoft Sans Serif"/>
              </a:rPr>
              <a:t>2025</a:t>
            </a:r>
            <a:endParaRPr sz="1200">
              <a:latin typeface="Microsoft Sans Serif"/>
              <a:cs typeface="Microsoft Sans Serif"/>
            </a:endParaRPr>
          </a:p>
        </p:txBody>
      </p:sp>
      <p:pic>
        <p:nvPicPr>
          <p:cNvPr id="102" name="Graphique 28" descr="Étoile contour">
            <a:extLst>
              <a:ext uri="{FF2B5EF4-FFF2-40B4-BE49-F238E27FC236}">
                <a16:creationId xmlns:a16="http://schemas.microsoft.com/office/drawing/2014/main" id="{9F037A78-E1F9-996B-C695-D5AC9FC41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04397" y="2378418"/>
            <a:ext cx="646905" cy="646905"/>
          </a:xfrm>
          <a:prstGeom prst="rect">
            <a:avLst/>
          </a:prstGeom>
        </p:spPr>
      </p:pic>
      <p:sp>
        <p:nvSpPr>
          <p:cNvPr id="103" name="Rectangle 102" descr="Bullseye">
            <a:extLst>
              <a:ext uri="{FF2B5EF4-FFF2-40B4-BE49-F238E27FC236}">
                <a16:creationId xmlns:a16="http://schemas.microsoft.com/office/drawing/2014/main" id="{1C5FEF4E-8A6D-DB5A-77A8-15E87EE27B25}"/>
              </a:ext>
            </a:extLst>
          </p:cNvPr>
          <p:cNvSpPr/>
          <p:nvPr/>
        </p:nvSpPr>
        <p:spPr>
          <a:xfrm>
            <a:off x="17352622" y="2490237"/>
            <a:ext cx="546607" cy="55418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fr-FR"/>
          </a:p>
        </p:txBody>
      </p:sp>
      <p:pic>
        <p:nvPicPr>
          <p:cNvPr id="129" name="object 4">
            <a:extLst>
              <a:ext uri="{FF2B5EF4-FFF2-40B4-BE49-F238E27FC236}">
                <a16:creationId xmlns:a16="http://schemas.microsoft.com/office/drawing/2014/main" id="{E92A5350-4DC8-EDC8-7A55-521C623F7C60}"/>
              </a:ext>
            </a:extLst>
          </p:cNvPr>
          <p:cNvPicPr/>
          <p:nvPr/>
        </p:nvPicPr>
        <p:blipFill>
          <a:blip r:embed="rId5" cstate="print"/>
          <a:stretch>
            <a:fillRect/>
          </a:stretch>
        </p:blipFill>
        <p:spPr>
          <a:xfrm>
            <a:off x="17726790" y="399568"/>
            <a:ext cx="1233889" cy="263866"/>
          </a:xfrm>
          <a:prstGeom prst="rect">
            <a:avLst/>
          </a:prstGeom>
        </p:spPr>
      </p:pic>
      <p:pic>
        <p:nvPicPr>
          <p:cNvPr id="29" name="object 5" descr="Une image contenant capture d’écran, bleu, Bleu électrique, Caractère coloré&#10;&#10;Le contenu généré par l’IA peut être incorrect.">
            <a:extLst>
              <a:ext uri="{FF2B5EF4-FFF2-40B4-BE49-F238E27FC236}">
                <a16:creationId xmlns:a16="http://schemas.microsoft.com/office/drawing/2014/main" id="{7F49BB50-8A53-CC01-BCE8-98FB9FF0E0AA}"/>
              </a:ext>
            </a:extLst>
          </p:cNvPr>
          <p:cNvPicPr/>
          <p:nvPr/>
        </p:nvPicPr>
        <p:blipFill>
          <a:blip r:embed="rId6" cstate="print"/>
          <a:stretch>
            <a:fillRect/>
          </a:stretch>
        </p:blipFill>
        <p:spPr>
          <a:xfrm>
            <a:off x="0" y="816769"/>
            <a:ext cx="2456577" cy="262104"/>
          </a:xfrm>
          <a:prstGeom prst="rect">
            <a:avLst/>
          </a:prstGeom>
        </p:spPr>
      </p:pic>
      <p:sp>
        <p:nvSpPr>
          <p:cNvPr id="32" name="ZoneTexte 31">
            <a:extLst>
              <a:ext uri="{FF2B5EF4-FFF2-40B4-BE49-F238E27FC236}">
                <a16:creationId xmlns:a16="http://schemas.microsoft.com/office/drawing/2014/main" id="{AC4480D2-FFA9-E8D2-17F2-FDA92EE03422}"/>
              </a:ext>
            </a:extLst>
          </p:cNvPr>
          <p:cNvSpPr txBox="1"/>
          <p:nvPr/>
        </p:nvSpPr>
        <p:spPr>
          <a:xfrm>
            <a:off x="8131026" y="2675371"/>
            <a:ext cx="57095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i="0" u="none" strike="noStrike" baseline="0"/>
              <a:t>OTHER SOURCES</a:t>
            </a:r>
          </a:p>
        </p:txBody>
      </p:sp>
      <p:sp>
        <p:nvSpPr>
          <p:cNvPr id="36" name="ZoneTexte 35">
            <a:extLst>
              <a:ext uri="{FF2B5EF4-FFF2-40B4-BE49-F238E27FC236}">
                <a16:creationId xmlns:a16="http://schemas.microsoft.com/office/drawing/2014/main" id="{A9250A41-F53B-5200-14EA-5E5C5B4DFC9D}"/>
              </a:ext>
            </a:extLst>
          </p:cNvPr>
          <p:cNvSpPr txBox="1"/>
          <p:nvPr/>
        </p:nvSpPr>
        <p:spPr>
          <a:xfrm>
            <a:off x="5026025" y="3742394"/>
            <a:ext cx="1005205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3355" indent="-173355" algn="ctr" rtl="0">
              <a:buFont typeface="Arial"/>
              <a:buChar char="•"/>
            </a:pPr>
            <a:r>
              <a:rPr lang="fr-FR" sz="1800" kern="1200">
                <a:solidFill>
                  <a:schemeClr val="tx1"/>
                </a:solidFill>
                <a:latin typeface="Calibri"/>
                <a:ea typeface="+mn-ea"/>
                <a:cs typeface="+mn-cs"/>
                <a:hlinkClick r:id="rId7">
                  <a:extLst>
                    <a:ext uri="{A12FA001-AC4F-418D-AE19-62706E023703}">
                      <ahyp:hlinkClr xmlns:ahyp="http://schemas.microsoft.com/office/drawing/2018/hyperlinkcolor" val="tx"/>
                    </a:ext>
                  </a:extLst>
                </a:hlinkClick>
              </a:rPr>
              <a:t>“Jaguar Land Rover | Business | Tata group” – tata.com</a:t>
            </a:r>
            <a:endParaRPr lang="fr-FR" sz="1800" kern="1200">
              <a:solidFill>
                <a:schemeClr val="tx1"/>
              </a:solidFill>
              <a:latin typeface="Calibri"/>
              <a:ea typeface="Calibri"/>
              <a:cs typeface="Calibri"/>
              <a:hlinkClick r:id="rId7">
                <a:extLst>
                  <a:ext uri="{A12FA001-AC4F-418D-AE19-62706E023703}">
                    <ahyp:hlinkClr xmlns:ahyp="http://schemas.microsoft.com/office/drawing/2018/hyperlinkcolor" val="tx"/>
                  </a:ext>
                </a:extLst>
              </a:hlinkClick>
            </a:endParaRPr>
          </a:p>
          <a:p>
            <a:pPr marL="173355" indent="-173355" algn="ctr" rtl="0">
              <a:buFont typeface="Arial"/>
              <a:buChar char="•"/>
            </a:pPr>
            <a:endParaRPr lang="fr-FR">
              <a:solidFill>
                <a:schemeClr val="tx1"/>
              </a:solidFill>
            </a:endParaRPr>
          </a:p>
          <a:p>
            <a:pPr marL="173355" indent="-173355" algn="ctr" rtl="0">
              <a:buFont typeface="Arial"/>
              <a:buChar char="•"/>
            </a:pPr>
            <a:r>
              <a:rPr lang="fr-FR" sz="1800" kern="1200">
                <a:solidFill>
                  <a:schemeClr val="tx1"/>
                </a:solidFill>
                <a:latin typeface="Calibri"/>
                <a:ea typeface="+mn-ea"/>
                <a:cs typeface="+mn-cs"/>
                <a:hlinkClick r:id="rId8">
                  <a:extLst>
                    <a:ext uri="{A12FA001-AC4F-418D-AE19-62706E023703}">
                      <ahyp:hlinkClr xmlns:ahyp="http://schemas.microsoft.com/office/drawing/2018/hyperlinkcolor" val="tx"/>
                    </a:ext>
                  </a:extLst>
                </a:hlinkClick>
              </a:rPr>
              <a:t>“Introducing Jaguar Land Rover” – Tata Motors investor presentation (PDF, June 2008)</a:t>
            </a:r>
            <a:endParaRPr lang="fr-FR" sz="1800" kern="1200">
              <a:solidFill>
                <a:schemeClr val="tx1"/>
              </a:solidFill>
              <a:latin typeface="Calibri"/>
              <a:ea typeface="Calibri"/>
              <a:cs typeface="Calibri"/>
              <a:hlinkClick r:id="rId8">
                <a:extLst>
                  <a:ext uri="{A12FA001-AC4F-418D-AE19-62706E023703}">
                    <ahyp:hlinkClr xmlns:ahyp="http://schemas.microsoft.com/office/drawing/2018/hyperlinkcolor" val="tx"/>
                  </a:ext>
                </a:extLst>
              </a:hlinkClick>
            </a:endParaRPr>
          </a:p>
          <a:p>
            <a:pPr marL="173355" indent="-173355" algn="ctr" rtl="0">
              <a:buFont typeface="Arial"/>
              <a:buChar char="•"/>
            </a:pPr>
            <a:endParaRPr lang="fr-FR">
              <a:solidFill>
                <a:schemeClr val="tx1"/>
              </a:solidFill>
            </a:endParaRPr>
          </a:p>
          <a:p>
            <a:pPr marL="173355" indent="-173355" algn="ctr" rtl="0">
              <a:buFont typeface="Arial"/>
              <a:buChar char="•"/>
            </a:pPr>
            <a:r>
              <a:rPr lang="fr-FR" sz="1800" kern="1200">
                <a:solidFill>
                  <a:schemeClr val="tx1"/>
                </a:solidFill>
                <a:latin typeface="Calibri"/>
                <a:ea typeface="+mn-ea"/>
                <a:cs typeface="+mn-cs"/>
                <a:hlinkClick r:id="rId9">
                  <a:extLst>
                    <a:ext uri="{A12FA001-AC4F-418D-AE19-62706E023703}">
                      <ahyp:hlinkClr xmlns:ahyp="http://schemas.microsoft.com/office/drawing/2018/hyperlinkcolor" val="tx"/>
                    </a:ext>
                  </a:extLst>
                </a:hlinkClick>
              </a:rPr>
              <a:t>Press release “Jaguar Land Rover reimagines the future of modern luxury…” – Tata Motors / JLR (PDF)</a:t>
            </a:r>
            <a:endParaRPr lang="fr-FR" sz="1800" kern="1200">
              <a:solidFill>
                <a:schemeClr val="tx1"/>
              </a:solidFill>
              <a:latin typeface="Calibri"/>
              <a:ea typeface="Calibri"/>
              <a:cs typeface="Calibri"/>
              <a:hlinkClick r:id="rId9">
                <a:extLst>
                  <a:ext uri="{A12FA001-AC4F-418D-AE19-62706E023703}">
                    <ahyp:hlinkClr xmlns:ahyp="http://schemas.microsoft.com/office/drawing/2018/hyperlinkcolor" val="tx"/>
                  </a:ext>
                </a:extLst>
              </a:hlinkClick>
            </a:endParaRPr>
          </a:p>
          <a:p>
            <a:pPr marL="0" algn="ctr" rtl="0"/>
            <a:endParaRPr lang="fr-FR">
              <a:solidFill>
                <a:schemeClr val="tx1"/>
              </a:solidFill>
            </a:endParaRPr>
          </a:p>
          <a:p>
            <a:pPr marL="173355" indent="-173355" algn="ctr" rtl="0">
              <a:buFont typeface="Arial"/>
              <a:buChar char="•"/>
            </a:pPr>
            <a:r>
              <a:rPr lang="fr-FR" sz="1800" kern="1200">
                <a:solidFill>
                  <a:schemeClr val="tx1"/>
                </a:solidFill>
                <a:latin typeface="Calibri"/>
                <a:ea typeface="+mn-ea"/>
                <a:cs typeface="+mn-cs"/>
                <a:hlinkClick r:id="rId10">
                  <a:extLst>
                    <a:ext uri="{A12FA001-AC4F-418D-AE19-62706E023703}">
                      <ahyp:hlinkClr xmlns:ahyp="http://schemas.microsoft.com/office/drawing/2018/hyperlinkcolor" val="tx"/>
                    </a:ext>
                  </a:extLst>
                </a:hlinkClick>
              </a:rPr>
              <a:t>Infinium Global Research. (2023, agosto). </a:t>
            </a:r>
            <a:r>
              <a:rPr lang="fr-FR" sz="1800" i="1" kern="1200">
                <a:solidFill>
                  <a:schemeClr val="tx1"/>
                </a:solidFill>
                <a:latin typeface="Calibri"/>
                <a:ea typeface="+mn-ea"/>
                <a:cs typeface="+mn-cs"/>
                <a:hlinkClick r:id="rId10">
                  <a:extLst>
                    <a:ext uri="{A12FA001-AC4F-418D-AE19-62706E023703}">
                      <ahyp:hlinkClr xmlns:ahyp="http://schemas.microsoft.com/office/drawing/2018/hyperlinkcolor" val="tx"/>
                    </a:ext>
                  </a:extLst>
                </a:hlinkClick>
              </a:rPr>
              <a:t>Luxury Electric Vehicles Market</a:t>
            </a:r>
            <a:endParaRPr lang="fr-FR" sz="1800" i="1" kern="1200">
              <a:solidFill>
                <a:schemeClr val="tx1"/>
              </a:solidFill>
              <a:latin typeface="Calibri"/>
              <a:ea typeface="Calibri"/>
              <a:cs typeface="Calibri"/>
              <a:hlinkClick r:id="rId10">
                <a:extLst>
                  <a:ext uri="{A12FA001-AC4F-418D-AE19-62706E023703}">
                    <ahyp:hlinkClr xmlns:ahyp="http://schemas.microsoft.com/office/drawing/2018/hyperlinkcolor" val="tx"/>
                  </a:ext>
                </a:extLst>
              </a:hlinkClick>
            </a:endParaRPr>
          </a:p>
          <a:p>
            <a:pPr marL="173355" indent="-173355" algn="ctr" rtl="0">
              <a:buFont typeface="Arial"/>
              <a:buChar char="•"/>
            </a:pPr>
            <a:endParaRPr lang="fr-FR">
              <a:solidFill>
                <a:schemeClr val="tx1"/>
              </a:solidFill>
            </a:endParaRPr>
          </a:p>
          <a:p>
            <a:pPr marL="173355" indent="-173355" algn="ctr" rtl="0">
              <a:buFont typeface="Arial"/>
              <a:buChar char="•"/>
            </a:pPr>
            <a:r>
              <a:rPr lang="en-GB" sz="1800" kern="1200">
                <a:solidFill>
                  <a:schemeClr val="tx1"/>
                </a:solidFill>
                <a:latin typeface="Calibri"/>
                <a:ea typeface="+mn-ea"/>
                <a:cs typeface="Times New Roman"/>
                <a:hlinkClick r:id="rId11">
                  <a:extLst>
                    <a:ext uri="{A12FA001-AC4F-418D-AE19-62706E023703}">
                      <ahyp:hlinkClr xmlns:ahyp="http://schemas.microsoft.com/office/drawing/2018/hyperlinkcolor" val="tx"/>
                    </a:ext>
                  </a:extLst>
                </a:hlinkClick>
              </a:rPr>
              <a:t>Schnurrer, S. (s. d.). </a:t>
            </a:r>
            <a:r>
              <a:rPr lang="en-GB" sz="1800" i="1" kern="1200">
                <a:solidFill>
                  <a:schemeClr val="tx1"/>
                </a:solidFill>
                <a:latin typeface="Calibri"/>
                <a:ea typeface="+mn-ea"/>
                <a:cs typeface="Times New Roman"/>
                <a:hlinkClick r:id="rId11">
                  <a:extLst>
                    <a:ext uri="{A12FA001-AC4F-418D-AE19-62706E023703}">
                      <ahyp:hlinkClr xmlns:ahyp="http://schemas.microsoft.com/office/drawing/2018/hyperlinkcolor" val="tx"/>
                    </a:ext>
                  </a:extLst>
                </a:hlinkClick>
              </a:rPr>
              <a:t>Luxury Vehicle market : 5 Key Strategies to Get ahead</a:t>
            </a:r>
            <a:r>
              <a:rPr lang="en-GB" sz="1800" kern="1200">
                <a:solidFill>
                  <a:schemeClr val="tx1"/>
                </a:solidFill>
                <a:latin typeface="Calibri"/>
                <a:ea typeface="+mn-ea"/>
                <a:cs typeface="Times New Roman"/>
                <a:hlinkClick r:id="rId11">
                  <a:extLst>
                    <a:ext uri="{A12FA001-AC4F-418D-AE19-62706E023703}">
                      <ahyp:hlinkClr xmlns:ahyp="http://schemas.microsoft.com/office/drawing/2018/hyperlinkcolor" val="tx"/>
                    </a:ext>
                  </a:extLst>
                </a:hlinkClick>
              </a:rPr>
              <a:t>. Oliver Wyman. </a:t>
            </a:r>
            <a:endParaRPr lang="en-GB" kern="1200">
              <a:solidFill>
                <a:schemeClr val="tx1"/>
              </a:solidFill>
              <a:latin typeface="Calibri"/>
              <a:ea typeface="+mn-ea"/>
              <a:cs typeface="Times New Roman"/>
              <a:hlinkClick r:id="rId11">
                <a:extLst>
                  <a:ext uri="{A12FA001-AC4F-418D-AE19-62706E023703}">
                    <ahyp:hlinkClr xmlns:ahyp="http://schemas.microsoft.com/office/drawing/2018/hyperlinkcolor" val="tx"/>
                  </a:ext>
                </a:extLst>
              </a:hlinkClick>
            </a:endParaRPr>
          </a:p>
          <a:p>
            <a:pPr marL="173355" indent="-173355" algn="ctr" rtl="0">
              <a:buFont typeface="Arial"/>
              <a:buChar char="•"/>
            </a:pPr>
            <a:endParaRPr lang="en-GB"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endParaRPr>
          </a:p>
          <a:p>
            <a:pPr marL="173355" indent="-173355" algn="ctr" rtl="0">
              <a:buFont typeface="Arial"/>
              <a:buChar char="•"/>
            </a:pPr>
            <a:r>
              <a:rPr lang="en-GB" sz="1800"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rPr>
              <a:t>Danziger, Pamela </a:t>
            </a:r>
            <a:r>
              <a:rPr lang="en-GB"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rPr>
              <a:t>N</a:t>
            </a:r>
            <a:r>
              <a:rPr lang="en-GB" i="1"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rPr>
              <a:t>. </a:t>
            </a:r>
            <a:r>
              <a:rPr lang="en-GB" sz="1800" i="1"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rPr>
              <a:t>How Jaguar is abandoning the Language of Luxury in his rebrand</a:t>
            </a:r>
            <a:r>
              <a:rPr lang="en-GB" sz="1800"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rPr>
              <a:t>. Forbes</a:t>
            </a:r>
          </a:p>
          <a:p>
            <a:pPr marL="173355" indent="-173355" algn="ctr" rtl="0">
              <a:buFont typeface="Arial"/>
              <a:buChar char="•"/>
            </a:pPr>
            <a:endParaRPr lang="en-GB"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endParaRPr>
          </a:p>
          <a:p>
            <a:pPr marL="173355" indent="-173355" algn="ctr" rtl="0">
              <a:buFont typeface="Arial"/>
              <a:buChar char="•"/>
            </a:pPr>
            <a:r>
              <a:rPr lang="fr-FR">
                <a:solidFill>
                  <a:schemeClr val="tx1"/>
                </a:solidFill>
                <a:latin typeface="+mn-lt"/>
                <a:hlinkClick r:id="rId12">
                  <a:extLst>
                    <a:ext uri="{A12FA001-AC4F-418D-AE19-62706E023703}">
                      <ahyp:hlinkClr xmlns:ahyp="http://schemas.microsoft.com/office/drawing/2018/hyperlinkcolor" val="tx"/>
                    </a:ext>
                  </a:extLst>
                </a:hlinkClick>
              </a:rPr>
              <a:t>EV </a:t>
            </a:r>
            <a:r>
              <a:rPr lang="fr-FR">
                <a:solidFill>
                  <a:schemeClr val="tx1"/>
                </a:solidFill>
                <a:latin typeface="+mn-lt"/>
                <a:cs typeface="Calibri" panose="020F0502020204030204" pitchFamily="34" charset="0"/>
                <a:hlinkClick r:id="rId12">
                  <a:extLst>
                    <a:ext uri="{A12FA001-AC4F-418D-AE19-62706E023703}">
                      <ahyp:hlinkClr xmlns:ahyp="http://schemas.microsoft.com/office/drawing/2018/hyperlinkcolor" val="tx"/>
                    </a:ext>
                  </a:extLst>
                </a:hlinkClick>
              </a:rPr>
              <a:t>magazine</a:t>
            </a:r>
            <a:r>
              <a:rPr lang="fr-FR">
                <a:solidFill>
                  <a:schemeClr val="tx1"/>
                </a:solidFill>
                <a:latin typeface="+mn-lt"/>
                <a:hlinkClick r:id="rId12">
                  <a:extLst>
                    <a:ext uri="{A12FA001-AC4F-418D-AE19-62706E023703}">
                      <ahyp:hlinkClr xmlns:ahyp="http://schemas.microsoft.com/office/drawing/2018/hyperlinkcolor" val="tx"/>
                    </a:ext>
                  </a:extLst>
                </a:hlinkClick>
              </a:rPr>
              <a:t> – </a:t>
            </a:r>
            <a:r>
              <a:rPr lang="fr-FR" i="1">
                <a:solidFill>
                  <a:schemeClr val="tx1"/>
                </a:solidFill>
                <a:latin typeface="+mn-lt"/>
                <a:hlinkClick r:id="rId12">
                  <a:extLst>
                    <a:ext uri="{A12FA001-AC4F-418D-AE19-62706E023703}">
                      <ahyp:hlinkClr xmlns:ahyp="http://schemas.microsoft.com/office/drawing/2018/hyperlinkcolor" val="tx"/>
                    </a:ext>
                  </a:extLst>
                </a:hlinkClick>
              </a:rPr>
              <a:t>Jaguar’s Bold Rebrand : Electric Future with Modern Luxury</a:t>
            </a:r>
            <a:r>
              <a:rPr lang="fr-FR" i="1">
                <a:solidFill>
                  <a:schemeClr val="tx1"/>
                </a:solidFill>
                <a:latin typeface="+mn-lt"/>
              </a:rPr>
              <a:t> (2024)</a:t>
            </a:r>
          </a:p>
          <a:p>
            <a:pPr marL="173355" indent="-173355" algn="ctr" rtl="0">
              <a:buFont typeface="Arial"/>
              <a:buChar char="•"/>
            </a:pPr>
            <a:endParaRPr lang="en-GB" sz="1800" kern="1200">
              <a:solidFill>
                <a:schemeClr val="tx1"/>
              </a:solidFill>
              <a:latin typeface="Calibri"/>
              <a:ea typeface="Calibri"/>
              <a:cs typeface="Times New Roman"/>
              <a:hlinkClick r:id="rId11">
                <a:extLst>
                  <a:ext uri="{A12FA001-AC4F-418D-AE19-62706E023703}">
                    <ahyp:hlinkClr xmlns:ahyp="http://schemas.microsoft.com/office/drawing/2018/hyperlinkcolor" val="tx"/>
                  </a:ext>
                </a:extLst>
              </a:hlinkClick>
            </a:endParaRPr>
          </a:p>
          <a:p>
            <a:pPr algn="ctr"/>
            <a:endParaRPr lang="fr-FR"/>
          </a:p>
        </p:txBody>
      </p:sp>
    </p:spTree>
    <p:extLst>
      <p:ext uri="{BB962C8B-B14F-4D97-AF65-F5344CB8AC3E}">
        <p14:creationId xmlns:p14="http://schemas.microsoft.com/office/powerpoint/2010/main" val="8013473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8e1a010-895b-4b93-ac4f-2213a6e72c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351CDD5FB5174AB86C86EFB6416414" ma:contentTypeVersion="16" ma:contentTypeDescription="Create a new document." ma:contentTypeScope="" ma:versionID="0e2c629fa26f5d14301ae8f4e0540922">
  <xsd:schema xmlns:xsd="http://www.w3.org/2001/XMLSchema" xmlns:xs="http://www.w3.org/2001/XMLSchema" xmlns:p="http://schemas.microsoft.com/office/2006/metadata/properties" xmlns:ns3="48e1a010-895b-4b93-ac4f-2213a6e72c7e" xmlns:ns4="2d4d2cec-fa01-441b-a9fd-47934ad36c6d" targetNamespace="http://schemas.microsoft.com/office/2006/metadata/properties" ma:root="true" ma:fieldsID="4dd86796a132b9b9173d4be84d50e4cd" ns3:_="" ns4:_="">
    <xsd:import namespace="48e1a010-895b-4b93-ac4f-2213a6e72c7e"/>
    <xsd:import namespace="2d4d2cec-fa01-441b-a9fd-47934ad36c6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_activity" minOccurs="0"/>
                <xsd:element ref="ns4:SharedWithUsers" minOccurs="0"/>
                <xsd:element ref="ns4:SharedWithDetails" minOccurs="0"/>
                <xsd:element ref="ns4:SharingHintHash" minOccurs="0"/>
                <xsd:element ref="ns3:MediaServiceSystemTags" minOccurs="0"/>
                <xsd:element ref="ns3:MediaServiceSearchPropertie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e1a010-895b-4b93-ac4f-2213a6e72c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_activity" ma:index="16" nillable="true" ma:displayName="_activity" ma:hidden="true" ma:internalName="_activity">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4d2cec-fa01-441b-a9fd-47934ad36c6d"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0E23C-46C0-4891-A993-2DDDFF9D77E3}">
  <ds:schemaRefs>
    <ds:schemaRef ds:uri="http://schemas.microsoft.com/sharepoint/v3/contenttype/forms"/>
  </ds:schemaRefs>
</ds:datastoreItem>
</file>

<file path=customXml/itemProps2.xml><?xml version="1.0" encoding="utf-8"?>
<ds:datastoreItem xmlns:ds="http://schemas.openxmlformats.org/officeDocument/2006/customXml" ds:itemID="{C159C9E1-C513-4517-A3CD-4FF89EB82CF1}">
  <ds:schemaRefs>
    <ds:schemaRef ds:uri="48e1a010-895b-4b93-ac4f-2213a6e72c7e"/>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purl.org/dc/dcmitype/"/>
    <ds:schemaRef ds:uri="http://schemas.openxmlformats.org/package/2006/metadata/core-properties"/>
    <ds:schemaRef ds:uri="2d4d2cec-fa01-441b-a9fd-47934ad36c6d"/>
    <ds:schemaRef ds:uri="http://www.w3.org/XML/1998/namespace"/>
  </ds:schemaRefs>
</ds:datastoreItem>
</file>

<file path=customXml/itemProps3.xml><?xml version="1.0" encoding="utf-8"?>
<ds:datastoreItem xmlns:ds="http://schemas.openxmlformats.org/officeDocument/2006/customXml" ds:itemID="{416D8730-9067-4981-B729-6E365740AC1F}">
  <ds:schemaRefs>
    <ds:schemaRef ds:uri="2d4d2cec-fa01-441b-a9fd-47934ad36c6d"/>
    <ds:schemaRef ds:uri="48e1a010-895b-4b93-ac4f-2213a6e72c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4462</Words>
  <Application>Microsoft Office PowerPoint</Application>
  <PresentationFormat>Custom</PresentationFormat>
  <Paragraphs>611</Paragraphs>
  <Slides>26</Slides>
  <Notes>4</Notes>
  <HiddenSlides>2</HiddenSlides>
  <MMClips>1</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26</vt:i4>
      </vt:variant>
    </vt:vector>
  </HeadingPairs>
  <TitlesOfParts>
    <vt:vector size="41" baseType="lpstr">
      <vt:lpstr>Aptos</vt:lpstr>
      <vt:lpstr>Aptos Bold</vt:lpstr>
      <vt:lpstr>Arial</vt:lpstr>
      <vt:lpstr>Arial Black</vt:lpstr>
      <vt:lpstr>Arial MT Pro Bold</vt:lpstr>
      <vt:lpstr>Arial,Sans-Serif</vt:lpstr>
      <vt:lpstr>Calibri</vt:lpstr>
      <vt:lpstr>Microsoft Sans Serif</vt:lpstr>
      <vt:lpstr>Neue Haas Grotesk Text Pro</vt:lpstr>
      <vt:lpstr>Open Sauce</vt:lpstr>
      <vt:lpstr>Sans Serif Collection</vt:lpstr>
      <vt:lpstr>Times New Roman</vt:lpstr>
      <vt:lpstr>Trirong Extra-Light</vt:lpstr>
      <vt:lpstr>Wingdings</vt:lpstr>
      <vt:lpstr>Office Theme</vt:lpstr>
      <vt:lpstr>TATA GROUP </vt:lpstr>
      <vt:lpstr>Tata Group, a multinational conglomerate</vt:lpstr>
      <vt:lpstr>Jaguar Land Rover</vt:lpstr>
      <vt:lpstr>JLR Timeline</vt:lpstr>
      <vt:lpstr>PowerPoint Presentation</vt:lpstr>
      <vt:lpstr>The Jaguar Challenge</vt:lpstr>
      <vt:lpstr>Survey Methodology:  Sample size: 123 respondents Age: 20–50 years </vt:lpstr>
      <vt:lpstr>Jaguar Land Rover : Financial situation</vt:lpstr>
      <vt:lpstr>BCG Matrix in play</vt:lpstr>
      <vt:lpstr>Jaguar’s unique value proposition</vt:lpstr>
      <vt:lpstr>Jaguar’s unique value proposition</vt:lpstr>
      <vt:lpstr>PowerPoint Presentation</vt:lpstr>
      <vt:lpstr>OUR RECOMMENDATION : SPLIT JAGUAR IN 2 DIVISIONS</vt:lpstr>
      <vt:lpstr>The Spheres of Shange (Oliver Wyman) </vt:lpstr>
      <vt:lpstr>PowerPoint Presentation</vt:lpstr>
      <vt:lpstr>The Pyramid of Excellence (Keller’s model) </vt:lpstr>
      <vt:lpstr>THANK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vinayak singh</cp:lastModifiedBy>
  <cp:revision>5</cp:revision>
  <dcterms:created xsi:type="dcterms:W3CDTF">2025-11-09T22:32:07Z</dcterms:created>
  <dcterms:modified xsi:type="dcterms:W3CDTF">2026-05-30T08:24:18Z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LastSaved">
    <vt:filetime>2025-11-09T00:00:00Z</vt:filetime>
  </property>
  <property fmtid="{D5CDD505-2E9C-101B-9397-08002B2CF9AE}" pid="4" name="PDFVersion">
    <vt:lpwstr>1.4</vt:lpwstr>
  </property>
  <property fmtid="{D5CDD505-2E9C-101B-9397-08002B2CF9AE}" pid="5" name="Producer">
    <vt:lpwstr>iLovePDF</vt:lpwstr>
  </property>
  <property fmtid="{D5CDD505-2E9C-101B-9397-08002B2CF9AE}" pid="6" name="ContentTypeId">
    <vt:lpwstr>0x010100EE351CDD5FB5174AB86C86EFB6416414</vt:lpwstr>
  </property>
</Properties>
</file>